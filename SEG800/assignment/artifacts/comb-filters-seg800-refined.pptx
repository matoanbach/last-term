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ea5a65612d4966" /><Relationship Type="http://schemas.openxmlformats.org/officeDocument/2006/relationships/extended-properties" Target="/docProps/app.xml" Id="R77d4575815d04f10" /><Relationship Type="http://schemas.openxmlformats.org/officeDocument/2006/relationships/officeDocument" Target="/ppt/presentation.xml" Id="R22b7ad16260b49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2f9ce61cd7430d"/>
  </p:sldMasterIdLst>
  <p:notesMasterIdLst>
    <p:notesMasterId xmlns:r="http://schemas.openxmlformats.org/officeDocument/2006/relationships" r:id="Rd2a9ca99a1744c34"/>
  </p:notesMasterIdLst>
  <p:sldIdLst>
    <p:sldId xmlns:r="http://schemas.openxmlformats.org/officeDocument/2006/relationships" id="256" r:id="Rfa5fce66efd748b1"/>
    <p:sldId xmlns:r="http://schemas.openxmlformats.org/officeDocument/2006/relationships" id="257" r:id="Rd0b7559e31364b96"/>
    <p:sldId xmlns:r="http://schemas.openxmlformats.org/officeDocument/2006/relationships" id="258" r:id="Rb6aeb2f6b4f64222"/>
    <p:sldId xmlns:r="http://schemas.openxmlformats.org/officeDocument/2006/relationships" id="259" r:id="R7b0138e7b7e44e9c"/>
    <p:sldId xmlns:r="http://schemas.openxmlformats.org/officeDocument/2006/relationships" id="260" r:id="R89df608a3e164879"/>
    <p:sldId xmlns:r="http://schemas.openxmlformats.org/officeDocument/2006/relationships" id="261" r:id="R51258ce12133444f"/>
    <p:sldId xmlns:r="http://schemas.openxmlformats.org/officeDocument/2006/relationships" id="262" r:id="R9250ed84a7a24b9b"/>
    <p:sldId xmlns:r="http://schemas.openxmlformats.org/officeDocument/2006/relationships" id="263" r:id="R1f169b6ed6a34e20"/>
    <p:sldId xmlns:r="http://schemas.openxmlformats.org/officeDocument/2006/relationships" id="264" r:id="R06d1cfa3172544fe"/>
    <p:sldId xmlns:r="http://schemas.openxmlformats.org/officeDocument/2006/relationships" id="265" r:id="R01e0805d57dc411b"/>
    <p:sldId xmlns:r="http://schemas.openxmlformats.org/officeDocument/2006/relationships" id="266" r:id="R3975617dd01441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840cd4b59046d8" /><Relationship Type="http://schemas.openxmlformats.org/officeDocument/2006/relationships/slideMaster" Target="/ppt/slideMasters/slideMaster1.xml" Id="R932f9ce61cd7430d" /><Relationship Type="http://schemas.openxmlformats.org/officeDocument/2006/relationships/notesMaster" Target="/ppt/notesMasters/notesMaster1.xml" Id="Rd2a9ca99a1744c34" /><Relationship Type="http://schemas.openxmlformats.org/officeDocument/2006/relationships/presProps" Target="/ppt/presProps.xml" Id="R0bd2dfda85694fb1" /><Relationship Type="http://schemas.openxmlformats.org/officeDocument/2006/relationships/tableStyles" Target="/ppt/tableStyles.xml" Id="Red072221bd1942f9" /><Relationship Type="http://schemas.openxmlformats.org/officeDocument/2006/relationships/slide" Target="/ppt/slides/slide1.xml" Id="Rfa5fce66efd748b1" /><Relationship Type="http://schemas.openxmlformats.org/officeDocument/2006/relationships/slide" Target="/ppt/slides/slide2.xml" Id="Rd0b7559e31364b96" /><Relationship Type="http://schemas.openxmlformats.org/officeDocument/2006/relationships/slide" Target="/ppt/slides/slide3.xml" Id="Rb6aeb2f6b4f64222" /><Relationship Type="http://schemas.openxmlformats.org/officeDocument/2006/relationships/slide" Target="/ppt/slides/slide4.xml" Id="R7b0138e7b7e44e9c" /><Relationship Type="http://schemas.openxmlformats.org/officeDocument/2006/relationships/slide" Target="/ppt/slides/slide5.xml" Id="R89df608a3e164879" /><Relationship Type="http://schemas.openxmlformats.org/officeDocument/2006/relationships/slide" Target="/ppt/slides/slide6.xml" Id="R51258ce12133444f" /><Relationship Type="http://schemas.openxmlformats.org/officeDocument/2006/relationships/slide" Target="/ppt/slides/slide7.xml" Id="R9250ed84a7a24b9b" /><Relationship Type="http://schemas.openxmlformats.org/officeDocument/2006/relationships/slide" Target="/ppt/slides/slide8.xml" Id="R1f169b6ed6a34e20" /><Relationship Type="http://schemas.openxmlformats.org/officeDocument/2006/relationships/slide" Target="/ppt/slides/slide9.xml" Id="R06d1cfa3172544fe" /><Relationship Type="http://schemas.openxmlformats.org/officeDocument/2006/relationships/slide" Target="/ppt/slides/slide10.xml" Id="R01e0805d57dc411b" /><Relationship Type="http://schemas.openxmlformats.org/officeDocument/2006/relationships/slide" Target="/ppt/slides/slide11.xml" Id="R3975617dd01441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549a78909d4c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2bc9c5cbaf4599" /><Relationship Type="http://schemas.openxmlformats.org/officeDocument/2006/relationships/notesMaster" Target="/ppt/notesMasters/notesMaster1.xml" Id="R2aa94b6acb924c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ac05b27ecf4a35" /><Relationship Type="http://schemas.openxmlformats.org/officeDocument/2006/relationships/notesMaster" Target="/ppt/notesMasters/notesMaster1.xml" Id="Rf65a2fb2429648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4e9db4b92e43c7" /><Relationship Type="http://schemas.openxmlformats.org/officeDocument/2006/relationships/notesMaster" Target="/ppt/notesMasters/notesMaster1.xml" Id="Rb6d3f938f0fb41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aedc91dc7b40de" /><Relationship Type="http://schemas.openxmlformats.org/officeDocument/2006/relationships/notesMaster" Target="/ppt/notesMasters/notesMaster1.xml" Id="R5991754b5c7644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a5a5dd3d4748c5" /><Relationship Type="http://schemas.openxmlformats.org/officeDocument/2006/relationships/notesMaster" Target="/ppt/notesMasters/notesMaster1.xml" Id="R38647f9cca1849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8ed3bd52b94706" /><Relationship Type="http://schemas.openxmlformats.org/officeDocument/2006/relationships/notesMaster" Target="/ppt/notesMasters/notesMaster1.xml" Id="R92a1b05bf44a47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8e0172321c4a95" /><Relationship Type="http://schemas.openxmlformats.org/officeDocument/2006/relationships/notesMaster" Target="/ppt/notesMasters/notesMaster1.xml" Id="R6bcc73f539b842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a91f5b5e5e44e3" /><Relationship Type="http://schemas.openxmlformats.org/officeDocument/2006/relationships/notesMaster" Target="/ppt/notesMasters/notesMaster1.xml" Id="R95095054a98847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1592251a10487d" /><Relationship Type="http://schemas.openxmlformats.org/officeDocument/2006/relationships/notesMaster" Target="/ppt/notesMasters/notesMaster1.xml" Id="Rf6a2f3aba2194d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f9ed7a84ef4b28" /><Relationship Type="http://schemas.openxmlformats.org/officeDocument/2006/relationships/notesMaster" Target="/ppt/notesMasters/notesMaster1.xml" Id="R2e36a1fba42147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dd57c24e9940fb" /><Relationship Type="http://schemas.openxmlformats.org/officeDocument/2006/relationships/notesMaster" Target="/ppt/notesMasters/notesMaster1.xml" Id="R0bfdab21088a4e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topic and team.</a:t>
            </a:r>
          </a:p>
          <a:p xmlns:a="http://schemas.openxmlformats.org/drawingml/2006/main">
            <a:r>
              <a:t>Our goal is to connect the delay-based equations to visible MATLAB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name comes from the regularly spaced peaks and notches.</a:t>
            </a:r>
          </a:p>
          <a:p xmlns:a="http://schemas.openxmlformats.org/drawingml/2006/main">
            <a:r>
              <a:t>Whether a frequency is reinforced or cancelled depends on the phase shift caused by the delay.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output adds the current input to one delayed input copy.</a:t>
            </a:r>
          </a:p>
          <a:p xmlns:a="http://schemas.openxmlformats.org/drawingml/2006/main">
            <a:r>
              <a:t>The interference pattern repeats across frequency, producing peaks and notches.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Feedback uses a delayed output, so it is recursive.</a:t>
            </a:r>
          </a:p>
          <a:p xmlns:a="http://schemas.openxmlformats.org/drawingml/2006/main">
            <a:r>
              <a:t>For this form, choosing the gain magnitude below one keeps the response 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key design relationship.</a:t>
            </a:r>
          </a:p>
          <a:p xmlns:a="http://schemas.openxmlformats.org/drawingml/2006/main">
            <a:r>
              <a:t>With an 8 kHz sample rate and 40-sample delay, adjacent teeth are 200 Hz apart.</a:t>
            </a:r>
          </a:p>
          <a:p xmlns:a="http://schemas.openxmlformats.org/drawingml/2006/main">
            <a:r>
              <a:t>The first feedforward notch occurs at 100 Hz.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fixed parameters once.</a:t>
            </a:r>
          </a:p>
          <a:p xmlns:a="http://schemas.openxmlformats.org/drawingml/2006/main">
            <a:r>
              <a:t>The feedforward and feedback filters use the same delay, so both responses repeat every 200 Hz.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1 confirms the two-tone input before filtering.</a:t>
            </a:r>
          </a:p>
          <a:p xmlns:a="http://schemas.openxmlformats.org/drawingml/2006/main">
            <a:r>
              <a:t>The known frequencies make it straightforward to explain the changes in the output spectra.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2 shows the input over the first 20 milliseconds.</a:t>
            </a:r>
          </a:p>
          <a:p xmlns:a="http://schemas.openxmlformats.org/drawingml/2006/main">
            <a:r>
              <a:t>The 40-sample delay equals 5 milliseconds, so the delayed copy is shifted by one quarter of the displayed window.</a:t>
            </a:r>
          </a:p>
          <a:p xmlns:a="http://schemas.openxmlformats.org/drawingml/2006/main">
            <a:r>
              <a:t>The next slides show how that delay changes the frequency response and spectra.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central result slide.</a:t>
            </a:r>
          </a:p>
          <a:p xmlns:a="http://schemas.openxmlformats.org/drawingml/2006/main">
            <a:r>
              <a:t>Point out the repeated spacing first, then contrast the broad feedforward pattern with the sharp feedback resonances.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Figures 4 and 5 show the input and output spectra for each filter.</a:t>
            </a:r>
          </a:p>
          <a:p xmlns:a="http://schemas.openxmlformats.org/drawingml/2006/main">
            <a:r>
              <a:t>At 300 Hz the feedforward filter is at a notch, so that tone is strongly reduced.</a:t>
            </a:r>
          </a:p>
          <a:p xmlns:a="http://schemas.openxmlformats.org/drawingml/2006/main">
            <a:r>
              <a:t>The feedback case emphasizes frequencies near its repeated resonance peaks.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connecting the mechanism, the two structures, and the MATLAB evidence.</a:t>
            </a:r>
          </a:p>
          <a:p xmlns:a="http://schemas.openxmlformats.org/drawingml/2006/main">
            <a:r>
              <a:t>Invite questions after the final synthesis.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730c7505a4d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4567a98bee44b2" /><Relationship Type="http://schemas.openxmlformats.org/officeDocument/2006/relationships/slideLayout" Target="/ppt/slideLayouts/slideLayout1.xml" Id="Rd8a6dd9f7c3741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a6dd9f7c3741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05d586ceb40af" /><Relationship Type="http://schemas.openxmlformats.org/officeDocument/2006/relationships/notesSlide" Target="/ppt/notesSlides/notesSlide1.xml" Id="R1ffbb93914e140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5fec5929e4832" /><Relationship Type="http://schemas.openxmlformats.org/officeDocument/2006/relationships/notesSlide" Target="/ppt/notesSlides/notesSlide2.xml" Id="R5cc562f1fc5c41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bbcf33dcb460e" /><Relationship Type="http://schemas.openxmlformats.org/officeDocument/2006/relationships/notesSlide" Target="/ppt/notesSlides/notesSlide3.xml" Id="R71f76ecf986944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8fd61ae3143e3" /><Relationship Type="http://schemas.openxmlformats.org/officeDocument/2006/relationships/notesSlide" Target="/ppt/notesSlides/notesSlide4.xml" Id="R20fc50befda547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7c96719a04437" /><Relationship Type="http://schemas.openxmlformats.org/officeDocument/2006/relationships/notesSlide" Target="/ppt/notesSlides/notesSlide5.xml" Id="R46586db98adb4a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3713ef0544ba5" /><Relationship Type="http://schemas.openxmlformats.org/officeDocument/2006/relationships/notesSlide" Target="/ppt/notesSlides/notesSlide6.xml" Id="R97825c6b37374d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a86911d514cc4" /><Relationship Type="http://schemas.openxmlformats.org/officeDocument/2006/relationships/image" Target="/ppt/media/image.png" Id="Rb5b962fa17df4d67" /><Relationship Type="http://schemas.openxmlformats.org/officeDocument/2006/relationships/notesSlide" Target="/ppt/notesSlides/notesSlide7.xml" Id="Rdb0d4935c02143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4ddf35fe3439e" /><Relationship Type="http://schemas.openxmlformats.org/officeDocument/2006/relationships/image" Target="/ppt/media/image2.png" Id="R0a753b35be6d4dca" /><Relationship Type="http://schemas.openxmlformats.org/officeDocument/2006/relationships/notesSlide" Target="/ppt/notesSlides/notesSlide8.xml" Id="Rddbe1b87a5394d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de8f105254d2d" /><Relationship Type="http://schemas.openxmlformats.org/officeDocument/2006/relationships/image" Target="/ppt/media/image3.png" Id="R5abef0bbface491e" /><Relationship Type="http://schemas.openxmlformats.org/officeDocument/2006/relationships/notesSlide" Target="/ppt/notesSlides/notesSlide9.xml" Id="R050efd9f348d44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2006a07bf44dc" /><Relationship Type="http://schemas.openxmlformats.org/officeDocument/2006/relationships/image" Target="/ppt/media/image4.png" Id="R10287e3bbf1b4f43" /><Relationship Type="http://schemas.openxmlformats.org/officeDocument/2006/relationships/image" Target="/ppt/media/image5.png" Id="Rb05bb114b9b54751" /><Relationship Type="http://schemas.openxmlformats.org/officeDocument/2006/relationships/notesSlide" Target="/ppt/notesSlides/notesSlide10.xml" Id="R736848da27ac43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64c0ea8354747" /><Relationship Type="http://schemas.openxmlformats.org/officeDocument/2006/relationships/notesSlide" Target="/ppt/notesSlides/notesSlide11.xml" Id="Rf50a354b27dd4a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522D9E-D1D4-4BBE-B161-F6B61B54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655EA-FC4B-4BA2-A80A-F71254B4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defRPr>
            </a:pPr>
            <a:r>
              <a:t>SEG800 · DIGITAL SIGNAL 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E856D-E60C-455A-9AC5-E0497B8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42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Comb Filters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9CC0D-9F59-4787-883F-B77AE0F3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5334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t>Theory · implementation · MATLAB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F53FA-47B6-4098-9083-0A843453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533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t>Group #____
Member 1 · Member 2 · Member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B9F2C-63C2-42F2-B2B9-4DDFD8C4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"/>
            <a:ext cx="5505450" cy="5600700"/>
          </a:xfrm>
          <a:prstGeom xmlns:a="http://schemas.openxmlformats.org/drawingml/2006/main" prst="roundRect">
            <a:avLst>
              <a:gd name="adj" fmla="val 1384"/>
            </a:avLst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C9F26-7F7A-40E6-A623-73D47FED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97155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defRPr>
            </a:pPr>
            <a:r>
              <a:t>DELAY AS A SPECTRAL TOOL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230F8-FBA3-4505-8C66-140E12F2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0035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BDBA8-C2EE-421A-A66B-4C417732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05100"/>
            <a:ext cx="1095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x[n]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F19A9-3C37-4789-8A66-EBA7B27E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0510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x[n−D]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C02C5-FCF4-4C3C-95CC-5C32CAEF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33900"/>
            <a:ext cx="3905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t>REPEATED PEAKS + NOTCHES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756D9-FC2A-4529-97C8-4F22DD18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724150"/>
            <a:ext cx="6096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C2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3F5CB-1114-41C3-AADB-BAC0D9C7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24150"/>
            <a:ext cx="6096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C2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C442B-8DD0-4EE4-9F5F-CF292AEA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19525"/>
            <a:ext cx="333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D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0AA3E-572C-4F26-8B15-D90B3744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33775"/>
            <a:ext cx="333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611F9-28FD-4543-8AE5-C97104C5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3333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D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DE8C1E-C827-4165-8415-A8B14642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33775"/>
            <a:ext cx="333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CC7B6-6C32-4BD9-9C25-DFA6354A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43350"/>
            <a:ext cx="3333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D4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EDF5E-37FC-4BF4-9EF1-51D70E2A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33775"/>
            <a:ext cx="333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B4DA0-602F-4393-BEFF-59F32EC7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19525"/>
            <a:ext cx="333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D4"/>
          </a:solidFill>
        </p:spPr>
      </p:sp>
    </p:spTree>
    <p:extLst>
      <p:ext uri="{BB962C8B-B14F-4D97-AF65-F5344CB8AC3E}">
        <p14:creationId xmlns:p14="http://schemas.microsoft.com/office/powerpoint/2010/main" val="1898034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FCA806-E032-4301-B9A4-3586F29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49530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A comb filter combines a signal with a delayed version of itself.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DA8FD-0E18-4ECD-A35B-76ABC6CD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Phase determines the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57407-EA14-4229-830D-B3D07F97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4762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t>In phase → reinforcement
Out of phase → reduction or cancellation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4519B-4FCC-434F-B068-0FDCCC71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14500"/>
            <a:ext cx="56769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57EC2-7928-48E1-B150-80BE94AC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482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t>frequency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2E901-8477-4457-A7C0-AC0EEB2C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266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F557D-E556-4157-A74B-93E66B6E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76625"/>
            <a:ext cx="2667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611CD-B5EA-4233-A40C-AD25BCC0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266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6A151-F9EE-4BF5-A3DE-3C69134C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2667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040D8-E8A6-41A9-AB94-6C6DEF24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86000"/>
            <a:ext cx="266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59076-0C5E-47F9-81A7-1D6FE9C8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76625"/>
            <a:ext cx="2667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49E3F-566B-46FF-9E8F-96BE1EAD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71750"/>
            <a:ext cx="266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D305A-3DE9-447E-B993-C8D22809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669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peaks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F505C-95D7-4C1D-B303-83F361E5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95675"/>
            <a:ext cx="104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notches</a:t>
            </a:r>
          </a:p>
        </p:txBody>
      </p:sp>
      <p:sp>
        <p:nvSpPr>
          <p:cNvPr id="15" name="chrome-accent-02">
            <a:extLst xmlns:a="http://schemas.openxmlformats.org/drawingml/2006/main">
              <a:ext uri="{FF2B5EF4-FFF2-40B4-BE49-F238E27FC236}">
                <a16:creationId xmlns:a16="http://schemas.microsoft.com/office/drawing/2014/main" id="{4A00F993-762D-47A0-B9F0-334C402C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rome-kicker-02">
            <a:extLst xmlns:a="http://schemas.openxmlformats.org/drawingml/2006/main">
              <a:ext uri="{FF2B5EF4-FFF2-40B4-BE49-F238E27FC236}">
                <a16:creationId xmlns:a16="http://schemas.microsoft.com/office/drawing/2014/main" id="{A847A6D4-C625-470D-A7CE-C61A5A20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rPr>
              <a:t>SEG800 · COMB FILTERS</a:t>
            </a:r>
          </a:p>
        </p:txBody>
      </p:sp>
      <p:sp>
        <p:nvSpPr>
          <p:cNvPr id="17" name="chrome-title-02">
            <a:extLst xmlns:a="http://schemas.openxmlformats.org/drawingml/2006/main">
              <a:ext uri="{FF2B5EF4-FFF2-40B4-BE49-F238E27FC236}">
                <a16:creationId xmlns:a16="http://schemas.microsoft.com/office/drawing/2014/main" id="{F5B5C3AF-10CF-47EF-AA69-9E36A15F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"/>
            <a:ext cx="1102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A delayed copy creates the filter’s “teeth”</a:t>
            </a:r>
          </a:p>
        </p:txBody>
      </p:sp>
      <p:sp>
        <p:nvSpPr>
          <p:cNvPr id="18" name="chrome-rule-02">
            <a:extLst xmlns:a="http://schemas.openxmlformats.org/drawingml/2006/main">
              <a:ext uri="{FF2B5EF4-FFF2-40B4-BE49-F238E27FC236}">
                <a16:creationId xmlns:a16="http://schemas.microsoft.com/office/drawing/2014/main" id="{F4EDB254-6399-4788-83C1-4AE9CCF7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hrome-footer-02">
            <a:extLst xmlns:a="http://schemas.openxmlformats.org/drawingml/2006/main">
              <a:ext uri="{FF2B5EF4-FFF2-40B4-BE49-F238E27FC236}">
                <a16:creationId xmlns:a16="http://schemas.microsoft.com/office/drawing/2014/main" id="{10DBFB77-1455-4E87-94B6-9A9BB571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rPr>
              <a:t>SIGNAL LAB  /  02</a:t>
            </a:r>
          </a:p>
        </p:txBody>
      </p:sp>
    </p:spTree>
    <p:extLst>
      <p:ext uri="{BB962C8B-B14F-4D97-AF65-F5344CB8AC3E}">
        <p14:creationId xmlns:p14="http://schemas.microsoft.com/office/powerpoint/2010/main" val="17183073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53DF53-A5D0-4018-9473-224FF2DC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5476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2967F-FACE-4F12-9ED3-4E4A136C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y[n] = x[n] + a x[n−D]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A6F68-75B8-447A-A5F0-EB85ADB1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523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EFDF0-9BDB-4A25-A006-5B087497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2425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delayed-path gain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23834-651C-4123-9817-E4F9E91B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523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E3A8F-018E-4828-9D81-DE770FE9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38625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delay in samples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2BEAD-6B5B-405B-B3B7-844CF18D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24025"/>
            <a:ext cx="5353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A4A24-2485-44C6-95ED-92173EB4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Two signal paths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F41F2-0399-449D-830A-66939763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52750"/>
            <a:ext cx="104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x[n]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66FFD-1F8A-4AAC-AAFF-49A7BAC3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52750"/>
            <a:ext cx="428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96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73BA8-DAA4-4224-A676-A7352CF5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52750"/>
            <a:ext cx="76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y[n]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13199-F1C5-4F83-81EE-5CC0B8D5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62275"/>
            <a:ext cx="2190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C2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F032A-DB22-4CE4-88F7-9414A5A9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t>delay D · gain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5CC21-5C37-46A0-A1B2-C6480E3C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67350"/>
            <a:ext cx="5353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Finite impulse response · inherently stable</a:t>
            </a:r>
          </a:p>
        </p:txBody>
      </p:sp>
      <p:sp>
        <p:nvSpPr>
          <p:cNvPr id="15" name="chrome-accent-03">
            <a:extLst xmlns:a="http://schemas.openxmlformats.org/drawingml/2006/main">
              <a:ext uri="{FF2B5EF4-FFF2-40B4-BE49-F238E27FC236}">
                <a16:creationId xmlns:a16="http://schemas.microsoft.com/office/drawing/2014/main" id="{72395D95-AC30-4172-84B1-32FB6134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rome-kicker-03">
            <a:extLst xmlns:a="http://schemas.openxmlformats.org/drawingml/2006/main">
              <a:ext uri="{FF2B5EF4-FFF2-40B4-BE49-F238E27FC236}">
                <a16:creationId xmlns:a16="http://schemas.microsoft.com/office/drawing/2014/main" id="{BDFD2DFE-E81C-46A3-BD50-AB0A79F5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rPr>
              <a:t>SEG800 · COMB FILTERS</a:t>
            </a:r>
          </a:p>
        </p:txBody>
      </p:sp>
      <p:sp>
        <p:nvSpPr>
          <p:cNvPr id="17" name="chrome-title-03">
            <a:extLst xmlns:a="http://schemas.openxmlformats.org/drawingml/2006/main">
              <a:ext uri="{FF2B5EF4-FFF2-40B4-BE49-F238E27FC236}">
                <a16:creationId xmlns:a16="http://schemas.microsoft.com/office/drawing/2014/main" id="{929E7367-EAE8-491E-9116-3FA66DDD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"/>
            <a:ext cx="1102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Feedforward creates regularly spaced peaks and notches</a:t>
            </a:r>
          </a:p>
        </p:txBody>
      </p:sp>
      <p:sp>
        <p:nvSpPr>
          <p:cNvPr id="18" name="chrome-rule-03">
            <a:extLst xmlns:a="http://schemas.openxmlformats.org/drawingml/2006/main">
              <a:ext uri="{FF2B5EF4-FFF2-40B4-BE49-F238E27FC236}">
                <a16:creationId xmlns:a16="http://schemas.microsoft.com/office/drawing/2014/main" id="{856F1545-656E-432F-8911-CC071218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hrome-footer-03">
            <a:extLst xmlns:a="http://schemas.openxmlformats.org/drawingml/2006/main">
              <a:ext uri="{FF2B5EF4-FFF2-40B4-BE49-F238E27FC236}">
                <a16:creationId xmlns:a16="http://schemas.microsoft.com/office/drawing/2014/main" id="{00AB8F3A-EBD9-4D13-BA77-3F269EF7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rPr>
              <a:t>SIGNAL LAB  /  03</a:t>
            </a:r>
          </a:p>
        </p:txBody>
      </p:sp>
    </p:spTree>
    <p:extLst>
      <p:ext uri="{BB962C8B-B14F-4D97-AF65-F5344CB8AC3E}">
        <p14:creationId xmlns:p14="http://schemas.microsoft.com/office/powerpoint/2010/main" val="467738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799BCF-F513-409F-B0C5-08EB1899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5476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5721D-70EF-4E80-9FC1-5506739A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y[n] = x[n] + a y[n−D]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A7F5D-4B81-4879-828F-4EA6A9F0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The delayed output is returned to the input.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8A5A4-FD51-4340-A3C8-71BD70E4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143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t>Each pass reinforces the next, creating narrower and stronger resonant peaks.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0F40C-63E9-4B6C-ADF6-16A75BE6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24025"/>
            <a:ext cx="5353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FDB02-B4C8-4AA0-B791-809C88E1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45E"/>
                </a:solidFill>
                <a:latin typeface="Helvetica Neue"/>
                <a:ea typeface="Helvetica Neue"/>
                <a:cs typeface="Helvetica Neue"/>
              </a:defRPr>
            </a:pPr>
            <a:r>
              <a:t>Recursive signal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2F024-85C7-4444-AFE2-F089D032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95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x[n]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01B2F-424E-4DAD-B826-D4B14C76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428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96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57E52-92A9-49A8-9DBB-8EB2AF7A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52750"/>
            <a:ext cx="876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y[n]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DA024-A878-42F4-A606-5A91A50C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62275"/>
            <a:ext cx="571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45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50696-FB17-41EC-9683-2A4D0AB4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62275"/>
            <a:ext cx="1476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45E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3EF67-D275-4506-85ED-CB32718D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38625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45E"/>
                </a:solidFill>
                <a:latin typeface="Helvetica Neue"/>
                <a:ea typeface="Helvetica Neue"/>
                <a:cs typeface="Helvetica Neue"/>
              </a:defRPr>
            </a:pPr>
            <a:r>
              <a:t>stability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BA9CB-5C9F-496A-BD38-7C37EC5B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910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usually |a| &lt;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A9B8A-E937-4210-AC0F-C14DAFE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67350"/>
            <a:ext cx="5353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Infinite impulse response</a:t>
            </a:r>
          </a:p>
        </p:txBody>
      </p:sp>
      <p:sp>
        <p:nvSpPr>
          <p:cNvPr id="15" name="chrome-accent-04">
            <a:extLst xmlns:a="http://schemas.openxmlformats.org/drawingml/2006/main">
              <a:ext uri="{FF2B5EF4-FFF2-40B4-BE49-F238E27FC236}">
                <a16:creationId xmlns:a16="http://schemas.microsoft.com/office/drawing/2014/main" id="{FDD35DBE-C552-484D-A573-EDFCAE70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rome-kicker-04">
            <a:extLst xmlns:a="http://schemas.openxmlformats.org/drawingml/2006/main">
              <a:ext uri="{FF2B5EF4-FFF2-40B4-BE49-F238E27FC236}">
                <a16:creationId xmlns:a16="http://schemas.microsoft.com/office/drawing/2014/main" id="{F628419C-8F80-44A1-96FE-0EE091F2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rPr>
              <a:t>SEG800 · COMB FILTERS</a:t>
            </a:r>
          </a:p>
        </p:txBody>
      </p:sp>
      <p:sp>
        <p:nvSpPr>
          <p:cNvPr id="17" name="chrome-title-04">
            <a:extLst xmlns:a="http://schemas.openxmlformats.org/drawingml/2006/main">
              <a:ext uri="{FF2B5EF4-FFF2-40B4-BE49-F238E27FC236}">
                <a16:creationId xmlns:a16="http://schemas.microsoft.com/office/drawing/2014/main" id="{4615970F-F3F8-4880-96A4-59BCD213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"/>
            <a:ext cx="1102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Feedback sharpens the repeated resonances</a:t>
            </a:r>
          </a:p>
        </p:txBody>
      </p:sp>
      <p:sp>
        <p:nvSpPr>
          <p:cNvPr id="18" name="chrome-rule-04">
            <a:extLst xmlns:a="http://schemas.openxmlformats.org/drawingml/2006/main">
              <a:ext uri="{FF2B5EF4-FFF2-40B4-BE49-F238E27FC236}">
                <a16:creationId xmlns:a16="http://schemas.microsoft.com/office/drawing/2014/main" id="{642390D7-AE72-46B6-9303-D5D11193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hrome-footer-04">
            <a:extLst xmlns:a="http://schemas.openxmlformats.org/drawingml/2006/main">
              <a:ext uri="{FF2B5EF4-FFF2-40B4-BE49-F238E27FC236}">
                <a16:creationId xmlns:a16="http://schemas.microsoft.com/office/drawing/2014/main" id="{16281EBD-B8ED-4D42-8548-E6AC5A4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rPr>
              <a:t>SIGNAL LAB  /  04</a:t>
            </a:r>
          </a:p>
        </p:txBody>
      </p:sp>
    </p:spTree>
    <p:extLst>
      <p:ext uri="{BB962C8B-B14F-4D97-AF65-F5344CB8AC3E}">
        <p14:creationId xmlns:p14="http://schemas.microsoft.com/office/powerpoint/2010/main" val="1462201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671CE0-A8A6-4EBD-8539-0096B977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47625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Δf = Fₛ /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A0D5B-45D3-4847-A672-FA6472B1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Fₛ = 8000 Hz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EB47A-77E3-4B50-8C2D-B9243176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D = 40 samples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890AC-CB5A-4B75-B033-2DBE2977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60769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AB6A2-F8D1-4322-89AA-112B0477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90750"/>
            <a:ext cx="50673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8000 ÷ 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A9B8D-079B-41D2-A4FC-7046AD12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05150"/>
            <a:ext cx="5067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200 Hz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0109F-2583-4F7A-B2D9-97F145DD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4340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t>Spacing is constant across the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177A4-B2D7-42FE-85C7-CD2F2B92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A longer delay packs the teeth closer together.</a:t>
            </a:r>
          </a:p>
        </p:txBody>
      </p:sp>
      <p:sp>
        <p:nvSpPr>
          <p:cNvPr id="9" name="chrome-accent-05">
            <a:extLst xmlns:a="http://schemas.openxmlformats.org/drawingml/2006/main">
              <a:ext uri="{FF2B5EF4-FFF2-40B4-BE49-F238E27FC236}">
                <a16:creationId xmlns:a16="http://schemas.microsoft.com/office/drawing/2014/main" id="{EC83BF82-9215-495F-ABF2-8DACCB5D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rome-kicker-05">
            <a:extLst xmlns:a="http://schemas.openxmlformats.org/drawingml/2006/main">
              <a:ext uri="{FF2B5EF4-FFF2-40B4-BE49-F238E27FC236}">
                <a16:creationId xmlns:a16="http://schemas.microsoft.com/office/drawing/2014/main" id="{E61AD46D-1BF3-48A6-9265-6098FDEA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rPr>
              <a:t>SEG800 · COMB FILTERS</a:t>
            </a:r>
          </a:p>
        </p:txBody>
      </p:sp>
      <p:sp>
        <p:nvSpPr>
          <p:cNvPr id="11" name="chrome-title-05">
            <a:extLst xmlns:a="http://schemas.openxmlformats.org/drawingml/2006/main">
              <a:ext uri="{FF2B5EF4-FFF2-40B4-BE49-F238E27FC236}">
                <a16:creationId xmlns:a16="http://schemas.microsoft.com/office/drawing/2014/main" id="{6D614C13-3625-48A1-88DE-F7F28E29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"/>
            <a:ext cx="1102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Delay sets the spacing between every tooth</a:t>
            </a:r>
          </a:p>
        </p:txBody>
      </p:sp>
      <p:sp>
        <p:nvSpPr>
          <p:cNvPr id="12" name="chrome-rule-05">
            <a:extLst xmlns:a="http://schemas.openxmlformats.org/drawingml/2006/main">
              <a:ext uri="{FF2B5EF4-FFF2-40B4-BE49-F238E27FC236}">
                <a16:creationId xmlns:a16="http://schemas.microsoft.com/office/drawing/2014/main" id="{BEE9F84E-223F-4F59-BD38-0FE3FABA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hrome-footer-05">
            <a:extLst xmlns:a="http://schemas.openxmlformats.org/drawingml/2006/main">
              <a:ext uri="{FF2B5EF4-FFF2-40B4-BE49-F238E27FC236}">
                <a16:creationId xmlns:a16="http://schemas.microsoft.com/office/drawing/2014/main" id="{A39852F3-9396-479D-8F26-FF92976B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rPr>
              <a:t>SIGNAL LAB  /  05</a:t>
            </a:r>
          </a:p>
        </p:txBody>
      </p:sp>
    </p:spTree>
    <p:extLst>
      <p:ext uri="{BB962C8B-B14F-4D97-AF65-F5344CB8AC3E}">
        <p14:creationId xmlns:p14="http://schemas.microsoft.com/office/powerpoint/2010/main" val="14195023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0139C1-1EF7-47EB-BA5F-4FBBD65F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810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t>A simple two-tone signal makes attenuation and resonance easy to see.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507BD-3525-410D-A1DF-C279B5CB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07C80-AF9A-4A1B-B5E5-D1036DAC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3429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7D01D-286E-43D8-85B7-EA0EEED7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300 Hz + 400 Hz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7E71F-596F-4BC5-9212-1BCCD5AE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C2984-AAD3-4EC9-9633-7619A654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3429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SAMPLE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61353-F82E-4F50-AF6D-98645CAE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57525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8000 Hz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3B3A1-FBBD-481A-B791-131F7C88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6223C-E87A-4337-AE75-A0577D4E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3429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DELAY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E97FB-8577-475C-A48A-7DDF11B1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43325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40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7FE91-E152-42B4-8E02-29E6D1BF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04938-6F50-4532-9D1F-86E6AAFB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3429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FEEDFORWARD 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08A0B-DE6A-4722-B432-B16A3BDB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29125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1.0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B9FDE-0380-4C2F-B8CE-C1FCB181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3BDA3-911E-4936-9651-DBBEA454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3429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E"/>
                </a:solidFill>
                <a:latin typeface="Helvetica Neue"/>
                <a:ea typeface="Helvetica Neue"/>
                <a:cs typeface="Helvetica Neue"/>
              </a:defRPr>
            </a:pPr>
            <a:r>
              <a:t>FEEDBACK GAIN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CFFF6-58D0-46D9-9A82-5AD99B98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14925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0.7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E4EE6-00C8-4192-B3D9-7CB871A2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0"/>
            <a:ext cx="379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Expected tooth spacing: 200 Hz</a:t>
            </a:r>
          </a:p>
        </p:txBody>
      </p:sp>
      <p:sp>
        <p:nvSpPr>
          <p:cNvPr id="18" name="chrome-accent-06">
            <a:extLst xmlns:a="http://schemas.openxmlformats.org/drawingml/2006/main">
              <a:ext uri="{FF2B5EF4-FFF2-40B4-BE49-F238E27FC236}">
                <a16:creationId xmlns:a16="http://schemas.microsoft.com/office/drawing/2014/main" id="{4BDCBA6A-07C7-4B1E-88EC-337E402F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hrome-kicker-06">
            <a:extLst xmlns:a="http://schemas.openxmlformats.org/drawingml/2006/main">
              <a:ext uri="{FF2B5EF4-FFF2-40B4-BE49-F238E27FC236}">
                <a16:creationId xmlns:a16="http://schemas.microsoft.com/office/drawing/2014/main" id="{2CAC8ADA-9F4B-4D21-868F-6F47E8F6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rPr>
              <a:t>SEG800 · COMB FILTERS</a:t>
            </a:r>
          </a:p>
        </p:txBody>
      </p:sp>
      <p:sp>
        <p:nvSpPr>
          <p:cNvPr id="20" name="chrome-title-06">
            <a:extLst xmlns:a="http://schemas.openxmlformats.org/drawingml/2006/main">
              <a:ext uri="{FF2B5EF4-FFF2-40B4-BE49-F238E27FC236}">
                <a16:creationId xmlns:a16="http://schemas.microsoft.com/office/drawing/2014/main" id="{AE68AA22-01AD-4859-94EF-04D419EF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"/>
            <a:ext cx="1102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The MATLAB test isolates the effect of the delay</a:t>
            </a:r>
          </a:p>
        </p:txBody>
      </p:sp>
      <p:sp>
        <p:nvSpPr>
          <p:cNvPr id="21" name="chrome-rule-06">
            <a:extLst xmlns:a="http://schemas.openxmlformats.org/drawingml/2006/main">
              <a:ext uri="{FF2B5EF4-FFF2-40B4-BE49-F238E27FC236}">
                <a16:creationId xmlns:a16="http://schemas.microsoft.com/office/drawing/2014/main" id="{5E50E5A0-1B98-4065-B80F-E8CFB964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hrome-footer-06">
            <a:extLst xmlns:a="http://schemas.openxmlformats.org/drawingml/2006/main">
              <a:ext uri="{FF2B5EF4-FFF2-40B4-BE49-F238E27FC236}">
                <a16:creationId xmlns:a16="http://schemas.microsoft.com/office/drawing/2014/main" id="{62C8B2B6-6B50-4151-8E93-2BECC52C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rPr>
              <a:t>SIGNAL LAB  /  06</a:t>
            </a:r>
          </a:p>
        </p:txBody>
      </p:sp>
    </p:spTree>
    <p:extLst>
      <p:ext uri="{BB962C8B-B14F-4D97-AF65-F5344CB8AC3E}">
        <p14:creationId xmlns:p14="http://schemas.microsoft.com/office/powerpoint/2010/main" val="16559500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962fa17df4d67"/>
          <a:stretch xmlns:a="http://schemas.openxmlformats.org/drawingml/2006/main"/>
        </p:blipFill>
        <p:spPr>
          <a:xfrm xmlns:a="http://schemas.openxmlformats.org/drawingml/2006/main">
            <a:off x="1146461" y="1581150"/>
            <a:ext cx="5650928" cy="4552950"/>
          </a:xfrm>
          <a:prstGeom xmlns:a="http://schemas.openxmlformats.org/drawingml/2006/main" prst="roundRect">
            <a:avLst>
              <a:gd name="adj" fmla="val 251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10839-C419-437E-9D34-C0DA2F04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771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D18F4-3C5C-4B7A-B7DE-F73EB114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304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300 Hz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86D83-5DDA-4DBB-81F9-F6FC5314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t>larger component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77161-B4C4-41D5-A53E-121E4648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3771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B9558-EF13-42E4-8173-18FA75DB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304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400 Hz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EAEC2-7D2A-424E-881D-C2963C53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t>smaller component</a:t>
            </a:r>
          </a:p>
        </p:txBody>
      </p:sp>
      <p:sp>
        <p:nvSpPr>
          <p:cNvPr id="8" name="chrome-accent-07">
            <a:extLst xmlns:a="http://schemas.openxmlformats.org/drawingml/2006/main">
              <a:ext uri="{FF2B5EF4-FFF2-40B4-BE49-F238E27FC236}">
                <a16:creationId xmlns:a16="http://schemas.microsoft.com/office/drawing/2014/main" id="{60DC2BA9-1BB3-4D7B-AB21-04FB7A56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rome-kicker-07">
            <a:extLst xmlns:a="http://schemas.openxmlformats.org/drawingml/2006/main">
              <a:ext uri="{FF2B5EF4-FFF2-40B4-BE49-F238E27FC236}">
                <a16:creationId xmlns:a16="http://schemas.microsoft.com/office/drawing/2014/main" id="{1FDF24BB-A8E4-412A-BE7B-86FF904A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rPr>
              <a:t>SEG800 · COMB FILTERS</a:t>
            </a:r>
          </a:p>
        </p:txBody>
      </p:sp>
      <p:sp>
        <p:nvSpPr>
          <p:cNvPr id="10" name="chrome-title-07">
            <a:extLst xmlns:a="http://schemas.openxmlformats.org/drawingml/2006/main">
              <a:ext uri="{FF2B5EF4-FFF2-40B4-BE49-F238E27FC236}">
                <a16:creationId xmlns:a16="http://schemas.microsoft.com/office/drawing/2014/main" id="{228BE5D9-40EA-44B6-BB96-05F99786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"/>
            <a:ext cx="1102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The input contains only two known frequencies</a:t>
            </a:r>
          </a:p>
        </p:txBody>
      </p:sp>
      <p:sp>
        <p:nvSpPr>
          <p:cNvPr id="11" name="chrome-rule-07">
            <a:extLst xmlns:a="http://schemas.openxmlformats.org/drawingml/2006/main">
              <a:ext uri="{FF2B5EF4-FFF2-40B4-BE49-F238E27FC236}">
                <a16:creationId xmlns:a16="http://schemas.microsoft.com/office/drawing/2014/main" id="{F5B3E9BB-A2F0-4329-AB8B-1BA6E355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rome-footer-07">
            <a:extLst xmlns:a="http://schemas.openxmlformats.org/drawingml/2006/main">
              <a:ext uri="{FF2B5EF4-FFF2-40B4-BE49-F238E27FC236}">
                <a16:creationId xmlns:a16="http://schemas.microsoft.com/office/drawing/2014/main" id="{0E653662-FEED-470B-8276-AC0F9A9C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rPr>
              <a:t>SIGNAL LAB  /  07</a:t>
            </a:r>
          </a:p>
        </p:txBody>
      </p:sp>
    </p:spTree>
    <p:extLst>
      <p:ext uri="{BB962C8B-B14F-4D97-AF65-F5344CB8AC3E}">
        <p14:creationId xmlns:p14="http://schemas.microsoft.com/office/powerpoint/2010/main" val="3424320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53b35be6d4dca"/>
          <a:stretch xmlns:a="http://schemas.openxmlformats.org/drawingml/2006/main"/>
        </p:blipFill>
        <p:spPr>
          <a:xfrm xmlns:a="http://schemas.openxmlformats.org/drawingml/2006/main">
            <a:off x="400050" y="1680776"/>
            <a:ext cx="11391900" cy="2924947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A848A-6B73-4087-A66B-4C4652E1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DELAY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984AD-6CA3-412C-AFCC-54DCDB33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40 samples ÷ 8000 samples/s = 5 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675B6-83D6-44D1-AA3A-9E1D496D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95875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D1333-A3B8-4357-A4AE-9B5DBDF2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48300"/>
            <a:ext cx="5505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each delayed copy shifts the waveform by one quarter of this 20 ms view</a:t>
            </a:r>
          </a:p>
        </p:txBody>
      </p:sp>
      <p:sp>
        <p:nvSpPr>
          <p:cNvPr id="6" name="data-focus-title-08">
            <a:extLst xmlns:a="http://schemas.openxmlformats.org/drawingml/2006/main">
              <a:ext uri="{FF2B5EF4-FFF2-40B4-BE49-F238E27FC236}">
                <a16:creationId xmlns:a16="http://schemas.microsoft.com/office/drawing/2014/main" id="{88F19338-2563-41B7-B59B-CC73E769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"/>
            <a:ext cx="1102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A 5 ms delay is visible within the short time window</a:t>
            </a:r>
          </a:p>
        </p:txBody>
      </p:sp>
    </p:spTree>
    <p:extLst>
      <p:ext uri="{BB962C8B-B14F-4D97-AF65-F5344CB8AC3E}">
        <p14:creationId xmlns:p14="http://schemas.microsoft.com/office/powerpoint/2010/main" val="548437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ef0bbface491e"/>
          <a:stretch xmlns:a="http://schemas.openxmlformats.org/drawingml/2006/main"/>
        </p:blipFill>
        <p:spPr>
          <a:xfrm xmlns:a="http://schemas.openxmlformats.org/drawingml/2006/main">
            <a:off x="908050" y="1562100"/>
            <a:ext cx="6223000" cy="4667250"/>
          </a:xfrm>
          <a:prstGeom xmlns:a="http://schemas.openxmlformats.org/drawingml/2006/main" prst="roundRect">
            <a:avLst>
              <a:gd name="adj" fmla="val 244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094B0-4FAB-4122-83C0-B2064CC0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FEEDFORWARD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4D1DD-1B9B-4EB6-8211-CC7BAEAF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3333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broad peaks and deep notches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BB6E4-0542-4605-BBFD-0A4FC752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C2CFF-0BCC-4698-A812-D87E1FAF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38525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E"/>
                </a:solidFill>
                <a:latin typeface="Helvetica Neue"/>
                <a:ea typeface="Helvetica Neue"/>
                <a:cs typeface="Helvetica Neue"/>
              </a:defRPr>
            </a:pPr>
            <a:r>
              <a:t>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71F74-E38F-453C-B9D9-D0650657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00475"/>
            <a:ext cx="3333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narrow, stronger resonant peaks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3572E-776D-4127-8962-232EC72E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33950"/>
            <a:ext cx="3333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59BA4-D57B-444D-A832-191A8DD5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81600"/>
            <a:ext cx="280035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Δf ≈ 200 Hz</a:t>
            </a:r>
          </a:p>
        </p:txBody>
      </p:sp>
      <p:sp>
        <p:nvSpPr>
          <p:cNvPr id="9" name="chrome-accent-09">
            <a:extLst xmlns:a="http://schemas.openxmlformats.org/drawingml/2006/main">
              <a:ext uri="{FF2B5EF4-FFF2-40B4-BE49-F238E27FC236}">
                <a16:creationId xmlns:a16="http://schemas.microsoft.com/office/drawing/2014/main" id="{C19915EE-40F3-4F8C-8EA5-7D261F92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rome-kicker-09">
            <a:extLst xmlns:a="http://schemas.openxmlformats.org/drawingml/2006/main">
              <a:ext uri="{FF2B5EF4-FFF2-40B4-BE49-F238E27FC236}">
                <a16:creationId xmlns:a16="http://schemas.microsoft.com/office/drawing/2014/main" id="{C3D7AD08-B05D-49CC-9DC9-536E57B6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rPr>
              <a:t>SEG800 · COMB FILTERS</a:t>
            </a:r>
          </a:p>
        </p:txBody>
      </p:sp>
      <p:sp>
        <p:nvSpPr>
          <p:cNvPr id="11" name="chrome-title-09">
            <a:extLst xmlns:a="http://schemas.openxmlformats.org/drawingml/2006/main">
              <a:ext uri="{FF2B5EF4-FFF2-40B4-BE49-F238E27FC236}">
                <a16:creationId xmlns:a16="http://schemas.microsoft.com/office/drawing/2014/main" id="{72118681-3EE9-4886-BBE6-A233A23F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"/>
            <a:ext cx="1102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Both responses repeat every 200 Hz—but with different shapes</a:t>
            </a:r>
          </a:p>
        </p:txBody>
      </p:sp>
      <p:sp>
        <p:nvSpPr>
          <p:cNvPr id="12" name="chrome-rule-09">
            <a:extLst xmlns:a="http://schemas.openxmlformats.org/drawingml/2006/main">
              <a:ext uri="{FF2B5EF4-FFF2-40B4-BE49-F238E27FC236}">
                <a16:creationId xmlns:a16="http://schemas.microsoft.com/office/drawing/2014/main" id="{79F25B05-499D-4783-B3EF-D4A74BCC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hrome-footer-09">
            <a:extLst xmlns:a="http://schemas.openxmlformats.org/drawingml/2006/main">
              <a:ext uri="{FF2B5EF4-FFF2-40B4-BE49-F238E27FC236}">
                <a16:creationId xmlns:a16="http://schemas.microsoft.com/office/drawing/2014/main" id="{1EAD63EE-BB60-4745-9688-7C60473F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rPr>
              <a:t>SIGNAL LAB  /  09</a:t>
            </a:r>
          </a:p>
        </p:txBody>
      </p:sp>
    </p:spTree>
    <p:extLst>
      <p:ext uri="{BB962C8B-B14F-4D97-AF65-F5344CB8AC3E}">
        <p14:creationId xmlns:p14="http://schemas.microsoft.com/office/powerpoint/2010/main" val="1286106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87e3bbf1b4f43"/>
          <a:stretch xmlns:a="http://schemas.openxmlformats.org/drawingml/2006/main"/>
        </p:blipFill>
        <p:spPr>
          <a:xfrm xmlns:a="http://schemas.openxmlformats.org/drawingml/2006/main">
            <a:off x="400050" y="1811865"/>
            <a:ext cx="5219700" cy="4167719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bb114b9b54751"/>
          <a:stretch xmlns:a="http://schemas.openxmlformats.org/drawingml/2006/main"/>
        </p:blipFill>
        <p:spPr>
          <a:xfrm xmlns:a="http://schemas.openxmlformats.org/drawingml/2006/main">
            <a:off x="6206441" y="1809750"/>
            <a:ext cx="5151218" cy="417195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D85F2-67AE-43DE-88BB-E3C38E36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21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FEEDFORWARD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5A599-252F-4CC2-A496-A631375D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521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45E"/>
                </a:solidFill>
                <a:latin typeface="Helvetica Neue"/>
                <a:ea typeface="Helvetica Neue"/>
                <a:cs typeface="Helvetica Neue"/>
              </a:defRPr>
            </a:pPr>
            <a:r>
              <a:t>FEEDBACK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48484-E39E-4171-9234-AE8ADA17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91200"/>
            <a:ext cx="967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BB186-94BF-4719-9FDC-D826083E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886450"/>
            <a:ext cx="9258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300 Hz sits near a feedforward notch; feedback emphasizes resonant locations.</a:t>
            </a:r>
          </a:p>
        </p:txBody>
      </p:sp>
      <p:sp>
        <p:nvSpPr>
          <p:cNvPr id="7" name="chrome-accent-10">
            <a:extLst xmlns:a="http://schemas.openxmlformats.org/drawingml/2006/main">
              <a:ext uri="{FF2B5EF4-FFF2-40B4-BE49-F238E27FC236}">
                <a16:creationId xmlns:a16="http://schemas.microsoft.com/office/drawing/2014/main" id="{E594D92C-9C10-4037-91DF-656DC88E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rome-kicker-10">
            <a:extLst xmlns:a="http://schemas.openxmlformats.org/drawingml/2006/main">
              <a:ext uri="{FF2B5EF4-FFF2-40B4-BE49-F238E27FC236}">
                <a16:creationId xmlns:a16="http://schemas.microsoft.com/office/drawing/2014/main" id="{D93160E7-EC91-4770-A686-421394B9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rPr>
              <a:t>SEG800 · COMB FILTERS</a:t>
            </a:r>
          </a:p>
        </p:txBody>
      </p:sp>
      <p:sp>
        <p:nvSpPr>
          <p:cNvPr id="9" name="chrome-title-10">
            <a:extLst xmlns:a="http://schemas.openxmlformats.org/drawingml/2006/main">
              <a:ext uri="{FF2B5EF4-FFF2-40B4-BE49-F238E27FC236}">
                <a16:creationId xmlns:a16="http://schemas.microsoft.com/office/drawing/2014/main" id="{2E3B8B01-F633-4EAB-A37C-A766D3AF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"/>
            <a:ext cx="1102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The spectra connect each output back to the theory</a:t>
            </a:r>
          </a:p>
        </p:txBody>
      </p:sp>
      <p:sp>
        <p:nvSpPr>
          <p:cNvPr id="10" name="chrome-rule-10">
            <a:extLst xmlns:a="http://schemas.openxmlformats.org/drawingml/2006/main">
              <a:ext uri="{FF2B5EF4-FFF2-40B4-BE49-F238E27FC236}">
                <a16:creationId xmlns:a16="http://schemas.microsoft.com/office/drawing/2014/main" id="{AEC8964D-BAFD-424D-826A-B814DDA7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rome-footer-10">
            <a:extLst xmlns:a="http://schemas.openxmlformats.org/drawingml/2006/main">
              <a:ext uri="{FF2B5EF4-FFF2-40B4-BE49-F238E27FC236}">
                <a16:creationId xmlns:a16="http://schemas.microsoft.com/office/drawing/2014/main" id="{C485CBB7-7DA3-4C7D-8B11-E907CC30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rPr>
              <a:t>SIGNAL LAB  /  10</a:t>
            </a:r>
          </a:p>
        </p:txBody>
      </p:sp>
    </p:spTree>
    <p:extLst>
      <p:ext uri="{BB962C8B-B14F-4D97-AF65-F5344CB8AC3E}">
        <p14:creationId xmlns:p14="http://schemas.microsoft.com/office/powerpoint/2010/main" val="20850434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6BCD83-0C44-4A7C-A379-50AC1B0F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APPLICATIONS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043E5-6695-4B7D-A4DA-746E3602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44767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Echo + delay
Reverberation
Periodic-noise removal
Harmonic enhancement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5E926-D881-496F-8349-3725D1B3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59817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54638-A7CD-4D5C-8FB6-50D53122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431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THREE TAKEAWAYS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4B7AC-DB0E-44F5-9ED4-8D87C019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47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2657B-8EEB-4CF1-A70A-754517F1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71750"/>
            <a:ext cx="4476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Delay creates the repeating frequency pattern.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0077B-682B-4ABF-A420-FBB85433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29000"/>
            <a:ext cx="47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26A1A-9372-436F-BCEF-5270282C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447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Feedforward creates notches; feedback creates resonances.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6C691-7D3D-4EB9-B678-3AFFB60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62450"/>
            <a:ext cx="47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5C2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96D6B-B23E-4861-A1BB-5F6FED3F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62450"/>
            <a:ext cx="447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The MATLAB results match the predicted 200 Hz spacing.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BB2AD-63DC-4661-A840-308B72F9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t>Comb filters turn a simple delay into a precise spectral pattern.</a:t>
            </a:r>
          </a:p>
        </p:txBody>
      </p:sp>
      <p:sp>
        <p:nvSpPr>
          <p:cNvPr id="12" name="chrome-accent-11">
            <a:extLst xmlns:a="http://schemas.openxmlformats.org/drawingml/2006/main">
              <a:ext uri="{FF2B5EF4-FFF2-40B4-BE49-F238E27FC236}">
                <a16:creationId xmlns:a16="http://schemas.microsoft.com/office/drawing/2014/main" id="{BFEF3293-449C-4577-8B14-2AD5C277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hrome-kicker-11">
            <a:extLst xmlns:a="http://schemas.openxmlformats.org/drawingml/2006/main">
              <a:ext uri="{FF2B5EF4-FFF2-40B4-BE49-F238E27FC236}">
                <a16:creationId xmlns:a16="http://schemas.microsoft.com/office/drawing/2014/main" id="{027988CE-7FDD-476B-8ACD-6951A6B1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E0D4"/>
                </a:solidFill>
                <a:latin typeface="Helvetica Neue"/>
                <a:ea typeface="Helvetica Neue"/>
                <a:cs typeface="Helvetica Neue"/>
              </a:rPr>
              <a:t>SEG800 · COMB FILTERS</a:t>
            </a:r>
          </a:p>
        </p:txBody>
      </p:sp>
      <p:sp>
        <p:nvSpPr>
          <p:cNvPr id="14" name="chrome-title-11">
            <a:extLst xmlns:a="http://schemas.openxmlformats.org/drawingml/2006/main">
              <a:ext uri="{FF2B5EF4-FFF2-40B4-BE49-F238E27FC236}">
                <a16:creationId xmlns:a16="http://schemas.microsoft.com/office/drawing/2014/main" id="{1BCE0D36-9B40-4BCF-BD61-518952CF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"/>
            <a:ext cx="1102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One delay creates two distinct filtering behaviours</a:t>
            </a:r>
          </a:p>
        </p:txBody>
      </p:sp>
      <p:sp>
        <p:nvSpPr>
          <p:cNvPr id="15" name="chrome-rule-11">
            <a:extLst xmlns:a="http://schemas.openxmlformats.org/drawingml/2006/main">
              <a:ext uri="{FF2B5EF4-FFF2-40B4-BE49-F238E27FC236}">
                <a16:creationId xmlns:a16="http://schemas.microsoft.com/office/drawing/2014/main" id="{E45A4FF1-F652-48C9-B0A5-23604FDC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rome-footer-11">
            <a:extLst xmlns:a="http://schemas.openxmlformats.org/drawingml/2006/main">
              <a:ext uri="{FF2B5EF4-FFF2-40B4-BE49-F238E27FC236}">
                <a16:creationId xmlns:a16="http://schemas.microsoft.com/office/drawing/2014/main" id="{D1912063-3798-4BBF-BDCA-2A29794A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8B5C7"/>
                </a:solidFill>
                <a:latin typeface="Helvetica Neue"/>
                <a:ea typeface="Helvetica Neue"/>
                <a:cs typeface="Helvetica Neue"/>
              </a:rPr>
              <a:t>SIGNAL LAB  /  11</a:t>
            </a:r>
          </a:p>
        </p:txBody>
      </p:sp>
    </p:spTree>
    <p:extLst>
      <p:ext uri="{BB962C8B-B14F-4D97-AF65-F5344CB8AC3E}">
        <p14:creationId xmlns:p14="http://schemas.microsoft.com/office/powerpoint/2010/main" val="746260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2026-07-12T16:47:41.2860000Z</dcterms:created>
  <dcterms:modified xsi:type="dcterms:W3CDTF">2026-07-12T16:47:41.2860000Z</dcterms:modified>
</coreProperties>
</file>