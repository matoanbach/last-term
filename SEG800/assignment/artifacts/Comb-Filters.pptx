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ter" panose="02000503000000020004" pitchFamily="2" charset="0"/>
      <p:regular r:id="rId13"/>
    </p:embeddedFont>
    <p:embeddedFont>
      <p:font typeface="Manrope" pitchFamily="2" charset="0"/>
      <p:regular r:id="rId14"/>
    </p:embeddedFont>
    <p:embeddedFont>
      <p:font typeface="Manrope Bold" pitchFamily="2" charset="0"/>
      <p:regular r:id="rId15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844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6.pn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958876"/>
            <a:ext cx="2889971" cy="287139"/>
          </a:xfrm>
          <a:prstGeom prst="roundRect">
            <a:avLst>
              <a:gd name="adj" fmla="val 47396"/>
            </a:avLst>
          </a:prstGeom>
          <a:solidFill>
            <a:srgbClr val="FFD7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4879" y="2015530"/>
            <a:ext cx="327274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SEG800 · DIGITAL SIGNAL PROCESSING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3216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 Filters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98787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 as a Spectral Tool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566616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Theory · Implementation · MATLAB Evidence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x[n] + x[n−D] → </a:t>
            </a:r>
            <a:r>
              <a:rPr lang="en-US" sz="14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repeated peaks and notches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 #____ · Member 1 · Member 2 · Member 3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2627"/>
            <a:ext cx="1692431" cy="258465"/>
          </a:xfrm>
          <a:prstGeom prst="roundRect">
            <a:avLst>
              <a:gd name="adj" fmla="val 47389"/>
            </a:avLst>
          </a:prstGeom>
          <a:noFill/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3469" y="593626"/>
            <a:ext cx="2098027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SEG800 · COMB FILTERS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6231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Delayed Copy Creates the Filter's "Teeth"</a:t>
            </a:r>
            <a:endParaRPr lang="en-US" sz="3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1795760"/>
            <a:ext cx="3180774" cy="31808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17029" y="2998291"/>
            <a:ext cx="691944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comb filter </a:t>
            </a:r>
            <a:r>
              <a:rPr lang="en-US" sz="13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combines a signal with a delayed version of itself</a:t>
            </a: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The phase relationship between the original and delayed copy determines whether each frequency is reinforced or cancelled.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321102"/>
            <a:ext cx="5357778" cy="9942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6779" y="5510213"/>
            <a:ext cx="490336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Phase → Reinforcement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926779" y="5867698"/>
            <a:ext cx="490336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Peaks in the frequency response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2343" y="5321102"/>
            <a:ext cx="5357877" cy="99427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37648" y="5510213"/>
            <a:ext cx="490346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 of Phase → Cancellation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6437648" y="5867698"/>
            <a:ext cx="490346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Notches (deep nulls) in the response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24198"/>
            <a:ext cx="1222047" cy="186630"/>
          </a:xfrm>
          <a:prstGeom prst="roundRect">
            <a:avLst>
              <a:gd name="adj" fmla="val 47399"/>
            </a:avLst>
          </a:prstGeom>
          <a:solidFill>
            <a:srgbClr val="FFD7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5093" y="761008"/>
            <a:ext cx="1684395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SEG800 · COMB FILTERS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942677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Feedforward Creates Regularly Spaced Peaks and Notches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795" y="1446411"/>
            <a:ext cx="4772005" cy="3228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50021" y="2710020"/>
            <a:ext cx="868924" cy="596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Feedforward Comb Filter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948659" y="3755912"/>
            <a:ext cx="1292679" cy="198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path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48659" y="4011120"/>
            <a:ext cx="1292679" cy="262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Immediate passthrough to sum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919238" y="3755912"/>
            <a:ext cx="1292679" cy="198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path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919238" y="4011120"/>
            <a:ext cx="1292679" cy="262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Delay D then scale by 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919238" y="1841406"/>
            <a:ext cx="1292679" cy="198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919238" y="2096614"/>
            <a:ext cx="1292679" cy="262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Direct + delayed → y[n]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956939" y="1906974"/>
            <a:ext cx="1292679" cy="198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signal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956939" y="2162183"/>
            <a:ext cx="1292679" cy="131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x[n] enters the filter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1475" y="4764584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direct and delayed paths sum at the output, producing periodic peaks and notches.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61475" y="5046464"/>
            <a:ext cx="1086874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y[n] = x[n] + a · x[n−D]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61475" y="5473402"/>
            <a:ext cx="5394488" cy="660301"/>
          </a:xfrm>
          <a:prstGeom prst="roundRect">
            <a:avLst>
              <a:gd name="adj" fmla="val 16746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90654" y="5602585"/>
            <a:ext cx="51361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Signal Paths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0654" y="5842397"/>
            <a:ext cx="513612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Direct path x[n] and delayed path with gain </a:t>
            </a:r>
            <a:r>
              <a:rPr lang="en-US" sz="9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delay </a:t>
            </a:r>
            <a:r>
              <a:rPr lang="en-US" sz="9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</a:t>
            </a: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samples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35732" y="5473402"/>
            <a:ext cx="5394488" cy="660301"/>
          </a:xfrm>
          <a:prstGeom prst="roundRect">
            <a:avLst>
              <a:gd name="adj" fmla="val 16746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264912" y="5602585"/>
            <a:ext cx="51361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 Structure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64912" y="5842397"/>
            <a:ext cx="513612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Finite impulse response — inherently stable, no feedback loop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7170"/>
            <a:ext cx="992560" cy="151507"/>
          </a:xfrm>
          <a:prstGeom prst="roundRect">
            <a:avLst>
              <a:gd name="adj" fmla="val 47440"/>
            </a:avLst>
          </a:prstGeom>
          <a:solidFill>
            <a:srgbClr val="FFD7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21302" y="567035"/>
            <a:ext cx="1482489" cy="91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SEG800 · COMB FILTERS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61475" y="709712"/>
            <a:ext cx="1086874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Sharpens the Repeated Resonances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356" y="1100634"/>
            <a:ext cx="5774883" cy="39876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07663" y="4094090"/>
            <a:ext cx="1589518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Signal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351146" y="4349302"/>
            <a:ext cx="1702551" cy="121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x[n] enters the filter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665148" y="1718031"/>
            <a:ext cx="1589519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Summation Node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608632" y="1973244"/>
            <a:ext cx="1702551" cy="121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 x[n] and a·y[n−D]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29699" y="4094090"/>
            <a:ext cx="1589519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873182" y="4349302"/>
            <a:ext cx="1702552" cy="121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Produce y[n] result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194249" y="1718031"/>
            <a:ext cx="1589519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 &amp; Scale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137733" y="1973244"/>
            <a:ext cx="1702551" cy="121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Delay by D and scale by 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1475" y="5147469"/>
            <a:ext cx="11478330" cy="12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delayed output feeds back to the input, reinforcing resonant peaks with each pass.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61475" y="5348486"/>
            <a:ext cx="10868745" cy="24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y[n] = x[n] + a · y[n−D]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61475" y="5677098"/>
            <a:ext cx="5407981" cy="643731"/>
          </a:xfrm>
          <a:prstGeom prst="roundRect">
            <a:avLst>
              <a:gd name="adj" fmla="val 13957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67636" y="5783263"/>
            <a:ext cx="5195658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Recursive Path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67636" y="5970786"/>
            <a:ext cx="5195658" cy="24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delayed </a:t>
            </a:r>
            <a:r>
              <a:rPr lang="en-US" sz="7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output</a:t>
            </a: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is returned to the input. Each pass reinforces the next, creating </a:t>
            </a:r>
            <a:r>
              <a:rPr lang="en-US" sz="7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narrower and stronger</a:t>
            </a: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resonant peaks.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122140" y="5677098"/>
            <a:ext cx="5408080" cy="643731"/>
          </a:xfrm>
          <a:prstGeom prst="roundRect">
            <a:avLst>
              <a:gd name="adj" fmla="val 13957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228301" y="5783263"/>
            <a:ext cx="5195758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IIR · Stability Condition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228301" y="5970786"/>
            <a:ext cx="5195758" cy="12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Infinite impulse response. Requires </a:t>
            </a:r>
            <a:r>
              <a:rPr lang="en-US" sz="7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|a| &lt; 1</a:t>
            </a: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remain stable.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120352"/>
            <a:ext cx="4411354" cy="66171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33360" y="690662"/>
            <a:ext cx="1598573" cy="243979"/>
          </a:xfrm>
          <a:prstGeom prst="roundRect">
            <a:avLst>
              <a:gd name="adj" fmla="val 47414"/>
            </a:avLst>
          </a:prstGeom>
          <a:noFill/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329699" y="738783"/>
            <a:ext cx="2015479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SEG800 · COMB FILTERS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233360" y="989211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 Sets the Spacing Between Every Tooth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5463046" y="2278360"/>
            <a:ext cx="2603633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 Hz</a:t>
            </a:r>
            <a:endParaRPr lang="en-US" sz="4150" dirty="0"/>
          </a:p>
        </p:txBody>
      </p:sp>
      <p:sp>
        <p:nvSpPr>
          <p:cNvPr id="8" name="Text 5"/>
          <p:cNvSpPr/>
          <p:nvPr/>
        </p:nvSpPr>
        <p:spPr>
          <a:xfrm>
            <a:off x="5233360" y="2991247"/>
            <a:ext cx="306310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Tooth Spacing Δf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233360" y="3324126"/>
            <a:ext cx="306310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Fₛ ÷ D = 8000 ÷ 40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96802" y="2278360"/>
            <a:ext cx="2603633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8000</a:t>
            </a:r>
            <a:endParaRPr lang="en-US" sz="4150" dirty="0"/>
          </a:p>
        </p:txBody>
      </p:sp>
      <p:sp>
        <p:nvSpPr>
          <p:cNvPr id="11" name="Text 8"/>
          <p:cNvSpPr/>
          <p:nvPr/>
        </p:nvSpPr>
        <p:spPr>
          <a:xfrm>
            <a:off x="8467116" y="2991247"/>
            <a:ext cx="306310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Rate (Hz)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467116" y="3324126"/>
            <a:ext cx="306310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Fₛ = 8000 Hz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079874" y="3915172"/>
            <a:ext cx="2603633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4150" dirty="0"/>
          </a:p>
        </p:txBody>
      </p:sp>
      <p:sp>
        <p:nvSpPr>
          <p:cNvPr id="14" name="Text 11"/>
          <p:cNvSpPr/>
          <p:nvPr/>
        </p:nvSpPr>
        <p:spPr>
          <a:xfrm>
            <a:off x="6850189" y="4628059"/>
            <a:ext cx="306310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 (samples)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850189" y="4960938"/>
            <a:ext cx="306310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 = 40 samples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233360" y="5352256"/>
            <a:ext cx="6296860" cy="814983"/>
          </a:xfrm>
          <a:prstGeom prst="roundRect">
            <a:avLst>
              <a:gd name="adj" fmla="val 17743"/>
            </a:avLst>
          </a:prstGeom>
          <a:solidFill>
            <a:srgbClr val="FFD7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3992" y="5571133"/>
            <a:ext cx="200814" cy="16063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55436" y="5528866"/>
            <a:ext cx="561415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Key insight:</a:t>
            </a: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 longer delay packs the teeth </a:t>
            </a:r>
            <a:r>
              <a:rPr lang="en-US" sz="125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closer together</a:t>
            </a: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Spacing is constant across the entire frequency response: </a:t>
            </a:r>
            <a:r>
              <a:rPr lang="en-US" sz="125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\Delta f = F_s / D</a:t>
            </a: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65373"/>
            <a:ext cx="1590635" cy="272752"/>
          </a:xfrm>
          <a:prstGeom prst="roundRect">
            <a:avLst>
              <a:gd name="adj" fmla="val 47401"/>
            </a:avLst>
          </a:prstGeom>
          <a:solidFill>
            <a:srgbClr val="FFD7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9125" y="819150"/>
            <a:ext cx="1984921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MATLAB TEST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10628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MATLAB Test Isolates the Effect of the Delay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1923355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simple two-tone signal makes attenuation and resonance easy to observe and verify.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95339"/>
            <a:ext cx="359064" cy="3590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2967633"/>
            <a:ext cx="348070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Signal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61475" y="3350419"/>
            <a:ext cx="348070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300 Hz + 400 Hz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two-tone test signal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55396" y="2395339"/>
            <a:ext cx="359064" cy="3590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55396" y="2967633"/>
            <a:ext cx="34808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Rate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4355396" y="3350419"/>
            <a:ext cx="348080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8000 Hz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sampling frequency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9416" y="2395339"/>
            <a:ext cx="359064" cy="3590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9416" y="2967633"/>
            <a:ext cx="34808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049416" y="3350419"/>
            <a:ext cx="348080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40 samples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5 ms delay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971627"/>
            <a:ext cx="359064" cy="35907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1475" y="4543921"/>
            <a:ext cx="348070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Feedforward Gain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661475" y="4926707"/>
            <a:ext cx="348070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 = 1.0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for FIR comb filter</a:t>
            </a:r>
            <a:endParaRPr lang="en-US" sz="14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55396" y="3971627"/>
            <a:ext cx="359064" cy="35907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355396" y="4543921"/>
            <a:ext cx="34808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Gain</a:t>
            </a:r>
            <a:endParaRPr lang="en-US" sz="1750" dirty="0"/>
          </a:p>
        </p:txBody>
      </p:sp>
      <p:sp>
        <p:nvSpPr>
          <p:cNvPr id="20" name="Text 13"/>
          <p:cNvSpPr/>
          <p:nvPr/>
        </p:nvSpPr>
        <p:spPr>
          <a:xfrm>
            <a:off x="4355396" y="4926707"/>
            <a:ext cx="348080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 = 0.7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for IIR comb filter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661475" y="5398691"/>
            <a:ext cx="10868745" cy="693837"/>
          </a:xfrm>
          <a:prstGeom prst="roundRect">
            <a:avLst>
              <a:gd name="adj" fmla="val 23292"/>
            </a:avLst>
          </a:prstGeom>
          <a:solidFill>
            <a:srgbClr val="FFD7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957" y="5650111"/>
            <a:ext cx="224427" cy="17948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244867" y="5614095"/>
            <a:ext cx="1071545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Expected tooth spacing: </a:t>
            </a:r>
            <a:r>
              <a:rPr lang="en-US" sz="14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Δf = 200 Hz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9053"/>
            <a:ext cx="1870723" cy="272752"/>
          </a:xfrm>
          <a:prstGeom prst="roundRect">
            <a:avLst>
              <a:gd name="adj" fmla="val 47401"/>
            </a:avLst>
          </a:prstGeom>
          <a:noFill/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9125" y="732830"/>
            <a:ext cx="2265008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MATLAB RESULTS · INPUT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01996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Input Contains Only Two Known Frequencies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80" y="2028924"/>
            <a:ext cx="3343191" cy="26935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25165" y="2955528"/>
            <a:ext cx="691130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clean two-tone input provides a controlled baseline. Any spectral changes in the output are caused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entirely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by the comb filter — no other frequency content is present to obscure the result.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1475" y="5106293"/>
            <a:ext cx="5349047" cy="1072654"/>
          </a:xfrm>
          <a:prstGeom prst="roundRect">
            <a:avLst>
              <a:gd name="adj" fmla="val 15066"/>
            </a:avLst>
          </a:prstGeom>
          <a:solidFill>
            <a:srgbClr val="FFFFFF"/>
          </a:solidFill>
          <a:ln w="25399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6356" y="5311180"/>
            <a:ext cx="49392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 Hz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66356" y="5693966"/>
            <a:ext cx="493928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Larger amplitude component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81074" y="5106293"/>
            <a:ext cx="5349146" cy="1072654"/>
          </a:xfrm>
          <a:prstGeom prst="roundRect">
            <a:avLst>
              <a:gd name="adj" fmla="val 15066"/>
            </a:avLst>
          </a:prstGeom>
          <a:solidFill>
            <a:srgbClr val="FFFFFF"/>
          </a:solidFill>
          <a:ln w="25399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85956" y="5311180"/>
            <a:ext cx="4939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 Hz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385956" y="5693966"/>
            <a:ext cx="493938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Smaller amplitude component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9898"/>
            <a:ext cx="2359859" cy="272752"/>
          </a:xfrm>
          <a:prstGeom prst="roundRect">
            <a:avLst>
              <a:gd name="adj" fmla="val 47401"/>
            </a:avLst>
          </a:prstGeom>
          <a:noFill/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9125" y="663674"/>
            <a:ext cx="2754144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MATLAB RESULTS · TIME DOMAIN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50813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5 ms Delay Is Visible Within the Short Time Window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29061"/>
            <a:ext cx="8304997" cy="213240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1475" y="4653359"/>
            <a:ext cx="5349047" cy="1594743"/>
          </a:xfrm>
          <a:prstGeom prst="roundRect">
            <a:avLst>
              <a:gd name="adj" fmla="val 10134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47307" y="4839196"/>
            <a:ext cx="4977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 Calculation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7307" y="5221982"/>
            <a:ext cx="497738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40 samples ÷ 8000 samples/s = </a:t>
            </a: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5 ms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81074" y="4653359"/>
            <a:ext cx="5349146" cy="1594743"/>
          </a:xfrm>
          <a:prstGeom prst="roundRect">
            <a:avLst>
              <a:gd name="adj" fmla="val 10134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366906" y="4839196"/>
            <a:ext cx="497748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366906" y="5221982"/>
            <a:ext cx="4977482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delayed copy shifts the waveform by </a:t>
            </a: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one quarter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of the 20 ms view window — clearly visible in the time-domain plot.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15156"/>
            <a:ext cx="3166586" cy="287139"/>
          </a:xfrm>
          <a:prstGeom prst="roundRect">
            <a:avLst>
              <a:gd name="adj" fmla="val 47396"/>
            </a:avLst>
          </a:prstGeom>
          <a:noFill/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4879" y="671810"/>
            <a:ext cx="354936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MATLAB RESULTS · FREQUENCY RESPONSE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7790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Responses Repeat Every 200 Hz — But With Different Shapes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028553"/>
            <a:ext cx="3504219" cy="262820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201" y="2655292"/>
            <a:ext cx="3357082" cy="24252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49205" y="2869704"/>
            <a:ext cx="28266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Feedforward (FIR)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949205" y="3353991"/>
            <a:ext cx="282667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Broad peaks and deep notches.</a:t>
            </a: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direct and delayed signals interfere cleanly, producing wide, symmetric lobes.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79290" y="2655292"/>
            <a:ext cx="3357181" cy="242520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95294" y="2869704"/>
            <a:ext cx="28267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(IIR)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495294" y="3353991"/>
            <a:ext cx="282677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Narrow, stronger resonant peaks.</a:t>
            </a: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Recursion amplifies specific frequencies, sharpening each tooth.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4633201" y="5293122"/>
            <a:ext cx="6903269" cy="736997"/>
          </a:xfrm>
          <a:prstGeom prst="roundRect">
            <a:avLst>
              <a:gd name="adj" fmla="val 23082"/>
            </a:avLst>
          </a:prstGeom>
          <a:solidFill>
            <a:srgbClr val="FFD7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208" y="5586214"/>
            <a:ext cx="236234" cy="189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47449" y="5510411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Both structures share the same periodicity: </a:t>
            </a:r>
            <a:r>
              <a:rPr lang="en-US" sz="14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Δf ≈ 200 Hz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5277"/>
            <a:ext cx="2024111" cy="201116"/>
          </a:xfrm>
          <a:prstGeom prst="roundRect">
            <a:avLst>
              <a:gd name="adj" fmla="val 47368"/>
            </a:avLst>
          </a:prstGeom>
          <a:solidFill>
            <a:srgbClr val="FFD7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0848" y="664964"/>
            <a:ext cx="2474950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MATLAB RESULTS · SPECTRAL OUTPUT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63402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Spectra Connect Each Output Back to the Theory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614190"/>
            <a:ext cx="5388039" cy="10173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80" y="1858070"/>
            <a:ext cx="508542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 Hz Behavior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2780" y="2120305"/>
            <a:ext cx="508542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Sits near a </a:t>
            </a:r>
            <a:r>
              <a:rPr lang="en-US" sz="10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feedforward notch</a:t>
            </a: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attenuated in the FIR output. Feedback emphasizes resonant locations, altering relative amplitudes.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2082" y="1614190"/>
            <a:ext cx="5388138" cy="10173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93387" y="1822364"/>
            <a:ext cx="5085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293387" y="2123739"/>
            <a:ext cx="5085528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Both structures confirm </a:t>
            </a:r>
            <a:r>
              <a:rPr lang="en-US" sz="10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Δf = 200 Hz</a:t>
            </a: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spacing. Delay alone controls tooth placement; feedback controls peak sharpness.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61475" y="2851547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Feedforward Output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5106" y="3162399"/>
            <a:ext cx="3685785" cy="29429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63523" y="2828330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Output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4475" y="3139182"/>
            <a:ext cx="3691044" cy="29893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</Words>
  <Application>Microsoft Macintosh PowerPoint</Application>
  <PresentationFormat>Widescreen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Inter</vt:lpstr>
      <vt:lpstr>Manrope Bold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Toan Bach Ma</cp:lastModifiedBy>
  <cp:revision>2</cp:revision>
  <dcterms:created xsi:type="dcterms:W3CDTF">2026-07-12T16:57:57Z</dcterms:created>
  <dcterms:modified xsi:type="dcterms:W3CDTF">2026-07-12T16:58:52Z</dcterms:modified>
</cp:coreProperties>
</file>