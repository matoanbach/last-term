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oto Serif Thin"/>
      <p:regular r:id="rId201314"/>
    </p:embeddedFont>
    <p:embeddedFont>
      <p:font typeface="Noto Serif ExtraLight"/>
      <p:regular r:id="rId201315"/>
    </p:embeddedFont>
    <p:embeddedFont>
      <p:font typeface="Noto Serif ExtraBold"/>
      <p:regular r:id="rId201316"/>
    </p:embeddedFont>
    <p:embeddedFont>
      <p:font typeface="Noto Serif Black"/>
      <p:regular r:id="rId201317"/>
    </p:embeddedFont>
    <p:embeddedFont>
      <p:font typeface="Noto Serif Light"/>
      <p:regular r:id="rId201318"/>
    </p:embeddedFont>
    <p:embeddedFont>
      <p:font typeface="Noto Serif"/>
      <p:regular r:id="rId201319"/>
    </p:embeddedFont>
    <p:embeddedFont>
      <p:font typeface="Noto Serif Medium"/>
      <p:regular r:id="rId201320"/>
    </p:embeddedFont>
    <p:embeddedFont>
      <p:font typeface="Noto Serif SemiBold"/>
      <p:regular r:id="rId201321"/>
    </p:embeddedFont>
    <p:embeddedFont>
      <p:font typeface="Noto Serif 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5.png"/><Relationship Id="rId8" Type="http://schemas.openxmlformats.org/officeDocument/2006/relationships/image" Target="../media/image-6-6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8636"/>
            <a:ext cx="609749" cy="156046"/>
          </a:xfrm>
          <a:prstGeom prst="roundRect">
            <a:avLst>
              <a:gd name="adj" fmla="val 22119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557733" y="429444"/>
            <a:ext cx="943719" cy="94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CASE STUDY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88690"/>
            <a:ext cx="8151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KRACK: When WPA2's Handshake Failed the World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6119" y="1037183"/>
            <a:ext cx="860896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 October 2017, researchers exposed a critical Wi-Fi flaw — leaving millions of devices silently vulnerable. The encryption wasn't broken. The implementation was.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83047"/>
            <a:ext cx="8151763" cy="32158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64229" y="2396798"/>
            <a:ext cx="1621640" cy="22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64229" y="2680187"/>
            <a:ext cx="1621640" cy="322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Oct 2017: WPA2 flaw disclosed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780309" y="2778981"/>
            <a:ext cx="1621640" cy="22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Scope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780309" y="3062369"/>
            <a:ext cx="1621640" cy="322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Millions of devices worldwide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19923" y="2396798"/>
            <a:ext cx="1621641" cy="22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Impact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819923" y="2680187"/>
            <a:ext cx="1621641" cy="322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Decryption, hijacking, injection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594622"/>
            <a:ext cx="860896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How a protocol is implemented matters as much as the algorithm it uses.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133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Background: The Anatomy of the Vulnerability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4690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WPA2 uses AES encryption — mathematically secure to this day. The vulnerability wasn't in the algorithm, but in the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Four-Way Handshake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used to authenticate and establish encryption keys.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583359"/>
            <a:ext cx="4103191" cy="1148804"/>
          </a:xfrm>
          <a:prstGeom prst="roundRect">
            <a:avLst>
              <a:gd name="adj" fmla="val 7774"/>
            </a:avLst>
          </a:prstGeom>
          <a:solidFill>
            <a:srgbClr val="9C9283"/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707332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the Handshake Is Supposed to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3025155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Mutually verify identity and negotiate a fresh, unique encryption key for each session.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707332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KRACK Exploited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3025155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Attackers forced the client to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reinstall an already-used key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destroying AES's security guarantees and turning strong encryption into a broken one.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495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Attackers Could 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2052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Once within Wi-Fi range, an attacker could force key reinstallation with no special hardware required.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458516"/>
            <a:ext cx="4013895" cy="1220242"/>
          </a:xfrm>
          <a:prstGeom prst="roundRect">
            <a:avLst>
              <a:gd name="adj" fmla="val 4270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5240" dir="2700000">
              <a:srgbClr val="e6ded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855" y="1587252"/>
            <a:ext cx="372070" cy="372070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174" y="1689497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855" y="2083296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Decrypt Traffic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55" y="2351559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Read "protected" communications in plaintext.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33987" y="1458516"/>
            <a:ext cx="4013895" cy="1220242"/>
          </a:xfrm>
          <a:prstGeom prst="roundRect">
            <a:avLst>
              <a:gd name="adj" fmla="val 4270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5240" dir="270000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62723" y="1587252"/>
            <a:ext cx="372070" cy="372070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043" y="1689497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723" y="2083296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Replay Packets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62723" y="2351559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Re-send captured data to manipulate sessions.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96119" y="2802731"/>
            <a:ext cx="4013895" cy="1220242"/>
          </a:xfrm>
          <a:prstGeom prst="roundRect">
            <a:avLst>
              <a:gd name="adj" fmla="val 4270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5240" dir="2700000">
              <a:srgbClr val="e6ded2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4855" y="2931468"/>
            <a:ext cx="372070" cy="372070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174" y="3033713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855" y="3427512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Hijack TCP Sessions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4855" y="3695774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Take over active connections mid-session.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33987" y="2802731"/>
            <a:ext cx="4013895" cy="1220242"/>
          </a:xfrm>
          <a:prstGeom prst="roundRect">
            <a:avLst>
              <a:gd name="adj" fmla="val 4270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5240" dir="2700000">
              <a:srgbClr val="e6ded2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62723" y="2931468"/>
            <a:ext cx="372070" cy="372070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5043" y="3033713"/>
            <a:ext cx="167432" cy="1674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62723" y="3427512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Inject Malicious Content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62723" y="3695774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Insert attacker data into HTTP responses.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96119" y="4162499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FCF2B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92" y="4342284"/>
            <a:ext cx="155004" cy="12397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9071" y="4317429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Highest-risk environments: airports, hotels, coffee shops, and university campuses.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100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Ask the Class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006575"/>
            <a:ext cx="14288" cy="477515"/>
          </a:xfrm>
          <a:prstGeom prst="roundRect">
            <a:avLst>
              <a:gd name="adj" fmla="val 59998"/>
            </a:avLst>
          </a:prstGeom>
          <a:solidFill>
            <a:srgbClr val="9C9283"/>
          </a:solidFill>
          <a:ln/>
        </p:spPr>
      </p:sp>
      <p:sp>
        <p:nvSpPr>
          <p:cNvPr id="4" name="Text 2"/>
          <p:cNvSpPr/>
          <p:nvPr/>
        </p:nvSpPr>
        <p:spPr>
          <a:xfrm>
            <a:off x="682154" y="2146102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If WPA2 used AES — still considered secure today — how was this attack even possible?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747590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Common Assumption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065413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If the algorithm is secure, the system must be secure. AES is unbroken, so WPA2 is safe. Intuitive — and dangerously wrong.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8749" y="2623617"/>
            <a:ext cx="4103191" cy="1148804"/>
          </a:xfrm>
          <a:prstGeom prst="roundRect">
            <a:avLst>
              <a:gd name="adj" fmla="val 7774"/>
            </a:avLst>
          </a:prstGeom>
          <a:solidFill>
            <a:srgbClr val="9C9283"/>
          </a:solidFill>
          <a:ln/>
        </p:spPr>
      </p:sp>
      <p:sp>
        <p:nvSpPr>
          <p:cNvPr id="8" name="Text 6"/>
          <p:cNvSpPr/>
          <p:nvPr/>
        </p:nvSpPr>
        <p:spPr>
          <a:xfrm>
            <a:off x="4762723" y="2747590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Correct Answer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723" y="3065413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Encryption is only as strong as the authentication that establishes its keys.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KRACK didn't break AES — it subverted the handshake that handed AES its keys.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56171"/>
            <a:ext cx="1651248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9C92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1193378"/>
            <a:ext cx="195962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INCIDENT RESPONSE EXERCISE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9429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Let's Investigate Like Incident Responders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96788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You're the security team at a Canadian university. Thousands of reports flood the help desk in a single morning. Symptoms are strange and inconsistent: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504331"/>
            <a:ext cx="2634555" cy="11449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1530" y="2642592"/>
            <a:ext cx="2300883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🔌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Repeated Disconnects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1530" y="2915617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Students drop from campus Wi-Fi repeatedly — but mobile data works fine.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2504331"/>
            <a:ext cx="2634630" cy="11449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0059" y="2642592"/>
            <a:ext cx="230095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Unexpected Login Prompts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50059" y="2915617"/>
            <a:ext cx="23009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Random credential prompts appear mid-session with no clear trigger.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52" y="2504331"/>
            <a:ext cx="2634555" cy="11449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08663" y="2642592"/>
            <a:ext cx="2300883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Browser Redirects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208663" y="2915617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Browsers redirect to unfamiliar pages. No malware, no alerts, nothing in Active Directory.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96119" y="378879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Standard tools show nothing. You need to diagnose and contain fast — where do you start?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2454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Small Group Exercise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964332"/>
            <a:ext cx="86089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Time: 10 minutes.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Four groups, each investigating a different dimension of the incident. Be specific — you are the responders.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93391"/>
            <a:ext cx="4015755" cy="1287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2429" y="1373981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2445" y="1794123"/>
            <a:ext cx="374310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Indicators of a Wireless Attack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2445" y="2056954"/>
            <a:ext cx="374310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What symptoms point to a wireless attack over malware or insider threat? What typical malware indicators are </a:t>
            </a:r>
            <a:pPr algn="l" indent="0" marL="0">
              <a:lnSpc>
                <a:spcPct val="132000"/>
              </a:lnSpc>
              <a:buNone/>
            </a:pPr>
            <a:r>
              <a:rPr lang="en-US" sz="950" i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absent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?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2052" y="1293391"/>
            <a:ext cx="4015829" cy="12875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48363" y="1373981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768379" y="1794123"/>
            <a:ext cx="3743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How Would You Investigate?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68379" y="2056954"/>
            <a:ext cx="374317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Where do you look? Wireless logs, packet captures, AP logs, auth logs, rogue AP detection. What tools do you use?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701156"/>
            <a:ext cx="4015755" cy="14814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2429" y="2781746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32445" y="3201888"/>
            <a:ext cx="374310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Immediate Containment Actions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2445" y="3464719"/>
            <a:ext cx="3743102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What do you do </a:t>
            </a:r>
            <a:pPr algn="l" indent="0" marL="0">
              <a:lnSpc>
                <a:spcPct val="132000"/>
              </a:lnSpc>
              <a:buNone/>
            </a:pPr>
            <a:r>
              <a:rPr lang="en-US" sz="950" i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right now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? Consider: disabling vulnerable clients, patching AP firmware, segmenting users, sending notifications.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2052" y="2701156"/>
            <a:ext cx="4015829" cy="14814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48363" y="2781746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768379" y="3201888"/>
            <a:ext cx="3743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Would Changing the Wi-Fi Password Help?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68379" y="3464719"/>
            <a:ext cx="374317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Classic instinct. Defend your answer technically — what does a password change protect, and what doesn't it?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96119" y="4317802"/>
            <a:ext cx="8151763" cy="483171"/>
          </a:xfrm>
          <a:prstGeom prst="roundRect">
            <a:avLst>
              <a:gd name="adj" fmla="val 10614"/>
            </a:avLst>
          </a:prstGeom>
          <a:solidFill>
            <a:srgbClr val="E8E6E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58" y="4492154"/>
            <a:ext cx="152623" cy="12203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92820" y="4468490"/>
            <a:ext cx="809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After discussion: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What would your incident report recommend to university leadership?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3095"/>
            <a:ext cx="750391" cy="120700"/>
          </a:xfrm>
          <a:prstGeom prst="roundRect">
            <a:avLst>
              <a:gd name="adj" fmla="val 22122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543744" y="376907"/>
            <a:ext cx="1112341" cy="73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INDUSTRY RESPONSE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494109"/>
            <a:ext cx="8151763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Enter WPA3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96119" y="818778"/>
            <a:ext cx="8608963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KRACK wasn't just a vulnerability — it was an indictment of WPA2's design. The industry's response wasn't a patch. It was a redesign.</a:t>
            </a:r>
            <a:endParaRPr lang="en-US" sz="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77" y="980256"/>
            <a:ext cx="7544172" cy="36486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7049" y="3334453"/>
            <a:ext cx="183413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WPA3 Launch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87049" y="3628935"/>
            <a:ext cx="2796041" cy="15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SAE, forward secrecy, protected frames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87049" y="2445916"/>
            <a:ext cx="183413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Industry Redesign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87049" y="2740397"/>
            <a:ext cx="2796041" cy="15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Trust model rethought and rebuilt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487049" y="1557378"/>
            <a:ext cx="183413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WPA2 Flaw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87049" y="1851859"/>
            <a:ext cx="2796041" cy="15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Core design weakness exposed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96119" y="4686151"/>
            <a:ext cx="8608963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WPA3 redesigned how devices establish trust from the ground up.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804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How WPA3 Addresses KRACK's Weaknesses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3361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Each WPA3 improvement directly targets a failure mode exposed by KRACK — revealing the depth of what was broken and what was learned.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70063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1206" y="2170063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SAE Replaces the Four-Way Handshake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1206" y="2438326"/>
            <a:ext cx="353325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Eliminates the vulnerable handshake entirely. Both parties generate keys independently via Diffie-Hellman — key reinstallation becomes impossible.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2170063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14553" y="2170063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Forward Secrecy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114553" y="2438326"/>
            <a:ext cx="35333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Each session uses a unique key. Capturing traffic today won't help an attacker who obtains the password later.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81735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1206" y="3281735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Protected Management Frames (Mandatory)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61206" y="3549997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Management frames are now cryptographically protected, blocking the deauthentication attacks KRACK relied on.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3281735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14553" y="3281735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Stronger Enterprise Cryptography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114553" y="3549997"/>
            <a:ext cx="353332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WPA3-Enterprise mandates 192-bit encryption suites, aligning Wi-Fi security with government and defense standards.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56543"/>
            <a:ext cx="858589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9C92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1193750"/>
            <a:ext cx="1166961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CLASS DEBATE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9466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WPA2 vs. WPA3: The Real-World Transition Debate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96825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You have five minutes to build your argument, two minutes to present. Think like a practitioner.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06822" y="2306241"/>
            <a:ext cx="4103191" cy="1680642"/>
          </a:xfrm>
          <a:prstGeom prst="roundRect">
            <a:avLst>
              <a:gd name="adj" fmla="val 5314"/>
            </a:avLst>
          </a:prstGeom>
          <a:solidFill>
            <a:srgbClr val="9C9283"/>
          </a:solidFill>
          <a:ln/>
        </p:spPr>
      </p:sp>
      <p:sp>
        <p:nvSpPr>
          <p:cNvPr id="7" name="Text 5"/>
          <p:cNvSpPr/>
          <p:nvPr/>
        </p:nvSpPr>
        <p:spPr>
          <a:xfrm>
            <a:off x="530796" y="2430214"/>
            <a:ext cx="3855244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Team A — "Disable WPA2 Now"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796" y="2752799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Position: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Organizations should immediately disable WPA2 across all infrastructure.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796" y="3261345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Known, unpatched risk exposure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Regulatory compliance obligations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Reputational and legal impact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2430214"/>
            <a:ext cx="392459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🔵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Team B — "Transition Is Realistic"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2752799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Position: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 managed transition is the responsible business decision.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28046" y="3261345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Legacy devices that can't be upgraded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IoT ecosystems with no WPA3 support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Budget cycles and operational risk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074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If You Were the CISO — What Would You Decide?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06314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Step out of the debate and into the decision-maker's chair. The CISO has constraints, stakeholders, and accountability — not perfect answers.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64276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839218"/>
            <a:ext cx="4013895" cy="1428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929780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Assess Your Exposure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198043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Audit every device. Identify what supports WPA3 today, what can be updated, and what's permanently locked to WPA2.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164276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1839218"/>
            <a:ext cx="4013895" cy="1428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1929780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Define a Transition Timeline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198043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Set a firm WPA2 phase-out deadline. Communicate it to leadership and vendors. A transition without a deadline is just a delay.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281195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008412"/>
            <a:ext cx="4013895" cy="1428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098974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Implement Compensating Controls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367236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While WPA2 is live: segment networks, enforce HTTPS, require VPNs for sensitive access, and monitor for handshake anomalies.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281195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008412"/>
            <a:ext cx="4013895" cy="1428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3098974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Document and Report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367236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Document every decision. Risk acceptance and timelines create an audit trail that protects the org and demonstrates governance.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119" y="3996705"/>
            <a:ext cx="14288" cy="675977"/>
          </a:xfrm>
          <a:prstGeom prst="roundRect">
            <a:avLst>
              <a:gd name="adj" fmla="val 59998"/>
            </a:avLst>
          </a:prstGeom>
          <a:solidFill>
            <a:srgbClr val="9C9283"/>
          </a:solidFill>
          <a:ln/>
        </p:spPr>
      </p:sp>
      <p:sp>
        <p:nvSpPr>
          <p:cNvPr id="21" name="Text 19"/>
          <p:cNvSpPr/>
          <p:nvPr/>
        </p:nvSpPr>
        <p:spPr>
          <a:xfrm>
            <a:off x="682154" y="4136231"/>
            <a:ext cx="796572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best security decision isn't the most technically pure one — it's the one your organization can actually execute while minimizing real-world risk.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2026-07-17T17:10:51Z</dcterms:created>
  <dcterms:modified xsi:type="dcterms:W3CDTF">2026-07-17T17:10:51Z</dcterms:modified>
</cp:coreProperties>
</file>