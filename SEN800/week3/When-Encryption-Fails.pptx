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embeddedFontLst>
    <p:embeddedFont>
      <p:font typeface="Noto Serif Medium"/>
      <p:regular r:id="rId22"/>
    </p:embeddedFont>
    <p:embeddedFont>
      <p:font typeface="Noto Serif"/>
      <p:regular r:id="rId23"/>
    </p:embeddedFont>
    <p:embeddedFont>
      <p:font typeface="Noto Serif Bold"/>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DED2"/>
          </a:solidFill>
          <a:ln/>
        </p:spPr>
      </p:sp>
      <p:sp>
        <p:nvSpPr>
          <p:cNvPr id="3" name="Shape 1"/>
          <p:cNvSpPr/>
          <p:nvPr/>
        </p:nvSpPr>
        <p:spPr>
          <a:xfrm>
            <a:off x="0" y="0"/>
            <a:ext cx="9144000" cy="5143500"/>
          </a:xfrm>
          <a:prstGeom prst="rect">
            <a:avLst/>
          </a:prstGeom>
          <a:solidFill>
            <a:srgbClr val="FDFBF7"/>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slideLayout" Target="../slideLayouts/slideLayout1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1877392"/>
            <a:ext cx="4372942"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When Encryption Fails</a:t>
            </a:r>
            <a:endParaRPr lang="en-US" sz="2750" dirty="0"/>
          </a:p>
        </p:txBody>
      </p:sp>
      <p:sp>
        <p:nvSpPr>
          <p:cNvPr id="3" name="Text 1"/>
          <p:cNvSpPr/>
          <p:nvPr/>
        </p:nvSpPr>
        <p:spPr>
          <a:xfrm>
            <a:off x="496119" y="2603897"/>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Strong math. Weak decisions. Real breaches.</a:t>
            </a:r>
            <a:endParaRPr lang="en-US" sz="1100" dirty="0"/>
          </a:p>
        </p:txBody>
      </p:sp>
      <p:sp>
        <p:nvSpPr>
          <p:cNvPr id="4" name="Shape 2"/>
          <p:cNvSpPr/>
          <p:nvPr/>
        </p:nvSpPr>
        <p:spPr>
          <a:xfrm>
            <a:off x="496119" y="2990180"/>
            <a:ext cx="2521223" cy="275927"/>
          </a:xfrm>
          <a:prstGeom prst="roundRect">
            <a:avLst>
              <a:gd name="adj" fmla="val 17263"/>
            </a:avLst>
          </a:prstGeom>
          <a:noFill/>
          <a:ln w="4763">
            <a:solidFill>
              <a:srgbClr val="9C9283"/>
            </a:solidFill>
            <a:prstDash val="solid"/>
          </a:ln>
        </p:spPr>
      </p:sp>
      <p:sp>
        <p:nvSpPr>
          <p:cNvPr id="5" name="Text 3"/>
          <p:cNvSpPr/>
          <p:nvPr/>
        </p:nvSpPr>
        <p:spPr>
          <a:xfrm>
            <a:off x="585936" y="3037433"/>
            <a:ext cx="2798787" cy="181421"/>
          </a:xfrm>
          <a:prstGeom prst="rect">
            <a:avLst/>
          </a:prstGeom>
          <a:noFill/>
          <a:ln/>
        </p:spPr>
        <p:txBody>
          <a:bodyPr wrap="none" lIns="0" tIns="0" rIns="0" bIns="0" rtlCol="0" anchor="t"/>
          <a:lstStyle/>
          <a:p>
            <a:pPr algn="l" indent="0" marL="0">
              <a:lnSpc>
                <a:spcPct val="133000"/>
              </a:lnSpc>
              <a:buNone/>
            </a:pPr>
            <a:r>
              <a:rPr lang="en-US" sz="850" dirty="0">
                <a:solidFill>
                  <a:srgbClr val="9C9283"/>
                </a:solidFill>
                <a:latin typeface="Noto Serif" pitchFamily="34" charset="0"/>
                <a:ea typeface="Noto Serif" pitchFamily="34" charset="-122"/>
                <a:cs typeface="Noto Serif" pitchFamily="34" charset="-120"/>
              </a:rPr>
              <a:t>CANADIAN CYBERSECURITY CASE STUDIES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1185118"/>
            <a:ext cx="1303958" cy="266402"/>
          </a:xfrm>
          <a:prstGeom prst="roundRect">
            <a:avLst>
              <a:gd name="adj" fmla="val 17880"/>
            </a:avLst>
          </a:prstGeom>
          <a:solidFill>
            <a:srgbClr val="E8E6E3"/>
          </a:solidFill>
          <a:ln/>
        </p:spPr>
      </p:sp>
      <p:sp>
        <p:nvSpPr>
          <p:cNvPr id="3" name="Text 1"/>
          <p:cNvSpPr/>
          <p:nvPr/>
        </p:nvSpPr>
        <p:spPr>
          <a:xfrm>
            <a:off x="581174" y="1227609"/>
            <a:ext cx="1591047"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THE CORE PROBLEM</a:t>
            </a:r>
            <a:endParaRPr lang="en-US" sz="850" dirty="0"/>
          </a:p>
        </p:txBody>
      </p:sp>
      <p:sp>
        <p:nvSpPr>
          <p:cNvPr id="4" name="Text 2"/>
          <p:cNvSpPr/>
          <p:nvPr/>
        </p:nvSpPr>
        <p:spPr>
          <a:xfrm>
            <a:off x="496119" y="1508224"/>
            <a:ext cx="5952604"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Encryption Is Not a Silver Bullet</a:t>
            </a:r>
            <a:endParaRPr lang="en-US" sz="2750" dirty="0"/>
          </a:p>
        </p:txBody>
      </p:sp>
      <p:sp>
        <p:nvSpPr>
          <p:cNvPr id="5" name="Shape 3"/>
          <p:cNvSpPr/>
          <p:nvPr/>
        </p:nvSpPr>
        <p:spPr>
          <a:xfrm>
            <a:off x="496119" y="2163812"/>
            <a:ext cx="4004965" cy="826368"/>
          </a:xfrm>
          <a:prstGeom prst="roundRect">
            <a:avLst>
              <a:gd name="adj" fmla="val 7205"/>
            </a:avLst>
          </a:prstGeom>
          <a:solidFill>
            <a:srgbClr val="E6DED2">
              <a:alpha val="50000"/>
            </a:srgbClr>
          </a:solidFill>
          <a:ln w="4763">
            <a:solidFill>
              <a:srgbClr val="CCC4B8"/>
            </a:solidFill>
            <a:prstDash val="solid"/>
          </a:ln>
          <a:effectLst>
            <a:outerShdw sx="100000" sy="100000" kx="0" ky="0" algn="bl" rotWithShape="0" blurRad="0" dist="17780" dir="2700000">
              <a:srgbClr val="ccc4b8">
                <a:alpha val="100000"/>
              </a:srgbClr>
            </a:outerShdw>
          </a:effectLst>
        </p:spPr>
      </p:sp>
      <p:sp>
        <p:nvSpPr>
          <p:cNvPr id="6" name="Text 4"/>
          <p:cNvSpPr/>
          <p:nvPr/>
        </p:nvSpPr>
        <p:spPr>
          <a:xfrm>
            <a:off x="642640" y="2310333"/>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Noto Serif Medium" pitchFamily="34" charset="0"/>
                <a:ea typeface="Noto Serif Medium" pitchFamily="34" charset="-122"/>
                <a:cs typeface="Noto Serif Medium" pitchFamily="34" charset="-120"/>
              </a:rPr>
              <a:t>Algorithm</a:t>
            </a:r>
            <a:endParaRPr lang="en-US" sz="1350" dirty="0"/>
          </a:p>
        </p:txBody>
      </p:sp>
      <p:sp>
        <p:nvSpPr>
          <p:cNvPr id="7" name="Text 5"/>
          <p:cNvSpPr/>
          <p:nvPr/>
        </p:nvSpPr>
        <p:spPr>
          <a:xfrm>
            <a:off x="642640" y="2616845"/>
            <a:ext cx="3711922" cy="226814"/>
          </a:xfrm>
          <a:prstGeom prst="rect">
            <a:avLst/>
          </a:prstGeom>
          <a:noFill/>
          <a:ln/>
        </p:spPr>
        <p:txBody>
          <a:bodyPr wrap="none" lIns="0" tIns="0" rIns="0" bIns="0" rtlCol="0" anchor="t"/>
          <a:lstStyle/>
          <a:p>
            <a:pPr algn="l" indent="0" marL="0">
              <a:lnSpc>
                <a:spcPct val="133000"/>
              </a:lnSpc>
              <a:buNone/>
            </a:pPr>
            <a:r>
              <a:rPr lang="en-US" sz="1100" dirty="0">
                <a:solidFill>
                  <a:srgbClr val="000000"/>
                </a:solidFill>
                <a:latin typeface="Noto Serif" pitchFamily="34" charset="0"/>
                <a:ea typeface="Noto Serif" pitchFamily="34" charset="-122"/>
                <a:cs typeface="Noto Serif" pitchFamily="34" charset="-120"/>
              </a:rPr>
              <a:t>Usually sound</a:t>
            </a:r>
            <a:endParaRPr lang="en-US" sz="1100" dirty="0"/>
          </a:p>
        </p:txBody>
      </p:sp>
      <p:sp>
        <p:nvSpPr>
          <p:cNvPr id="8" name="Shape 6"/>
          <p:cNvSpPr/>
          <p:nvPr/>
        </p:nvSpPr>
        <p:spPr>
          <a:xfrm>
            <a:off x="4642842" y="2163812"/>
            <a:ext cx="4005039" cy="826368"/>
          </a:xfrm>
          <a:prstGeom prst="roundRect">
            <a:avLst>
              <a:gd name="adj" fmla="val 7205"/>
            </a:avLst>
          </a:prstGeom>
          <a:solidFill>
            <a:srgbClr val="E6DED2">
              <a:alpha val="50000"/>
            </a:srgbClr>
          </a:solidFill>
          <a:ln w="4763">
            <a:solidFill>
              <a:srgbClr val="CCC4B8"/>
            </a:solidFill>
            <a:prstDash val="solid"/>
          </a:ln>
          <a:effectLst>
            <a:outerShdw sx="100000" sy="100000" kx="0" ky="0" algn="bl" rotWithShape="0" blurRad="0" dist="17780" dir="2700000">
              <a:srgbClr val="ccc4b8">
                <a:alpha val="100000"/>
              </a:srgbClr>
            </a:outerShdw>
          </a:effectLst>
        </p:spPr>
      </p:sp>
      <p:sp>
        <p:nvSpPr>
          <p:cNvPr id="9" name="Text 7"/>
          <p:cNvSpPr/>
          <p:nvPr/>
        </p:nvSpPr>
        <p:spPr>
          <a:xfrm>
            <a:off x="4789363" y="2310333"/>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Noto Serif Medium" pitchFamily="34" charset="0"/>
                <a:ea typeface="Noto Serif Medium" pitchFamily="34" charset="-122"/>
                <a:cs typeface="Noto Serif Medium" pitchFamily="34" charset="-120"/>
              </a:rPr>
              <a:t>Implementation</a:t>
            </a:r>
            <a:endParaRPr lang="en-US" sz="1350" dirty="0"/>
          </a:p>
        </p:txBody>
      </p:sp>
      <p:sp>
        <p:nvSpPr>
          <p:cNvPr id="10" name="Text 8"/>
          <p:cNvSpPr/>
          <p:nvPr/>
        </p:nvSpPr>
        <p:spPr>
          <a:xfrm>
            <a:off x="4789363" y="2616845"/>
            <a:ext cx="3711997" cy="226814"/>
          </a:xfrm>
          <a:prstGeom prst="rect">
            <a:avLst/>
          </a:prstGeom>
          <a:noFill/>
          <a:ln/>
        </p:spPr>
        <p:txBody>
          <a:bodyPr wrap="none" lIns="0" tIns="0" rIns="0" bIns="0" rtlCol="0" anchor="t"/>
          <a:lstStyle/>
          <a:p>
            <a:pPr algn="l" indent="0" marL="0">
              <a:lnSpc>
                <a:spcPct val="133000"/>
              </a:lnSpc>
              <a:buNone/>
            </a:pPr>
            <a:r>
              <a:rPr lang="en-US" sz="1100" dirty="0">
                <a:solidFill>
                  <a:srgbClr val="000000"/>
                </a:solidFill>
                <a:latin typeface="Noto Serif" pitchFamily="34" charset="0"/>
                <a:ea typeface="Noto Serif" pitchFamily="34" charset="-122"/>
                <a:cs typeface="Noto Serif" pitchFamily="34" charset="-120"/>
              </a:rPr>
              <a:t>Often flawed</a:t>
            </a:r>
            <a:endParaRPr lang="en-US" sz="1100" dirty="0"/>
          </a:p>
        </p:txBody>
      </p:sp>
      <p:sp>
        <p:nvSpPr>
          <p:cNvPr id="11" name="Shape 9"/>
          <p:cNvSpPr/>
          <p:nvPr/>
        </p:nvSpPr>
        <p:spPr>
          <a:xfrm>
            <a:off x="496119" y="3131939"/>
            <a:ext cx="4004965" cy="826368"/>
          </a:xfrm>
          <a:prstGeom prst="roundRect">
            <a:avLst>
              <a:gd name="adj" fmla="val 7205"/>
            </a:avLst>
          </a:prstGeom>
          <a:solidFill>
            <a:srgbClr val="E6DED2">
              <a:alpha val="50000"/>
            </a:srgbClr>
          </a:solidFill>
          <a:ln w="4763">
            <a:solidFill>
              <a:srgbClr val="CCC4B8"/>
            </a:solidFill>
            <a:prstDash val="solid"/>
          </a:ln>
          <a:effectLst>
            <a:outerShdw sx="100000" sy="100000" kx="0" ky="0" algn="bl" rotWithShape="0" blurRad="0" dist="17780" dir="2700000">
              <a:srgbClr val="ccc4b8">
                <a:alpha val="100000"/>
              </a:srgbClr>
            </a:outerShdw>
          </a:effectLst>
        </p:spPr>
      </p:sp>
      <p:sp>
        <p:nvSpPr>
          <p:cNvPr id="12" name="Text 10"/>
          <p:cNvSpPr/>
          <p:nvPr/>
        </p:nvSpPr>
        <p:spPr>
          <a:xfrm>
            <a:off x="642640" y="3278460"/>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Noto Serif Medium" pitchFamily="34" charset="0"/>
                <a:ea typeface="Noto Serif Medium" pitchFamily="34" charset="-122"/>
                <a:cs typeface="Noto Serif Medium" pitchFamily="34" charset="-120"/>
              </a:rPr>
              <a:t>Key Management</a:t>
            </a:r>
            <a:endParaRPr lang="en-US" sz="1350" dirty="0"/>
          </a:p>
        </p:txBody>
      </p:sp>
      <p:sp>
        <p:nvSpPr>
          <p:cNvPr id="13" name="Text 11"/>
          <p:cNvSpPr/>
          <p:nvPr/>
        </p:nvSpPr>
        <p:spPr>
          <a:xfrm>
            <a:off x="642640" y="3584972"/>
            <a:ext cx="3711922" cy="226814"/>
          </a:xfrm>
          <a:prstGeom prst="rect">
            <a:avLst/>
          </a:prstGeom>
          <a:noFill/>
          <a:ln/>
        </p:spPr>
        <p:txBody>
          <a:bodyPr wrap="none" lIns="0" tIns="0" rIns="0" bIns="0" rtlCol="0" anchor="t"/>
          <a:lstStyle/>
          <a:p>
            <a:pPr algn="l" indent="0" marL="0">
              <a:lnSpc>
                <a:spcPct val="133000"/>
              </a:lnSpc>
              <a:buNone/>
            </a:pPr>
            <a:r>
              <a:rPr lang="en-US" sz="1100" dirty="0">
                <a:solidFill>
                  <a:srgbClr val="000000"/>
                </a:solidFill>
                <a:latin typeface="Noto Serif" pitchFamily="34" charset="0"/>
                <a:ea typeface="Noto Serif" pitchFamily="34" charset="-122"/>
                <a:cs typeface="Noto Serif" pitchFamily="34" charset="-120"/>
              </a:rPr>
              <a:t>Frequently broken</a:t>
            </a:r>
            <a:endParaRPr lang="en-US" sz="1100" dirty="0"/>
          </a:p>
        </p:txBody>
      </p:sp>
      <p:sp>
        <p:nvSpPr>
          <p:cNvPr id="14" name="Shape 12"/>
          <p:cNvSpPr/>
          <p:nvPr/>
        </p:nvSpPr>
        <p:spPr>
          <a:xfrm>
            <a:off x="4642842" y="3131939"/>
            <a:ext cx="4005039" cy="826368"/>
          </a:xfrm>
          <a:prstGeom prst="roundRect">
            <a:avLst>
              <a:gd name="adj" fmla="val 7205"/>
            </a:avLst>
          </a:prstGeom>
          <a:solidFill>
            <a:srgbClr val="E6DED2">
              <a:alpha val="50000"/>
            </a:srgbClr>
          </a:solidFill>
          <a:ln w="4763">
            <a:solidFill>
              <a:srgbClr val="CCC4B8"/>
            </a:solidFill>
            <a:prstDash val="solid"/>
          </a:ln>
          <a:effectLst>
            <a:outerShdw sx="100000" sy="100000" kx="0" ky="0" algn="bl" rotWithShape="0" blurRad="0" dist="17780" dir="2700000">
              <a:srgbClr val="ccc4b8">
                <a:alpha val="100000"/>
              </a:srgbClr>
            </a:outerShdw>
          </a:effectLst>
        </p:spPr>
      </p:sp>
      <p:sp>
        <p:nvSpPr>
          <p:cNvPr id="15" name="Text 13"/>
          <p:cNvSpPr/>
          <p:nvPr/>
        </p:nvSpPr>
        <p:spPr>
          <a:xfrm>
            <a:off x="4789363" y="3278460"/>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Noto Serif Medium" pitchFamily="34" charset="0"/>
                <a:ea typeface="Noto Serif Medium" pitchFamily="34" charset="-122"/>
                <a:cs typeface="Noto Serif Medium" pitchFamily="34" charset="-120"/>
              </a:rPr>
              <a:t>Human Decisions</a:t>
            </a:r>
            <a:endParaRPr lang="en-US" sz="1350" dirty="0"/>
          </a:p>
        </p:txBody>
      </p:sp>
      <p:sp>
        <p:nvSpPr>
          <p:cNvPr id="16" name="Text 14"/>
          <p:cNvSpPr/>
          <p:nvPr/>
        </p:nvSpPr>
        <p:spPr>
          <a:xfrm>
            <a:off x="4789363" y="3584972"/>
            <a:ext cx="3711997" cy="226814"/>
          </a:xfrm>
          <a:prstGeom prst="rect">
            <a:avLst/>
          </a:prstGeom>
          <a:noFill/>
          <a:ln/>
        </p:spPr>
        <p:txBody>
          <a:bodyPr wrap="none" lIns="0" tIns="0" rIns="0" bIns="0" rtlCol="0" anchor="t"/>
          <a:lstStyle/>
          <a:p>
            <a:pPr algn="l" indent="0" marL="0">
              <a:lnSpc>
                <a:spcPct val="133000"/>
              </a:lnSpc>
              <a:buNone/>
            </a:pPr>
            <a:r>
              <a:rPr lang="en-US" sz="1100" dirty="0">
                <a:solidFill>
                  <a:srgbClr val="000000"/>
                </a:solidFill>
                <a:latin typeface="Noto Serif" pitchFamily="34" charset="0"/>
                <a:ea typeface="Noto Serif" pitchFamily="34" charset="-122"/>
                <a:cs typeface="Noto Serif" pitchFamily="34" charset="-120"/>
              </a:rPr>
              <a:t>The real weak point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1435596"/>
            <a:ext cx="934120" cy="266402"/>
          </a:xfrm>
          <a:prstGeom prst="roundRect">
            <a:avLst>
              <a:gd name="adj" fmla="val 17880"/>
            </a:avLst>
          </a:prstGeom>
          <a:solidFill>
            <a:srgbClr val="E8E6E3"/>
          </a:solidFill>
          <a:ln/>
        </p:spPr>
      </p:sp>
      <p:sp>
        <p:nvSpPr>
          <p:cNvPr id="3" name="Text 1"/>
          <p:cNvSpPr/>
          <p:nvPr/>
        </p:nvSpPr>
        <p:spPr>
          <a:xfrm>
            <a:off x="581174" y="1478087"/>
            <a:ext cx="122120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1</a:t>
            </a:r>
            <a:endParaRPr lang="en-US" sz="850" dirty="0"/>
          </a:p>
        </p:txBody>
      </p:sp>
      <p:sp>
        <p:nvSpPr>
          <p:cNvPr id="4" name="Text 2"/>
          <p:cNvSpPr/>
          <p:nvPr/>
        </p:nvSpPr>
        <p:spPr>
          <a:xfrm>
            <a:off x="496119" y="1758702"/>
            <a:ext cx="5851327"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CRA Credential Stuffing — 2020</a:t>
            </a:r>
            <a:endParaRPr lang="en-US" sz="2750" dirty="0"/>
          </a:p>
        </p:txBody>
      </p:sp>
      <p:sp>
        <p:nvSpPr>
          <p:cNvPr id="5" name="Text 3"/>
          <p:cNvSpPr/>
          <p:nvPr/>
        </p:nvSpPr>
        <p:spPr>
          <a:xfrm>
            <a:off x="496119" y="2414290"/>
            <a:ext cx="8151763" cy="1293540"/>
          </a:xfrm>
          <a:prstGeom prst="rect">
            <a:avLst/>
          </a:prstGeom>
          <a:noFill/>
          <a:ln/>
        </p:spPr>
        <p:txBody>
          <a:bodyPr wrap="square" lIns="0" tIns="0" rIns="0" bIns="0" rtlCol="0" anchor="t">
            <a:normAutofit/>
          </a:bodyPr>
          <a:lstStyle/>
          <a:p>
            <a:pPr algn="l" indent="0" marL="0">
              <a:lnSpc>
                <a:spcPct val="133000"/>
              </a:lnSpc>
              <a:spcAft>
                <a:spcPts val="1250"/>
              </a:spcAft>
              <a:buNone/>
            </a:pPr>
            <a:r>
              <a:rPr lang="en-US" sz="1100" dirty="0">
                <a:solidFill>
                  <a:srgbClr val="4C4C4C"/>
                </a:solidFill>
                <a:latin typeface="Noto Serif" pitchFamily="34" charset="0"/>
                <a:ea typeface="Noto Serif" pitchFamily="34" charset="-122"/>
                <a:cs typeface="Noto Serif" pitchFamily="34" charset="-120"/>
              </a:rPr>
              <a:t>In 2020, attackers used previously stolen credentials from unrelated breaches to access CRA and GCKey accounts. By taking advantage of password reuse, they were able to bypass account protections and gain unauthorized access to thousands of Canadians' accounts.</a:t>
            </a:r>
            <a:endParaRPr lang="en-US" sz="1100" dirty="0"/>
          </a:p>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This incident underscored how compromised credentials from one breach can quickly become a major threat somewhere else, especially when identity controls are weak.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1173510"/>
            <a:ext cx="2303859" cy="266402"/>
          </a:xfrm>
          <a:prstGeom prst="roundRect">
            <a:avLst>
              <a:gd name="adj" fmla="val 17880"/>
            </a:avLst>
          </a:prstGeom>
          <a:solidFill>
            <a:srgbClr val="E8E6E3"/>
          </a:solidFill>
          <a:ln/>
        </p:spPr>
      </p:sp>
      <p:sp>
        <p:nvSpPr>
          <p:cNvPr id="3" name="Text 1"/>
          <p:cNvSpPr/>
          <p:nvPr/>
        </p:nvSpPr>
        <p:spPr>
          <a:xfrm>
            <a:off x="581174" y="1216000"/>
            <a:ext cx="259094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1 — WHAT WENT WRONG</a:t>
            </a:r>
            <a:endParaRPr lang="en-US" sz="850" dirty="0"/>
          </a:p>
        </p:txBody>
      </p:sp>
      <p:sp>
        <p:nvSpPr>
          <p:cNvPr id="4" name="Text 2"/>
          <p:cNvSpPr/>
          <p:nvPr/>
        </p:nvSpPr>
        <p:spPr>
          <a:xfrm>
            <a:off x="496119" y="1496616"/>
            <a:ext cx="5358705"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Where Encryption Fell Short</a:t>
            </a:r>
            <a:endParaRPr lang="en-US" sz="2750" dirty="0"/>
          </a:p>
        </p:txBody>
      </p:sp>
      <p:sp>
        <p:nvSpPr>
          <p:cNvPr id="5" name="Text 3"/>
          <p:cNvSpPr/>
          <p:nvPr/>
        </p:nvSpPr>
        <p:spPr>
          <a:xfrm>
            <a:off x="496119" y="2152204"/>
            <a:ext cx="8151763" cy="1055936"/>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Encryption at rest was in place, but it did not protect against account takeover</a:t>
            </a:r>
            <a:endParaRPr lang="en-US" sz="1100" dirty="0"/>
          </a:p>
          <a:p>
            <a:pPr algn="l" marL="342900" indent="-34290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Strong MFA was not enforced consistently enough to stop unauthorized access</a:t>
            </a:r>
            <a:endParaRPr lang="en-US" sz="1100" dirty="0"/>
          </a:p>
          <a:p>
            <a:pPr algn="l" marL="342900" indent="-34290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Previously stolen credentials were reused, defeating the protection layer</a:t>
            </a:r>
            <a:endParaRPr lang="en-US" sz="1100" dirty="0"/>
          </a:p>
          <a:p>
            <a:pPr algn="l" marL="342900" indent="-34290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Password reuse turned a separate breach into a direct threat to CRA and GCKey accounts</a:t>
            </a:r>
            <a:endParaRPr lang="en-US" sz="1100" dirty="0"/>
          </a:p>
        </p:txBody>
      </p:sp>
      <p:sp>
        <p:nvSpPr>
          <p:cNvPr id="6" name="Shape 4"/>
          <p:cNvSpPr/>
          <p:nvPr/>
        </p:nvSpPr>
        <p:spPr>
          <a:xfrm>
            <a:off x="496119" y="3367608"/>
            <a:ext cx="8151763" cy="602382"/>
          </a:xfrm>
          <a:prstGeom prst="roundRect">
            <a:avLst>
              <a:gd name="adj" fmla="val 9884"/>
            </a:avLst>
          </a:prstGeom>
          <a:solidFill>
            <a:srgbClr val="FCF2B5"/>
          </a:solidFill>
          <a:ln/>
        </p:spPr>
      </p:sp>
      <p:pic>
        <p:nvPicPr>
          <p:cNvPr id="7" name="Image 0" descr="preencoded.png">    </p:cNvPr>
          <p:cNvPicPr>
            <a:picLocks noChangeAspect="1"/>
          </p:cNvPicPr>
          <p:nvPr/>
        </p:nvPicPr>
        <p:blipFill>
          <a:blip r:embed="rId1"/>
          <a:stretch>
            <a:fillRect/>
          </a:stretch>
        </p:blipFill>
        <p:spPr>
          <a:xfrm>
            <a:off x="637877" y="3587428"/>
            <a:ext cx="177180" cy="141759"/>
          </a:xfrm>
          <a:prstGeom prst="rect">
            <a:avLst/>
          </a:prstGeom>
        </p:spPr>
      </p:pic>
      <p:sp>
        <p:nvSpPr>
          <p:cNvPr id="8" name="Text 5"/>
          <p:cNvSpPr/>
          <p:nvPr/>
        </p:nvSpPr>
        <p:spPr>
          <a:xfrm>
            <a:off x="956816" y="3544788"/>
            <a:ext cx="8006507" cy="226814"/>
          </a:xfrm>
          <a:prstGeom prst="rect">
            <a:avLst/>
          </a:prstGeom>
          <a:noFill/>
          <a:ln/>
        </p:spPr>
        <p:txBody>
          <a:bodyPr wrap="none" lIns="0" tIns="0" rIns="0" bIns="0" rtlCol="0" anchor="t"/>
          <a:lstStyle/>
          <a:p>
            <a:pPr algn="l" indent="0" marL="0">
              <a:lnSpc>
                <a:spcPct val="133000"/>
              </a:lnSpc>
              <a:buNone/>
            </a:pPr>
            <a:r>
              <a:rPr lang="en-US" sz="1100" dirty="0">
                <a:solidFill>
                  <a:srgbClr val="000000"/>
                </a:solidFill>
                <a:latin typeface="Noto Serif" pitchFamily="34" charset="0"/>
                <a:ea typeface="Noto Serif" pitchFamily="34" charset="-122"/>
                <a:cs typeface="Noto Serif" pitchFamily="34" charset="-120"/>
              </a:rPr>
              <a:t>Encryption protects data — not poor identity behaviour.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1523330"/>
            <a:ext cx="934120" cy="266402"/>
          </a:xfrm>
          <a:prstGeom prst="roundRect">
            <a:avLst>
              <a:gd name="adj" fmla="val 17880"/>
            </a:avLst>
          </a:prstGeom>
          <a:solidFill>
            <a:srgbClr val="E8E6E3"/>
          </a:solidFill>
          <a:ln/>
        </p:spPr>
      </p:sp>
      <p:sp>
        <p:nvSpPr>
          <p:cNvPr id="3" name="Text 1"/>
          <p:cNvSpPr/>
          <p:nvPr/>
        </p:nvSpPr>
        <p:spPr>
          <a:xfrm>
            <a:off x="581174" y="1565821"/>
            <a:ext cx="122120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2</a:t>
            </a:r>
            <a:endParaRPr lang="en-US" sz="850" dirty="0"/>
          </a:p>
        </p:txBody>
      </p:sp>
      <p:sp>
        <p:nvSpPr>
          <p:cNvPr id="4" name="Text 2"/>
          <p:cNvSpPr/>
          <p:nvPr/>
        </p:nvSpPr>
        <p:spPr>
          <a:xfrm>
            <a:off x="496119" y="1846436"/>
            <a:ext cx="6246019"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Desjardins Insider Breach — 2019</a:t>
            </a:r>
            <a:endParaRPr lang="en-US" sz="2750" dirty="0"/>
          </a:p>
        </p:txBody>
      </p:sp>
      <p:sp>
        <p:nvSpPr>
          <p:cNvPr id="5" name="Text 3"/>
          <p:cNvSpPr/>
          <p:nvPr/>
        </p:nvSpPr>
        <p:spPr>
          <a:xfrm>
            <a:off x="496119" y="2346127"/>
            <a:ext cx="2229222" cy="221456"/>
          </a:xfrm>
          <a:prstGeom prst="rect">
            <a:avLst/>
          </a:prstGeom>
          <a:noFill/>
          <a:ln/>
        </p:spPr>
        <p:txBody>
          <a:bodyPr wrap="none" lIns="0" tIns="0" rIns="0" bIns="0" rtlCol="0" anchor="t"/>
          <a:lstStyle/>
          <a:p>
            <a:pPr algn="l" indent="0" marL="0">
              <a:lnSpc>
                <a:spcPct val="104000"/>
              </a:lnSpc>
              <a:buNone/>
            </a:pPr>
            <a:r>
              <a:rPr lang="en-US" sz="1350" dirty="0">
                <a:solidFill>
                  <a:srgbClr val="3A3A3A"/>
                </a:solidFill>
                <a:latin typeface="Noto Serif Medium" pitchFamily="34" charset="0"/>
                <a:ea typeface="Noto Serif Medium" pitchFamily="34" charset="-122"/>
                <a:cs typeface="Noto Serif Medium" pitchFamily="34" charset="-120"/>
              </a:rPr>
              <a:t>What Happened</a:t>
            </a:r>
            <a:endParaRPr lang="en-US" sz="1350" dirty="0"/>
          </a:p>
        </p:txBody>
      </p:sp>
      <p:sp>
        <p:nvSpPr>
          <p:cNvPr id="6" name="Text 4"/>
          <p:cNvSpPr/>
          <p:nvPr/>
        </p:nvSpPr>
        <p:spPr>
          <a:xfrm>
            <a:off x="496119" y="2780184"/>
            <a:ext cx="8151763" cy="839912"/>
          </a:xfrm>
          <a:prstGeom prst="rect">
            <a:avLst/>
          </a:prstGeom>
          <a:noFill/>
          <a:ln/>
        </p:spPr>
        <p:txBody>
          <a:bodyPr wrap="square" lIns="0" tIns="0" rIns="0" bIns="0" rtlCol="0" anchor="t">
            <a:normAutofit/>
          </a:bodyPr>
          <a:lstStyle/>
          <a:p>
            <a:pPr algn="l" indent="0" marL="0">
              <a:lnSpc>
                <a:spcPct val="133000"/>
              </a:lnSpc>
              <a:spcAft>
                <a:spcPts val="1250"/>
              </a:spcAft>
              <a:buNone/>
            </a:pPr>
            <a:r>
              <a:rPr lang="en-US" sz="1100" dirty="0">
                <a:solidFill>
                  <a:srgbClr val="4C4C4C"/>
                </a:solidFill>
                <a:latin typeface="Noto Serif" pitchFamily="34" charset="0"/>
                <a:ea typeface="Noto Serif" pitchFamily="34" charset="-122"/>
                <a:cs typeface="Noto Serif" pitchFamily="34" charset="-120"/>
              </a:rPr>
              <a:t>An employee with legitimate access extracted sensitive data on millions of members, contributing to one of Canada's largest ever privacy breaches.</a:t>
            </a:r>
            <a:endParaRPr lang="en-US" sz="1100" dirty="0"/>
          </a:p>
          <a:p>
            <a:pPr algn="l" indent="0" marL="0">
              <a:lnSpc>
                <a:spcPct val="133000"/>
              </a:lnSpc>
              <a:buNone/>
            </a:pPr>
            <a:r>
              <a:rPr lang="en-US" sz="1100" b="1" dirty="0">
                <a:solidFill>
                  <a:srgbClr val="4C4C4C"/>
                </a:solidFill>
                <a:latin typeface="Noto Serif" pitchFamily="34" charset="0"/>
                <a:ea typeface="Noto Serif" pitchFamily="34" charset="-122"/>
                <a:cs typeface="Noto Serif" pitchFamily="34" charset="-120"/>
              </a:rPr>
              <a:t>Scale:</a:t>
            </a:r>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 4.2 million members affected, with personal and financial data exposed.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1361256"/>
            <a:ext cx="2303859" cy="266402"/>
          </a:xfrm>
          <a:prstGeom prst="roundRect">
            <a:avLst>
              <a:gd name="adj" fmla="val 17880"/>
            </a:avLst>
          </a:prstGeom>
          <a:solidFill>
            <a:srgbClr val="E8E6E3"/>
          </a:solidFill>
          <a:ln/>
        </p:spPr>
      </p:sp>
      <p:sp>
        <p:nvSpPr>
          <p:cNvPr id="3" name="Text 1"/>
          <p:cNvSpPr/>
          <p:nvPr/>
        </p:nvSpPr>
        <p:spPr>
          <a:xfrm>
            <a:off x="581174" y="1403747"/>
            <a:ext cx="259094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2 — WHAT WENT WRONG</a:t>
            </a:r>
            <a:endParaRPr lang="en-US" sz="850" dirty="0"/>
          </a:p>
        </p:txBody>
      </p:sp>
      <p:sp>
        <p:nvSpPr>
          <p:cNvPr id="4" name="Text 2"/>
          <p:cNvSpPr/>
          <p:nvPr/>
        </p:nvSpPr>
        <p:spPr>
          <a:xfrm>
            <a:off x="496119" y="1684362"/>
            <a:ext cx="5358705"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Where Encryption Fell Short</a:t>
            </a:r>
            <a:endParaRPr lang="en-US" sz="2750" dirty="0"/>
          </a:p>
        </p:txBody>
      </p:sp>
      <p:sp>
        <p:nvSpPr>
          <p:cNvPr id="5" name="Shape 3"/>
          <p:cNvSpPr/>
          <p:nvPr/>
        </p:nvSpPr>
        <p:spPr>
          <a:xfrm>
            <a:off x="496119" y="2417936"/>
            <a:ext cx="70842" cy="70842"/>
          </a:xfrm>
          <a:prstGeom prst="roundRect">
            <a:avLst>
              <a:gd name="adj" fmla="val 403362"/>
            </a:avLst>
          </a:prstGeom>
          <a:solidFill>
            <a:srgbClr val="E6DED2"/>
          </a:solidFill>
          <a:ln/>
        </p:spPr>
      </p:sp>
      <p:sp>
        <p:nvSpPr>
          <p:cNvPr id="6" name="Text 4"/>
          <p:cNvSpPr/>
          <p:nvPr/>
        </p:nvSpPr>
        <p:spPr>
          <a:xfrm>
            <a:off x="708720" y="2339950"/>
            <a:ext cx="238653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Databases were encrypted, but that did not prevent access by authorized insiders.</a:t>
            </a:r>
            <a:endParaRPr lang="en-US" sz="1100" dirty="0"/>
          </a:p>
        </p:txBody>
      </p:sp>
      <p:sp>
        <p:nvSpPr>
          <p:cNvPr id="7" name="Shape 5"/>
          <p:cNvSpPr/>
          <p:nvPr/>
        </p:nvSpPr>
        <p:spPr>
          <a:xfrm>
            <a:off x="3272433" y="2417936"/>
            <a:ext cx="70842" cy="70842"/>
          </a:xfrm>
          <a:prstGeom prst="roundRect">
            <a:avLst>
              <a:gd name="adj" fmla="val 403362"/>
            </a:avLst>
          </a:prstGeom>
          <a:solidFill>
            <a:srgbClr val="E6DED2"/>
          </a:solidFill>
          <a:ln/>
        </p:spPr>
      </p:sp>
      <p:sp>
        <p:nvSpPr>
          <p:cNvPr id="8" name="Text 6"/>
          <p:cNvSpPr/>
          <p:nvPr/>
        </p:nvSpPr>
        <p:spPr>
          <a:xfrm>
            <a:off x="3485034" y="2339950"/>
            <a:ext cx="238653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Existing controls were bypassed by someone with legitimate credentials and access.</a:t>
            </a:r>
            <a:endParaRPr lang="en-US" sz="1100" dirty="0"/>
          </a:p>
        </p:txBody>
      </p:sp>
      <p:sp>
        <p:nvSpPr>
          <p:cNvPr id="9" name="Shape 7"/>
          <p:cNvSpPr/>
          <p:nvPr/>
        </p:nvSpPr>
        <p:spPr>
          <a:xfrm>
            <a:off x="6048747" y="2417936"/>
            <a:ext cx="70842" cy="70842"/>
          </a:xfrm>
          <a:prstGeom prst="roundRect">
            <a:avLst>
              <a:gd name="adj" fmla="val 403362"/>
            </a:avLst>
          </a:prstGeom>
          <a:solidFill>
            <a:srgbClr val="E6DED2"/>
          </a:solidFill>
          <a:ln/>
        </p:spPr>
      </p:sp>
      <p:sp>
        <p:nvSpPr>
          <p:cNvPr id="10" name="Text 8"/>
          <p:cNvSpPr/>
          <p:nvPr/>
        </p:nvSpPr>
        <p:spPr>
          <a:xfrm>
            <a:off x="6261348" y="2339950"/>
            <a:ext cx="238653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No effective monitoring detected the misuse quickly enough to stop the breach in time.</a:t>
            </a:r>
            <a:endParaRPr lang="en-US" sz="1100" dirty="0"/>
          </a:p>
        </p:txBody>
      </p:sp>
      <p:sp>
        <p:nvSpPr>
          <p:cNvPr id="11" name="Shape 9"/>
          <p:cNvSpPr/>
          <p:nvPr/>
        </p:nvSpPr>
        <p:spPr>
          <a:xfrm>
            <a:off x="496119" y="3179862"/>
            <a:ext cx="8151763" cy="602382"/>
          </a:xfrm>
          <a:prstGeom prst="roundRect">
            <a:avLst>
              <a:gd name="adj" fmla="val 9884"/>
            </a:avLst>
          </a:prstGeom>
          <a:solidFill>
            <a:srgbClr val="FCF2B5"/>
          </a:solidFill>
          <a:ln/>
        </p:spPr>
      </p:sp>
      <p:pic>
        <p:nvPicPr>
          <p:cNvPr id="12" name="Image 0" descr="preencoded.png">    </p:cNvPr>
          <p:cNvPicPr>
            <a:picLocks noChangeAspect="1"/>
          </p:cNvPicPr>
          <p:nvPr/>
        </p:nvPicPr>
        <p:blipFill>
          <a:blip r:embed="rId1"/>
          <a:stretch>
            <a:fillRect/>
          </a:stretch>
        </p:blipFill>
        <p:spPr>
          <a:xfrm>
            <a:off x="637877" y="3399681"/>
            <a:ext cx="177180" cy="141759"/>
          </a:xfrm>
          <a:prstGeom prst="rect">
            <a:avLst/>
          </a:prstGeom>
        </p:spPr>
      </p:pic>
      <p:sp>
        <p:nvSpPr>
          <p:cNvPr id="13" name="Text 10"/>
          <p:cNvSpPr/>
          <p:nvPr/>
        </p:nvSpPr>
        <p:spPr>
          <a:xfrm>
            <a:off x="956816" y="3357042"/>
            <a:ext cx="8006507" cy="226814"/>
          </a:xfrm>
          <a:prstGeom prst="rect">
            <a:avLst/>
          </a:prstGeom>
          <a:noFill/>
          <a:ln/>
        </p:spPr>
        <p:txBody>
          <a:bodyPr wrap="none" lIns="0" tIns="0" rIns="0" bIns="0" rtlCol="0" anchor="t"/>
          <a:lstStyle/>
          <a:p>
            <a:pPr algn="l" indent="0" marL="0">
              <a:lnSpc>
                <a:spcPct val="133000"/>
              </a:lnSpc>
              <a:buNone/>
            </a:pPr>
            <a:r>
              <a:rPr lang="en-US" sz="1100" dirty="0">
                <a:solidFill>
                  <a:srgbClr val="000000"/>
                </a:solidFill>
                <a:latin typeface="Noto Serif" pitchFamily="34" charset="0"/>
                <a:ea typeface="Noto Serif" pitchFamily="34" charset="-122"/>
                <a:cs typeface="Noto Serif" pitchFamily="34" charset="-120"/>
              </a:rPr>
              <a:t>Encryption cannot stop someone who already has the key.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1742182"/>
            <a:ext cx="934120" cy="266402"/>
          </a:xfrm>
          <a:prstGeom prst="roundRect">
            <a:avLst>
              <a:gd name="adj" fmla="val 17880"/>
            </a:avLst>
          </a:prstGeom>
          <a:solidFill>
            <a:srgbClr val="E8E6E3"/>
          </a:solidFill>
          <a:ln/>
        </p:spPr>
      </p:sp>
      <p:sp>
        <p:nvSpPr>
          <p:cNvPr id="3" name="Text 1"/>
          <p:cNvSpPr/>
          <p:nvPr/>
        </p:nvSpPr>
        <p:spPr>
          <a:xfrm>
            <a:off x="581174" y="1784672"/>
            <a:ext cx="122120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3</a:t>
            </a:r>
            <a:endParaRPr lang="en-US" sz="850" dirty="0"/>
          </a:p>
        </p:txBody>
      </p:sp>
      <p:sp>
        <p:nvSpPr>
          <p:cNvPr id="4" name="Text 2"/>
          <p:cNvSpPr/>
          <p:nvPr/>
        </p:nvSpPr>
        <p:spPr>
          <a:xfrm>
            <a:off x="496119" y="2065288"/>
            <a:ext cx="7748885"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BlackBerry — When Keys Became Political</a:t>
            </a:r>
            <a:endParaRPr lang="en-US" sz="2750" dirty="0"/>
          </a:p>
        </p:txBody>
      </p:sp>
      <p:sp>
        <p:nvSpPr>
          <p:cNvPr id="5" name="Text 3"/>
          <p:cNvSpPr/>
          <p:nvPr/>
        </p:nvSpPr>
        <p:spPr>
          <a:xfrm>
            <a:off x="496119" y="2720876"/>
            <a:ext cx="815176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Governments demanded access to encrypted BlackBerry traffic. In some cases, server-side key arrangements reportedly allowed access — without breaking the math. Countries including India and the UAE threatened to ban BlackBerry services.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1247849"/>
            <a:ext cx="2303859" cy="266402"/>
          </a:xfrm>
          <a:prstGeom prst="roundRect">
            <a:avLst>
              <a:gd name="adj" fmla="val 17880"/>
            </a:avLst>
          </a:prstGeom>
          <a:solidFill>
            <a:srgbClr val="E8E6E3"/>
          </a:solidFill>
          <a:ln/>
        </p:spPr>
      </p:sp>
      <p:sp>
        <p:nvSpPr>
          <p:cNvPr id="3" name="Text 1"/>
          <p:cNvSpPr/>
          <p:nvPr/>
        </p:nvSpPr>
        <p:spPr>
          <a:xfrm>
            <a:off x="581174" y="1290340"/>
            <a:ext cx="259094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3 — WHAT WENT WRONG</a:t>
            </a:r>
            <a:endParaRPr lang="en-US" sz="850" dirty="0"/>
          </a:p>
        </p:txBody>
      </p:sp>
      <p:sp>
        <p:nvSpPr>
          <p:cNvPr id="4" name="Text 2"/>
          <p:cNvSpPr/>
          <p:nvPr/>
        </p:nvSpPr>
        <p:spPr>
          <a:xfrm>
            <a:off x="496119" y="1570955"/>
            <a:ext cx="5358705"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Where Encryption Fell Short</a:t>
            </a:r>
            <a:endParaRPr lang="en-US" sz="2750" dirty="0"/>
          </a:p>
        </p:txBody>
      </p:sp>
      <p:sp>
        <p:nvSpPr>
          <p:cNvPr id="5" name="Shape 3"/>
          <p:cNvSpPr/>
          <p:nvPr/>
        </p:nvSpPr>
        <p:spPr>
          <a:xfrm>
            <a:off x="496119" y="2304529"/>
            <a:ext cx="70842" cy="70842"/>
          </a:xfrm>
          <a:prstGeom prst="roundRect">
            <a:avLst>
              <a:gd name="adj" fmla="val 403362"/>
            </a:avLst>
          </a:prstGeom>
          <a:solidFill>
            <a:srgbClr val="E6DED2"/>
          </a:solidFill>
          <a:ln/>
        </p:spPr>
      </p:sp>
      <p:sp>
        <p:nvSpPr>
          <p:cNvPr id="6" name="Text 4"/>
          <p:cNvSpPr/>
          <p:nvPr/>
        </p:nvSpPr>
        <p:spPr>
          <a:xfrm>
            <a:off x="708720" y="2226543"/>
            <a:ext cx="2386533"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The trust model was undermined when government access expectations entered the security design.</a:t>
            </a:r>
            <a:endParaRPr lang="en-US" sz="1100" dirty="0"/>
          </a:p>
        </p:txBody>
      </p:sp>
      <p:sp>
        <p:nvSpPr>
          <p:cNvPr id="7" name="Shape 5"/>
          <p:cNvSpPr/>
          <p:nvPr/>
        </p:nvSpPr>
        <p:spPr>
          <a:xfrm>
            <a:off x="3272433" y="2304529"/>
            <a:ext cx="70842" cy="70842"/>
          </a:xfrm>
          <a:prstGeom prst="roundRect">
            <a:avLst>
              <a:gd name="adj" fmla="val 403362"/>
            </a:avLst>
          </a:prstGeom>
          <a:solidFill>
            <a:srgbClr val="E6DED2"/>
          </a:solidFill>
          <a:ln/>
        </p:spPr>
      </p:sp>
      <p:sp>
        <p:nvSpPr>
          <p:cNvPr id="8" name="Text 6"/>
          <p:cNvSpPr/>
          <p:nvPr/>
        </p:nvSpPr>
        <p:spPr>
          <a:xfrm>
            <a:off x="3485034" y="2226543"/>
            <a:ext cx="238653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Key ownership became ambiguous: who controlled the keys, and on whose behalf?</a:t>
            </a:r>
            <a:endParaRPr lang="en-US" sz="1100" dirty="0"/>
          </a:p>
        </p:txBody>
      </p:sp>
      <p:sp>
        <p:nvSpPr>
          <p:cNvPr id="9" name="Shape 7"/>
          <p:cNvSpPr/>
          <p:nvPr/>
        </p:nvSpPr>
        <p:spPr>
          <a:xfrm>
            <a:off x="6048747" y="2304529"/>
            <a:ext cx="70842" cy="70842"/>
          </a:xfrm>
          <a:prstGeom prst="roundRect">
            <a:avLst>
              <a:gd name="adj" fmla="val 403362"/>
            </a:avLst>
          </a:prstGeom>
          <a:solidFill>
            <a:srgbClr val="E6DED2"/>
          </a:solidFill>
          <a:ln/>
        </p:spPr>
      </p:sp>
      <p:sp>
        <p:nvSpPr>
          <p:cNvPr id="10" name="Text 8"/>
          <p:cNvSpPr/>
          <p:nvPr/>
        </p:nvSpPr>
        <p:spPr>
          <a:xfrm>
            <a:off x="6261348" y="2226543"/>
            <a:ext cx="238653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Security promises and law enforcement priorities collided in the same system.</a:t>
            </a:r>
            <a:endParaRPr lang="en-US" sz="1100" dirty="0"/>
          </a:p>
        </p:txBody>
      </p:sp>
      <p:sp>
        <p:nvSpPr>
          <p:cNvPr id="11" name="Shape 9"/>
          <p:cNvSpPr/>
          <p:nvPr/>
        </p:nvSpPr>
        <p:spPr>
          <a:xfrm>
            <a:off x="496119" y="3293269"/>
            <a:ext cx="8151763" cy="602382"/>
          </a:xfrm>
          <a:prstGeom prst="roundRect">
            <a:avLst>
              <a:gd name="adj" fmla="val 9884"/>
            </a:avLst>
          </a:prstGeom>
          <a:solidFill>
            <a:srgbClr val="FFB3B4"/>
          </a:solidFill>
          <a:ln/>
        </p:spPr>
      </p:sp>
      <p:pic>
        <p:nvPicPr>
          <p:cNvPr id="12" name="Image 0" descr="preencoded.png">    </p:cNvPr>
          <p:cNvPicPr>
            <a:picLocks noChangeAspect="1"/>
          </p:cNvPicPr>
          <p:nvPr/>
        </p:nvPicPr>
        <p:blipFill>
          <a:blip r:embed="rId1"/>
          <a:stretch>
            <a:fillRect/>
          </a:stretch>
        </p:blipFill>
        <p:spPr>
          <a:xfrm>
            <a:off x="637877" y="3513088"/>
            <a:ext cx="177180" cy="141759"/>
          </a:xfrm>
          <a:prstGeom prst="rect">
            <a:avLst/>
          </a:prstGeom>
        </p:spPr>
      </p:pic>
      <p:sp>
        <p:nvSpPr>
          <p:cNvPr id="13" name="Text 10"/>
          <p:cNvSpPr/>
          <p:nvPr/>
        </p:nvSpPr>
        <p:spPr>
          <a:xfrm>
            <a:off x="956816" y="3470449"/>
            <a:ext cx="8006507" cy="226814"/>
          </a:xfrm>
          <a:prstGeom prst="rect">
            <a:avLst/>
          </a:prstGeom>
          <a:noFill/>
          <a:ln/>
        </p:spPr>
        <p:txBody>
          <a:bodyPr wrap="none" lIns="0" tIns="0" rIns="0" bIns="0" rtlCol="0" anchor="t"/>
          <a:lstStyle/>
          <a:p>
            <a:pPr algn="l" indent="0" marL="0">
              <a:lnSpc>
                <a:spcPct val="133000"/>
              </a:lnSpc>
              <a:buNone/>
            </a:pPr>
            <a:r>
              <a:rPr lang="en-US" sz="1100" dirty="0">
                <a:solidFill>
                  <a:srgbClr val="000000"/>
                </a:solidFill>
                <a:latin typeface="Noto Serif" pitchFamily="34" charset="0"/>
                <a:ea typeface="Noto Serif" pitchFamily="34" charset="-122"/>
                <a:cs typeface="Noto Serif" pitchFamily="34" charset="-120"/>
              </a:rPr>
              <a:t>Who owns the keys owns the data.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1311697"/>
            <a:ext cx="2303859" cy="266402"/>
          </a:xfrm>
          <a:prstGeom prst="roundRect">
            <a:avLst>
              <a:gd name="adj" fmla="val 17880"/>
            </a:avLst>
          </a:prstGeom>
          <a:solidFill>
            <a:srgbClr val="E8E6E3"/>
          </a:solidFill>
          <a:ln/>
        </p:spPr>
      </p:sp>
      <p:sp>
        <p:nvSpPr>
          <p:cNvPr id="3" name="Text 1"/>
          <p:cNvSpPr/>
          <p:nvPr/>
        </p:nvSpPr>
        <p:spPr>
          <a:xfrm>
            <a:off x="581174" y="1354187"/>
            <a:ext cx="259094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4 — WHAT WENT WRONG</a:t>
            </a:r>
            <a:endParaRPr lang="en-US" sz="850" dirty="0"/>
          </a:p>
        </p:txBody>
      </p:sp>
      <p:sp>
        <p:nvSpPr>
          <p:cNvPr id="4" name="Text 2"/>
          <p:cNvSpPr/>
          <p:nvPr/>
        </p:nvSpPr>
        <p:spPr>
          <a:xfrm>
            <a:off x="496119" y="1634803"/>
            <a:ext cx="5358705"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Where Encryption Fell Short</a:t>
            </a:r>
            <a:endParaRPr lang="en-US" sz="2750" dirty="0"/>
          </a:p>
        </p:txBody>
      </p:sp>
      <p:sp>
        <p:nvSpPr>
          <p:cNvPr id="5" name="Text 3"/>
          <p:cNvSpPr/>
          <p:nvPr/>
        </p:nvSpPr>
        <p:spPr>
          <a:xfrm>
            <a:off x="496119" y="2290390"/>
            <a:ext cx="8151763" cy="779562"/>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Encryption protected data in transit, but the endpoint was already compromised.</a:t>
            </a:r>
            <a:endParaRPr lang="en-US" sz="1100" dirty="0"/>
          </a:p>
          <a:p>
            <a:pPr algn="l" marL="342900" indent="-34290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Malware on point-of-sale terminals scraped payment data from memory before it could be secured.</a:t>
            </a:r>
            <a:endParaRPr lang="en-US" sz="1100" dirty="0"/>
          </a:p>
          <a:p>
            <a:pPr algn="l" marL="342900" indent="-342900">
              <a:lnSpc>
                <a:spcPct val="133000"/>
              </a:lnSpc>
              <a:buSzPct val="100000"/>
              <a:buChar char="•"/>
            </a:pPr>
            <a:r>
              <a:rPr lang="en-US" sz="1100" dirty="0">
                <a:solidFill>
                  <a:srgbClr val="4C4C4C"/>
                </a:solidFill>
                <a:latin typeface="Noto Serif" pitchFamily="34" charset="0"/>
                <a:ea typeface="Noto Serif" pitchFamily="34" charset="-122"/>
                <a:cs typeface="Noto Serif" pitchFamily="34" charset="-120"/>
              </a:rPr>
              <a:t>Card data was captured at the source, bypassing crypto protections entirely.</a:t>
            </a:r>
            <a:endParaRPr lang="en-US" sz="1100" dirty="0"/>
          </a:p>
        </p:txBody>
      </p:sp>
      <p:sp>
        <p:nvSpPr>
          <p:cNvPr id="6" name="Shape 4"/>
          <p:cNvSpPr/>
          <p:nvPr/>
        </p:nvSpPr>
        <p:spPr>
          <a:xfrm>
            <a:off x="496119" y="3229421"/>
            <a:ext cx="8151763" cy="602382"/>
          </a:xfrm>
          <a:prstGeom prst="roundRect">
            <a:avLst>
              <a:gd name="adj" fmla="val 9884"/>
            </a:avLst>
          </a:prstGeom>
          <a:solidFill>
            <a:srgbClr val="FCF2B5"/>
          </a:solidFill>
          <a:ln/>
        </p:spPr>
      </p:sp>
      <p:pic>
        <p:nvPicPr>
          <p:cNvPr id="7" name="Image 0" descr="preencoded.png">    </p:cNvPr>
          <p:cNvPicPr>
            <a:picLocks noChangeAspect="1"/>
          </p:cNvPicPr>
          <p:nvPr/>
        </p:nvPicPr>
        <p:blipFill>
          <a:blip r:embed="rId1"/>
          <a:stretch>
            <a:fillRect/>
          </a:stretch>
        </p:blipFill>
        <p:spPr>
          <a:xfrm>
            <a:off x="637877" y="3449241"/>
            <a:ext cx="177180" cy="141759"/>
          </a:xfrm>
          <a:prstGeom prst="rect">
            <a:avLst/>
          </a:prstGeom>
        </p:spPr>
      </p:pic>
      <p:sp>
        <p:nvSpPr>
          <p:cNvPr id="8" name="Text 5"/>
          <p:cNvSpPr/>
          <p:nvPr/>
        </p:nvSpPr>
        <p:spPr>
          <a:xfrm>
            <a:off x="956816" y="3406601"/>
            <a:ext cx="8006507" cy="226814"/>
          </a:xfrm>
          <a:prstGeom prst="rect">
            <a:avLst/>
          </a:prstGeom>
          <a:noFill/>
          <a:ln/>
        </p:spPr>
        <p:txBody>
          <a:bodyPr wrap="none" lIns="0" tIns="0" rIns="0" bIns="0" rtlCol="0" anchor="t"/>
          <a:lstStyle/>
          <a:p>
            <a:pPr algn="l" indent="0" marL="0">
              <a:lnSpc>
                <a:spcPct val="133000"/>
              </a:lnSpc>
              <a:buNone/>
            </a:pPr>
            <a:r>
              <a:rPr lang="en-US" sz="1100" b="1" dirty="0">
                <a:solidFill>
                  <a:srgbClr val="000000"/>
                </a:solidFill>
                <a:latin typeface="Noto Serif" pitchFamily="34" charset="0"/>
                <a:ea typeface="Noto Serif" pitchFamily="34" charset="-122"/>
                <a:cs typeface="Noto Serif" pitchFamily="34" charset="-120"/>
              </a:rPr>
              <a:t>Encryption protects the journey — not a compromised source.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1855589"/>
            <a:ext cx="934120" cy="266402"/>
          </a:xfrm>
          <a:prstGeom prst="roundRect">
            <a:avLst>
              <a:gd name="adj" fmla="val 17880"/>
            </a:avLst>
          </a:prstGeom>
          <a:solidFill>
            <a:srgbClr val="E8E6E3"/>
          </a:solidFill>
          <a:ln/>
        </p:spPr>
      </p:sp>
      <p:sp>
        <p:nvSpPr>
          <p:cNvPr id="3" name="Text 1"/>
          <p:cNvSpPr/>
          <p:nvPr/>
        </p:nvSpPr>
        <p:spPr>
          <a:xfrm>
            <a:off x="581174" y="1898079"/>
            <a:ext cx="122120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5</a:t>
            </a:r>
            <a:endParaRPr lang="en-US" sz="850" dirty="0"/>
          </a:p>
        </p:txBody>
      </p:sp>
      <p:sp>
        <p:nvSpPr>
          <p:cNvPr id="4" name="Text 2"/>
          <p:cNvSpPr/>
          <p:nvPr/>
        </p:nvSpPr>
        <p:spPr>
          <a:xfrm>
            <a:off x="496119" y="2178695"/>
            <a:ext cx="4001319"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Heartbleed — 2014</a:t>
            </a:r>
            <a:endParaRPr lang="en-US" sz="2750" dirty="0"/>
          </a:p>
        </p:txBody>
      </p:sp>
      <p:sp>
        <p:nvSpPr>
          <p:cNvPr id="5" name="Text 3"/>
          <p:cNvSpPr/>
          <p:nvPr/>
        </p:nvSpPr>
        <p:spPr>
          <a:xfrm>
            <a:off x="496119" y="2834283"/>
            <a:ext cx="8151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A flaw in OpenSSL's heartbeat extension caused memory leakage, exposing private keys and credentials across Canadian banks, hospitals, and public services. The bug affected an estimated 17% of all secure web servers at the time.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96119" y="799579"/>
            <a:ext cx="2303859" cy="266402"/>
          </a:xfrm>
          <a:prstGeom prst="roundRect">
            <a:avLst>
              <a:gd name="adj" fmla="val 17880"/>
            </a:avLst>
          </a:prstGeom>
          <a:solidFill>
            <a:srgbClr val="E8E6E3"/>
          </a:solidFill>
          <a:ln/>
        </p:spPr>
      </p:sp>
      <p:sp>
        <p:nvSpPr>
          <p:cNvPr id="3" name="Text 1"/>
          <p:cNvSpPr/>
          <p:nvPr/>
        </p:nvSpPr>
        <p:spPr>
          <a:xfrm>
            <a:off x="581174" y="842070"/>
            <a:ext cx="259094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5 — WHAT WENT WRONG</a:t>
            </a:r>
            <a:endParaRPr lang="en-US" sz="850" dirty="0"/>
          </a:p>
        </p:txBody>
      </p:sp>
      <p:sp>
        <p:nvSpPr>
          <p:cNvPr id="4" name="Text 2"/>
          <p:cNvSpPr/>
          <p:nvPr/>
        </p:nvSpPr>
        <p:spPr>
          <a:xfrm>
            <a:off x="496119" y="1122685"/>
            <a:ext cx="5358705"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Where Encryption Fell Short</a:t>
            </a:r>
            <a:endParaRPr lang="en-US" sz="27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9250" y="1782663"/>
            <a:ext cx="212601" cy="212601"/>
          </a:xfrm>
          <a:prstGeom prst="rect">
            <a:avLst/>
          </a:prstGeom>
        </p:spPr>
      </p:pic>
      <p:sp>
        <p:nvSpPr>
          <p:cNvPr id="6" name="Text 3"/>
          <p:cNvSpPr/>
          <p:nvPr/>
        </p:nvSpPr>
        <p:spPr>
          <a:xfrm>
            <a:off x="956816" y="1778273"/>
            <a:ext cx="2056954"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Broken Implementation</a:t>
            </a:r>
            <a:endParaRPr lang="en-US" sz="1350" dirty="0"/>
          </a:p>
        </p:txBody>
      </p:sp>
      <p:sp>
        <p:nvSpPr>
          <p:cNvPr id="7" name="Text 4"/>
          <p:cNvSpPr/>
          <p:nvPr/>
        </p:nvSpPr>
        <p:spPr>
          <a:xfrm>
            <a:off x="956816" y="2084784"/>
            <a:ext cx="3526557"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RSA and ECC were never broken — the flaw was in OpenSSL's heartbeat code, which leaked server memory.</a:t>
            </a:r>
            <a:endParaRPr lang="en-US" sz="11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13684" y="1782663"/>
            <a:ext cx="212601" cy="212601"/>
          </a:xfrm>
          <a:prstGeom prst="rect">
            <a:avLst/>
          </a:prstGeom>
        </p:spPr>
      </p:pic>
      <p:sp>
        <p:nvSpPr>
          <p:cNvPr id="9" name="Text 5"/>
          <p:cNvSpPr/>
          <p:nvPr/>
        </p:nvSpPr>
        <p:spPr>
          <a:xfrm>
            <a:off x="5121250" y="1778273"/>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Leaked Secrets</a:t>
            </a:r>
            <a:endParaRPr lang="en-US" sz="1350" dirty="0"/>
          </a:p>
        </p:txBody>
      </p:sp>
      <p:sp>
        <p:nvSpPr>
          <p:cNvPr id="10" name="Text 6"/>
          <p:cNvSpPr/>
          <p:nvPr/>
        </p:nvSpPr>
        <p:spPr>
          <a:xfrm>
            <a:off x="5121250" y="2084784"/>
            <a:ext cx="3526631"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Exposed memory could include certificates, private keys, usernames, passwords, and active session data.</a:t>
            </a:r>
            <a:endParaRPr lang="en-US" sz="11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9250" y="3053135"/>
            <a:ext cx="212601" cy="212601"/>
          </a:xfrm>
          <a:prstGeom prst="rect">
            <a:avLst/>
          </a:prstGeom>
        </p:spPr>
      </p:pic>
      <p:sp>
        <p:nvSpPr>
          <p:cNvPr id="12" name="Text 7"/>
          <p:cNvSpPr/>
          <p:nvPr/>
        </p:nvSpPr>
        <p:spPr>
          <a:xfrm>
            <a:off x="956816" y="3048744"/>
            <a:ext cx="2046163" cy="221456"/>
          </a:xfrm>
          <a:prstGeom prst="rect">
            <a:avLst/>
          </a:prstGeom>
          <a:noFill/>
          <a:ln/>
        </p:spPr>
        <p:txBody>
          <a:bodyPr wrap="none" lIns="0" tIns="0" rIns="0" bIns="0" rtlCol="0" anchor="t"/>
          <a:lstStyle/>
          <a:p>
            <a:pPr algn="l" indent="0" marL="0">
              <a:lnSpc>
                <a:spcPct val="104000"/>
              </a:lnSpc>
              <a:buNone/>
            </a:pPr>
            <a:r>
              <a:rPr lang="en-US" sz="1350" dirty="0">
                <a:solidFill>
                  <a:srgbClr val="4C4C4C"/>
                </a:solidFill>
                <a:latin typeface="Noto Serif Medium" pitchFamily="34" charset="0"/>
                <a:ea typeface="Noto Serif Medium" pitchFamily="34" charset="-122"/>
                <a:cs typeface="Noto Serif Medium" pitchFamily="34" charset="-120"/>
              </a:rPr>
              <a:t>Mass Rotation Required</a:t>
            </a:r>
            <a:endParaRPr lang="en-US" sz="1350" dirty="0"/>
          </a:p>
        </p:txBody>
      </p:sp>
      <p:sp>
        <p:nvSpPr>
          <p:cNvPr id="13" name="Text 8"/>
          <p:cNvSpPr/>
          <p:nvPr/>
        </p:nvSpPr>
        <p:spPr>
          <a:xfrm>
            <a:off x="956816" y="3355256"/>
            <a:ext cx="7691065" cy="226814"/>
          </a:xfrm>
          <a:prstGeom prst="rect">
            <a:avLst/>
          </a:prstGeom>
          <a:noFill/>
          <a:ln/>
        </p:spPr>
        <p:txBody>
          <a:bodyPr wrap="none" lIns="0" tIns="0" rIns="0" bIns="0" rtlCol="0" anchor="t"/>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Organizations had to revoke and replace certificates, rotate keys, and invalidate sessions across affected systems.</a:t>
            </a:r>
            <a:endParaRPr lang="en-US" sz="1100" dirty="0"/>
          </a:p>
        </p:txBody>
      </p:sp>
      <p:sp>
        <p:nvSpPr>
          <p:cNvPr id="14" name="Shape 9"/>
          <p:cNvSpPr/>
          <p:nvPr/>
        </p:nvSpPr>
        <p:spPr>
          <a:xfrm>
            <a:off x="496119" y="3741539"/>
            <a:ext cx="8151763" cy="602382"/>
          </a:xfrm>
          <a:prstGeom prst="roundRect">
            <a:avLst>
              <a:gd name="adj" fmla="val 9884"/>
            </a:avLst>
          </a:prstGeom>
          <a:solidFill>
            <a:srgbClr val="FCF2B5"/>
          </a:solidFill>
          <a:ln/>
        </p:spPr>
      </p:sp>
      <p:pic>
        <p:nvPicPr>
          <p:cNvPr id="15" name="Image 3" descr="preencoded.png">    </p:cNvPr>
          <p:cNvPicPr>
            <a:picLocks noChangeAspect="1"/>
          </p:cNvPicPr>
          <p:nvPr/>
        </p:nvPicPr>
        <p:blipFill>
          <a:blip r:embed="rId7"/>
          <a:stretch>
            <a:fillRect/>
          </a:stretch>
        </p:blipFill>
        <p:spPr>
          <a:xfrm>
            <a:off x="637877" y="3961358"/>
            <a:ext cx="177180" cy="141759"/>
          </a:xfrm>
          <a:prstGeom prst="rect">
            <a:avLst/>
          </a:prstGeom>
        </p:spPr>
      </p:pic>
      <p:sp>
        <p:nvSpPr>
          <p:cNvPr id="16" name="Text 10"/>
          <p:cNvSpPr/>
          <p:nvPr/>
        </p:nvSpPr>
        <p:spPr>
          <a:xfrm>
            <a:off x="956816" y="3918719"/>
            <a:ext cx="8006507" cy="226814"/>
          </a:xfrm>
          <a:prstGeom prst="rect">
            <a:avLst/>
          </a:prstGeom>
          <a:noFill/>
          <a:ln/>
        </p:spPr>
        <p:txBody>
          <a:bodyPr wrap="none" lIns="0" tIns="0" rIns="0" bIns="0" rtlCol="0" anchor="t"/>
          <a:lstStyle/>
          <a:p>
            <a:pPr algn="l" indent="0" marL="0">
              <a:lnSpc>
                <a:spcPct val="133000"/>
              </a:lnSpc>
              <a:buNone/>
            </a:pPr>
            <a:r>
              <a:rPr lang="en-US" sz="1100" dirty="0">
                <a:solidFill>
                  <a:srgbClr val="000000"/>
                </a:solidFill>
                <a:latin typeface="Noto Serif" pitchFamily="34" charset="0"/>
                <a:ea typeface="Noto Serif" pitchFamily="34" charset="-122"/>
                <a:cs typeface="Noto Serif" pitchFamily="34" charset="-120"/>
              </a:rPr>
              <a:t>Strong algorithms still fail through bad code.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96119" y="1469306"/>
            <a:ext cx="934120" cy="266402"/>
          </a:xfrm>
          <a:prstGeom prst="roundRect">
            <a:avLst>
              <a:gd name="adj" fmla="val 17880"/>
            </a:avLst>
          </a:prstGeom>
          <a:solidFill>
            <a:srgbClr val="E8E6E3"/>
          </a:solidFill>
          <a:ln/>
        </p:spPr>
      </p:sp>
      <p:sp>
        <p:nvSpPr>
          <p:cNvPr id="3" name="Text 1"/>
          <p:cNvSpPr/>
          <p:nvPr/>
        </p:nvSpPr>
        <p:spPr>
          <a:xfrm>
            <a:off x="581174" y="1511796"/>
            <a:ext cx="122120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6</a:t>
            </a:r>
            <a:endParaRPr lang="en-US" sz="850" dirty="0"/>
          </a:p>
        </p:txBody>
      </p:sp>
      <p:sp>
        <p:nvSpPr>
          <p:cNvPr id="4" name="Text 2"/>
          <p:cNvSpPr/>
          <p:nvPr/>
        </p:nvSpPr>
        <p:spPr>
          <a:xfrm>
            <a:off x="496119" y="1792412"/>
            <a:ext cx="7414394"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Ransomware — Encryption as a Weapon</a:t>
            </a:r>
            <a:endParaRPr lang="en-US" sz="2750" dirty="0"/>
          </a:p>
        </p:txBody>
      </p:sp>
      <p:sp>
        <p:nvSpPr>
          <p:cNvPr id="5" name="Text 3"/>
          <p:cNvSpPr/>
          <p:nvPr/>
        </p:nvSpPr>
        <p:spPr>
          <a:xfrm>
            <a:off x="496119" y="2447999"/>
            <a:ext cx="8151763" cy="1226195"/>
          </a:xfrm>
          <a:prstGeom prst="rect">
            <a:avLst/>
          </a:prstGeom>
          <a:noFill/>
          <a:ln/>
        </p:spPr>
        <p:txBody>
          <a:bodyPr wrap="square" lIns="0" tIns="0" rIns="0" bIns="0" rtlCol="0" anchor="t">
            <a:normAutofit/>
          </a:bodyPr>
          <a:lstStyle/>
          <a:p>
            <a:pPr algn="l" indent="0" marL="0">
              <a:lnSpc>
                <a:spcPct val="133000"/>
              </a:lnSpc>
              <a:spcAft>
                <a:spcPts val="1250"/>
              </a:spcAft>
              <a:buNone/>
            </a:pPr>
            <a:r>
              <a:rPr lang="en-US" sz="1100" dirty="0">
                <a:solidFill>
                  <a:srgbClr val="4C4C4C"/>
                </a:solidFill>
                <a:latin typeface="Noto Serif" pitchFamily="34" charset="0"/>
                <a:ea typeface="Noto Serif" pitchFamily="34" charset="-122"/>
                <a:cs typeface="Noto Serif" pitchFamily="34" charset="-120"/>
              </a:rPr>
              <a:t>Ransomware groups targeting Canadian municipalities, schools, and hospitals weaponize AES encryption to lock victims out of their own data.</a:t>
            </a:r>
            <a:endParaRPr lang="en-US" sz="1100" dirty="0"/>
          </a:p>
          <a:p>
            <a:pPr algn="l" indent="0" marL="0">
              <a:lnSpc>
                <a:spcPct val="133000"/>
              </a:lnSpc>
              <a:spcAft>
                <a:spcPts val="1250"/>
              </a:spcAft>
              <a:buNone/>
            </a:pPr>
            <a:r>
              <a:rPr lang="en-US" sz="1100" dirty="0">
                <a:solidFill>
                  <a:srgbClr val="4C4C4C"/>
                </a:solidFill>
                <a:latin typeface="Noto Serif" pitchFamily="34" charset="0"/>
                <a:ea typeface="Noto Serif" pitchFamily="34" charset="-122"/>
                <a:cs typeface="Noto Serif" pitchFamily="34" charset="-120"/>
              </a:rPr>
              <a:t>Notable examples include attacks on the City of Saint John (2020) and multiple Ontario school boards.</a:t>
            </a:r>
            <a:endParaRPr lang="en-US" sz="1100" dirty="0"/>
          </a:p>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Attackers gained initial access via phishing or weak credentials.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96119" y="1247849"/>
            <a:ext cx="2303859" cy="266402"/>
          </a:xfrm>
          <a:prstGeom prst="roundRect">
            <a:avLst>
              <a:gd name="adj" fmla="val 17880"/>
            </a:avLst>
          </a:prstGeom>
          <a:solidFill>
            <a:srgbClr val="E8E6E3"/>
          </a:solidFill>
          <a:ln/>
        </p:spPr>
      </p:sp>
      <p:sp>
        <p:nvSpPr>
          <p:cNvPr id="3" name="Text 1"/>
          <p:cNvSpPr/>
          <p:nvPr/>
        </p:nvSpPr>
        <p:spPr>
          <a:xfrm>
            <a:off x="581174" y="1290340"/>
            <a:ext cx="259094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6 — WHAT WENT WRONG</a:t>
            </a:r>
            <a:endParaRPr lang="en-US" sz="850" dirty="0"/>
          </a:p>
        </p:txBody>
      </p:sp>
      <p:sp>
        <p:nvSpPr>
          <p:cNvPr id="4" name="Text 2"/>
          <p:cNvSpPr/>
          <p:nvPr/>
        </p:nvSpPr>
        <p:spPr>
          <a:xfrm>
            <a:off x="496119" y="1570955"/>
            <a:ext cx="5358705"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Where Encryption Fell Short</a:t>
            </a:r>
            <a:endParaRPr lang="en-US" sz="2750" dirty="0"/>
          </a:p>
        </p:txBody>
      </p:sp>
      <p:sp>
        <p:nvSpPr>
          <p:cNvPr id="5" name="Shape 3"/>
          <p:cNvSpPr/>
          <p:nvPr/>
        </p:nvSpPr>
        <p:spPr>
          <a:xfrm>
            <a:off x="496119" y="2304529"/>
            <a:ext cx="70842" cy="70842"/>
          </a:xfrm>
          <a:prstGeom prst="roundRect">
            <a:avLst>
              <a:gd name="adj" fmla="val 403362"/>
            </a:avLst>
          </a:prstGeom>
          <a:solidFill>
            <a:srgbClr val="E6DED2"/>
          </a:solidFill>
          <a:ln/>
        </p:spPr>
      </p:sp>
      <p:sp>
        <p:nvSpPr>
          <p:cNvPr id="6" name="Text 4"/>
          <p:cNvSpPr/>
          <p:nvPr/>
        </p:nvSpPr>
        <p:spPr>
          <a:xfrm>
            <a:off x="708720" y="2226543"/>
            <a:ext cx="2386533"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Attackers gained initial access through phishing and weak credentials — encryption was never the entry point.</a:t>
            </a:r>
            <a:endParaRPr lang="en-US" sz="1100" dirty="0"/>
          </a:p>
        </p:txBody>
      </p:sp>
      <p:sp>
        <p:nvSpPr>
          <p:cNvPr id="7" name="Shape 5"/>
          <p:cNvSpPr/>
          <p:nvPr/>
        </p:nvSpPr>
        <p:spPr>
          <a:xfrm>
            <a:off x="3272433" y="2304529"/>
            <a:ext cx="70842" cy="70842"/>
          </a:xfrm>
          <a:prstGeom prst="roundRect">
            <a:avLst>
              <a:gd name="adj" fmla="val 403362"/>
            </a:avLst>
          </a:prstGeom>
          <a:solidFill>
            <a:srgbClr val="E6DED2"/>
          </a:solidFill>
          <a:ln/>
        </p:spPr>
      </p:sp>
      <p:sp>
        <p:nvSpPr>
          <p:cNvPr id="8" name="Text 6"/>
          <p:cNvSpPr/>
          <p:nvPr/>
        </p:nvSpPr>
        <p:spPr>
          <a:xfrm>
            <a:off x="3485034" y="2226543"/>
            <a:ext cx="238653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Strong symmetric AES encryption was turned against defenders to lock their own data.</a:t>
            </a:r>
            <a:endParaRPr lang="en-US" sz="1100" dirty="0"/>
          </a:p>
        </p:txBody>
      </p:sp>
      <p:sp>
        <p:nvSpPr>
          <p:cNvPr id="9" name="Shape 7"/>
          <p:cNvSpPr/>
          <p:nvPr/>
        </p:nvSpPr>
        <p:spPr>
          <a:xfrm>
            <a:off x="6048747" y="2304529"/>
            <a:ext cx="70842" cy="70842"/>
          </a:xfrm>
          <a:prstGeom prst="roundRect">
            <a:avLst>
              <a:gd name="adj" fmla="val 403362"/>
            </a:avLst>
          </a:prstGeom>
          <a:solidFill>
            <a:srgbClr val="E6DED2"/>
          </a:solidFill>
          <a:ln/>
        </p:spPr>
      </p:sp>
      <p:sp>
        <p:nvSpPr>
          <p:cNvPr id="10" name="Text 8"/>
          <p:cNvSpPr/>
          <p:nvPr/>
        </p:nvSpPr>
        <p:spPr>
          <a:xfrm>
            <a:off x="6261348" y="2226543"/>
            <a:ext cx="238653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Without decryption keys, recovery was impossible without paying ransom or restoring from backups.</a:t>
            </a:r>
            <a:endParaRPr lang="en-US" sz="1100" dirty="0"/>
          </a:p>
        </p:txBody>
      </p:sp>
      <p:sp>
        <p:nvSpPr>
          <p:cNvPr id="11" name="Shape 9"/>
          <p:cNvSpPr/>
          <p:nvPr/>
        </p:nvSpPr>
        <p:spPr>
          <a:xfrm>
            <a:off x="496119" y="3293269"/>
            <a:ext cx="8151763" cy="602382"/>
          </a:xfrm>
          <a:prstGeom prst="roundRect">
            <a:avLst>
              <a:gd name="adj" fmla="val 9884"/>
            </a:avLst>
          </a:prstGeom>
          <a:solidFill>
            <a:srgbClr val="FFB3B4"/>
          </a:solidFill>
          <a:ln/>
        </p:spPr>
      </p:sp>
      <p:pic>
        <p:nvPicPr>
          <p:cNvPr id="12" name="Image 0" descr="preencoded.png">    </p:cNvPr>
          <p:cNvPicPr>
            <a:picLocks noChangeAspect="1"/>
          </p:cNvPicPr>
          <p:nvPr/>
        </p:nvPicPr>
        <p:blipFill>
          <a:blip r:embed="rId1"/>
          <a:stretch>
            <a:fillRect/>
          </a:stretch>
        </p:blipFill>
        <p:spPr>
          <a:xfrm>
            <a:off x="637877" y="3513088"/>
            <a:ext cx="177180" cy="141759"/>
          </a:xfrm>
          <a:prstGeom prst="rect">
            <a:avLst/>
          </a:prstGeom>
        </p:spPr>
      </p:pic>
      <p:sp>
        <p:nvSpPr>
          <p:cNvPr id="13" name="Text 10"/>
          <p:cNvSpPr/>
          <p:nvPr/>
        </p:nvSpPr>
        <p:spPr>
          <a:xfrm>
            <a:off x="956816" y="3470449"/>
            <a:ext cx="8006507" cy="226814"/>
          </a:xfrm>
          <a:prstGeom prst="rect">
            <a:avLst/>
          </a:prstGeom>
          <a:noFill/>
          <a:ln/>
        </p:spPr>
        <p:txBody>
          <a:bodyPr wrap="none" lIns="0" tIns="0" rIns="0" bIns="0" rtlCol="0" anchor="t"/>
          <a:lstStyle/>
          <a:p>
            <a:pPr algn="l" indent="0" marL="0">
              <a:lnSpc>
                <a:spcPct val="133000"/>
              </a:lnSpc>
              <a:buNone/>
            </a:pPr>
            <a:r>
              <a:rPr lang="en-US" sz="1100" dirty="0">
                <a:solidFill>
                  <a:srgbClr val="000000"/>
                </a:solidFill>
                <a:latin typeface="Noto Serif" pitchFamily="34" charset="0"/>
                <a:ea typeface="Noto Serif" pitchFamily="34" charset="-122"/>
                <a:cs typeface="Noto Serif" pitchFamily="34" charset="-120"/>
              </a:rPr>
              <a:t>Cryptography is neutral. Attackers use it too.</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96119" y="1549003"/>
            <a:ext cx="934120" cy="266402"/>
          </a:xfrm>
          <a:prstGeom prst="roundRect">
            <a:avLst>
              <a:gd name="adj" fmla="val 17880"/>
            </a:avLst>
          </a:prstGeom>
          <a:solidFill>
            <a:srgbClr val="E8E6E3"/>
          </a:solidFill>
          <a:ln/>
        </p:spPr>
      </p:sp>
      <p:sp>
        <p:nvSpPr>
          <p:cNvPr id="3" name="Text 1"/>
          <p:cNvSpPr/>
          <p:nvPr/>
        </p:nvSpPr>
        <p:spPr>
          <a:xfrm>
            <a:off x="581174" y="1591494"/>
            <a:ext cx="122120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7</a:t>
            </a:r>
            <a:endParaRPr lang="en-US" sz="850" dirty="0"/>
          </a:p>
        </p:txBody>
      </p:sp>
      <p:sp>
        <p:nvSpPr>
          <p:cNvPr id="4" name="Text 2"/>
          <p:cNvSpPr/>
          <p:nvPr/>
        </p:nvSpPr>
        <p:spPr>
          <a:xfrm>
            <a:off x="496119" y="1872109"/>
            <a:ext cx="7541568"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Certificate Failures — Trust Chain Breaks</a:t>
            </a:r>
            <a:endParaRPr lang="en-US" sz="2750" dirty="0"/>
          </a:p>
        </p:txBody>
      </p:sp>
      <p:sp>
        <p:nvSpPr>
          <p:cNvPr id="5" name="Text 3"/>
          <p:cNvSpPr/>
          <p:nvPr/>
        </p:nvSpPr>
        <p:spPr>
          <a:xfrm>
            <a:off x="496119" y="2527697"/>
            <a:ext cx="8151763" cy="1066726"/>
          </a:xfrm>
          <a:prstGeom prst="rect">
            <a:avLst/>
          </a:prstGeom>
          <a:noFill/>
          <a:ln/>
        </p:spPr>
        <p:txBody>
          <a:bodyPr wrap="square" lIns="0" tIns="0" rIns="0" bIns="0" rtlCol="0" anchor="t">
            <a:normAutofit/>
          </a:bodyPr>
          <a:lstStyle/>
          <a:p>
            <a:pPr algn="l" indent="0" marL="0">
              <a:lnSpc>
                <a:spcPct val="133000"/>
              </a:lnSpc>
              <a:spcAft>
                <a:spcPts val="1250"/>
              </a:spcAft>
              <a:buNone/>
            </a:pPr>
            <a:r>
              <a:rPr lang="en-US" sz="1100" dirty="0">
                <a:solidFill>
                  <a:srgbClr val="4C4C4C"/>
                </a:solidFill>
                <a:latin typeface="Noto Serif" pitchFamily="34" charset="0"/>
                <a:ea typeface="Noto Serif" pitchFamily="34" charset="-122"/>
                <a:cs typeface="Noto Serif" pitchFamily="34" charset="-120"/>
              </a:rPr>
              <a:t>Canadian banking and government portals depend entirely on certificate trust chains. When those chains break — through expired certificates, compromised Certificate Authorities, or poor validation — the entire security model collapses.</a:t>
            </a:r>
            <a:endParaRPr lang="en-US" sz="1100" dirty="0"/>
          </a:p>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A compromised CA can issue fraudulent certificates for any domain, enabling silent man-in-the-middle attacks.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96119" y="1247849"/>
            <a:ext cx="2303859" cy="266402"/>
          </a:xfrm>
          <a:prstGeom prst="roundRect">
            <a:avLst>
              <a:gd name="adj" fmla="val 17880"/>
            </a:avLst>
          </a:prstGeom>
          <a:solidFill>
            <a:srgbClr val="E8E6E3"/>
          </a:solidFill>
          <a:ln/>
        </p:spPr>
      </p:sp>
      <p:sp>
        <p:nvSpPr>
          <p:cNvPr id="3" name="Text 1"/>
          <p:cNvSpPr/>
          <p:nvPr/>
        </p:nvSpPr>
        <p:spPr>
          <a:xfrm>
            <a:off x="581174" y="1290340"/>
            <a:ext cx="2590949" cy="181421"/>
          </a:xfrm>
          <a:prstGeom prst="rect">
            <a:avLst/>
          </a:prstGeom>
          <a:noFill/>
          <a:ln/>
        </p:spPr>
        <p:txBody>
          <a:bodyPr wrap="none" lIns="0" tIns="0" rIns="0" bIns="0" rtlCol="0" anchor="t"/>
          <a:lstStyle/>
          <a:p>
            <a:pPr algn="l" indent="0" marL="0">
              <a:lnSpc>
                <a:spcPct val="133000"/>
              </a:lnSpc>
              <a:buNone/>
            </a:pPr>
            <a:r>
              <a:rPr lang="en-US" sz="850" dirty="0">
                <a:solidFill>
                  <a:srgbClr val="4C4C4C"/>
                </a:solidFill>
                <a:latin typeface="Noto Serif" pitchFamily="34" charset="0"/>
                <a:ea typeface="Noto Serif" pitchFamily="34" charset="-122"/>
                <a:cs typeface="Noto Serif" pitchFamily="34" charset="-120"/>
              </a:rPr>
              <a:t>CASE STUDY 7 — WHAT WENT WRONG</a:t>
            </a:r>
            <a:endParaRPr lang="en-US" sz="850" dirty="0"/>
          </a:p>
        </p:txBody>
      </p:sp>
      <p:sp>
        <p:nvSpPr>
          <p:cNvPr id="4" name="Text 2"/>
          <p:cNvSpPr/>
          <p:nvPr/>
        </p:nvSpPr>
        <p:spPr>
          <a:xfrm>
            <a:off x="496119" y="1570955"/>
            <a:ext cx="5358705" cy="442987"/>
          </a:xfrm>
          <a:prstGeom prst="rect">
            <a:avLst/>
          </a:prstGeom>
          <a:noFill/>
          <a:ln/>
        </p:spPr>
        <p:txBody>
          <a:bodyPr wrap="none" lIns="0" tIns="0" rIns="0" bIns="0" rtlCol="0" anchor="t"/>
          <a:lstStyle/>
          <a:p>
            <a:pPr algn="l" indent="0" marL="0">
              <a:lnSpc>
                <a:spcPct val="104000"/>
              </a:lnSpc>
              <a:buNone/>
            </a:pPr>
            <a:r>
              <a:rPr lang="en-US" sz="2750" dirty="0">
                <a:solidFill>
                  <a:srgbClr val="3A3A3A"/>
                </a:solidFill>
                <a:latin typeface="Noto Serif Medium" pitchFamily="34" charset="0"/>
                <a:ea typeface="Noto Serif Medium" pitchFamily="34" charset="-122"/>
                <a:cs typeface="Noto Serif Medium" pitchFamily="34" charset="-120"/>
              </a:rPr>
              <a:t>Where Encryption Fell Short</a:t>
            </a:r>
            <a:endParaRPr lang="en-US" sz="2750" dirty="0"/>
          </a:p>
        </p:txBody>
      </p:sp>
      <p:sp>
        <p:nvSpPr>
          <p:cNvPr id="5" name="Shape 3"/>
          <p:cNvSpPr/>
          <p:nvPr/>
        </p:nvSpPr>
        <p:spPr>
          <a:xfrm>
            <a:off x="496119" y="2304529"/>
            <a:ext cx="70842" cy="70842"/>
          </a:xfrm>
          <a:prstGeom prst="roundRect">
            <a:avLst>
              <a:gd name="adj" fmla="val 403362"/>
            </a:avLst>
          </a:prstGeom>
          <a:solidFill>
            <a:srgbClr val="E6DED2"/>
          </a:solidFill>
          <a:ln/>
        </p:spPr>
      </p:sp>
      <p:sp>
        <p:nvSpPr>
          <p:cNvPr id="6" name="Text 4"/>
          <p:cNvSpPr/>
          <p:nvPr/>
        </p:nvSpPr>
        <p:spPr>
          <a:xfrm>
            <a:off x="708720" y="2226543"/>
            <a:ext cx="238653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Expired certificates break services and expose users to warnings they learn to ignore.</a:t>
            </a:r>
            <a:endParaRPr lang="en-US" sz="1100" dirty="0"/>
          </a:p>
        </p:txBody>
      </p:sp>
      <p:sp>
        <p:nvSpPr>
          <p:cNvPr id="7" name="Shape 5"/>
          <p:cNvSpPr/>
          <p:nvPr/>
        </p:nvSpPr>
        <p:spPr>
          <a:xfrm>
            <a:off x="3272433" y="2304529"/>
            <a:ext cx="70842" cy="70842"/>
          </a:xfrm>
          <a:prstGeom prst="roundRect">
            <a:avLst>
              <a:gd name="adj" fmla="val 403362"/>
            </a:avLst>
          </a:prstGeom>
          <a:solidFill>
            <a:srgbClr val="E6DED2"/>
          </a:solidFill>
          <a:ln/>
        </p:spPr>
      </p:sp>
      <p:sp>
        <p:nvSpPr>
          <p:cNvPr id="8" name="Text 6"/>
          <p:cNvSpPr/>
          <p:nvPr/>
        </p:nvSpPr>
        <p:spPr>
          <a:xfrm>
            <a:off x="3485034" y="2226543"/>
            <a:ext cx="2386533"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Compromised Certificate Authorities can issue fraudulent certs for any domain, enabling impersonation.</a:t>
            </a:r>
            <a:endParaRPr lang="en-US" sz="1100" dirty="0"/>
          </a:p>
        </p:txBody>
      </p:sp>
      <p:sp>
        <p:nvSpPr>
          <p:cNvPr id="9" name="Shape 7"/>
          <p:cNvSpPr/>
          <p:nvPr/>
        </p:nvSpPr>
        <p:spPr>
          <a:xfrm>
            <a:off x="6048747" y="2304529"/>
            <a:ext cx="70842" cy="70842"/>
          </a:xfrm>
          <a:prstGeom prst="roundRect">
            <a:avLst>
              <a:gd name="adj" fmla="val 403362"/>
            </a:avLst>
          </a:prstGeom>
          <a:solidFill>
            <a:srgbClr val="E6DED2"/>
          </a:solidFill>
          <a:ln/>
        </p:spPr>
      </p:sp>
      <p:sp>
        <p:nvSpPr>
          <p:cNvPr id="10" name="Text 8"/>
          <p:cNvSpPr/>
          <p:nvPr/>
        </p:nvSpPr>
        <p:spPr>
          <a:xfrm>
            <a:off x="6261348" y="2226543"/>
            <a:ext cx="238653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C"/>
                </a:solidFill>
                <a:latin typeface="Noto Serif" pitchFamily="34" charset="0"/>
                <a:ea typeface="Noto Serif" pitchFamily="34" charset="-122"/>
                <a:cs typeface="Noto Serif" pitchFamily="34" charset="-120"/>
              </a:rPr>
              <a:t>Poor certificate validation opens the door to man-in-the-middle attacks.</a:t>
            </a:r>
            <a:endParaRPr lang="en-US" sz="1100" dirty="0"/>
          </a:p>
        </p:txBody>
      </p:sp>
      <p:sp>
        <p:nvSpPr>
          <p:cNvPr id="11" name="Shape 9"/>
          <p:cNvSpPr/>
          <p:nvPr/>
        </p:nvSpPr>
        <p:spPr>
          <a:xfrm>
            <a:off x="496119" y="3293269"/>
            <a:ext cx="8151763" cy="602382"/>
          </a:xfrm>
          <a:prstGeom prst="roundRect">
            <a:avLst>
              <a:gd name="adj" fmla="val 9884"/>
            </a:avLst>
          </a:prstGeom>
          <a:solidFill>
            <a:srgbClr val="FFB3B4"/>
          </a:solidFill>
          <a:ln/>
        </p:spPr>
      </p:sp>
      <p:pic>
        <p:nvPicPr>
          <p:cNvPr id="12" name="Image 0" descr="preencoded.png">    </p:cNvPr>
          <p:cNvPicPr>
            <a:picLocks noChangeAspect="1"/>
          </p:cNvPicPr>
          <p:nvPr/>
        </p:nvPicPr>
        <p:blipFill>
          <a:blip r:embed="rId1"/>
          <a:stretch>
            <a:fillRect/>
          </a:stretch>
        </p:blipFill>
        <p:spPr>
          <a:xfrm>
            <a:off x="637877" y="3513088"/>
            <a:ext cx="177180" cy="141759"/>
          </a:xfrm>
          <a:prstGeom prst="rect">
            <a:avLst/>
          </a:prstGeom>
        </p:spPr>
      </p:pic>
      <p:sp>
        <p:nvSpPr>
          <p:cNvPr id="13" name="Text 10"/>
          <p:cNvSpPr/>
          <p:nvPr/>
        </p:nvSpPr>
        <p:spPr>
          <a:xfrm>
            <a:off x="956816" y="3470449"/>
            <a:ext cx="8006507" cy="226814"/>
          </a:xfrm>
          <a:prstGeom prst="rect">
            <a:avLst/>
          </a:prstGeom>
          <a:noFill/>
          <a:ln/>
        </p:spPr>
        <p:txBody>
          <a:bodyPr wrap="none" lIns="0" tIns="0" rIns="0" bIns="0" rtlCol="0" anchor="t"/>
          <a:lstStyle/>
          <a:p>
            <a:pPr algn="l" indent="0" marL="0">
              <a:lnSpc>
                <a:spcPct val="133000"/>
              </a:lnSpc>
              <a:buNone/>
            </a:pPr>
            <a:r>
              <a:rPr lang="en-US" sz="1100" dirty="0">
                <a:solidFill>
                  <a:srgbClr val="000000"/>
                </a:solidFill>
                <a:latin typeface="Noto Serif" pitchFamily="34" charset="0"/>
                <a:ea typeface="Noto Serif" pitchFamily="34" charset="-122"/>
                <a:cs typeface="Noto Serif" pitchFamily="34" charset="-120"/>
              </a:rPr>
              <a:t>Encryption is only as trustworthy as the certificate chain behind it.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2026-05-22T17:18:26Z</dcterms:created>
  <dcterms:modified xsi:type="dcterms:W3CDTF">2026-05-22T17:18:26Z</dcterms:modified>
</cp:coreProperties>
</file>