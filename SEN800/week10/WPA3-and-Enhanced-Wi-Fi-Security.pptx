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embeddedFontLst>
    <p:embeddedFont>
      <p:font typeface="Alice"/>
      <p:regular r:id="rId201314"/>
    </p:embeddedFont>
    <p:embeddedFont>
      <p:font typeface="Lora"/>
      <p:regular r:id="rId201315"/>
    </p:embeddedFont>
    <p:embeddedFont>
      <p:font typeface="Lora Medium"/>
      <p:regular r:id="rId201316"/>
    </p:embeddedFont>
    <p:embeddedFont>
      <p:font typeface="Lora SemiBold"/>
      <p:regular r:id="rId201317"/>
    </p:embeddedFont>
    <p:embeddedFont>
      <p:font typeface="Lora Bold"/>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1F2DE"/>
          </a:solidFill>
          <a:ln/>
        </p:spPr>
      </p:sp>
      <p:sp>
        <p:nvSpPr>
          <p:cNvPr id="3" name="Shape 1"/>
          <p:cNvSpPr/>
          <p:nvPr/>
        </p:nvSpPr>
        <p:spPr>
          <a:xfrm>
            <a:off x="0" y="0"/>
            <a:ext cx="9144000" cy="5143500"/>
          </a:xfrm>
          <a:prstGeom prst="rect">
            <a:avLst/>
          </a:prstGeom>
          <a:solidFill>
            <a:srgbClr val="FCFBF8"/>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0-7.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1.png"/><Relationship Id="rId4" Type="http://schemas.openxmlformats.org/officeDocument/2006/relationships/image" Target="../media/image-16-2.svg"/><Relationship Id="rId5" Type="http://schemas.openxmlformats.org/officeDocument/2006/relationships/image" Target="../media/image-16-1.png"/><Relationship Id="rId6" Type="http://schemas.openxmlformats.org/officeDocument/2006/relationships/image" Target="../media/image-16-2.svg"/><Relationship Id="rId7" Type="http://schemas.openxmlformats.org/officeDocument/2006/relationships/image" Target="../media/image-16-1.png"/><Relationship Id="rId8" Type="http://schemas.openxmlformats.org/officeDocument/2006/relationships/image" Target="../media/image-16-2.svg"/><Relationship Id="rId9" Type="http://schemas.openxmlformats.org/officeDocument/2006/relationships/slideLayout" Target="../slideLayouts/slideLayout2.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image" Target="../media/image-17-3.png"/><Relationship Id="rId4" Type="http://schemas.openxmlformats.org/officeDocument/2006/relationships/image" Target="../media/image-17-4.svg"/><Relationship Id="rId5" Type="http://schemas.openxmlformats.org/officeDocument/2006/relationships/image" Target="../media/image-17-5.png"/><Relationship Id="rId6" Type="http://schemas.openxmlformats.org/officeDocument/2006/relationships/image" Target="../media/image-17-6.svg"/><Relationship Id="rId7" Type="http://schemas.openxmlformats.org/officeDocument/2006/relationships/image" Target="../media/image-17-7.png"/><Relationship Id="rId8" Type="http://schemas.openxmlformats.org/officeDocument/2006/relationships/image" Target="../media/image-17-8.svg"/><Relationship Id="rId9" Type="http://schemas.openxmlformats.org/officeDocument/2006/relationships/slideLayout" Target="../slideLayouts/slideLayout2.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image" Target="../media/image-21-3.png"/><Relationship Id="rId4" Type="http://schemas.openxmlformats.org/officeDocument/2006/relationships/image" Target="../media/image-21-4.svg"/><Relationship Id="rId5" Type="http://schemas.openxmlformats.org/officeDocument/2006/relationships/image" Target="../media/image-21-1.png"/><Relationship Id="rId6" Type="http://schemas.openxmlformats.org/officeDocument/2006/relationships/image" Target="../media/image-21-2.svg"/><Relationship Id="rId7" Type="http://schemas.openxmlformats.org/officeDocument/2006/relationships/image" Target="../media/image-21-7.png"/><Relationship Id="rId8" Type="http://schemas.openxmlformats.org/officeDocument/2006/relationships/image" Target="../media/image-21-8.svg"/><Relationship Id="rId9" Type="http://schemas.openxmlformats.org/officeDocument/2006/relationships/image" Target="../media/image-21-1.png"/><Relationship Id="rId10" Type="http://schemas.openxmlformats.org/officeDocument/2006/relationships/image" Target="../media/image-21-2.svg"/><Relationship Id="rId11" Type="http://schemas.openxmlformats.org/officeDocument/2006/relationships/image" Target="../media/image-21-11.png"/><Relationship Id="rId12" Type="http://schemas.openxmlformats.org/officeDocument/2006/relationships/image" Target="../media/image-21-12.svg"/><Relationship Id="rId13" Type="http://schemas.openxmlformats.org/officeDocument/2006/relationships/slideLayout" Target="../slideLayouts/slideLayout2.xml"/><Relationship Id="rId1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image" Target="../media/image-22-1.png"/><Relationship Id="rId4" Type="http://schemas.openxmlformats.org/officeDocument/2006/relationships/image" Target="../media/image-22-2.svg"/><Relationship Id="rId5" Type="http://schemas.openxmlformats.org/officeDocument/2006/relationships/image" Target="../media/image-22-1.png"/><Relationship Id="rId6" Type="http://schemas.openxmlformats.org/officeDocument/2006/relationships/image" Target="../media/image-22-2.svg"/><Relationship Id="rId7" Type="http://schemas.openxmlformats.org/officeDocument/2006/relationships/image" Target="../media/image-22-1.png"/><Relationship Id="rId8" Type="http://schemas.openxmlformats.org/officeDocument/2006/relationships/image" Target="../media/image-22-2.svg"/><Relationship Id="rId9" Type="http://schemas.openxmlformats.org/officeDocument/2006/relationships/slideLayout" Target="../slideLayouts/slideLayout2.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image" Target="../media/image-23-3.png"/><Relationship Id="rId4" Type="http://schemas.openxmlformats.org/officeDocument/2006/relationships/image" Target="../media/image-23-4.svg"/><Relationship Id="rId5" Type="http://schemas.openxmlformats.org/officeDocument/2006/relationships/image" Target="../media/image-23-5.png"/><Relationship Id="rId6" Type="http://schemas.openxmlformats.org/officeDocument/2006/relationships/image" Target="../media/image-23-6.svg"/><Relationship Id="rId7" Type="http://schemas.openxmlformats.org/officeDocument/2006/relationships/image" Target="../media/image-23-7.png"/><Relationship Id="rId8" Type="http://schemas.openxmlformats.org/officeDocument/2006/relationships/image" Target="../media/image-23-8.svg"/><Relationship Id="rId9" Type="http://schemas.openxmlformats.org/officeDocument/2006/relationships/slideLayout" Target="../slideLayouts/slideLayout2.xml"/><Relationship Id="rId10"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2154734"/>
            <a:ext cx="8151763" cy="387548"/>
          </a:xfrm>
          <a:prstGeom prst="rect">
            <a:avLst/>
          </a:prstGeom>
          <a:noFill/>
          <a:ln/>
        </p:spPr>
        <p:txBody>
          <a:bodyPr wrap="none" lIns="0" tIns="0" rIns="0" bIns="0" rtlCol="0" anchor="t"/>
          <a:lstStyle/>
          <a:p>
            <a:pPr algn="ctr" indent="0" marL="0">
              <a:lnSpc>
                <a:spcPct val="104000"/>
              </a:lnSpc>
              <a:buNone/>
            </a:pPr>
            <a:r>
              <a:rPr lang="en-US" sz="2400" dirty="0">
                <a:solidFill>
                  <a:srgbClr val="233E32"/>
                </a:solidFill>
                <a:latin typeface="Alice" pitchFamily="34" charset="0"/>
                <a:ea typeface="Alice" pitchFamily="34" charset="-122"/>
                <a:cs typeface="Alice" pitchFamily="34" charset="-120"/>
              </a:rPr>
              <a:t>WPA3 &amp; Enhanced Wi-Fi Security</a:t>
            </a:r>
            <a:endParaRPr lang="en-US" sz="2400" dirty="0"/>
          </a:p>
        </p:txBody>
      </p:sp>
      <p:sp>
        <p:nvSpPr>
          <p:cNvPr id="3" name="Text 1"/>
          <p:cNvSpPr/>
          <p:nvPr/>
        </p:nvSpPr>
        <p:spPr>
          <a:xfrm>
            <a:off x="267519" y="2790304"/>
            <a:ext cx="8608963" cy="198462"/>
          </a:xfrm>
          <a:prstGeom prst="rect">
            <a:avLst/>
          </a:prstGeom>
          <a:noFill/>
          <a:ln/>
        </p:spPr>
        <p:txBody>
          <a:bodyPr wrap="none" lIns="0" tIns="0" rIns="0" bIns="0" rtlCol="0" anchor="t"/>
          <a:lstStyle/>
          <a:p>
            <a:pPr algn="ctr" indent="0" marL="0">
              <a:lnSpc>
                <a:spcPct val="133000"/>
              </a:lnSpc>
              <a:buNone/>
            </a:pP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887016"/>
            <a:ext cx="8151763" cy="193849"/>
          </a:xfrm>
          <a:prstGeom prst="rect">
            <a:avLst/>
          </a:prstGeom>
          <a:noFill/>
          <a:ln/>
        </p:spPr>
        <p:txBody>
          <a:bodyPr wrap="none" lIns="0" tIns="0" rIns="0" bIns="0" rtlCol="0" anchor="t"/>
          <a:lstStyle/>
          <a:p>
            <a:pPr algn="l" indent="0" marL="0">
              <a:lnSpc>
                <a:spcPct val="104000"/>
              </a:lnSpc>
              <a:buNone/>
            </a:pPr>
            <a:r>
              <a:rPr lang="en-US" sz="1200" dirty="0">
                <a:solidFill>
                  <a:srgbClr val="233E32"/>
                </a:solidFill>
                <a:latin typeface="Alice" pitchFamily="34" charset="0"/>
                <a:ea typeface="Alice" pitchFamily="34" charset="-122"/>
                <a:cs typeface="Alice" pitchFamily="34" charset="-120"/>
              </a:rPr>
              <a:t>Lecture Overview</a:t>
            </a:r>
            <a:endParaRPr lang="en-US" sz="1200" dirty="0"/>
          </a:p>
        </p:txBody>
      </p:sp>
      <p:sp>
        <p:nvSpPr>
          <p:cNvPr id="3" name="Text 1"/>
          <p:cNvSpPr/>
          <p:nvPr/>
        </p:nvSpPr>
        <p:spPr>
          <a:xfrm>
            <a:off x="496119" y="1130424"/>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What We'll Cover Today</a:t>
            </a:r>
            <a:endParaRPr lang="en-US" sz="2400" dirty="0"/>
          </a:p>
        </p:txBody>
      </p:sp>
      <p:sp>
        <p:nvSpPr>
          <p:cNvPr id="4" name="Text 2"/>
          <p:cNvSpPr/>
          <p:nvPr/>
        </p:nvSpPr>
        <p:spPr>
          <a:xfrm>
            <a:off x="496119" y="1704008"/>
            <a:ext cx="8151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This lecture builds wireless security knowledge progressively — from the fundamental problem of open-air transmission, through decades of encryption evolution, to the cryptographic architecture of WPA3. By the end, you won't just memorize WPA3's features; you'll understand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why</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 each one matters.</a:t>
            </a:r>
            <a:endParaRPr lang="en-US" sz="9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454399"/>
            <a:ext cx="123974" cy="123974"/>
          </a:xfrm>
          <a:prstGeom prst="rect">
            <a:avLst/>
          </a:prstGeom>
        </p:spPr>
      </p:pic>
      <p:sp>
        <p:nvSpPr>
          <p:cNvPr id="6" name="Shape 3"/>
          <p:cNvSpPr/>
          <p:nvPr/>
        </p:nvSpPr>
        <p:spPr>
          <a:xfrm>
            <a:off x="496119" y="2635374"/>
            <a:ext cx="4013895" cy="14288"/>
          </a:xfrm>
          <a:prstGeom prst="rect">
            <a:avLst/>
          </a:prstGeom>
          <a:solidFill>
            <a:srgbClr val="1B5F39"/>
          </a:solidFill>
          <a:ln/>
        </p:spPr>
      </p:sp>
      <p:sp>
        <p:nvSpPr>
          <p:cNvPr id="7" name="Text 4"/>
          <p:cNvSpPr/>
          <p:nvPr/>
        </p:nvSpPr>
        <p:spPr>
          <a:xfrm>
            <a:off x="496119" y="2725936"/>
            <a:ext cx="4013895"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Why Wireless Is Inherently Insecure</a:t>
            </a:r>
            <a:endParaRPr lang="en-US" sz="1200" dirty="0"/>
          </a:p>
        </p:txBody>
      </p:sp>
      <p:sp>
        <p:nvSpPr>
          <p:cNvPr id="8" name="Text 5"/>
          <p:cNvSpPr/>
          <p:nvPr/>
        </p:nvSpPr>
        <p:spPr>
          <a:xfrm>
            <a:off x="496119" y="2994199"/>
            <a:ext cx="4013895" cy="198462"/>
          </a:xfrm>
          <a:prstGeom prst="rect">
            <a:avLst/>
          </a:prstGeom>
          <a:noFill/>
          <a:ln/>
        </p:spPr>
        <p:txBody>
          <a:bodyPr wrap="none" lIns="0" tIns="0" rIns="0" bIns="0" rtlCol="0" anchor="t"/>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The physics of wireless transmission and the threat landscape</a:t>
            </a:r>
            <a:endParaRPr lang="en-US" sz="9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33987" y="2454399"/>
            <a:ext cx="123974" cy="123974"/>
          </a:xfrm>
          <a:prstGeom prst="rect">
            <a:avLst/>
          </a:prstGeom>
        </p:spPr>
      </p:pic>
      <p:sp>
        <p:nvSpPr>
          <p:cNvPr id="10" name="Shape 6"/>
          <p:cNvSpPr/>
          <p:nvPr/>
        </p:nvSpPr>
        <p:spPr>
          <a:xfrm>
            <a:off x="4633987" y="2635374"/>
            <a:ext cx="4013895" cy="14288"/>
          </a:xfrm>
          <a:prstGeom prst="rect">
            <a:avLst/>
          </a:prstGeom>
          <a:solidFill>
            <a:srgbClr val="1B5F39"/>
          </a:solidFill>
          <a:ln/>
        </p:spPr>
      </p:sp>
      <p:sp>
        <p:nvSpPr>
          <p:cNvPr id="11" name="Text 7"/>
          <p:cNvSpPr/>
          <p:nvPr/>
        </p:nvSpPr>
        <p:spPr>
          <a:xfrm>
            <a:off x="4633987" y="2725936"/>
            <a:ext cx="4013895"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WEP → WPA → WPA2 Evolution</a:t>
            </a:r>
            <a:endParaRPr lang="en-US" sz="1200" dirty="0"/>
          </a:p>
        </p:txBody>
      </p:sp>
      <p:sp>
        <p:nvSpPr>
          <p:cNvPr id="12" name="Text 8"/>
          <p:cNvSpPr/>
          <p:nvPr/>
        </p:nvSpPr>
        <p:spPr>
          <a:xfrm>
            <a:off x="4633987" y="2994199"/>
            <a:ext cx="4013895" cy="198462"/>
          </a:xfrm>
          <a:prstGeom prst="rect">
            <a:avLst/>
          </a:prstGeom>
          <a:noFill/>
          <a:ln/>
        </p:spPr>
        <p:txBody>
          <a:bodyPr wrap="none" lIns="0" tIns="0" rIns="0" bIns="0" rtlCol="0" anchor="t"/>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How each standard failed, improved, and why it matters</a:t>
            </a:r>
            <a:endParaRPr lang="en-US" sz="95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425130"/>
            <a:ext cx="123974" cy="123974"/>
          </a:xfrm>
          <a:prstGeom prst="rect">
            <a:avLst/>
          </a:prstGeom>
        </p:spPr>
      </p:pic>
      <p:sp>
        <p:nvSpPr>
          <p:cNvPr id="14" name="Shape 9"/>
          <p:cNvSpPr/>
          <p:nvPr/>
        </p:nvSpPr>
        <p:spPr>
          <a:xfrm>
            <a:off x="496119" y="3606105"/>
            <a:ext cx="4013895" cy="14288"/>
          </a:xfrm>
          <a:prstGeom prst="rect">
            <a:avLst/>
          </a:prstGeom>
          <a:solidFill>
            <a:srgbClr val="1B5F39"/>
          </a:solidFill>
          <a:ln/>
        </p:spPr>
      </p:sp>
      <p:sp>
        <p:nvSpPr>
          <p:cNvPr id="15" name="Text 10"/>
          <p:cNvSpPr/>
          <p:nvPr/>
        </p:nvSpPr>
        <p:spPr>
          <a:xfrm>
            <a:off x="496119" y="3696667"/>
            <a:ext cx="4013895"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WPA3 Architecture in Depth</a:t>
            </a:r>
            <a:endParaRPr lang="en-US" sz="1200" dirty="0"/>
          </a:p>
        </p:txBody>
      </p:sp>
      <p:sp>
        <p:nvSpPr>
          <p:cNvPr id="16" name="Text 11"/>
          <p:cNvSpPr/>
          <p:nvPr/>
        </p:nvSpPr>
        <p:spPr>
          <a:xfrm>
            <a:off x="496119" y="3964930"/>
            <a:ext cx="4013895" cy="198462"/>
          </a:xfrm>
          <a:prstGeom prst="rect">
            <a:avLst/>
          </a:prstGeom>
          <a:noFill/>
          <a:ln/>
        </p:spPr>
        <p:txBody>
          <a:bodyPr wrap="none" lIns="0" tIns="0" rIns="0" bIns="0" rtlCol="0" anchor="t"/>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SAE, forward secrecy, 192-bit enterprise mode, and PMF</a:t>
            </a:r>
            <a:endParaRPr lang="en-US" sz="950" dirty="0"/>
          </a:p>
        </p:txBody>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33987" y="3425130"/>
            <a:ext cx="123974" cy="123974"/>
          </a:xfrm>
          <a:prstGeom prst="rect">
            <a:avLst/>
          </a:prstGeom>
        </p:spPr>
      </p:pic>
      <p:sp>
        <p:nvSpPr>
          <p:cNvPr id="18" name="Shape 12"/>
          <p:cNvSpPr/>
          <p:nvPr/>
        </p:nvSpPr>
        <p:spPr>
          <a:xfrm>
            <a:off x="4633987" y="3606105"/>
            <a:ext cx="4013895" cy="14288"/>
          </a:xfrm>
          <a:prstGeom prst="rect">
            <a:avLst/>
          </a:prstGeom>
          <a:solidFill>
            <a:srgbClr val="1B5F39"/>
          </a:solidFill>
          <a:ln/>
        </p:spPr>
      </p:sp>
      <p:sp>
        <p:nvSpPr>
          <p:cNvPr id="19" name="Text 13"/>
          <p:cNvSpPr/>
          <p:nvPr/>
        </p:nvSpPr>
        <p:spPr>
          <a:xfrm>
            <a:off x="4633987" y="3696667"/>
            <a:ext cx="4013895"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Real-World Deployment &amp; the Future</a:t>
            </a:r>
            <a:endParaRPr lang="en-US" sz="1200" dirty="0"/>
          </a:p>
        </p:txBody>
      </p:sp>
      <p:sp>
        <p:nvSpPr>
          <p:cNvPr id="20" name="Text 14"/>
          <p:cNvSpPr/>
          <p:nvPr/>
        </p:nvSpPr>
        <p:spPr>
          <a:xfrm>
            <a:off x="4633987" y="3964930"/>
            <a:ext cx="4013895" cy="198462"/>
          </a:xfrm>
          <a:prstGeom prst="rect">
            <a:avLst/>
          </a:prstGeom>
          <a:noFill/>
          <a:ln/>
        </p:spPr>
        <p:txBody>
          <a:bodyPr wrap="none" lIns="0" tIns="0" rIns="0" bIns="0" rtlCol="0" anchor="t"/>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Organizations, migration challenges, and emerging threats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972889"/>
            <a:ext cx="492472" cy="188565"/>
          </a:xfrm>
          <a:prstGeom prst="roundRect">
            <a:avLst>
              <a:gd name="adj" fmla="val 7894"/>
            </a:avLst>
          </a:prstGeom>
          <a:solidFill>
            <a:srgbClr val="D7F4E4"/>
          </a:solidFill>
          <a:ln/>
        </p:spPr>
      </p:sp>
      <p:sp>
        <p:nvSpPr>
          <p:cNvPr id="3" name="Text 1"/>
          <p:cNvSpPr/>
          <p:nvPr/>
        </p:nvSpPr>
        <p:spPr>
          <a:xfrm>
            <a:off x="570533" y="1010096"/>
            <a:ext cx="800844" cy="11415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1</a:t>
            </a:r>
            <a:endParaRPr lang="en-US" sz="750" dirty="0"/>
          </a:p>
        </p:txBody>
      </p:sp>
      <p:sp>
        <p:nvSpPr>
          <p:cNvPr id="4" name="Text 2"/>
          <p:cNvSpPr/>
          <p:nvPr/>
        </p:nvSpPr>
        <p:spPr>
          <a:xfrm>
            <a:off x="496119" y="1211014"/>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Why Wireless Security Matters</a:t>
            </a:r>
            <a:endParaRPr lang="en-US" sz="2400" dirty="0"/>
          </a:p>
        </p:txBody>
      </p:sp>
      <p:sp>
        <p:nvSpPr>
          <p:cNvPr id="5" name="Text 3"/>
          <p:cNvSpPr/>
          <p:nvPr/>
        </p:nvSpPr>
        <p:spPr>
          <a:xfrm>
            <a:off x="496119" y="1784598"/>
            <a:ext cx="8151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Unlike wired networks — where an attacker must physically tap a cable —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wireless signals travel through the air in every direction</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 Anyone within radio range can attempt to listen, capture packets, impersonate devices, or launch active attacks. The medium itself is fundamentally open. All security must come from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encryption and authentication</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 not physical access control.</a:t>
            </a:r>
            <a:endParaRPr lang="en-US" sz="950" dirty="0"/>
          </a:p>
        </p:txBody>
      </p:sp>
      <p:sp>
        <p:nvSpPr>
          <p:cNvPr id="6" name="Shape 4"/>
          <p:cNvSpPr/>
          <p:nvPr/>
        </p:nvSpPr>
        <p:spPr>
          <a:xfrm>
            <a:off x="406822" y="2519511"/>
            <a:ext cx="4103191" cy="1651025"/>
          </a:xfrm>
          <a:prstGeom prst="roundRect">
            <a:avLst>
              <a:gd name="adj" fmla="val 1127"/>
            </a:avLst>
          </a:prstGeom>
          <a:solidFill>
            <a:srgbClr val="1B5F39"/>
          </a:solidFill>
          <a:ln/>
        </p:spPr>
      </p:sp>
      <p:sp>
        <p:nvSpPr>
          <p:cNvPr id="7" name="Text 5"/>
          <p:cNvSpPr/>
          <p:nvPr/>
        </p:nvSpPr>
        <p:spPr>
          <a:xfrm>
            <a:off x="530796" y="2643485"/>
            <a:ext cx="3855244"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Alice" pitchFamily="34" charset="0"/>
                <a:ea typeface="Alice" pitchFamily="34" charset="-122"/>
                <a:cs typeface="Alice" pitchFamily="34" charset="-120"/>
              </a:rPr>
              <a:t>The Threat Is Physical Reality</a:t>
            </a:r>
            <a:endParaRPr lang="en-US" sz="1200" dirty="0"/>
          </a:p>
        </p:txBody>
      </p:sp>
      <p:sp>
        <p:nvSpPr>
          <p:cNvPr id="8" name="Text 6"/>
          <p:cNvSpPr/>
          <p:nvPr/>
        </p:nvSpPr>
        <p:spPr>
          <a:xfrm>
            <a:off x="530796" y="2961308"/>
            <a:ext cx="3855244"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Lora" pitchFamily="34" charset="0"/>
                <a:ea typeface="Lora" pitchFamily="34" charset="-122"/>
                <a:cs typeface="Lora" pitchFamily="34" charset="-120"/>
              </a:rPr>
              <a:t>An attacker sitting in a parking lot two cars from your building can intercept wireless traffic without ever setting foot inside. No badge. No lock to pick. Just a laptop and an antenna.</a:t>
            </a:r>
            <a:endParaRPr lang="en-US" sz="950" dirty="0"/>
          </a:p>
        </p:txBody>
      </p:sp>
      <p:sp>
        <p:nvSpPr>
          <p:cNvPr id="9" name="Text 7"/>
          <p:cNvSpPr/>
          <p:nvPr/>
        </p:nvSpPr>
        <p:spPr>
          <a:xfrm>
            <a:off x="4728046" y="2643485"/>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233E32"/>
                </a:solidFill>
                <a:latin typeface="Alice" pitchFamily="34" charset="0"/>
                <a:ea typeface="Alice" pitchFamily="34" charset="-122"/>
                <a:cs typeface="Alice" pitchFamily="34" charset="-120"/>
              </a:rPr>
              <a:t>What an Attacker Can Attempt</a:t>
            </a:r>
            <a:endParaRPr lang="en-US" sz="1200" dirty="0"/>
          </a:p>
        </p:txBody>
      </p:sp>
      <p:sp>
        <p:nvSpPr>
          <p:cNvPr id="10" name="Text 8"/>
          <p:cNvSpPr/>
          <p:nvPr/>
        </p:nvSpPr>
        <p:spPr>
          <a:xfrm>
            <a:off x="4728046" y="2961308"/>
            <a:ext cx="3924598" cy="1165845"/>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b="1" dirty="0">
                <a:solidFill>
                  <a:srgbClr val="2C2821"/>
                </a:solidFill>
                <a:latin typeface="Lora Bold" pitchFamily="34" charset="0"/>
                <a:ea typeface="Lora Bold" pitchFamily="34" charset="-122"/>
                <a:cs typeface="Lora Bold" pitchFamily="34" charset="-120"/>
              </a:rPr>
              <a:t>Eavesdropping</a:t>
            </a:r>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 — passively reading unencrypted packets</a:t>
            </a:r>
            <a:endParaRPr lang="en-US" sz="950" dirty="0"/>
          </a:p>
          <a:p>
            <a:pPr algn="l" marL="193040" indent="-193040">
              <a:lnSpc>
                <a:spcPct val="133000"/>
              </a:lnSpc>
              <a:buSzPct val="100000"/>
              <a:buChar char="•"/>
            </a:pPr>
            <a:r>
              <a:rPr lang="en-US" sz="950" b="1" dirty="0">
                <a:solidFill>
                  <a:srgbClr val="2C2821"/>
                </a:solidFill>
                <a:latin typeface="Lora Bold" pitchFamily="34" charset="0"/>
                <a:ea typeface="Lora Bold" pitchFamily="34" charset="-122"/>
                <a:cs typeface="Lora Bold" pitchFamily="34" charset="-120"/>
              </a:rPr>
              <a:t>Packet capture</a:t>
            </a:r>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 — collecting traffic for offline analysis</a:t>
            </a:r>
            <a:endParaRPr lang="en-US" sz="950" dirty="0"/>
          </a:p>
          <a:p>
            <a:pPr algn="l" marL="193040" indent="-193040">
              <a:lnSpc>
                <a:spcPct val="133000"/>
              </a:lnSpc>
              <a:buSzPct val="100000"/>
              <a:buChar char="•"/>
            </a:pPr>
            <a:r>
              <a:rPr lang="en-US" sz="950" b="1" dirty="0">
                <a:solidFill>
                  <a:srgbClr val="2C2821"/>
                </a:solidFill>
                <a:latin typeface="Lora Bold" pitchFamily="34" charset="0"/>
                <a:ea typeface="Lora Bold" pitchFamily="34" charset="-122"/>
                <a:cs typeface="Lora Bold" pitchFamily="34" charset="-120"/>
              </a:rPr>
              <a:t>Device impersonation</a:t>
            </a:r>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 — spoofing a legitimate access point</a:t>
            </a:r>
            <a:endParaRPr lang="en-US" sz="950" dirty="0"/>
          </a:p>
          <a:p>
            <a:pPr algn="l" marL="193040" indent="-193040">
              <a:lnSpc>
                <a:spcPct val="133000"/>
              </a:lnSpc>
              <a:buSzPct val="100000"/>
              <a:buChar char="•"/>
            </a:pPr>
            <a:r>
              <a:rPr lang="en-US" sz="950" b="1" dirty="0">
                <a:solidFill>
                  <a:srgbClr val="2C2821"/>
                </a:solidFill>
                <a:latin typeface="Lora Bold" pitchFamily="34" charset="0"/>
                <a:ea typeface="Lora Bold" pitchFamily="34" charset="-122"/>
                <a:cs typeface="Lora Bold" pitchFamily="34" charset="-120"/>
              </a:rPr>
              <a:t>Active injection</a:t>
            </a:r>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 — inserting or modifying frames in transit</a:t>
            </a:r>
            <a:endParaRPr lang="en-US" sz="950" dirty="0"/>
          </a:p>
          <a:p>
            <a:pPr algn="l" marL="193040" indent="-193040">
              <a:lnSpc>
                <a:spcPct val="133000"/>
              </a:lnSpc>
              <a:buSzPct val="100000"/>
              <a:buChar char="•"/>
            </a:pPr>
            <a:r>
              <a:rPr lang="en-US" sz="950" b="1" dirty="0">
                <a:solidFill>
                  <a:srgbClr val="2C2821"/>
                </a:solidFill>
                <a:latin typeface="Lora Bold" pitchFamily="34" charset="0"/>
                <a:ea typeface="Lora Bold" pitchFamily="34" charset="-122"/>
                <a:cs typeface="Lora Bold" pitchFamily="34" charset="-120"/>
              </a:rPr>
              <a:t>Denial of service</a:t>
            </a:r>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 — flooding the wireless channel</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415603"/>
            <a:ext cx="493514" cy="182538"/>
          </a:xfrm>
          <a:prstGeom prst="roundRect">
            <a:avLst>
              <a:gd name="adj" fmla="val 7900"/>
            </a:avLst>
          </a:prstGeom>
          <a:solidFill>
            <a:srgbClr val="D7F4E4"/>
          </a:solidFill>
          <a:ln/>
        </p:spPr>
      </p:sp>
      <p:sp>
        <p:nvSpPr>
          <p:cNvPr id="3" name="Text 1"/>
          <p:cNvSpPr/>
          <p:nvPr/>
        </p:nvSpPr>
        <p:spPr>
          <a:xfrm>
            <a:off x="568151" y="451619"/>
            <a:ext cx="806648" cy="110505"/>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2</a:t>
            </a:r>
            <a:endParaRPr lang="en-US" sz="750" dirty="0"/>
          </a:p>
        </p:txBody>
      </p:sp>
      <p:sp>
        <p:nvSpPr>
          <p:cNvPr id="4" name="Text 2"/>
          <p:cNvSpPr/>
          <p:nvPr/>
        </p:nvSpPr>
        <p:spPr>
          <a:xfrm>
            <a:off x="496119" y="644649"/>
            <a:ext cx="8151763" cy="375493"/>
          </a:xfrm>
          <a:prstGeom prst="rect">
            <a:avLst/>
          </a:prstGeom>
          <a:noFill/>
          <a:ln/>
        </p:spPr>
        <p:txBody>
          <a:bodyPr wrap="none" lIns="0" tIns="0" rIns="0" bIns="0" rtlCol="0" anchor="t"/>
          <a:lstStyle/>
          <a:p>
            <a:pPr algn="l" indent="0" marL="0">
              <a:lnSpc>
                <a:spcPct val="104000"/>
              </a:lnSpc>
              <a:buNone/>
            </a:pPr>
            <a:r>
              <a:rPr lang="en-US" sz="2350" dirty="0">
                <a:solidFill>
                  <a:srgbClr val="233E32"/>
                </a:solidFill>
                <a:latin typeface="Alice" pitchFamily="34" charset="0"/>
                <a:ea typeface="Alice" pitchFamily="34" charset="-122"/>
                <a:cs typeface="Alice" pitchFamily="34" charset="-120"/>
              </a:rPr>
              <a:t>The Evolution of Wi-Fi</a:t>
            </a:r>
            <a:endParaRPr lang="en-US" sz="2350" dirty="0"/>
          </a:p>
        </p:txBody>
      </p:sp>
      <p:sp>
        <p:nvSpPr>
          <p:cNvPr id="5" name="Text 3"/>
          <p:cNvSpPr/>
          <p:nvPr/>
        </p:nvSpPr>
        <p:spPr>
          <a:xfrm>
            <a:off x="496119" y="1194718"/>
            <a:ext cx="8151763" cy="378470"/>
          </a:xfrm>
          <a:prstGeom prst="rect">
            <a:avLst/>
          </a:prstGeom>
          <a:noFill/>
          <a:ln/>
        </p:spPr>
        <p:txBody>
          <a:bodyPr wrap="square" lIns="0" tIns="0" rIns="0" bIns="0" rtlCol="0" anchor="t">
            <a:normAutofit/>
          </a:bodyPr>
          <a:lstStyle/>
          <a:p>
            <a:pPr algn="l" indent="0" marL="0">
              <a:lnSpc>
                <a:spcPct val="131000"/>
              </a:lnSpc>
              <a:buNone/>
            </a:pPr>
            <a:r>
              <a:rPr lang="en-US" sz="900" dirty="0">
                <a:solidFill>
                  <a:srgbClr val="2C2821"/>
                </a:solidFill>
                <a:latin typeface="Lora" pitchFamily="34" charset="0"/>
                <a:ea typeface="Lora" pitchFamily="34" charset="-122"/>
                <a:cs typeface="Lora" pitchFamily="34" charset="-120"/>
              </a:rPr>
              <a:t>The IEEE 802.11 standard family began in 1997 and has been updated continuously ever since. As raw speeds increased, the data flowing across wireless networks grew far more sensitive — and attackers gained increasingly powerful hardware and software to exploit weaknesses.</a:t>
            </a:r>
            <a:endParaRPr lang="en-US" sz="900" dirty="0"/>
          </a:p>
        </p:txBody>
      </p:sp>
      <p:sp>
        <p:nvSpPr>
          <p:cNvPr id="6" name="Shape 4"/>
          <p:cNvSpPr/>
          <p:nvPr/>
        </p:nvSpPr>
        <p:spPr>
          <a:xfrm>
            <a:off x="496119" y="2820739"/>
            <a:ext cx="8151763" cy="14288"/>
          </a:xfrm>
          <a:prstGeom prst="roundRect">
            <a:avLst>
              <a:gd name="adj" fmla="val 126158"/>
            </a:avLst>
          </a:prstGeom>
          <a:solidFill>
            <a:srgbClr val="D6D3CC"/>
          </a:solidFill>
          <a:ln/>
        </p:spPr>
      </p:sp>
      <p:sp>
        <p:nvSpPr>
          <p:cNvPr id="7" name="Shape 5"/>
          <p:cNvSpPr/>
          <p:nvPr/>
        </p:nvSpPr>
        <p:spPr>
          <a:xfrm>
            <a:off x="1799034" y="2460315"/>
            <a:ext cx="14288" cy="360462"/>
          </a:xfrm>
          <a:prstGeom prst="roundRect">
            <a:avLst>
              <a:gd name="adj" fmla="val 126158"/>
            </a:avLst>
          </a:prstGeom>
          <a:solidFill>
            <a:srgbClr val="D6D3CC"/>
          </a:solidFill>
          <a:ln/>
        </p:spPr>
      </p:sp>
      <p:sp>
        <p:nvSpPr>
          <p:cNvPr id="8" name="Shape 6"/>
          <p:cNvSpPr/>
          <p:nvPr/>
        </p:nvSpPr>
        <p:spPr>
          <a:xfrm>
            <a:off x="1671042" y="2685566"/>
            <a:ext cx="270346" cy="270346"/>
          </a:xfrm>
          <a:prstGeom prst="roundRect">
            <a:avLst>
              <a:gd name="adj" fmla="val 6668"/>
            </a:avLst>
          </a:prstGeom>
          <a:solidFill>
            <a:srgbClr val="F0EDE6"/>
          </a:solidFill>
          <a:ln/>
        </p:spPr>
      </p:sp>
      <p:sp>
        <p:nvSpPr>
          <p:cNvPr id="9" name="Text 7"/>
          <p:cNvSpPr/>
          <p:nvPr/>
        </p:nvSpPr>
        <p:spPr>
          <a:xfrm>
            <a:off x="1716063" y="2708077"/>
            <a:ext cx="180231" cy="225251"/>
          </a:xfrm>
          <a:prstGeom prst="rect">
            <a:avLst/>
          </a:prstGeom>
          <a:noFill/>
          <a:ln/>
        </p:spPr>
        <p:txBody>
          <a:bodyPr wrap="none" lIns="0" tIns="0" rIns="0" bIns="0" rtlCol="0" anchor="ctr"/>
          <a:lstStyle/>
          <a:p>
            <a:pPr algn="ctr" indent="0" marL="0">
              <a:lnSpc>
                <a:spcPct val="100000"/>
              </a:lnSpc>
              <a:buNone/>
            </a:pPr>
            <a:r>
              <a:rPr lang="en-US" sz="1400" dirty="0">
                <a:solidFill>
                  <a:srgbClr val="2C2821"/>
                </a:solidFill>
                <a:latin typeface="Alice" pitchFamily="34" charset="0"/>
                <a:ea typeface="Alice" pitchFamily="34" charset="-122"/>
                <a:cs typeface="Alice" pitchFamily="34" charset="-120"/>
              </a:rPr>
              <a:t>1</a:t>
            </a:r>
            <a:endParaRPr lang="en-US" sz="1400" dirty="0"/>
          </a:p>
        </p:txBody>
      </p:sp>
      <p:sp>
        <p:nvSpPr>
          <p:cNvPr id="10" name="Text 8"/>
          <p:cNvSpPr/>
          <p:nvPr/>
        </p:nvSpPr>
        <p:spPr>
          <a:xfrm>
            <a:off x="616223" y="1704082"/>
            <a:ext cx="2380059" cy="187747"/>
          </a:xfrm>
          <a:prstGeom prst="rect">
            <a:avLst/>
          </a:prstGeom>
          <a:noFill/>
          <a:ln/>
        </p:spPr>
        <p:txBody>
          <a:bodyPr wrap="none" lIns="0" tIns="0" rIns="0" bIns="0" rtlCol="0" anchor="t"/>
          <a:lstStyle/>
          <a:p>
            <a:pPr algn="ctr" indent="0" marL="0">
              <a:lnSpc>
                <a:spcPct val="104000"/>
              </a:lnSpc>
              <a:buNone/>
            </a:pPr>
            <a:r>
              <a:rPr lang="en-US" sz="1150" dirty="0">
                <a:solidFill>
                  <a:srgbClr val="2C2821"/>
                </a:solidFill>
                <a:latin typeface="Alice" pitchFamily="34" charset="0"/>
                <a:ea typeface="Alice" pitchFamily="34" charset="-122"/>
                <a:cs typeface="Alice" pitchFamily="34" charset="-120"/>
              </a:rPr>
              <a:t>1997 — 802.11</a:t>
            </a:r>
            <a:endParaRPr lang="en-US" sz="1150" dirty="0"/>
          </a:p>
        </p:txBody>
      </p:sp>
      <p:sp>
        <p:nvSpPr>
          <p:cNvPr id="11" name="Text 9"/>
          <p:cNvSpPr/>
          <p:nvPr/>
        </p:nvSpPr>
        <p:spPr>
          <a:xfrm>
            <a:off x="616223" y="1961629"/>
            <a:ext cx="2380059" cy="378470"/>
          </a:xfrm>
          <a:prstGeom prst="rect">
            <a:avLst/>
          </a:prstGeom>
          <a:noFill/>
          <a:ln/>
        </p:spPr>
        <p:txBody>
          <a:bodyPr wrap="square" lIns="0" tIns="0" rIns="0" bIns="0" rtlCol="0" anchor="t">
            <a:normAutofit/>
          </a:bodyPr>
          <a:lstStyle/>
          <a:p>
            <a:pPr algn="ctr" indent="0" marL="0">
              <a:lnSpc>
                <a:spcPct val="131000"/>
              </a:lnSpc>
              <a:buNone/>
            </a:pPr>
            <a:r>
              <a:rPr lang="en-US" sz="900" dirty="0">
                <a:solidFill>
                  <a:srgbClr val="2C2821"/>
                </a:solidFill>
                <a:latin typeface="Lora" pitchFamily="34" charset="0"/>
                <a:ea typeface="Lora" pitchFamily="34" charset="-122"/>
                <a:cs typeface="Lora" pitchFamily="34" charset="-120"/>
              </a:rPr>
              <a:t>2 Mbps. Mainly email and basic file sharing. Security was an afterthought.</a:t>
            </a:r>
            <a:endParaRPr lang="en-US" sz="900" dirty="0"/>
          </a:p>
        </p:txBody>
      </p:sp>
      <p:sp>
        <p:nvSpPr>
          <p:cNvPr id="12" name="Shape 10"/>
          <p:cNvSpPr/>
          <p:nvPr/>
        </p:nvSpPr>
        <p:spPr>
          <a:xfrm>
            <a:off x="3181871" y="2820702"/>
            <a:ext cx="14288" cy="360462"/>
          </a:xfrm>
          <a:prstGeom prst="roundRect">
            <a:avLst>
              <a:gd name="adj" fmla="val 126158"/>
            </a:avLst>
          </a:prstGeom>
          <a:solidFill>
            <a:srgbClr val="D6D3CC"/>
          </a:solidFill>
          <a:ln/>
        </p:spPr>
      </p:sp>
      <p:sp>
        <p:nvSpPr>
          <p:cNvPr id="13" name="Shape 11"/>
          <p:cNvSpPr/>
          <p:nvPr/>
        </p:nvSpPr>
        <p:spPr>
          <a:xfrm>
            <a:off x="3053879" y="2685566"/>
            <a:ext cx="270346" cy="270346"/>
          </a:xfrm>
          <a:prstGeom prst="roundRect">
            <a:avLst>
              <a:gd name="adj" fmla="val 6668"/>
            </a:avLst>
          </a:prstGeom>
          <a:solidFill>
            <a:srgbClr val="F0EDE6"/>
          </a:solidFill>
          <a:ln/>
        </p:spPr>
      </p:sp>
      <p:sp>
        <p:nvSpPr>
          <p:cNvPr id="14" name="Text 12"/>
          <p:cNvSpPr/>
          <p:nvPr/>
        </p:nvSpPr>
        <p:spPr>
          <a:xfrm>
            <a:off x="3098899" y="2708077"/>
            <a:ext cx="180231" cy="225251"/>
          </a:xfrm>
          <a:prstGeom prst="rect">
            <a:avLst/>
          </a:prstGeom>
          <a:noFill/>
          <a:ln/>
        </p:spPr>
        <p:txBody>
          <a:bodyPr wrap="none" lIns="0" tIns="0" rIns="0" bIns="0" rtlCol="0" anchor="ctr"/>
          <a:lstStyle/>
          <a:p>
            <a:pPr algn="ctr" indent="0" marL="0">
              <a:lnSpc>
                <a:spcPct val="100000"/>
              </a:lnSpc>
              <a:buNone/>
            </a:pPr>
            <a:r>
              <a:rPr lang="en-US" sz="1400" dirty="0">
                <a:solidFill>
                  <a:srgbClr val="2C2821"/>
                </a:solidFill>
                <a:latin typeface="Alice" pitchFamily="34" charset="0"/>
                <a:ea typeface="Alice" pitchFamily="34" charset="-122"/>
                <a:cs typeface="Alice" pitchFamily="34" charset="-120"/>
              </a:rPr>
              <a:t>2</a:t>
            </a:r>
            <a:endParaRPr lang="en-US" sz="1400" dirty="0"/>
          </a:p>
        </p:txBody>
      </p:sp>
      <p:sp>
        <p:nvSpPr>
          <p:cNvPr id="15" name="Text 13"/>
          <p:cNvSpPr/>
          <p:nvPr/>
        </p:nvSpPr>
        <p:spPr>
          <a:xfrm>
            <a:off x="1999059" y="3301380"/>
            <a:ext cx="2380059" cy="187747"/>
          </a:xfrm>
          <a:prstGeom prst="rect">
            <a:avLst/>
          </a:prstGeom>
          <a:noFill/>
          <a:ln/>
        </p:spPr>
        <p:txBody>
          <a:bodyPr wrap="none" lIns="0" tIns="0" rIns="0" bIns="0" rtlCol="0" anchor="t"/>
          <a:lstStyle/>
          <a:p>
            <a:pPr algn="ctr" indent="0" marL="0">
              <a:lnSpc>
                <a:spcPct val="104000"/>
              </a:lnSpc>
              <a:buNone/>
            </a:pPr>
            <a:r>
              <a:rPr lang="en-US" sz="1150" dirty="0">
                <a:solidFill>
                  <a:srgbClr val="2C2821"/>
                </a:solidFill>
                <a:latin typeface="Alice" pitchFamily="34" charset="0"/>
                <a:ea typeface="Alice" pitchFamily="34" charset="-122"/>
                <a:cs typeface="Alice" pitchFamily="34" charset="-120"/>
              </a:rPr>
              <a:t>1999 — 802.11b</a:t>
            </a:r>
            <a:endParaRPr lang="en-US" sz="1150" dirty="0"/>
          </a:p>
        </p:txBody>
      </p:sp>
      <p:sp>
        <p:nvSpPr>
          <p:cNvPr id="16" name="Text 14"/>
          <p:cNvSpPr/>
          <p:nvPr/>
        </p:nvSpPr>
        <p:spPr>
          <a:xfrm>
            <a:off x="1999059" y="3558927"/>
            <a:ext cx="2380059" cy="378470"/>
          </a:xfrm>
          <a:prstGeom prst="rect">
            <a:avLst/>
          </a:prstGeom>
          <a:noFill/>
          <a:ln/>
        </p:spPr>
        <p:txBody>
          <a:bodyPr wrap="square" lIns="0" tIns="0" rIns="0" bIns="0" rtlCol="0" anchor="t">
            <a:normAutofit/>
          </a:bodyPr>
          <a:lstStyle/>
          <a:p>
            <a:pPr algn="ctr" indent="0" marL="0">
              <a:lnSpc>
                <a:spcPct val="131000"/>
              </a:lnSpc>
              <a:buNone/>
            </a:pPr>
            <a:r>
              <a:rPr lang="en-US" sz="900" dirty="0">
                <a:solidFill>
                  <a:srgbClr val="2C2821"/>
                </a:solidFill>
                <a:latin typeface="Lora" pitchFamily="34" charset="0"/>
                <a:ea typeface="Lora" pitchFamily="34" charset="-122"/>
                <a:cs typeface="Lora" pitchFamily="34" charset="-120"/>
              </a:rPr>
              <a:t>11 Mbps. Mass adoption begins. WEP introduced as the first security layer.</a:t>
            </a:r>
            <a:endParaRPr lang="en-US" sz="900" dirty="0"/>
          </a:p>
        </p:txBody>
      </p:sp>
      <p:sp>
        <p:nvSpPr>
          <p:cNvPr id="17" name="Shape 15"/>
          <p:cNvSpPr/>
          <p:nvPr/>
        </p:nvSpPr>
        <p:spPr>
          <a:xfrm>
            <a:off x="4564782" y="2460315"/>
            <a:ext cx="14288" cy="360462"/>
          </a:xfrm>
          <a:prstGeom prst="roundRect">
            <a:avLst>
              <a:gd name="adj" fmla="val 126158"/>
            </a:avLst>
          </a:prstGeom>
          <a:solidFill>
            <a:srgbClr val="D6D3CC"/>
          </a:solidFill>
          <a:ln/>
        </p:spPr>
      </p:sp>
      <p:sp>
        <p:nvSpPr>
          <p:cNvPr id="18" name="Shape 16"/>
          <p:cNvSpPr/>
          <p:nvPr/>
        </p:nvSpPr>
        <p:spPr>
          <a:xfrm>
            <a:off x="4436790" y="2685566"/>
            <a:ext cx="270346" cy="270346"/>
          </a:xfrm>
          <a:prstGeom prst="roundRect">
            <a:avLst>
              <a:gd name="adj" fmla="val 6668"/>
            </a:avLst>
          </a:prstGeom>
          <a:solidFill>
            <a:srgbClr val="F0EDE6"/>
          </a:solidFill>
          <a:ln/>
        </p:spPr>
      </p:sp>
      <p:sp>
        <p:nvSpPr>
          <p:cNvPr id="19" name="Text 17"/>
          <p:cNvSpPr/>
          <p:nvPr/>
        </p:nvSpPr>
        <p:spPr>
          <a:xfrm>
            <a:off x="4481810" y="2708077"/>
            <a:ext cx="180231" cy="225251"/>
          </a:xfrm>
          <a:prstGeom prst="rect">
            <a:avLst/>
          </a:prstGeom>
          <a:noFill/>
          <a:ln/>
        </p:spPr>
        <p:txBody>
          <a:bodyPr wrap="none" lIns="0" tIns="0" rIns="0" bIns="0" rtlCol="0" anchor="ctr"/>
          <a:lstStyle/>
          <a:p>
            <a:pPr algn="ctr" indent="0" marL="0">
              <a:lnSpc>
                <a:spcPct val="100000"/>
              </a:lnSpc>
              <a:buNone/>
            </a:pPr>
            <a:r>
              <a:rPr lang="en-US" sz="1400" dirty="0">
                <a:solidFill>
                  <a:srgbClr val="2C2821"/>
                </a:solidFill>
                <a:latin typeface="Alice" pitchFamily="34" charset="0"/>
                <a:ea typeface="Alice" pitchFamily="34" charset="-122"/>
                <a:cs typeface="Alice" pitchFamily="34" charset="-120"/>
              </a:rPr>
              <a:t>3</a:t>
            </a:r>
            <a:endParaRPr lang="en-US" sz="1400" dirty="0"/>
          </a:p>
        </p:txBody>
      </p:sp>
      <p:sp>
        <p:nvSpPr>
          <p:cNvPr id="20" name="Text 18"/>
          <p:cNvSpPr/>
          <p:nvPr/>
        </p:nvSpPr>
        <p:spPr>
          <a:xfrm>
            <a:off x="3381970" y="1704082"/>
            <a:ext cx="2380059" cy="187747"/>
          </a:xfrm>
          <a:prstGeom prst="rect">
            <a:avLst/>
          </a:prstGeom>
          <a:noFill/>
          <a:ln/>
        </p:spPr>
        <p:txBody>
          <a:bodyPr wrap="none" lIns="0" tIns="0" rIns="0" bIns="0" rtlCol="0" anchor="t"/>
          <a:lstStyle/>
          <a:p>
            <a:pPr algn="ctr" indent="0" marL="0">
              <a:lnSpc>
                <a:spcPct val="104000"/>
              </a:lnSpc>
              <a:buNone/>
            </a:pPr>
            <a:r>
              <a:rPr lang="en-US" sz="1150" dirty="0">
                <a:solidFill>
                  <a:srgbClr val="2C2821"/>
                </a:solidFill>
                <a:latin typeface="Alice" pitchFamily="34" charset="0"/>
                <a:ea typeface="Alice" pitchFamily="34" charset="-122"/>
                <a:cs typeface="Alice" pitchFamily="34" charset="-120"/>
              </a:rPr>
              <a:t>2003–2009 — 802.11g/n</a:t>
            </a:r>
            <a:endParaRPr lang="en-US" sz="1150" dirty="0"/>
          </a:p>
        </p:txBody>
      </p:sp>
      <p:sp>
        <p:nvSpPr>
          <p:cNvPr id="21" name="Text 19"/>
          <p:cNvSpPr/>
          <p:nvPr/>
        </p:nvSpPr>
        <p:spPr>
          <a:xfrm>
            <a:off x="3381970" y="1961629"/>
            <a:ext cx="2380059" cy="378470"/>
          </a:xfrm>
          <a:prstGeom prst="rect">
            <a:avLst/>
          </a:prstGeom>
          <a:noFill/>
          <a:ln/>
        </p:spPr>
        <p:txBody>
          <a:bodyPr wrap="square" lIns="0" tIns="0" rIns="0" bIns="0" rtlCol="0" anchor="t">
            <a:normAutofit/>
          </a:bodyPr>
          <a:lstStyle/>
          <a:p>
            <a:pPr algn="ctr" indent="0" marL="0">
              <a:lnSpc>
                <a:spcPct val="131000"/>
              </a:lnSpc>
              <a:buNone/>
            </a:pPr>
            <a:r>
              <a:rPr lang="en-US" sz="900" dirty="0">
                <a:solidFill>
                  <a:srgbClr val="2C2821"/>
                </a:solidFill>
                <a:latin typeface="Lora" pitchFamily="34" charset="0"/>
                <a:ea typeface="Lora" pitchFamily="34" charset="-122"/>
                <a:cs typeface="Lora" pitchFamily="34" charset="-120"/>
              </a:rPr>
              <a:t>54–600 Mbps. WPA and WPA2 introduced. Cloud apps emerge on wireless.</a:t>
            </a:r>
            <a:endParaRPr lang="en-US" sz="900" dirty="0"/>
          </a:p>
        </p:txBody>
      </p:sp>
      <p:sp>
        <p:nvSpPr>
          <p:cNvPr id="22" name="Shape 20"/>
          <p:cNvSpPr/>
          <p:nvPr/>
        </p:nvSpPr>
        <p:spPr>
          <a:xfrm>
            <a:off x="5947618" y="2820702"/>
            <a:ext cx="14288" cy="360462"/>
          </a:xfrm>
          <a:prstGeom prst="roundRect">
            <a:avLst>
              <a:gd name="adj" fmla="val 126158"/>
            </a:avLst>
          </a:prstGeom>
          <a:solidFill>
            <a:srgbClr val="D6D3CC"/>
          </a:solidFill>
          <a:ln/>
        </p:spPr>
      </p:sp>
      <p:sp>
        <p:nvSpPr>
          <p:cNvPr id="23" name="Shape 21"/>
          <p:cNvSpPr/>
          <p:nvPr/>
        </p:nvSpPr>
        <p:spPr>
          <a:xfrm>
            <a:off x="5819626" y="2685566"/>
            <a:ext cx="270346" cy="270346"/>
          </a:xfrm>
          <a:prstGeom prst="roundRect">
            <a:avLst>
              <a:gd name="adj" fmla="val 6668"/>
            </a:avLst>
          </a:prstGeom>
          <a:solidFill>
            <a:srgbClr val="F0EDE6"/>
          </a:solidFill>
          <a:ln/>
        </p:spPr>
      </p:sp>
      <p:sp>
        <p:nvSpPr>
          <p:cNvPr id="24" name="Text 22"/>
          <p:cNvSpPr/>
          <p:nvPr/>
        </p:nvSpPr>
        <p:spPr>
          <a:xfrm>
            <a:off x="5864647" y="2708077"/>
            <a:ext cx="180231" cy="225251"/>
          </a:xfrm>
          <a:prstGeom prst="rect">
            <a:avLst/>
          </a:prstGeom>
          <a:noFill/>
          <a:ln/>
        </p:spPr>
        <p:txBody>
          <a:bodyPr wrap="none" lIns="0" tIns="0" rIns="0" bIns="0" rtlCol="0" anchor="ctr"/>
          <a:lstStyle/>
          <a:p>
            <a:pPr algn="ctr" indent="0" marL="0">
              <a:lnSpc>
                <a:spcPct val="100000"/>
              </a:lnSpc>
              <a:buNone/>
            </a:pPr>
            <a:r>
              <a:rPr lang="en-US" sz="1400" dirty="0">
                <a:solidFill>
                  <a:srgbClr val="2C2821"/>
                </a:solidFill>
                <a:latin typeface="Alice" pitchFamily="34" charset="0"/>
                <a:ea typeface="Alice" pitchFamily="34" charset="-122"/>
                <a:cs typeface="Alice" pitchFamily="34" charset="-120"/>
              </a:rPr>
              <a:t>4</a:t>
            </a:r>
            <a:endParaRPr lang="en-US" sz="1400" dirty="0"/>
          </a:p>
        </p:txBody>
      </p:sp>
      <p:sp>
        <p:nvSpPr>
          <p:cNvPr id="25" name="Text 23"/>
          <p:cNvSpPr/>
          <p:nvPr/>
        </p:nvSpPr>
        <p:spPr>
          <a:xfrm>
            <a:off x="4764807" y="3301380"/>
            <a:ext cx="2380059" cy="187747"/>
          </a:xfrm>
          <a:prstGeom prst="rect">
            <a:avLst/>
          </a:prstGeom>
          <a:noFill/>
          <a:ln/>
        </p:spPr>
        <p:txBody>
          <a:bodyPr wrap="none" lIns="0" tIns="0" rIns="0" bIns="0" rtlCol="0" anchor="t"/>
          <a:lstStyle/>
          <a:p>
            <a:pPr algn="ctr" indent="0" marL="0">
              <a:lnSpc>
                <a:spcPct val="104000"/>
              </a:lnSpc>
              <a:buNone/>
            </a:pPr>
            <a:r>
              <a:rPr lang="en-US" sz="1150" dirty="0">
                <a:solidFill>
                  <a:srgbClr val="2C2821"/>
                </a:solidFill>
                <a:latin typeface="Alice" pitchFamily="34" charset="0"/>
                <a:ea typeface="Alice" pitchFamily="34" charset="-122"/>
                <a:cs typeface="Alice" pitchFamily="34" charset="-120"/>
              </a:rPr>
              <a:t>2013–2019 — 802.11ac/ax</a:t>
            </a:r>
            <a:endParaRPr lang="en-US" sz="1150" dirty="0"/>
          </a:p>
        </p:txBody>
      </p:sp>
      <p:sp>
        <p:nvSpPr>
          <p:cNvPr id="26" name="Text 24"/>
          <p:cNvSpPr/>
          <p:nvPr/>
        </p:nvSpPr>
        <p:spPr>
          <a:xfrm>
            <a:off x="4764807" y="3558927"/>
            <a:ext cx="2380059" cy="567705"/>
          </a:xfrm>
          <a:prstGeom prst="rect">
            <a:avLst/>
          </a:prstGeom>
          <a:noFill/>
          <a:ln/>
        </p:spPr>
        <p:txBody>
          <a:bodyPr wrap="square" lIns="0" tIns="0" rIns="0" bIns="0" rtlCol="0" anchor="t">
            <a:normAutofit/>
          </a:bodyPr>
          <a:lstStyle/>
          <a:p>
            <a:pPr algn="ctr" indent="0" marL="0">
              <a:lnSpc>
                <a:spcPct val="131000"/>
              </a:lnSpc>
              <a:buNone/>
            </a:pPr>
            <a:r>
              <a:rPr lang="en-US" sz="900" dirty="0">
                <a:solidFill>
                  <a:srgbClr val="2C2821"/>
                </a:solidFill>
                <a:latin typeface="Lora" pitchFamily="34" charset="0"/>
                <a:ea typeface="Lora" pitchFamily="34" charset="-122"/>
                <a:cs typeface="Lora" pitchFamily="34" charset="-120"/>
              </a:rPr>
              <a:t>Gigabit wireless. Healthcare records, financial transactions, and industrial control traffic now travel over Wi-Fi.</a:t>
            </a:r>
            <a:endParaRPr lang="en-US" sz="900" dirty="0"/>
          </a:p>
        </p:txBody>
      </p:sp>
      <p:sp>
        <p:nvSpPr>
          <p:cNvPr id="27" name="Shape 25"/>
          <p:cNvSpPr/>
          <p:nvPr/>
        </p:nvSpPr>
        <p:spPr>
          <a:xfrm>
            <a:off x="7330529" y="2460315"/>
            <a:ext cx="14288" cy="360462"/>
          </a:xfrm>
          <a:prstGeom prst="roundRect">
            <a:avLst>
              <a:gd name="adj" fmla="val 126158"/>
            </a:avLst>
          </a:prstGeom>
          <a:solidFill>
            <a:srgbClr val="D6D3CC"/>
          </a:solidFill>
          <a:ln/>
        </p:spPr>
      </p:sp>
      <p:sp>
        <p:nvSpPr>
          <p:cNvPr id="28" name="Shape 26"/>
          <p:cNvSpPr/>
          <p:nvPr/>
        </p:nvSpPr>
        <p:spPr>
          <a:xfrm>
            <a:off x="7202537" y="2685566"/>
            <a:ext cx="270346" cy="270346"/>
          </a:xfrm>
          <a:prstGeom prst="roundRect">
            <a:avLst>
              <a:gd name="adj" fmla="val 6668"/>
            </a:avLst>
          </a:prstGeom>
          <a:solidFill>
            <a:srgbClr val="F0EDE6"/>
          </a:solidFill>
          <a:ln/>
        </p:spPr>
      </p:sp>
      <p:sp>
        <p:nvSpPr>
          <p:cNvPr id="29" name="Text 27"/>
          <p:cNvSpPr/>
          <p:nvPr/>
        </p:nvSpPr>
        <p:spPr>
          <a:xfrm>
            <a:off x="7247558" y="2708077"/>
            <a:ext cx="180231" cy="225251"/>
          </a:xfrm>
          <a:prstGeom prst="rect">
            <a:avLst/>
          </a:prstGeom>
          <a:noFill/>
          <a:ln/>
        </p:spPr>
        <p:txBody>
          <a:bodyPr wrap="none" lIns="0" tIns="0" rIns="0" bIns="0" rtlCol="0" anchor="ctr"/>
          <a:lstStyle/>
          <a:p>
            <a:pPr algn="ctr" indent="0" marL="0">
              <a:lnSpc>
                <a:spcPct val="100000"/>
              </a:lnSpc>
              <a:buNone/>
            </a:pPr>
            <a:r>
              <a:rPr lang="en-US" sz="1400" dirty="0">
                <a:solidFill>
                  <a:srgbClr val="2C2821"/>
                </a:solidFill>
                <a:latin typeface="Alice" pitchFamily="34" charset="0"/>
                <a:ea typeface="Alice" pitchFamily="34" charset="-122"/>
                <a:cs typeface="Alice" pitchFamily="34" charset="-120"/>
              </a:rPr>
              <a:t>5</a:t>
            </a:r>
            <a:endParaRPr lang="en-US" sz="1400" dirty="0"/>
          </a:p>
        </p:txBody>
      </p:sp>
      <p:sp>
        <p:nvSpPr>
          <p:cNvPr id="30" name="Text 28"/>
          <p:cNvSpPr/>
          <p:nvPr/>
        </p:nvSpPr>
        <p:spPr>
          <a:xfrm>
            <a:off x="6147718" y="1704082"/>
            <a:ext cx="2380059" cy="187747"/>
          </a:xfrm>
          <a:prstGeom prst="rect">
            <a:avLst/>
          </a:prstGeom>
          <a:noFill/>
          <a:ln/>
        </p:spPr>
        <p:txBody>
          <a:bodyPr wrap="none" lIns="0" tIns="0" rIns="0" bIns="0" rtlCol="0" anchor="t"/>
          <a:lstStyle/>
          <a:p>
            <a:pPr algn="ctr" indent="0" marL="0">
              <a:lnSpc>
                <a:spcPct val="104000"/>
              </a:lnSpc>
              <a:buNone/>
            </a:pPr>
            <a:r>
              <a:rPr lang="en-US" sz="1150" dirty="0">
                <a:solidFill>
                  <a:srgbClr val="2C2821"/>
                </a:solidFill>
                <a:latin typeface="Alice" pitchFamily="34" charset="0"/>
                <a:ea typeface="Alice" pitchFamily="34" charset="-122"/>
                <a:cs typeface="Alice" pitchFamily="34" charset="-120"/>
              </a:rPr>
              <a:t>2024+ — Wi-Fi 7</a:t>
            </a:r>
            <a:endParaRPr lang="en-US" sz="1150" dirty="0"/>
          </a:p>
        </p:txBody>
      </p:sp>
      <p:sp>
        <p:nvSpPr>
          <p:cNvPr id="31" name="Text 29"/>
          <p:cNvSpPr/>
          <p:nvPr/>
        </p:nvSpPr>
        <p:spPr>
          <a:xfrm>
            <a:off x="6147718" y="1961629"/>
            <a:ext cx="2380059" cy="378470"/>
          </a:xfrm>
          <a:prstGeom prst="rect">
            <a:avLst/>
          </a:prstGeom>
          <a:noFill/>
          <a:ln/>
        </p:spPr>
        <p:txBody>
          <a:bodyPr wrap="square" lIns="0" tIns="0" rIns="0" bIns="0" rtlCol="0" anchor="t">
            <a:normAutofit/>
          </a:bodyPr>
          <a:lstStyle/>
          <a:p>
            <a:pPr algn="ctr" indent="0" marL="0">
              <a:lnSpc>
                <a:spcPct val="131000"/>
              </a:lnSpc>
              <a:buNone/>
            </a:pPr>
            <a:r>
              <a:rPr lang="en-US" sz="900" dirty="0">
                <a:solidFill>
                  <a:srgbClr val="2C2821"/>
                </a:solidFill>
                <a:latin typeface="Lora" pitchFamily="34" charset="0"/>
                <a:ea typeface="Lora" pitchFamily="34" charset="-122"/>
                <a:cs typeface="Lora" pitchFamily="34" charset="-120"/>
              </a:rPr>
              <a:t>Multi-gigabit. WPA3 required. Zero-trust and AI-managed radios on the horizon.</a:t>
            </a:r>
            <a:endParaRPr lang="en-US" sz="900" dirty="0"/>
          </a:p>
        </p:txBody>
      </p:sp>
      <p:sp>
        <p:nvSpPr>
          <p:cNvPr id="32" name="Shape 30"/>
          <p:cNvSpPr/>
          <p:nvPr/>
        </p:nvSpPr>
        <p:spPr>
          <a:xfrm>
            <a:off x="496119" y="4257526"/>
            <a:ext cx="8151763" cy="470297"/>
          </a:xfrm>
          <a:prstGeom prst="roundRect">
            <a:avLst>
              <a:gd name="adj" fmla="val 3833"/>
            </a:avLst>
          </a:prstGeom>
          <a:solidFill>
            <a:srgbClr val="D7F4E4"/>
          </a:solidFill>
          <a:ln/>
        </p:spPr>
      </p:sp>
      <p:pic>
        <p:nvPicPr>
          <p:cNvPr id="33" name="Image 0" descr="preencoded.png">    </p:cNvPr>
          <p:cNvPicPr>
            <a:picLocks noChangeAspect="1"/>
          </p:cNvPicPr>
          <p:nvPr/>
        </p:nvPicPr>
        <p:blipFill>
          <a:blip r:embed="rId1"/>
          <a:stretch>
            <a:fillRect/>
          </a:stretch>
        </p:blipFill>
        <p:spPr>
          <a:xfrm>
            <a:off x="616223" y="4426297"/>
            <a:ext cx="150168" cy="120104"/>
          </a:xfrm>
          <a:prstGeom prst="rect">
            <a:avLst/>
          </a:prstGeom>
        </p:spPr>
      </p:pic>
      <p:sp>
        <p:nvSpPr>
          <p:cNvPr id="34" name="Text 31"/>
          <p:cNvSpPr/>
          <p:nvPr/>
        </p:nvSpPr>
        <p:spPr>
          <a:xfrm>
            <a:off x="886495" y="4403899"/>
            <a:ext cx="8098482" cy="189235"/>
          </a:xfrm>
          <a:prstGeom prst="rect">
            <a:avLst/>
          </a:prstGeom>
          <a:noFill/>
          <a:ln/>
        </p:spPr>
        <p:txBody>
          <a:bodyPr wrap="none" lIns="0" tIns="0" rIns="0" bIns="0" rtlCol="0" anchor="t"/>
          <a:lstStyle/>
          <a:p>
            <a:pPr algn="l" indent="0" marL="0">
              <a:lnSpc>
                <a:spcPct val="131000"/>
              </a:lnSpc>
              <a:buNone/>
            </a:pPr>
            <a:r>
              <a:rPr lang="en-US" sz="900" dirty="0">
                <a:solidFill>
                  <a:srgbClr val="000000"/>
                </a:solidFill>
                <a:latin typeface="Lora" pitchFamily="34" charset="0"/>
                <a:ea typeface="Lora" pitchFamily="34" charset="-122"/>
                <a:cs typeface="Lora" pitchFamily="34" charset="-120"/>
              </a:rPr>
              <a:t>Key insight: Security standards have always lagged behind speed standards — and attackers exploit every gap.</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805458"/>
            <a:ext cx="511597" cy="188565"/>
          </a:xfrm>
          <a:prstGeom prst="roundRect">
            <a:avLst>
              <a:gd name="adj" fmla="val 7894"/>
            </a:avLst>
          </a:prstGeom>
          <a:solidFill>
            <a:srgbClr val="D7F4E4"/>
          </a:solidFill>
          <a:ln/>
        </p:spPr>
      </p:sp>
      <p:sp>
        <p:nvSpPr>
          <p:cNvPr id="3" name="Text 1"/>
          <p:cNvSpPr/>
          <p:nvPr/>
        </p:nvSpPr>
        <p:spPr>
          <a:xfrm>
            <a:off x="570533" y="842665"/>
            <a:ext cx="819969" cy="11415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3</a:t>
            </a:r>
            <a:endParaRPr lang="en-US" sz="750" dirty="0"/>
          </a:p>
        </p:txBody>
      </p:sp>
      <p:sp>
        <p:nvSpPr>
          <p:cNvPr id="4" name="Text 2"/>
          <p:cNvSpPr/>
          <p:nvPr/>
        </p:nvSpPr>
        <p:spPr>
          <a:xfrm>
            <a:off x="496119" y="1043583"/>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Why Do We Need Encryption?</a:t>
            </a:r>
            <a:endParaRPr lang="en-US" sz="2400" dirty="0"/>
          </a:p>
        </p:txBody>
      </p:sp>
      <p:sp>
        <p:nvSpPr>
          <p:cNvPr id="5" name="Text 3"/>
          <p:cNvSpPr/>
          <p:nvPr/>
        </p:nvSpPr>
        <p:spPr>
          <a:xfrm>
            <a:off x="496119" y="1617166"/>
            <a:ext cx="8151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Imagine two people having a loud conversation in a crowded coffee shop. Every person within earshot can hear every word.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Wireless networking works exactly the same way.</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 Without encryption, packets carrying passwords, files, and session tokens are fully readable by anyone monitoring the channel nearby.</a:t>
            </a:r>
            <a:endParaRPr lang="en-US" sz="950" dirty="0"/>
          </a:p>
        </p:txBody>
      </p:sp>
      <p:sp>
        <p:nvSpPr>
          <p:cNvPr id="6" name="Text 4"/>
          <p:cNvSpPr/>
          <p:nvPr/>
        </p:nvSpPr>
        <p:spPr>
          <a:xfrm>
            <a:off x="496119" y="2476054"/>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233E32"/>
                </a:solidFill>
                <a:latin typeface="Alice" pitchFamily="34" charset="0"/>
                <a:ea typeface="Alice" pitchFamily="34" charset="-122"/>
                <a:cs typeface="Alice" pitchFamily="34" charset="-120"/>
              </a:rPr>
              <a:t>Without Encryption</a:t>
            </a:r>
            <a:endParaRPr lang="en-US" sz="1200" dirty="0"/>
          </a:p>
        </p:txBody>
      </p:sp>
      <p:sp>
        <p:nvSpPr>
          <p:cNvPr id="7" name="Text 5"/>
          <p:cNvSpPr/>
          <p:nvPr/>
        </p:nvSpPr>
        <p:spPr>
          <a:xfrm>
            <a:off x="496119" y="2793876"/>
            <a:ext cx="3924598" cy="923999"/>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Passwords captured in plaintext</a:t>
            </a:r>
            <a:endParaRPr lang="en-US" sz="950" dirty="0"/>
          </a:p>
          <a:p>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Confidential documents exposed</a:t>
            </a:r>
            <a:endParaRPr lang="en-US" sz="950" dirty="0"/>
          </a:p>
          <a:p>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Active sessions hijacked mid-flow</a:t>
            </a:r>
            <a:endParaRPr lang="en-US" sz="950" dirty="0"/>
          </a:p>
          <a:p>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User identity revealed</a:t>
            </a:r>
            <a:endParaRPr lang="en-US" sz="950" dirty="0"/>
          </a:p>
        </p:txBody>
      </p:sp>
      <p:sp>
        <p:nvSpPr>
          <p:cNvPr id="8" name="Text 6"/>
          <p:cNvSpPr/>
          <p:nvPr/>
        </p:nvSpPr>
        <p:spPr>
          <a:xfrm>
            <a:off x="496119" y="3829496"/>
            <a:ext cx="392459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A payroll spreadsheet sent over open Wi-Fi is visible to any nearby observer running a packet capture tool — no special skills required.</a:t>
            </a:r>
            <a:endParaRPr lang="en-US" sz="950" dirty="0"/>
          </a:p>
        </p:txBody>
      </p:sp>
      <p:sp>
        <p:nvSpPr>
          <p:cNvPr id="9" name="Shape 7"/>
          <p:cNvSpPr/>
          <p:nvPr/>
        </p:nvSpPr>
        <p:spPr>
          <a:xfrm>
            <a:off x="4638749" y="2352080"/>
            <a:ext cx="4103191" cy="1985963"/>
          </a:xfrm>
          <a:prstGeom prst="roundRect">
            <a:avLst>
              <a:gd name="adj" fmla="val 937"/>
            </a:avLst>
          </a:prstGeom>
          <a:solidFill>
            <a:srgbClr val="1B5F39"/>
          </a:solidFill>
          <a:ln/>
        </p:spPr>
      </p:sp>
      <p:sp>
        <p:nvSpPr>
          <p:cNvPr id="10" name="Text 8"/>
          <p:cNvSpPr/>
          <p:nvPr/>
        </p:nvSpPr>
        <p:spPr>
          <a:xfrm>
            <a:off x="4762723" y="2476054"/>
            <a:ext cx="3855244"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Alice" pitchFamily="34" charset="0"/>
                <a:ea typeface="Alice" pitchFamily="34" charset="-122"/>
                <a:cs typeface="Alice" pitchFamily="34" charset="-120"/>
              </a:rPr>
              <a:t>With Encryption</a:t>
            </a:r>
            <a:endParaRPr lang="en-US" sz="1200" dirty="0"/>
          </a:p>
        </p:txBody>
      </p:sp>
      <p:sp>
        <p:nvSpPr>
          <p:cNvPr id="11" name="Text 9"/>
          <p:cNvSpPr/>
          <p:nvPr/>
        </p:nvSpPr>
        <p:spPr>
          <a:xfrm>
            <a:off x="4762723" y="2793876"/>
            <a:ext cx="3855244" cy="130239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Lora" pitchFamily="34" charset="0"/>
                <a:ea typeface="Lora" pitchFamily="34" charset="-122"/>
                <a:cs typeface="Lora" pitchFamily="34" charset="-120"/>
              </a:rPr>
              <a:t>Encryption converts readable plaintext into </a:t>
            </a:r>
            <a:pPr algn="l" indent="0" marL="0">
              <a:lnSpc>
                <a:spcPct val="133000"/>
              </a:lnSpc>
              <a:buNone/>
            </a:pPr>
            <a:r>
              <a:rPr lang="en-US" sz="950" b="1" dirty="0">
                <a:solidFill>
                  <a:srgbClr val="FFFFFF"/>
                </a:solidFill>
                <a:latin typeface="Lora Bold" pitchFamily="34" charset="0"/>
                <a:ea typeface="Lora Bold" pitchFamily="34" charset="-122"/>
                <a:cs typeface="Lora Bold" pitchFamily="34" charset="-120"/>
              </a:rPr>
              <a:t>ciphertext</a:t>
            </a:r>
            <a:pPr algn="l" indent="0" marL="0">
              <a:lnSpc>
                <a:spcPct val="133000"/>
              </a:lnSpc>
              <a:spcAft>
                <a:spcPts val="850"/>
              </a:spcAft>
              <a:buNone/>
            </a:pPr>
            <a:r>
              <a:rPr lang="en-US" sz="950" dirty="0">
                <a:solidFill>
                  <a:srgbClr val="FFFFFF"/>
                </a:solidFill>
                <a:latin typeface="Lora" pitchFamily="34" charset="0"/>
                <a:ea typeface="Lora" pitchFamily="34" charset="-122"/>
                <a:cs typeface="Lora" pitchFamily="34" charset="-120"/>
              </a:rPr>
              <a:t> — a scrambled form that appears as random noise to anyone without the correct cryptographic key.</a:t>
            </a:r>
            <a:endParaRPr lang="en-US" sz="950" dirty="0"/>
          </a:p>
          <a:p>
            <a:pPr algn="l" indent="0" marL="0">
              <a:lnSpc>
                <a:spcPct val="133000"/>
              </a:lnSpc>
              <a:buNone/>
            </a:pPr>
            <a:r>
              <a:rPr lang="en-US" sz="950" dirty="0">
                <a:solidFill>
                  <a:srgbClr val="FFFFFF"/>
                </a:solidFill>
                <a:latin typeface="Lora" pitchFamily="34" charset="0"/>
                <a:ea typeface="Lora" pitchFamily="34" charset="-122"/>
                <a:cs typeface="Lora" pitchFamily="34" charset="-120"/>
              </a:rPr>
              <a:t>Even if an attacker captures every packet on the wire, they see only meaningless data. The original information can only be recovered by a party that holds the proper key.</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584448"/>
            <a:ext cx="510108" cy="188565"/>
          </a:xfrm>
          <a:prstGeom prst="roundRect">
            <a:avLst>
              <a:gd name="adj" fmla="val 7894"/>
            </a:avLst>
          </a:prstGeom>
          <a:solidFill>
            <a:srgbClr val="D7F4E4"/>
          </a:solidFill>
          <a:ln/>
        </p:spPr>
      </p:sp>
      <p:sp>
        <p:nvSpPr>
          <p:cNvPr id="3" name="Text 1"/>
          <p:cNvSpPr/>
          <p:nvPr/>
        </p:nvSpPr>
        <p:spPr>
          <a:xfrm>
            <a:off x="570533" y="621655"/>
            <a:ext cx="818480" cy="11415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4</a:t>
            </a:r>
            <a:endParaRPr lang="en-US" sz="750" dirty="0"/>
          </a:p>
        </p:txBody>
      </p:sp>
      <p:sp>
        <p:nvSpPr>
          <p:cNvPr id="4" name="Text 2"/>
          <p:cNvSpPr/>
          <p:nvPr/>
        </p:nvSpPr>
        <p:spPr>
          <a:xfrm>
            <a:off x="496119" y="822573"/>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The CIA Triad Applied to Wireless</a:t>
            </a:r>
            <a:endParaRPr lang="en-US" sz="2400" dirty="0"/>
          </a:p>
        </p:txBody>
      </p:sp>
      <p:sp>
        <p:nvSpPr>
          <p:cNvPr id="5" name="Text 3"/>
          <p:cNvSpPr/>
          <p:nvPr/>
        </p:nvSpPr>
        <p:spPr>
          <a:xfrm>
            <a:off x="496119" y="1396157"/>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The three pillars of information security —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Confidentiality, Integrity, and Availability</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 — map directly onto the threats that wireless networks face. Wireless encryption is not just about keeping data secret; it must address all three pillars simultaneously.</a:t>
            </a:r>
            <a:endParaRPr lang="en-US" sz="950" dirty="0"/>
          </a:p>
        </p:txBody>
      </p:sp>
      <p:sp>
        <p:nvSpPr>
          <p:cNvPr id="6" name="Shape 4"/>
          <p:cNvSpPr/>
          <p:nvPr/>
        </p:nvSpPr>
        <p:spPr>
          <a:xfrm>
            <a:off x="496119" y="1932608"/>
            <a:ext cx="2634555" cy="2004566"/>
          </a:xfrm>
          <a:prstGeom prst="roundRect">
            <a:avLst>
              <a:gd name="adj" fmla="val 928"/>
            </a:avLst>
          </a:prstGeom>
          <a:solidFill>
            <a:srgbClr val="F0EDE6"/>
          </a:solidFill>
          <a:ln/>
        </p:spPr>
      </p:sp>
      <p:sp>
        <p:nvSpPr>
          <p:cNvPr id="7" name="Shape 5"/>
          <p:cNvSpPr/>
          <p:nvPr/>
        </p:nvSpPr>
        <p:spPr>
          <a:xfrm>
            <a:off x="620092" y="2056581"/>
            <a:ext cx="372070" cy="372070"/>
          </a:xfrm>
          <a:prstGeom prst="ellipse">
            <a:avLst/>
          </a:prstGeom>
          <a:solidFill>
            <a:srgbClr val="1B5F39"/>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2412" y="2158826"/>
            <a:ext cx="167432" cy="167432"/>
          </a:xfrm>
          <a:prstGeom prst="rect">
            <a:avLst/>
          </a:prstGeom>
        </p:spPr>
      </p:pic>
      <p:sp>
        <p:nvSpPr>
          <p:cNvPr id="9" name="Text 6"/>
          <p:cNvSpPr/>
          <p:nvPr/>
        </p:nvSpPr>
        <p:spPr>
          <a:xfrm>
            <a:off x="620092" y="2552626"/>
            <a:ext cx="2386608"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Confidentiality</a:t>
            </a:r>
            <a:endParaRPr lang="en-US" sz="1200" dirty="0"/>
          </a:p>
        </p:txBody>
      </p:sp>
      <p:sp>
        <p:nvSpPr>
          <p:cNvPr id="10" name="Text 7"/>
          <p:cNvSpPr/>
          <p:nvPr/>
        </p:nvSpPr>
        <p:spPr>
          <a:xfrm>
            <a:off x="620092" y="2820888"/>
            <a:ext cx="2386608"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Only authorized, authenticated users can read the data in transit. Encryption ensures intercepted packets reveal nothing meaningful to an eavesdropper.</a:t>
            </a:r>
            <a:endParaRPr lang="en-US" sz="950" dirty="0"/>
          </a:p>
        </p:txBody>
      </p:sp>
      <p:sp>
        <p:nvSpPr>
          <p:cNvPr id="11" name="Shape 8"/>
          <p:cNvSpPr/>
          <p:nvPr/>
        </p:nvSpPr>
        <p:spPr>
          <a:xfrm>
            <a:off x="3254648" y="1932608"/>
            <a:ext cx="2634630" cy="2004566"/>
          </a:xfrm>
          <a:prstGeom prst="roundRect">
            <a:avLst>
              <a:gd name="adj" fmla="val 928"/>
            </a:avLst>
          </a:prstGeom>
          <a:solidFill>
            <a:srgbClr val="F0EDE6"/>
          </a:solidFill>
          <a:ln/>
        </p:spPr>
      </p:sp>
      <p:sp>
        <p:nvSpPr>
          <p:cNvPr id="12" name="Shape 9"/>
          <p:cNvSpPr/>
          <p:nvPr/>
        </p:nvSpPr>
        <p:spPr>
          <a:xfrm>
            <a:off x="3378622" y="2056581"/>
            <a:ext cx="372070" cy="372070"/>
          </a:xfrm>
          <a:prstGeom prst="ellipse">
            <a:avLst/>
          </a:prstGeom>
          <a:solidFill>
            <a:srgbClr val="1B5F39"/>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80941" y="2158826"/>
            <a:ext cx="167432" cy="167432"/>
          </a:xfrm>
          <a:prstGeom prst="rect">
            <a:avLst/>
          </a:prstGeom>
        </p:spPr>
      </p:pic>
      <p:sp>
        <p:nvSpPr>
          <p:cNvPr id="14" name="Text 10"/>
          <p:cNvSpPr/>
          <p:nvPr/>
        </p:nvSpPr>
        <p:spPr>
          <a:xfrm>
            <a:off x="3378622" y="2552626"/>
            <a:ext cx="2386682"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Integrity</a:t>
            </a:r>
            <a:endParaRPr lang="en-US" sz="1200" dirty="0"/>
          </a:p>
        </p:txBody>
      </p:sp>
      <p:sp>
        <p:nvSpPr>
          <p:cNvPr id="15" name="Text 11"/>
          <p:cNvSpPr/>
          <p:nvPr/>
        </p:nvSpPr>
        <p:spPr>
          <a:xfrm>
            <a:off x="3378622" y="2820888"/>
            <a:ext cx="2386682"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Data must arrive exactly as it was sent. Cryptographic integrity checks (like CCMP's CBC-MAC) detect any modification made to packets in transit.</a:t>
            </a:r>
            <a:endParaRPr lang="en-US" sz="950" dirty="0"/>
          </a:p>
        </p:txBody>
      </p:sp>
      <p:sp>
        <p:nvSpPr>
          <p:cNvPr id="16" name="Shape 12"/>
          <p:cNvSpPr/>
          <p:nvPr/>
        </p:nvSpPr>
        <p:spPr>
          <a:xfrm>
            <a:off x="6013252" y="1932608"/>
            <a:ext cx="2634555" cy="2004566"/>
          </a:xfrm>
          <a:prstGeom prst="roundRect">
            <a:avLst>
              <a:gd name="adj" fmla="val 928"/>
            </a:avLst>
          </a:prstGeom>
          <a:solidFill>
            <a:srgbClr val="F0EDE6"/>
          </a:solidFill>
          <a:ln/>
        </p:spPr>
      </p:sp>
      <p:sp>
        <p:nvSpPr>
          <p:cNvPr id="17" name="Shape 13"/>
          <p:cNvSpPr/>
          <p:nvPr/>
        </p:nvSpPr>
        <p:spPr>
          <a:xfrm>
            <a:off x="6137225" y="2056581"/>
            <a:ext cx="372070" cy="372070"/>
          </a:xfrm>
          <a:prstGeom prst="ellipse">
            <a:avLst/>
          </a:prstGeom>
          <a:solidFill>
            <a:srgbClr val="1B5F39"/>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9545" y="2158826"/>
            <a:ext cx="167432" cy="167432"/>
          </a:xfrm>
          <a:prstGeom prst="rect">
            <a:avLst/>
          </a:prstGeom>
        </p:spPr>
      </p:pic>
      <p:sp>
        <p:nvSpPr>
          <p:cNvPr id="19" name="Text 14"/>
          <p:cNvSpPr/>
          <p:nvPr/>
        </p:nvSpPr>
        <p:spPr>
          <a:xfrm>
            <a:off x="6137225" y="2552626"/>
            <a:ext cx="2386608"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Availability</a:t>
            </a:r>
            <a:endParaRPr lang="en-US" sz="1200" dirty="0"/>
          </a:p>
        </p:txBody>
      </p:sp>
      <p:sp>
        <p:nvSpPr>
          <p:cNvPr id="20" name="Text 15"/>
          <p:cNvSpPr/>
          <p:nvPr/>
        </p:nvSpPr>
        <p:spPr>
          <a:xfrm>
            <a:off x="6137225" y="2820888"/>
            <a:ext cx="2386608"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Reliable authentication prevents unauthorized users from associating with the network and consuming bandwidth, degrading service for legitimate users.</a:t>
            </a:r>
            <a:endParaRPr lang="en-US" sz="950" dirty="0"/>
          </a:p>
        </p:txBody>
      </p:sp>
      <p:sp>
        <p:nvSpPr>
          <p:cNvPr id="21" name="Shape 16"/>
          <p:cNvSpPr/>
          <p:nvPr/>
        </p:nvSpPr>
        <p:spPr>
          <a:xfrm>
            <a:off x="496119" y="4076700"/>
            <a:ext cx="14288" cy="482278"/>
          </a:xfrm>
          <a:prstGeom prst="roundRect">
            <a:avLst>
              <a:gd name="adj" fmla="val 59998"/>
            </a:avLst>
          </a:prstGeom>
          <a:solidFill>
            <a:srgbClr val="1B5F39"/>
          </a:solidFill>
          <a:ln/>
        </p:spPr>
      </p:sp>
      <p:sp>
        <p:nvSpPr>
          <p:cNvPr id="22" name="Text 17"/>
          <p:cNvSpPr/>
          <p:nvPr/>
        </p:nvSpPr>
        <p:spPr>
          <a:xfrm>
            <a:off x="682154" y="4216226"/>
            <a:ext cx="8422928" cy="203225"/>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Lora" pitchFamily="34" charset="0"/>
                <a:ea typeface="Lora" pitchFamily="34" charset="-122"/>
                <a:cs typeface="Lora" pitchFamily="34" charset="-120"/>
              </a:rPr>
              <a:t>💬</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Discussion prompt:</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 Which pillar of the CIA Triad is most directly threatened by an open, unencrypted Wi-Fi network — and why?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904652"/>
            <a:ext cx="510406" cy="188565"/>
          </a:xfrm>
          <a:prstGeom prst="roundRect">
            <a:avLst>
              <a:gd name="adj" fmla="val 7894"/>
            </a:avLst>
          </a:prstGeom>
          <a:solidFill>
            <a:srgbClr val="D7F4E4"/>
          </a:solidFill>
          <a:ln/>
        </p:spPr>
      </p:sp>
      <p:sp>
        <p:nvSpPr>
          <p:cNvPr id="3" name="Text 1"/>
          <p:cNvSpPr/>
          <p:nvPr/>
        </p:nvSpPr>
        <p:spPr>
          <a:xfrm>
            <a:off x="570533" y="941859"/>
            <a:ext cx="818778" cy="11415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5</a:t>
            </a:r>
            <a:endParaRPr lang="en-US" sz="750" dirty="0"/>
          </a:p>
        </p:txBody>
      </p:sp>
      <p:sp>
        <p:nvSpPr>
          <p:cNvPr id="4" name="Text 2"/>
          <p:cNvSpPr/>
          <p:nvPr/>
        </p:nvSpPr>
        <p:spPr>
          <a:xfrm>
            <a:off x="496119" y="1142777"/>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WEP: The First Attempt at Wireless Encryption</a:t>
            </a:r>
            <a:endParaRPr lang="en-US" sz="2400" dirty="0"/>
          </a:p>
        </p:txBody>
      </p:sp>
      <p:sp>
        <p:nvSpPr>
          <p:cNvPr id="5" name="Text 3"/>
          <p:cNvSpPr/>
          <p:nvPr/>
        </p:nvSpPr>
        <p:spPr>
          <a:xfrm>
            <a:off x="496119" y="1716360"/>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Wired Equivalent Privacy (WEP) was ratified as part of the original 802.11 standard in 1999. Its goal was to give wireless networks security equivalent to a physical wire — a reasonable ambition, but one it failed to achieve almost immediately.</a:t>
            </a:r>
            <a:endParaRPr lang="en-US" sz="950" dirty="0"/>
          </a:p>
        </p:txBody>
      </p:sp>
      <p:sp>
        <p:nvSpPr>
          <p:cNvPr id="6" name="Text 4"/>
          <p:cNvSpPr/>
          <p:nvPr/>
        </p:nvSpPr>
        <p:spPr>
          <a:xfrm>
            <a:off x="496119" y="2376785"/>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233E32"/>
                </a:solidFill>
                <a:latin typeface="Alice" pitchFamily="34" charset="0"/>
                <a:ea typeface="Alice" pitchFamily="34" charset="-122"/>
                <a:cs typeface="Alice" pitchFamily="34" charset="-120"/>
              </a:rPr>
              <a:t>How WEP Was Designed</a:t>
            </a:r>
            <a:endParaRPr lang="en-US" sz="1200" dirty="0"/>
          </a:p>
        </p:txBody>
      </p:sp>
      <p:sp>
        <p:nvSpPr>
          <p:cNvPr id="7" name="Text 5"/>
          <p:cNvSpPr/>
          <p:nvPr/>
        </p:nvSpPr>
        <p:spPr>
          <a:xfrm>
            <a:off x="496119" y="2694608"/>
            <a:ext cx="3924598" cy="682154"/>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b="1" dirty="0">
                <a:solidFill>
                  <a:srgbClr val="2C2821"/>
                </a:solidFill>
                <a:latin typeface="Lora Bold" pitchFamily="34" charset="0"/>
                <a:ea typeface="Lora Bold" pitchFamily="34" charset="-122"/>
                <a:cs typeface="Lora Bold" pitchFamily="34" charset="-120"/>
              </a:rPr>
              <a:t>Algorithm:</a:t>
            </a:r>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 RC4 stream cipher</a:t>
            </a:r>
            <a:endParaRPr lang="en-US" sz="950" dirty="0"/>
          </a:p>
          <a:p>
            <a:pPr algn="l" marL="193040" indent="-193040">
              <a:lnSpc>
                <a:spcPct val="133000"/>
              </a:lnSpc>
              <a:buSzPct val="100000"/>
              <a:buChar char="•"/>
            </a:pPr>
            <a:r>
              <a:rPr lang="en-US" sz="950" b="1" dirty="0">
                <a:solidFill>
                  <a:srgbClr val="2C2821"/>
                </a:solidFill>
                <a:latin typeface="Lora Bold" pitchFamily="34" charset="0"/>
                <a:ea typeface="Lora Bold" pitchFamily="34" charset="-122"/>
                <a:cs typeface="Lora Bold" pitchFamily="34" charset="-120"/>
              </a:rPr>
              <a:t>Key lengths:</a:t>
            </a:r>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 40-bit or 104-bit</a:t>
            </a:r>
            <a:endParaRPr lang="en-US" sz="950" dirty="0"/>
          </a:p>
          <a:p>
            <a:pPr algn="l" marL="193040" indent="-193040">
              <a:lnSpc>
                <a:spcPct val="133000"/>
              </a:lnSpc>
              <a:buSzPct val="100000"/>
              <a:buChar char="•"/>
            </a:pPr>
            <a:r>
              <a:rPr lang="en-US" sz="950" b="1" dirty="0">
                <a:solidFill>
                  <a:srgbClr val="2C2821"/>
                </a:solidFill>
                <a:latin typeface="Lora Bold" pitchFamily="34" charset="0"/>
                <a:ea typeface="Lora Bold" pitchFamily="34" charset="-122"/>
                <a:cs typeface="Lora Bold" pitchFamily="34" charset="-120"/>
              </a:rPr>
              <a:t>Initialization Vector (IV):</a:t>
            </a:r>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 24-bit, prepended to each packet</a:t>
            </a:r>
            <a:endParaRPr lang="en-US" sz="950" dirty="0"/>
          </a:p>
        </p:txBody>
      </p:sp>
      <p:sp>
        <p:nvSpPr>
          <p:cNvPr id="8" name="Text 6"/>
          <p:cNvSpPr/>
          <p:nvPr/>
        </p:nvSpPr>
        <p:spPr>
          <a:xfrm>
            <a:off x="496119" y="3488382"/>
            <a:ext cx="3924598"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The IV was intended to randomize each packet's encryption — but at only 24 bits, the same IV values repeated after as few as 5,000–7,000 packets on a busy network.</a:t>
            </a:r>
            <a:endParaRPr lang="en-US" sz="950" dirty="0"/>
          </a:p>
        </p:txBody>
      </p:sp>
      <p:sp>
        <p:nvSpPr>
          <p:cNvPr id="9" name="Shape 7"/>
          <p:cNvSpPr/>
          <p:nvPr/>
        </p:nvSpPr>
        <p:spPr>
          <a:xfrm>
            <a:off x="4638749" y="2252811"/>
            <a:ext cx="4103191" cy="1985963"/>
          </a:xfrm>
          <a:prstGeom prst="roundRect">
            <a:avLst>
              <a:gd name="adj" fmla="val 937"/>
            </a:avLst>
          </a:prstGeom>
          <a:solidFill>
            <a:srgbClr val="1B5F39"/>
          </a:solidFill>
          <a:ln/>
        </p:spPr>
      </p:sp>
      <p:sp>
        <p:nvSpPr>
          <p:cNvPr id="10" name="Text 8"/>
          <p:cNvSpPr/>
          <p:nvPr/>
        </p:nvSpPr>
        <p:spPr>
          <a:xfrm>
            <a:off x="4762723" y="2376785"/>
            <a:ext cx="3855244"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Alice" pitchFamily="34" charset="0"/>
                <a:ea typeface="Alice" pitchFamily="34" charset="-122"/>
                <a:cs typeface="Alice" pitchFamily="34" charset="-120"/>
              </a:rPr>
              <a:t>Why It Failed Catastrophically</a:t>
            </a:r>
            <a:endParaRPr lang="en-US" sz="1200" dirty="0"/>
          </a:p>
        </p:txBody>
      </p:sp>
      <p:sp>
        <p:nvSpPr>
          <p:cNvPr id="11" name="Text 9"/>
          <p:cNvSpPr/>
          <p:nvPr/>
        </p:nvSpPr>
        <p:spPr>
          <a:xfrm>
            <a:off x="4762723" y="2694608"/>
            <a:ext cx="3855244" cy="923999"/>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dirty="0">
                <a:solidFill>
                  <a:srgbClr val="FFFFFF"/>
                </a:solidFill>
                <a:latin typeface="Lora" pitchFamily="34" charset="0"/>
                <a:ea typeface="Lora" pitchFamily="34" charset="-122"/>
                <a:cs typeface="Lora" pitchFamily="34" charset="-120"/>
              </a:rPr>
              <a:t>Repeated IVs enabled statistical key recovery</a:t>
            </a:r>
            <a:endParaRPr lang="en-US" sz="950" dirty="0"/>
          </a:p>
          <a:p>
            <a:pPr algn="l" marL="193040" indent="-193040">
              <a:lnSpc>
                <a:spcPct val="133000"/>
              </a:lnSpc>
              <a:buSzPct val="100000"/>
              <a:buChar char="•"/>
            </a:pPr>
            <a:r>
              <a:rPr lang="en-US" sz="950" dirty="0">
                <a:solidFill>
                  <a:srgbClr val="FFFFFF"/>
                </a:solidFill>
                <a:latin typeface="Lora" pitchFamily="34" charset="0"/>
                <a:ea typeface="Lora" pitchFamily="34" charset="-122"/>
                <a:cs typeface="Lora" pitchFamily="34" charset="-120"/>
              </a:rPr>
              <a:t>The RC4 key scheduling algorithm had exploitable biases</a:t>
            </a:r>
            <a:endParaRPr lang="en-US" sz="950" dirty="0"/>
          </a:p>
          <a:p>
            <a:pPr algn="l" marL="193040" indent="-193040">
              <a:lnSpc>
                <a:spcPct val="133000"/>
              </a:lnSpc>
              <a:buSzPct val="100000"/>
              <a:buChar char="•"/>
            </a:pPr>
            <a:r>
              <a:rPr lang="en-US" sz="950" dirty="0">
                <a:solidFill>
                  <a:srgbClr val="FFFFFF"/>
                </a:solidFill>
                <a:latin typeface="Lora" pitchFamily="34" charset="0"/>
                <a:ea typeface="Lora" pitchFamily="34" charset="-122"/>
                <a:cs typeface="Lora" pitchFamily="34" charset="-120"/>
              </a:rPr>
              <a:t>Tools like </a:t>
            </a:r>
            <a:pPr algn="l" marL="193040" indent="-193040">
              <a:lnSpc>
                <a:spcPct val="133000"/>
              </a:lnSpc>
              <a:buSzPct val="100000"/>
              <a:buChar char="•"/>
            </a:pPr>
            <a:r>
              <a:rPr lang="en-US" sz="950" b="1" dirty="0">
                <a:solidFill>
                  <a:srgbClr val="FFFFFF"/>
                </a:solidFill>
                <a:latin typeface="Lora Bold" pitchFamily="34" charset="0"/>
                <a:ea typeface="Lora Bold" pitchFamily="34" charset="-122"/>
                <a:cs typeface="Lora Bold" pitchFamily="34" charset="-120"/>
              </a:rPr>
              <a:t>Aircrack-ng</a:t>
            </a:r>
            <a:pPr algn="l" marL="193040" indent="-193040">
              <a:lnSpc>
                <a:spcPct val="133000"/>
              </a:lnSpc>
              <a:buSzPct val="100000"/>
              <a:buChar char="•"/>
            </a:pPr>
            <a:r>
              <a:rPr lang="en-US" sz="950" dirty="0">
                <a:solidFill>
                  <a:srgbClr val="FFFFFF"/>
                </a:solidFill>
                <a:latin typeface="Lora" pitchFamily="34" charset="0"/>
                <a:ea typeface="Lora" pitchFamily="34" charset="-122"/>
                <a:cs typeface="Lora" pitchFamily="34" charset="-120"/>
              </a:rPr>
              <a:t> automated the attack</a:t>
            </a:r>
            <a:endParaRPr lang="en-US" sz="950" dirty="0"/>
          </a:p>
          <a:p>
            <a:pPr algn="l" marL="193040" indent="-193040">
              <a:lnSpc>
                <a:spcPct val="133000"/>
              </a:lnSpc>
              <a:buSzPct val="100000"/>
              <a:buChar char="•"/>
            </a:pPr>
            <a:r>
              <a:rPr lang="en-US" sz="950" dirty="0">
                <a:solidFill>
                  <a:srgbClr val="FFFFFF"/>
                </a:solidFill>
                <a:latin typeface="Lora" pitchFamily="34" charset="0"/>
                <a:ea typeface="Lora" pitchFamily="34" charset="-122"/>
                <a:cs typeface="Lora" pitchFamily="34" charset="-120"/>
              </a:rPr>
              <a:t>Full key recovery in </a:t>
            </a:r>
            <a:pPr algn="l" marL="193040" indent="-193040">
              <a:lnSpc>
                <a:spcPct val="133000"/>
              </a:lnSpc>
              <a:buSzPct val="100000"/>
              <a:buChar char="•"/>
            </a:pPr>
            <a:r>
              <a:rPr lang="en-US" sz="950" b="1" dirty="0">
                <a:solidFill>
                  <a:srgbClr val="FFFFFF"/>
                </a:solidFill>
                <a:latin typeface="Lora Bold" pitchFamily="34" charset="0"/>
                <a:ea typeface="Lora Bold" pitchFamily="34" charset="-122"/>
                <a:cs typeface="Lora Bold" pitchFamily="34" charset="-120"/>
              </a:rPr>
              <a:t>under 60 seconds</a:t>
            </a:r>
            <a:pPr algn="l" marL="193040" indent="-193040">
              <a:lnSpc>
                <a:spcPct val="133000"/>
              </a:lnSpc>
              <a:buSzPct val="100000"/>
              <a:buChar char="•"/>
            </a:pPr>
            <a:r>
              <a:rPr lang="en-US" sz="950" dirty="0">
                <a:solidFill>
                  <a:srgbClr val="FFFFFF"/>
                </a:solidFill>
                <a:latin typeface="Lora" pitchFamily="34" charset="0"/>
                <a:ea typeface="Lora" pitchFamily="34" charset="-122"/>
                <a:cs typeface="Lora" pitchFamily="34" charset="-120"/>
              </a:rPr>
              <a:t> with enough packets</a:t>
            </a:r>
            <a:endParaRPr lang="en-US" sz="950" dirty="0"/>
          </a:p>
        </p:txBody>
      </p:sp>
      <p:sp>
        <p:nvSpPr>
          <p:cNvPr id="12" name="Text 10"/>
          <p:cNvSpPr/>
          <p:nvPr/>
        </p:nvSpPr>
        <p:spPr>
          <a:xfrm>
            <a:off x="4762723" y="3730228"/>
            <a:ext cx="3855244"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Lora" pitchFamily="34" charset="0"/>
                <a:ea typeface="Lora" pitchFamily="34" charset="-122"/>
                <a:cs typeface="Lora" pitchFamily="34" charset="-120"/>
              </a:rPr>
              <a:t>This was one of the most consequential failures in the history of wireless security.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341114"/>
            <a:ext cx="256729" cy="94283"/>
          </a:xfrm>
          <a:prstGeom prst="roundRect">
            <a:avLst>
              <a:gd name="adj" fmla="val 7894"/>
            </a:avLst>
          </a:prstGeom>
          <a:solidFill>
            <a:srgbClr val="D7F4E4"/>
          </a:solidFill>
          <a:ln/>
        </p:spPr>
      </p:sp>
      <p:sp>
        <p:nvSpPr>
          <p:cNvPr id="3" name="Text 1"/>
          <p:cNvSpPr/>
          <p:nvPr/>
        </p:nvSpPr>
        <p:spPr>
          <a:xfrm>
            <a:off x="533326" y="359718"/>
            <a:ext cx="639514" cy="57076"/>
          </a:xfrm>
          <a:prstGeom prst="rect">
            <a:avLst/>
          </a:prstGeom>
          <a:noFill/>
          <a:ln/>
        </p:spPr>
        <p:txBody>
          <a:bodyPr wrap="none" lIns="0" tIns="0" rIns="0" bIns="0" rtlCol="0" anchor="t"/>
          <a:lstStyle/>
          <a:p>
            <a:pPr algn="l" indent="0" marL="0">
              <a:lnSpc>
                <a:spcPct val="96000"/>
              </a:lnSpc>
              <a:buNone/>
            </a:pPr>
            <a:r>
              <a:rPr lang="en-US" sz="350" dirty="0">
                <a:solidFill>
                  <a:srgbClr val="2C2821"/>
                </a:solidFill>
                <a:latin typeface="Lora" pitchFamily="34" charset="0"/>
                <a:ea typeface="Lora" pitchFamily="34" charset="-122"/>
                <a:cs typeface="Lora" pitchFamily="34" charset="-120"/>
              </a:rPr>
              <a:t>SLIDE 6</a:t>
            </a:r>
            <a:endParaRPr lang="en-US" sz="350" dirty="0"/>
          </a:p>
        </p:txBody>
      </p:sp>
      <p:sp>
        <p:nvSpPr>
          <p:cNvPr id="4" name="Text 2"/>
          <p:cNvSpPr/>
          <p:nvPr/>
        </p:nvSpPr>
        <p:spPr>
          <a:xfrm>
            <a:off x="496119" y="447749"/>
            <a:ext cx="8151763" cy="193849"/>
          </a:xfrm>
          <a:prstGeom prst="rect">
            <a:avLst/>
          </a:prstGeom>
          <a:noFill/>
          <a:ln/>
        </p:spPr>
        <p:txBody>
          <a:bodyPr wrap="none" lIns="0" tIns="0" rIns="0" bIns="0" rtlCol="0" anchor="t"/>
          <a:lstStyle/>
          <a:p>
            <a:pPr algn="l" indent="0" marL="0">
              <a:lnSpc>
                <a:spcPct val="104000"/>
              </a:lnSpc>
              <a:buNone/>
            </a:pPr>
            <a:r>
              <a:rPr lang="en-US" sz="1200" dirty="0">
                <a:solidFill>
                  <a:srgbClr val="233E32"/>
                </a:solidFill>
                <a:latin typeface="Alice" pitchFamily="34" charset="0"/>
                <a:ea typeface="Alice" pitchFamily="34" charset="-122"/>
                <a:cs typeface="Alice" pitchFamily="34" charset="-120"/>
              </a:rPr>
              <a:t>How WEP Was Broken</a:t>
            </a:r>
            <a:endParaRPr lang="en-US" sz="1200" dirty="0"/>
          </a:p>
        </p:txBody>
      </p:sp>
      <p:sp>
        <p:nvSpPr>
          <p:cNvPr id="5" name="Text 3"/>
          <p:cNvSpPr/>
          <p:nvPr/>
        </p:nvSpPr>
        <p:spPr>
          <a:xfrm>
            <a:off x="496119" y="688107"/>
            <a:ext cx="8608963" cy="74340"/>
          </a:xfrm>
          <a:prstGeom prst="rect">
            <a:avLst/>
          </a:prstGeom>
          <a:noFill/>
          <a:ln/>
        </p:spPr>
        <p:txBody>
          <a:bodyPr wrap="none" lIns="0" tIns="0" rIns="0" bIns="0" rtlCol="0" anchor="t"/>
          <a:lstStyle/>
          <a:p>
            <a:pPr algn="l" indent="0" marL="0">
              <a:lnSpc>
                <a:spcPct val="100000"/>
              </a:lnSpc>
              <a:buNone/>
            </a:pPr>
            <a:r>
              <a:rPr lang="en-US" sz="450" dirty="0">
                <a:solidFill>
                  <a:srgbClr val="2C2821"/>
                </a:solidFill>
                <a:latin typeface="Lora" pitchFamily="34" charset="0"/>
                <a:ea typeface="Lora" pitchFamily="34" charset="-122"/>
                <a:cs typeface="Lora" pitchFamily="34" charset="-120"/>
              </a:rPr>
              <a:t>The attack against WEP is a textbook example of how a design flaw in a cryptographic protocol can be exploited systematically. The math behind the attack does not require brute-forcing every possible key — it requires only enough packets to observe IV reuse.</a:t>
            </a:r>
            <a:endParaRPr lang="en-US" sz="450" dirty="0"/>
          </a:p>
        </p:txBody>
      </p:sp>
      <p:pic>
        <p:nvPicPr>
          <p:cNvPr id="6" name="Image 0" descr="preencoded.png">    </p:cNvPr>
          <p:cNvPicPr>
            <a:picLocks noChangeAspect="1"/>
          </p:cNvPicPr>
          <p:nvPr/>
        </p:nvPicPr>
        <p:blipFill>
          <a:blip r:embed="rId1"/>
          <a:stretch>
            <a:fillRect/>
          </a:stretch>
        </p:blipFill>
        <p:spPr>
          <a:xfrm>
            <a:off x="862980" y="797272"/>
            <a:ext cx="7418040" cy="3929062"/>
          </a:xfrm>
          <a:prstGeom prst="rect">
            <a:avLst/>
          </a:prstGeom>
        </p:spPr>
      </p:pic>
      <p:sp>
        <p:nvSpPr>
          <p:cNvPr id="7" name="Text 4"/>
          <p:cNvSpPr/>
          <p:nvPr/>
        </p:nvSpPr>
        <p:spPr>
          <a:xfrm>
            <a:off x="1890033" y="3605364"/>
            <a:ext cx="1834105" cy="229263"/>
          </a:xfrm>
          <a:prstGeom prst="rect">
            <a:avLst/>
          </a:prstGeom>
          <a:noFill/>
          <a:ln/>
        </p:spPr>
        <p:txBody>
          <a:bodyPr wrap="none" lIns="0" tIns="0" rIns="0" bIns="0" rtlCol="0" anchor="t"/>
          <a:lstStyle/>
          <a:p>
            <a:pPr algn="r" indent="0" marL="0">
              <a:lnSpc>
                <a:spcPct val="104000"/>
              </a:lnSpc>
              <a:buNone/>
            </a:pPr>
            <a:r>
              <a:rPr lang="en-US" sz="1400" dirty="0">
                <a:solidFill>
                  <a:srgbClr val="233E32"/>
                </a:solidFill>
                <a:latin typeface="Alice" pitchFamily="34" charset="0"/>
                <a:ea typeface="Alice" pitchFamily="34" charset="-122"/>
                <a:cs typeface="Alice" pitchFamily="34" charset="-120"/>
              </a:rPr>
              <a:t>Collect IVs</a:t>
            </a:r>
            <a:endParaRPr lang="en-US" sz="1400" dirty="0"/>
          </a:p>
        </p:txBody>
      </p:sp>
      <p:sp>
        <p:nvSpPr>
          <p:cNvPr id="8" name="Text 5"/>
          <p:cNvSpPr/>
          <p:nvPr/>
        </p:nvSpPr>
        <p:spPr>
          <a:xfrm>
            <a:off x="1759608" y="3899840"/>
            <a:ext cx="1964531" cy="275116"/>
          </a:xfrm>
          <a:prstGeom prst="rect">
            <a:avLst/>
          </a:prstGeom>
          <a:noFill/>
          <a:ln/>
        </p:spPr>
        <p:txBody>
          <a:bodyPr wrap="square" lIns="0" tIns="0" rIns="0" bIns="0" rtlCol="0" anchor="t">
            <a:normAutofit/>
          </a:bodyPr>
          <a:lstStyle/>
          <a:p>
            <a:pPr algn="r" indent="0" marL="0">
              <a:lnSpc>
                <a:spcPct val="78000"/>
              </a:lnSpc>
              <a:buNone/>
            </a:pPr>
            <a:r>
              <a:rPr lang="en-US" sz="1150" dirty="0">
                <a:solidFill>
                  <a:srgbClr val="2C2821"/>
                </a:solidFill>
                <a:latin typeface="Lora" pitchFamily="34" charset="0"/>
                <a:ea typeface="Lora" pitchFamily="34" charset="-122"/>
                <a:cs typeface="Lora" pitchFamily="34" charset="-120"/>
              </a:rPr>
              <a:t>Capture packets with repeated 24-bit IVs.</a:t>
            </a:r>
            <a:endParaRPr lang="en-US" sz="1150" dirty="0"/>
          </a:p>
        </p:txBody>
      </p:sp>
      <p:sp>
        <p:nvSpPr>
          <p:cNvPr id="9" name="Text 6"/>
          <p:cNvSpPr/>
          <p:nvPr/>
        </p:nvSpPr>
        <p:spPr>
          <a:xfrm>
            <a:off x="1172694" y="1348395"/>
            <a:ext cx="1834105" cy="229263"/>
          </a:xfrm>
          <a:prstGeom prst="rect">
            <a:avLst/>
          </a:prstGeom>
          <a:noFill/>
          <a:ln/>
        </p:spPr>
        <p:txBody>
          <a:bodyPr wrap="none" lIns="0" tIns="0" rIns="0" bIns="0" rtlCol="0" anchor="t"/>
          <a:lstStyle/>
          <a:p>
            <a:pPr algn="r" indent="0" marL="0">
              <a:lnSpc>
                <a:spcPct val="104000"/>
              </a:lnSpc>
              <a:buNone/>
            </a:pPr>
            <a:r>
              <a:rPr lang="en-US" sz="1400" dirty="0">
                <a:solidFill>
                  <a:srgbClr val="233E32"/>
                </a:solidFill>
                <a:latin typeface="Alice" pitchFamily="34" charset="0"/>
                <a:ea typeface="Alice" pitchFamily="34" charset="-122"/>
                <a:cs typeface="Alice" pitchFamily="34" charset="-120"/>
              </a:rPr>
              <a:t>Statistical Analysis</a:t>
            </a:r>
            <a:endParaRPr lang="en-US" sz="1400" dirty="0"/>
          </a:p>
        </p:txBody>
      </p:sp>
      <p:sp>
        <p:nvSpPr>
          <p:cNvPr id="10" name="Text 7"/>
          <p:cNvSpPr/>
          <p:nvPr/>
        </p:nvSpPr>
        <p:spPr>
          <a:xfrm>
            <a:off x="1042269" y="1642871"/>
            <a:ext cx="1964530" cy="275116"/>
          </a:xfrm>
          <a:prstGeom prst="rect">
            <a:avLst/>
          </a:prstGeom>
          <a:noFill/>
          <a:ln/>
        </p:spPr>
        <p:txBody>
          <a:bodyPr wrap="square" lIns="0" tIns="0" rIns="0" bIns="0" rtlCol="0" anchor="t">
            <a:normAutofit/>
          </a:bodyPr>
          <a:lstStyle/>
          <a:p>
            <a:pPr algn="r" indent="0" marL="0">
              <a:lnSpc>
                <a:spcPct val="78000"/>
              </a:lnSpc>
              <a:buNone/>
            </a:pPr>
            <a:r>
              <a:rPr lang="en-US" sz="1150" dirty="0">
                <a:solidFill>
                  <a:srgbClr val="2C2821"/>
                </a:solidFill>
                <a:latin typeface="Lora" pitchFamily="34" charset="0"/>
                <a:ea typeface="Lora" pitchFamily="34" charset="-122"/>
                <a:cs typeface="Lora" pitchFamily="34" charset="-120"/>
              </a:rPr>
              <a:t>Identify RC4 keystream biases from collected IVs.</a:t>
            </a:r>
            <a:endParaRPr lang="en-US" sz="1150" dirty="0"/>
          </a:p>
        </p:txBody>
      </p:sp>
      <p:sp>
        <p:nvSpPr>
          <p:cNvPr id="11" name="Text 8"/>
          <p:cNvSpPr/>
          <p:nvPr/>
        </p:nvSpPr>
        <p:spPr>
          <a:xfrm>
            <a:off x="5444122" y="1348395"/>
            <a:ext cx="1834105" cy="229263"/>
          </a:xfrm>
          <a:prstGeom prst="rect">
            <a:avLst/>
          </a:prstGeom>
          <a:noFill/>
          <a:ln/>
        </p:spPr>
        <p:txBody>
          <a:bodyPr wrap="none" lIns="0" tIns="0" rIns="0" bIns="0" rtlCol="0" anchor="t"/>
          <a:lstStyle/>
          <a:p>
            <a:pPr algn="l" indent="0" marL="0">
              <a:lnSpc>
                <a:spcPct val="104000"/>
              </a:lnSpc>
              <a:buNone/>
            </a:pPr>
            <a:r>
              <a:rPr lang="en-US" sz="1400" dirty="0">
                <a:solidFill>
                  <a:srgbClr val="233E32"/>
                </a:solidFill>
                <a:latin typeface="Alice" pitchFamily="34" charset="0"/>
                <a:ea typeface="Alice" pitchFamily="34" charset="-122"/>
                <a:cs typeface="Alice" pitchFamily="34" charset="-120"/>
              </a:rPr>
              <a:t>Recover RC4 Key</a:t>
            </a:r>
            <a:endParaRPr lang="en-US" sz="1400" dirty="0"/>
          </a:p>
        </p:txBody>
      </p:sp>
      <p:sp>
        <p:nvSpPr>
          <p:cNvPr id="12" name="Text 9"/>
          <p:cNvSpPr/>
          <p:nvPr/>
        </p:nvSpPr>
        <p:spPr>
          <a:xfrm>
            <a:off x="5444122" y="1642871"/>
            <a:ext cx="1964531" cy="275116"/>
          </a:xfrm>
          <a:prstGeom prst="rect">
            <a:avLst/>
          </a:prstGeom>
          <a:noFill/>
          <a:ln/>
        </p:spPr>
        <p:txBody>
          <a:bodyPr wrap="square" lIns="0" tIns="0" rIns="0" bIns="0" rtlCol="0" anchor="t">
            <a:normAutofit/>
          </a:bodyPr>
          <a:lstStyle/>
          <a:p>
            <a:pPr algn="l" indent="0" marL="0">
              <a:lnSpc>
                <a:spcPct val="78000"/>
              </a:lnSpc>
              <a:buNone/>
            </a:pPr>
            <a:r>
              <a:rPr lang="en-US" sz="1150" dirty="0">
                <a:solidFill>
                  <a:srgbClr val="2C2821"/>
                </a:solidFill>
                <a:latin typeface="Lora" pitchFamily="34" charset="0"/>
                <a:ea typeface="Lora" pitchFamily="34" charset="-122"/>
                <a:cs typeface="Lora" pitchFamily="34" charset="-120"/>
              </a:rPr>
              <a:t>Use mathematical attacks to derive the key.</a:t>
            </a:r>
            <a:endParaRPr lang="en-US" sz="1150" dirty="0"/>
          </a:p>
        </p:txBody>
      </p:sp>
      <p:sp>
        <p:nvSpPr>
          <p:cNvPr id="13" name="Text 10"/>
          <p:cNvSpPr/>
          <p:nvPr/>
        </p:nvSpPr>
        <p:spPr>
          <a:xfrm>
            <a:off x="6137006" y="3605491"/>
            <a:ext cx="1834105" cy="229263"/>
          </a:xfrm>
          <a:prstGeom prst="rect">
            <a:avLst/>
          </a:prstGeom>
          <a:noFill/>
          <a:ln/>
        </p:spPr>
        <p:txBody>
          <a:bodyPr wrap="none" lIns="0" tIns="0" rIns="0" bIns="0" rtlCol="0" anchor="t"/>
          <a:lstStyle/>
          <a:p>
            <a:pPr algn="l" indent="0" marL="0">
              <a:lnSpc>
                <a:spcPct val="104000"/>
              </a:lnSpc>
              <a:buNone/>
            </a:pPr>
            <a:r>
              <a:rPr lang="en-US" sz="1400" dirty="0">
                <a:solidFill>
                  <a:srgbClr val="233E32"/>
                </a:solidFill>
                <a:latin typeface="Alice" pitchFamily="34" charset="0"/>
                <a:ea typeface="Alice" pitchFamily="34" charset="-122"/>
                <a:cs typeface="Alice" pitchFamily="34" charset="-120"/>
              </a:rPr>
              <a:t>Decrypt Traffic</a:t>
            </a:r>
            <a:endParaRPr lang="en-US" sz="1400" dirty="0"/>
          </a:p>
        </p:txBody>
      </p:sp>
      <p:sp>
        <p:nvSpPr>
          <p:cNvPr id="14" name="Text 11"/>
          <p:cNvSpPr/>
          <p:nvPr/>
        </p:nvSpPr>
        <p:spPr>
          <a:xfrm>
            <a:off x="6137006" y="3899967"/>
            <a:ext cx="1964530" cy="275116"/>
          </a:xfrm>
          <a:prstGeom prst="rect">
            <a:avLst/>
          </a:prstGeom>
          <a:noFill/>
          <a:ln/>
        </p:spPr>
        <p:txBody>
          <a:bodyPr wrap="square" lIns="0" tIns="0" rIns="0" bIns="0" rtlCol="0" anchor="t">
            <a:normAutofit/>
          </a:bodyPr>
          <a:lstStyle/>
          <a:p>
            <a:pPr algn="l" indent="0" marL="0">
              <a:lnSpc>
                <a:spcPct val="78000"/>
              </a:lnSpc>
              <a:buNone/>
            </a:pPr>
            <a:r>
              <a:rPr lang="en-US" sz="1150" dirty="0">
                <a:solidFill>
                  <a:srgbClr val="2C2821"/>
                </a:solidFill>
                <a:latin typeface="Lora" pitchFamily="34" charset="0"/>
                <a:ea typeface="Lora" pitchFamily="34" charset="-122"/>
                <a:cs typeface="Lora" pitchFamily="34" charset="-120"/>
              </a:rPr>
              <a:t>Use recovered key to decrypt all network traffic.</a:t>
            </a:r>
            <a:endParaRPr lang="en-US" sz="1150" dirty="0"/>
          </a:p>
        </p:txBody>
      </p:sp>
      <p:sp>
        <p:nvSpPr>
          <p:cNvPr id="15" name="Text 12"/>
          <p:cNvSpPr/>
          <p:nvPr/>
        </p:nvSpPr>
        <p:spPr>
          <a:xfrm>
            <a:off x="496119" y="4761161"/>
            <a:ext cx="8151763" cy="148679"/>
          </a:xfrm>
          <a:prstGeom prst="rect">
            <a:avLst/>
          </a:prstGeom>
          <a:noFill/>
          <a:ln/>
        </p:spPr>
        <p:txBody>
          <a:bodyPr wrap="square" lIns="0" tIns="0" rIns="0" bIns="0" rtlCol="0" anchor="t">
            <a:normAutofit/>
          </a:bodyPr>
          <a:lstStyle/>
          <a:p>
            <a:pPr algn="l" indent="0" marL="0">
              <a:lnSpc>
                <a:spcPct val="100000"/>
              </a:lnSpc>
              <a:buNone/>
            </a:pPr>
            <a:r>
              <a:rPr lang="en-US" sz="450" dirty="0">
                <a:solidFill>
                  <a:srgbClr val="2C2821"/>
                </a:solidFill>
                <a:latin typeface="Lora" pitchFamily="34" charset="0"/>
                <a:ea typeface="Lora" pitchFamily="34" charset="-122"/>
                <a:cs typeface="Lora" pitchFamily="34" charset="-120"/>
              </a:rPr>
              <a:t>By 2005, tools like Aircrack-ng made this attack fully automated. Sitting outside a typical small business for </a:t>
            </a:r>
            <a:pPr algn="l" indent="0" marL="0">
              <a:lnSpc>
                <a:spcPct val="100000"/>
              </a:lnSpc>
              <a:buNone/>
            </a:pPr>
            <a:r>
              <a:rPr lang="en-US" sz="450" b="1" dirty="0">
                <a:solidFill>
                  <a:srgbClr val="2C2821"/>
                </a:solidFill>
                <a:latin typeface="Lora Bold" pitchFamily="34" charset="0"/>
                <a:ea typeface="Lora Bold" pitchFamily="34" charset="-122"/>
                <a:cs typeface="Lora Bold" pitchFamily="34" charset="-120"/>
              </a:rPr>
              <a:t>10 minutes</a:t>
            </a:r>
            <a:pPr algn="l" indent="0" marL="0">
              <a:lnSpc>
                <a:spcPct val="100000"/>
              </a:lnSpc>
              <a:buNone/>
            </a:pPr>
            <a:r>
              <a:rPr lang="en-US" sz="450" dirty="0">
                <a:solidFill>
                  <a:srgbClr val="2C2821"/>
                </a:solidFill>
                <a:latin typeface="Lora" pitchFamily="34" charset="0"/>
                <a:ea typeface="Lora" pitchFamily="34" charset="-122"/>
                <a:cs typeface="Lora" pitchFamily="34" charset="-120"/>
              </a:rPr>
              <a:t> was often sufficient to recover the wireless encryption key entirely. The FMS attack (Fluhrer, Mantin, Shamir) published in 2001 formally proved WEP was cryptographically broken. The IEEE had no choice but to move on.</a:t>
            </a:r>
            <a:endParaRPr lang="en-US" sz="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870496"/>
            <a:ext cx="502072" cy="188565"/>
          </a:xfrm>
          <a:prstGeom prst="roundRect">
            <a:avLst>
              <a:gd name="adj" fmla="val 7894"/>
            </a:avLst>
          </a:prstGeom>
          <a:solidFill>
            <a:srgbClr val="D7F4E4"/>
          </a:solidFill>
          <a:ln/>
        </p:spPr>
      </p:sp>
      <p:sp>
        <p:nvSpPr>
          <p:cNvPr id="3" name="Text 1"/>
          <p:cNvSpPr/>
          <p:nvPr/>
        </p:nvSpPr>
        <p:spPr>
          <a:xfrm>
            <a:off x="570533" y="907703"/>
            <a:ext cx="810444" cy="11415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7</a:t>
            </a:r>
            <a:endParaRPr lang="en-US" sz="750" dirty="0"/>
          </a:p>
        </p:txBody>
      </p:sp>
      <p:sp>
        <p:nvSpPr>
          <p:cNvPr id="4" name="Text 2"/>
          <p:cNvSpPr/>
          <p:nvPr/>
        </p:nvSpPr>
        <p:spPr>
          <a:xfrm>
            <a:off x="496119" y="1108621"/>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WPA: A Temporary Fix</a:t>
            </a:r>
            <a:endParaRPr lang="en-US" sz="2400" dirty="0"/>
          </a:p>
        </p:txBody>
      </p:sp>
      <p:sp>
        <p:nvSpPr>
          <p:cNvPr id="5" name="Text 3"/>
          <p:cNvSpPr/>
          <p:nvPr/>
        </p:nvSpPr>
        <p:spPr>
          <a:xfrm>
            <a:off x="496119" y="1682204"/>
            <a:ext cx="8151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In 2003, the Wi-Fi Alliance introduced Wi-Fi Protected Access (WPA) as an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emergency interim solution</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 The industry could not wait years for new hardware — millions of WEP-vulnerable access points were already deployed. WPA was designed to run on existing hardware via a firmware update.</a:t>
            </a:r>
            <a:endParaRPr lang="en-US" sz="950" dirty="0"/>
          </a:p>
        </p:txBody>
      </p:sp>
      <p:sp>
        <p:nvSpPr>
          <p:cNvPr id="6" name="Shape 4"/>
          <p:cNvSpPr/>
          <p:nvPr/>
        </p:nvSpPr>
        <p:spPr>
          <a:xfrm>
            <a:off x="406822" y="2417118"/>
            <a:ext cx="4103191" cy="1855812"/>
          </a:xfrm>
          <a:prstGeom prst="roundRect">
            <a:avLst>
              <a:gd name="adj" fmla="val 1003"/>
            </a:avLst>
          </a:prstGeom>
          <a:solidFill>
            <a:srgbClr val="1B5F39"/>
          </a:solidFill>
          <a:ln/>
        </p:spPr>
      </p:sp>
      <p:sp>
        <p:nvSpPr>
          <p:cNvPr id="7" name="Text 5"/>
          <p:cNvSpPr/>
          <p:nvPr/>
        </p:nvSpPr>
        <p:spPr>
          <a:xfrm>
            <a:off x="530796" y="2541091"/>
            <a:ext cx="3855244"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Alice" pitchFamily="34" charset="0"/>
                <a:ea typeface="Alice" pitchFamily="34" charset="-122"/>
                <a:cs typeface="Alice" pitchFamily="34" charset="-120"/>
              </a:rPr>
              <a:t>What Changed in WPA</a:t>
            </a:r>
            <a:endParaRPr lang="en-US" sz="1200" dirty="0"/>
          </a:p>
        </p:txBody>
      </p:sp>
      <p:sp>
        <p:nvSpPr>
          <p:cNvPr id="8" name="Text 6"/>
          <p:cNvSpPr/>
          <p:nvPr/>
        </p:nvSpPr>
        <p:spPr>
          <a:xfrm>
            <a:off x="530796" y="2858914"/>
            <a:ext cx="3855244" cy="1165845"/>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b="1" dirty="0">
                <a:solidFill>
                  <a:srgbClr val="FFFFFF"/>
                </a:solidFill>
                <a:latin typeface="Lora Bold" pitchFamily="34" charset="0"/>
                <a:ea typeface="Lora Bold" pitchFamily="34" charset="-122"/>
                <a:cs typeface="Lora Bold" pitchFamily="34" charset="-120"/>
              </a:rPr>
              <a:t>TKIP</a:t>
            </a:r>
            <a:pPr algn="l" marL="193040" indent="-193040">
              <a:lnSpc>
                <a:spcPct val="133000"/>
              </a:lnSpc>
              <a:buSzPct val="100000"/>
              <a:buChar char="•"/>
            </a:pPr>
            <a:r>
              <a:rPr lang="en-US" sz="950" dirty="0">
                <a:solidFill>
                  <a:srgbClr val="FFFFFF"/>
                </a:solidFill>
                <a:latin typeface="Lora" pitchFamily="34" charset="0"/>
                <a:ea typeface="Lora" pitchFamily="34" charset="-122"/>
                <a:cs typeface="Lora" pitchFamily="34" charset="-120"/>
              </a:rPr>
              <a:t> replaced static RC4 key use</a:t>
            </a:r>
            <a:endParaRPr lang="en-US" sz="950" dirty="0"/>
          </a:p>
          <a:p>
            <a:pPr algn="l" marL="193040" indent="-193040">
              <a:lnSpc>
                <a:spcPct val="133000"/>
              </a:lnSpc>
              <a:buSzPct val="100000"/>
              <a:buChar char="•"/>
            </a:pPr>
            <a:r>
              <a:rPr lang="en-US" sz="950" b="1" dirty="0">
                <a:solidFill>
                  <a:srgbClr val="FFFFFF"/>
                </a:solidFill>
                <a:latin typeface="Lora Bold" pitchFamily="34" charset="0"/>
                <a:ea typeface="Lora Bold" pitchFamily="34" charset="-122"/>
                <a:cs typeface="Lora Bold" pitchFamily="34" charset="-120"/>
              </a:rPr>
              <a:t>Dynamic key rotation</a:t>
            </a:r>
            <a:pPr algn="l" marL="193040" indent="-193040">
              <a:lnSpc>
                <a:spcPct val="133000"/>
              </a:lnSpc>
              <a:buSzPct val="100000"/>
              <a:buChar char="•"/>
            </a:pPr>
            <a:r>
              <a:rPr lang="en-US" sz="950" dirty="0">
                <a:solidFill>
                  <a:srgbClr val="FFFFFF"/>
                </a:solidFill>
                <a:latin typeface="Lora" pitchFamily="34" charset="0"/>
                <a:ea typeface="Lora" pitchFamily="34" charset="-122"/>
                <a:cs typeface="Lora" pitchFamily="34" charset="-120"/>
              </a:rPr>
              <a:t> per session</a:t>
            </a:r>
            <a:endParaRPr lang="en-US" sz="950" dirty="0"/>
          </a:p>
          <a:p>
            <a:pPr algn="l" marL="193040" indent="-193040">
              <a:lnSpc>
                <a:spcPct val="133000"/>
              </a:lnSpc>
              <a:buSzPct val="100000"/>
              <a:buChar char="•"/>
            </a:pPr>
            <a:r>
              <a:rPr lang="en-US" sz="950" b="1" dirty="0">
                <a:solidFill>
                  <a:srgbClr val="FFFFFF"/>
                </a:solidFill>
                <a:latin typeface="Lora Bold" pitchFamily="34" charset="0"/>
                <a:ea typeface="Lora Bold" pitchFamily="34" charset="-122"/>
                <a:cs typeface="Lora Bold" pitchFamily="34" charset="-120"/>
              </a:rPr>
              <a:t>Michael MIC</a:t>
            </a:r>
            <a:pPr algn="l" marL="193040" indent="-193040">
              <a:lnSpc>
                <a:spcPct val="133000"/>
              </a:lnSpc>
              <a:buSzPct val="100000"/>
              <a:buChar char="•"/>
            </a:pPr>
            <a:r>
              <a:rPr lang="en-US" sz="950" dirty="0">
                <a:solidFill>
                  <a:srgbClr val="FFFFFF"/>
                </a:solidFill>
                <a:latin typeface="Lora" pitchFamily="34" charset="0"/>
                <a:ea typeface="Lora" pitchFamily="34" charset="-122"/>
                <a:cs typeface="Lora" pitchFamily="34" charset="-120"/>
              </a:rPr>
              <a:t> added message integrity checking</a:t>
            </a:r>
            <a:endParaRPr lang="en-US" sz="950" dirty="0"/>
          </a:p>
          <a:p>
            <a:pPr algn="l" marL="193040" indent="-193040">
              <a:lnSpc>
                <a:spcPct val="133000"/>
              </a:lnSpc>
              <a:buSzPct val="100000"/>
              <a:buChar char="•"/>
            </a:pPr>
            <a:r>
              <a:rPr lang="en-US" sz="950" b="1" dirty="0">
                <a:solidFill>
                  <a:srgbClr val="FFFFFF"/>
                </a:solidFill>
                <a:latin typeface="Lora Bold" pitchFamily="34" charset="0"/>
                <a:ea typeface="Lora Bold" pitchFamily="34" charset="-122"/>
                <a:cs typeface="Lora Bold" pitchFamily="34" charset="-120"/>
              </a:rPr>
              <a:t>802.1X authentication</a:t>
            </a:r>
            <a:pPr algn="l" marL="193040" indent="-193040">
              <a:lnSpc>
                <a:spcPct val="133000"/>
              </a:lnSpc>
              <a:buSzPct val="100000"/>
              <a:buChar char="•"/>
            </a:pPr>
            <a:r>
              <a:rPr lang="en-US" sz="950" dirty="0">
                <a:solidFill>
                  <a:srgbClr val="FFFFFF"/>
                </a:solidFill>
                <a:latin typeface="Lora" pitchFamily="34" charset="0"/>
                <a:ea typeface="Lora" pitchFamily="34" charset="-122"/>
                <a:cs typeface="Lora" pitchFamily="34" charset="-120"/>
              </a:rPr>
              <a:t> available for enterprise use</a:t>
            </a:r>
            <a:endParaRPr lang="en-US" sz="950" dirty="0"/>
          </a:p>
          <a:p>
            <a:pPr algn="l" marL="193040" indent="-193040">
              <a:lnSpc>
                <a:spcPct val="133000"/>
              </a:lnSpc>
              <a:buSzPct val="100000"/>
              <a:buChar char="•"/>
            </a:pPr>
            <a:r>
              <a:rPr lang="en-US" sz="950" dirty="0">
                <a:solidFill>
                  <a:srgbClr val="FFFFFF"/>
                </a:solidFill>
                <a:latin typeface="Lora" pitchFamily="34" charset="0"/>
                <a:ea typeface="Lora" pitchFamily="34" charset="-122"/>
                <a:cs typeface="Lora" pitchFamily="34" charset="-120"/>
              </a:rPr>
              <a:t>Per-packet key mixing to prevent IV reuse exploitation</a:t>
            </a:r>
            <a:endParaRPr lang="en-US" sz="950" dirty="0"/>
          </a:p>
        </p:txBody>
      </p:sp>
      <p:sp>
        <p:nvSpPr>
          <p:cNvPr id="9" name="Text 7"/>
          <p:cNvSpPr/>
          <p:nvPr/>
        </p:nvSpPr>
        <p:spPr>
          <a:xfrm>
            <a:off x="4728046" y="2541091"/>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233E32"/>
                </a:solidFill>
                <a:latin typeface="Alice" pitchFamily="34" charset="0"/>
                <a:ea typeface="Alice" pitchFamily="34" charset="-122"/>
                <a:cs typeface="Alice" pitchFamily="34" charset="-120"/>
              </a:rPr>
              <a:t>What WPA Did Not Fix</a:t>
            </a:r>
            <a:endParaRPr lang="en-US" sz="1200" dirty="0"/>
          </a:p>
        </p:txBody>
      </p:sp>
      <p:sp>
        <p:nvSpPr>
          <p:cNvPr id="10" name="Text 8"/>
          <p:cNvSpPr/>
          <p:nvPr/>
        </p:nvSpPr>
        <p:spPr>
          <a:xfrm>
            <a:off x="4728046" y="2858914"/>
            <a:ext cx="3924598" cy="130239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WPA still relied on the RC4 cipher as its underlying encryption engine. TKIP improved </a:t>
            </a:r>
            <a:pPr algn="l" indent="0" marL="0">
              <a:lnSpc>
                <a:spcPct val="133000"/>
              </a:lnSpc>
              <a:buNone/>
            </a:pPr>
            <a:r>
              <a:rPr lang="en-US" sz="950" i="1" dirty="0">
                <a:solidFill>
                  <a:srgbClr val="2C2821"/>
                </a:solidFill>
                <a:latin typeface="Lora" pitchFamily="34" charset="0"/>
                <a:ea typeface="Lora" pitchFamily="34" charset="-122"/>
                <a:cs typeface="Lora" pitchFamily="34" charset="-120"/>
              </a:rPr>
              <a:t>how</a:t>
            </a:r>
            <a:pPr algn="l" indent="0" marL="0">
              <a:lnSpc>
                <a:spcPct val="133000"/>
              </a:lnSpc>
              <a:spcAft>
                <a:spcPts val="850"/>
              </a:spcAft>
              <a:buNone/>
            </a:pPr>
            <a:r>
              <a:rPr lang="en-US" sz="950" dirty="0">
                <a:solidFill>
                  <a:srgbClr val="2C2821"/>
                </a:solidFill>
                <a:latin typeface="Lora" pitchFamily="34" charset="0"/>
                <a:ea typeface="Lora" pitchFamily="34" charset="-122"/>
                <a:cs typeface="Lora" pitchFamily="34" charset="-120"/>
              </a:rPr>
              <a:t> RC4 was used, but RC4 itself remained the algorithm — a cipher that was already showing its age.</a:t>
            </a:r>
            <a:endParaRPr lang="en-US" sz="950" dirty="0"/>
          </a:p>
          <a:p>
            <a:pPr algn="l" indent="0" marL="0">
              <a:lnSpc>
                <a:spcPct val="133000"/>
              </a:lnSpc>
              <a:buNone/>
            </a:pPr>
            <a:r>
              <a:rPr lang="en-US" sz="950" dirty="0">
                <a:solidFill>
                  <a:srgbClr val="2C2821"/>
                </a:solidFill>
                <a:latin typeface="Lora" pitchFamily="34" charset="0"/>
                <a:ea typeface="Lora" pitchFamily="34" charset="-122"/>
                <a:cs typeface="Lora" pitchFamily="34" charset="-120"/>
              </a:rPr>
              <a:t>WPA was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never intended as a permanent solution</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 It was a bridge — buying the industry time to develop WPA2 with a fundamentally stronger cipher.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96119" y="520898"/>
            <a:ext cx="512118" cy="188565"/>
          </a:xfrm>
          <a:prstGeom prst="roundRect">
            <a:avLst>
              <a:gd name="adj" fmla="val 7894"/>
            </a:avLst>
          </a:prstGeom>
          <a:solidFill>
            <a:srgbClr val="D7F4E4"/>
          </a:solidFill>
          <a:ln/>
        </p:spPr>
      </p:sp>
      <p:sp>
        <p:nvSpPr>
          <p:cNvPr id="3" name="Text 1"/>
          <p:cNvSpPr/>
          <p:nvPr/>
        </p:nvSpPr>
        <p:spPr>
          <a:xfrm>
            <a:off x="570533" y="558105"/>
            <a:ext cx="820489" cy="11415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8</a:t>
            </a:r>
            <a:endParaRPr lang="en-US" sz="750" dirty="0"/>
          </a:p>
        </p:txBody>
      </p:sp>
      <p:sp>
        <p:nvSpPr>
          <p:cNvPr id="4" name="Text 2"/>
          <p:cNvSpPr/>
          <p:nvPr/>
        </p:nvSpPr>
        <p:spPr>
          <a:xfrm>
            <a:off x="496119" y="759023"/>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TKIP Explained</a:t>
            </a:r>
            <a:endParaRPr lang="en-US" sz="2400" dirty="0"/>
          </a:p>
        </p:txBody>
      </p:sp>
      <p:sp>
        <p:nvSpPr>
          <p:cNvPr id="5" name="Text 3"/>
          <p:cNvSpPr/>
          <p:nvPr/>
        </p:nvSpPr>
        <p:spPr>
          <a:xfrm>
            <a:off x="496119" y="1332607"/>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The Temporal Key Integrity Protocol (TKIP) was the engineering workaround that made WPA possible without requiring new hardware. It patched the most dangerous weaknesses in WEP's use of RC4 while remaining backward compatible with older chipsets.</a:t>
            </a:r>
            <a:endParaRPr lang="en-US" sz="9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869058"/>
            <a:ext cx="310083" cy="310083"/>
          </a:xfrm>
          <a:prstGeom prst="rect">
            <a:avLst/>
          </a:prstGeom>
        </p:spPr>
      </p:pic>
      <p:sp>
        <p:nvSpPr>
          <p:cNvPr id="7" name="Text 4"/>
          <p:cNvSpPr/>
          <p:nvPr/>
        </p:nvSpPr>
        <p:spPr>
          <a:xfrm>
            <a:off x="496119" y="2334146"/>
            <a:ext cx="2613868"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Per-Packet Key Mixing</a:t>
            </a:r>
            <a:endParaRPr lang="en-US" sz="1200" dirty="0"/>
          </a:p>
        </p:txBody>
      </p:sp>
      <p:sp>
        <p:nvSpPr>
          <p:cNvPr id="8" name="Text 5"/>
          <p:cNvSpPr/>
          <p:nvPr/>
        </p:nvSpPr>
        <p:spPr>
          <a:xfrm>
            <a:off x="496119" y="2602409"/>
            <a:ext cx="2613868"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Instead of using the same key for every packet, TKIP derives a unique encryption key for each individual packet. This directly prevents the IV-reuse attack that broke WEP.</a:t>
            </a:r>
            <a:endParaRPr lang="en-US" sz="9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4991" y="1869058"/>
            <a:ext cx="310083" cy="310083"/>
          </a:xfrm>
          <a:prstGeom prst="rect">
            <a:avLst/>
          </a:prstGeom>
        </p:spPr>
      </p:pic>
      <p:sp>
        <p:nvSpPr>
          <p:cNvPr id="10" name="Text 6"/>
          <p:cNvSpPr/>
          <p:nvPr/>
        </p:nvSpPr>
        <p:spPr>
          <a:xfrm>
            <a:off x="3264991" y="2334146"/>
            <a:ext cx="2613943"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Temporal Key Rotation</a:t>
            </a:r>
            <a:endParaRPr lang="en-US" sz="1200" dirty="0"/>
          </a:p>
        </p:txBody>
      </p:sp>
      <p:sp>
        <p:nvSpPr>
          <p:cNvPr id="11" name="Text 7"/>
          <p:cNvSpPr/>
          <p:nvPr/>
        </p:nvSpPr>
        <p:spPr>
          <a:xfrm>
            <a:off x="3264991" y="2602409"/>
            <a:ext cx="2613943"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Session keys are rotated periodically throughout a connection. Even if an attacker captures encrypted traffic, the key they might eventually recover applies only to a small time window.</a:t>
            </a:r>
            <a:endParaRPr lang="en-US" sz="9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33939" y="1869058"/>
            <a:ext cx="310083" cy="310083"/>
          </a:xfrm>
          <a:prstGeom prst="rect">
            <a:avLst/>
          </a:prstGeom>
        </p:spPr>
      </p:pic>
      <p:sp>
        <p:nvSpPr>
          <p:cNvPr id="13" name="Text 8"/>
          <p:cNvSpPr/>
          <p:nvPr/>
        </p:nvSpPr>
        <p:spPr>
          <a:xfrm>
            <a:off x="6033939" y="2334146"/>
            <a:ext cx="2613943"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Michael MIC (Message Integrity Check)</a:t>
            </a:r>
            <a:endParaRPr lang="en-US" sz="1200" dirty="0"/>
          </a:p>
        </p:txBody>
      </p:sp>
      <p:sp>
        <p:nvSpPr>
          <p:cNvPr id="14" name="Text 9"/>
          <p:cNvSpPr/>
          <p:nvPr/>
        </p:nvSpPr>
        <p:spPr>
          <a:xfrm>
            <a:off x="6033939" y="2796257"/>
            <a:ext cx="2613943"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TKIP added the "Michael" algorithm to detect packet tampering. If two modified packets arrived within one second, TKIP would terminate the session — a primitive but functional integrity mechanism.</a:t>
            </a:r>
            <a:endParaRPr lang="en-US" sz="950" dirty="0"/>
          </a:p>
        </p:txBody>
      </p:sp>
      <p:sp>
        <p:nvSpPr>
          <p:cNvPr id="15" name="Shape 10"/>
          <p:cNvSpPr/>
          <p:nvPr/>
        </p:nvSpPr>
        <p:spPr>
          <a:xfrm>
            <a:off x="496119" y="3928095"/>
            <a:ext cx="8151763" cy="694432"/>
          </a:xfrm>
          <a:prstGeom prst="roundRect">
            <a:avLst>
              <a:gd name="adj" fmla="val 2679"/>
            </a:avLst>
          </a:prstGeom>
          <a:solidFill>
            <a:srgbClr val="D7F4E4"/>
          </a:solidFill>
          <a:ln/>
        </p:spPr>
      </p:sp>
      <p:pic>
        <p:nvPicPr>
          <p:cNvPr id="16" name="Image 3" descr="preencoded.png">    </p:cNvPr>
          <p:cNvPicPr>
            <a:picLocks noChangeAspect="1"/>
          </p:cNvPicPr>
          <p:nvPr/>
        </p:nvPicPr>
        <p:blipFill>
          <a:blip r:embed="rId7"/>
          <a:stretch>
            <a:fillRect/>
          </a:stretch>
        </p:blipFill>
        <p:spPr>
          <a:xfrm>
            <a:off x="620092" y="4107879"/>
            <a:ext cx="155004" cy="123974"/>
          </a:xfrm>
          <a:prstGeom prst="rect">
            <a:avLst/>
          </a:prstGeom>
        </p:spPr>
      </p:pic>
      <p:sp>
        <p:nvSpPr>
          <p:cNvPr id="17" name="Text 11"/>
          <p:cNvSpPr/>
          <p:nvPr/>
        </p:nvSpPr>
        <p:spPr>
          <a:xfrm>
            <a:off x="899071" y="4083025"/>
            <a:ext cx="762483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Lora" pitchFamily="34" charset="0"/>
                <a:ea typeface="Lora" pitchFamily="34" charset="-122"/>
                <a:cs typeface="Lora" pitchFamily="34" charset="-120"/>
              </a:rPr>
              <a:t>Analogy: TKIP is like changing your house locks every hour. It's a meaningful improvement — but the house still had weak doors. The real fix required replacing the entire locking mechanism with AES.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96119" y="527893"/>
            <a:ext cx="513680" cy="188565"/>
          </a:xfrm>
          <a:prstGeom prst="roundRect">
            <a:avLst>
              <a:gd name="adj" fmla="val 7894"/>
            </a:avLst>
          </a:prstGeom>
          <a:solidFill>
            <a:srgbClr val="D7F4E4"/>
          </a:solidFill>
          <a:ln/>
        </p:spPr>
      </p:sp>
      <p:sp>
        <p:nvSpPr>
          <p:cNvPr id="3" name="Text 1"/>
          <p:cNvSpPr/>
          <p:nvPr/>
        </p:nvSpPr>
        <p:spPr>
          <a:xfrm>
            <a:off x="570533" y="565100"/>
            <a:ext cx="822052" cy="11415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9</a:t>
            </a:r>
            <a:endParaRPr lang="en-US" sz="750" dirty="0"/>
          </a:p>
        </p:txBody>
      </p:sp>
      <p:sp>
        <p:nvSpPr>
          <p:cNvPr id="4" name="Text 2"/>
          <p:cNvSpPr/>
          <p:nvPr/>
        </p:nvSpPr>
        <p:spPr>
          <a:xfrm>
            <a:off x="496119" y="766018"/>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WPA2 Arrives</a:t>
            </a:r>
            <a:endParaRPr lang="en-US" sz="2400" dirty="0"/>
          </a:p>
        </p:txBody>
      </p:sp>
      <p:sp>
        <p:nvSpPr>
          <p:cNvPr id="5" name="Text 3"/>
          <p:cNvSpPr/>
          <p:nvPr/>
        </p:nvSpPr>
        <p:spPr>
          <a:xfrm>
            <a:off x="496119" y="1339602"/>
            <a:ext cx="8151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Released in 2004 and made mandatory for Wi-Fi certified devices in 2006, WPA2 represented the first truly secure wireless encryption standard. It discarded the compromised RC4 cipher entirely and introduced the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Advanced Encryption Standard (AES)</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 as the mandatory encryption algorithm.</a:t>
            </a:r>
            <a:endParaRPr lang="en-US" sz="950" dirty="0"/>
          </a:p>
        </p:txBody>
      </p:sp>
      <p:pic>
        <p:nvPicPr>
          <p:cNvPr id="6" name="Image 0" descr="preencoded.png">    </p:cNvPr>
          <p:cNvPicPr>
            <a:picLocks noChangeAspect="1"/>
          </p:cNvPicPr>
          <p:nvPr/>
        </p:nvPicPr>
        <p:blipFill>
          <a:blip r:embed="rId1"/>
          <a:stretch>
            <a:fillRect/>
          </a:stretch>
        </p:blipFill>
        <p:spPr>
          <a:xfrm>
            <a:off x="496119" y="2074515"/>
            <a:ext cx="2717229" cy="496119"/>
          </a:xfrm>
          <a:prstGeom prst="rect">
            <a:avLst/>
          </a:prstGeom>
        </p:spPr>
      </p:pic>
      <p:sp>
        <p:nvSpPr>
          <p:cNvPr id="7" name="Text 4"/>
          <p:cNvSpPr/>
          <p:nvPr/>
        </p:nvSpPr>
        <p:spPr>
          <a:xfrm>
            <a:off x="620092" y="2694608"/>
            <a:ext cx="2469282"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RC4 Retired</a:t>
            </a:r>
            <a:endParaRPr lang="en-US" sz="1200" dirty="0"/>
          </a:p>
        </p:txBody>
      </p:sp>
      <p:sp>
        <p:nvSpPr>
          <p:cNvPr id="8" name="Text 5"/>
          <p:cNvSpPr/>
          <p:nvPr/>
        </p:nvSpPr>
        <p:spPr>
          <a:xfrm>
            <a:off x="620092" y="2962870"/>
            <a:ext cx="2469282"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The RC4 stream cipher — used in both WEP and WPA — was removed entirely from WPA2. No backward compatibility compromise.</a:t>
            </a:r>
            <a:endParaRPr lang="en-US" sz="950" dirty="0"/>
          </a:p>
        </p:txBody>
      </p:sp>
      <p:pic>
        <p:nvPicPr>
          <p:cNvPr id="9" name="Image 1" descr="preencoded.png">    </p:cNvPr>
          <p:cNvPicPr>
            <a:picLocks noChangeAspect="1"/>
          </p:cNvPicPr>
          <p:nvPr/>
        </p:nvPicPr>
        <p:blipFill>
          <a:blip r:embed="rId2"/>
          <a:stretch>
            <a:fillRect/>
          </a:stretch>
        </p:blipFill>
        <p:spPr>
          <a:xfrm>
            <a:off x="3213348" y="2074515"/>
            <a:ext cx="2717229" cy="496119"/>
          </a:xfrm>
          <a:prstGeom prst="rect">
            <a:avLst/>
          </a:prstGeom>
        </p:spPr>
      </p:pic>
      <p:sp>
        <p:nvSpPr>
          <p:cNvPr id="10" name="Text 6"/>
          <p:cNvSpPr/>
          <p:nvPr/>
        </p:nvSpPr>
        <p:spPr>
          <a:xfrm>
            <a:off x="3337322" y="2694608"/>
            <a:ext cx="2469282"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AES Mandated</a:t>
            </a:r>
            <a:endParaRPr lang="en-US" sz="1200" dirty="0"/>
          </a:p>
        </p:txBody>
      </p:sp>
      <p:sp>
        <p:nvSpPr>
          <p:cNvPr id="11" name="Text 7"/>
          <p:cNvSpPr/>
          <p:nvPr/>
        </p:nvSpPr>
        <p:spPr>
          <a:xfrm>
            <a:off x="3337322" y="2962870"/>
            <a:ext cx="2469282"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AES became the required encryption algorithm. Symmetric, block-based, and mathematically sound — AES was already trusted by governments and banks worldwide.</a:t>
            </a:r>
            <a:endParaRPr lang="en-US" sz="950" dirty="0"/>
          </a:p>
        </p:txBody>
      </p:sp>
      <p:pic>
        <p:nvPicPr>
          <p:cNvPr id="12" name="Image 2" descr="preencoded.png">    </p:cNvPr>
          <p:cNvPicPr>
            <a:picLocks noChangeAspect="1"/>
          </p:cNvPicPr>
          <p:nvPr/>
        </p:nvPicPr>
        <p:blipFill>
          <a:blip r:embed="rId3"/>
          <a:stretch>
            <a:fillRect/>
          </a:stretch>
        </p:blipFill>
        <p:spPr>
          <a:xfrm>
            <a:off x="5930578" y="2074515"/>
            <a:ext cx="2717229" cy="496119"/>
          </a:xfrm>
          <a:prstGeom prst="rect">
            <a:avLst/>
          </a:prstGeom>
        </p:spPr>
      </p:pic>
      <p:sp>
        <p:nvSpPr>
          <p:cNvPr id="13" name="Text 8"/>
          <p:cNvSpPr/>
          <p:nvPr/>
        </p:nvSpPr>
        <p:spPr>
          <a:xfrm>
            <a:off x="6054551" y="2694608"/>
            <a:ext cx="2469282"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CCMP Replaces TKIP</a:t>
            </a:r>
            <a:endParaRPr lang="en-US" sz="1200" dirty="0"/>
          </a:p>
        </p:txBody>
      </p:sp>
      <p:sp>
        <p:nvSpPr>
          <p:cNvPr id="14" name="Text 9"/>
          <p:cNvSpPr/>
          <p:nvPr/>
        </p:nvSpPr>
        <p:spPr>
          <a:xfrm>
            <a:off x="6054551" y="2962870"/>
            <a:ext cx="2469282"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Counter Mode with CBC-MAC Protocol (CCMP) replaced TKIP, providing encryption, integrity verification, and replay attack protection in a single integrated protocol.</a:t>
            </a:r>
            <a:endParaRPr lang="en-US" sz="950" dirty="0"/>
          </a:p>
        </p:txBody>
      </p:sp>
      <p:sp>
        <p:nvSpPr>
          <p:cNvPr id="15" name="Text 10"/>
          <p:cNvSpPr/>
          <p:nvPr/>
        </p:nvSpPr>
        <p:spPr>
          <a:xfrm>
            <a:off x="496119" y="4218682"/>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WPA2 represented the single largest improvement in wireless encryption to date. AES remains trusted and unbroken as a cipher to this day — the vulnerabilities that eventually required WPA3 were in the </a:t>
            </a:r>
            <a:pPr algn="l" indent="0" marL="0">
              <a:lnSpc>
                <a:spcPct val="133000"/>
              </a:lnSpc>
              <a:buNone/>
            </a:pPr>
            <a:r>
              <a:rPr lang="en-US" sz="950" i="1" dirty="0">
                <a:solidFill>
                  <a:srgbClr val="2C2821"/>
                </a:solidFill>
                <a:latin typeface="Lora" pitchFamily="34" charset="0"/>
                <a:ea typeface="Lora" pitchFamily="34" charset="-122"/>
                <a:cs typeface="Lora" pitchFamily="34" charset="-120"/>
              </a:rPr>
              <a:t>authentication</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 layer, not the encryption algorithm itself.</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96119" y="628650"/>
            <a:ext cx="554087" cy="188565"/>
          </a:xfrm>
          <a:prstGeom prst="roundRect">
            <a:avLst>
              <a:gd name="adj" fmla="val 7894"/>
            </a:avLst>
          </a:prstGeom>
          <a:solidFill>
            <a:srgbClr val="D7F4E4"/>
          </a:solidFill>
          <a:ln/>
        </p:spPr>
      </p:sp>
      <p:sp>
        <p:nvSpPr>
          <p:cNvPr id="3" name="Text 1"/>
          <p:cNvSpPr/>
          <p:nvPr/>
        </p:nvSpPr>
        <p:spPr>
          <a:xfrm>
            <a:off x="570533" y="665857"/>
            <a:ext cx="862459" cy="11415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10</a:t>
            </a:r>
            <a:endParaRPr lang="en-US" sz="750" dirty="0"/>
          </a:p>
        </p:txBody>
      </p:sp>
      <p:sp>
        <p:nvSpPr>
          <p:cNvPr id="4" name="Text 2"/>
          <p:cNvSpPr/>
          <p:nvPr/>
        </p:nvSpPr>
        <p:spPr>
          <a:xfrm>
            <a:off x="496119" y="866775"/>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AES and CCMP</a:t>
            </a:r>
            <a:endParaRPr lang="en-US" sz="2400" dirty="0"/>
          </a:p>
        </p:txBody>
      </p:sp>
      <p:sp>
        <p:nvSpPr>
          <p:cNvPr id="5" name="Text 3"/>
          <p:cNvSpPr/>
          <p:nvPr/>
        </p:nvSpPr>
        <p:spPr>
          <a:xfrm>
            <a:off x="496119" y="1440359"/>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Understanding AES and CCMP in detail is essential to understanding why WPA2 was such a dramatic improvement — and why the encryption layer itself was not the vulnerability that led to WPA3.</a:t>
            </a:r>
            <a:endParaRPr lang="en-US" sz="950" dirty="0"/>
          </a:p>
        </p:txBody>
      </p:sp>
      <p:sp>
        <p:nvSpPr>
          <p:cNvPr id="6" name="Shape 4"/>
          <p:cNvSpPr/>
          <p:nvPr/>
        </p:nvSpPr>
        <p:spPr>
          <a:xfrm>
            <a:off x="406822" y="1976810"/>
            <a:ext cx="4103191" cy="2537966"/>
          </a:xfrm>
          <a:prstGeom prst="roundRect">
            <a:avLst>
              <a:gd name="adj" fmla="val 733"/>
            </a:avLst>
          </a:prstGeom>
          <a:solidFill>
            <a:srgbClr val="1B5F39"/>
          </a:solidFill>
          <a:ln/>
        </p:spPr>
      </p:sp>
      <p:sp>
        <p:nvSpPr>
          <p:cNvPr id="7" name="Text 5"/>
          <p:cNvSpPr/>
          <p:nvPr/>
        </p:nvSpPr>
        <p:spPr>
          <a:xfrm>
            <a:off x="530796" y="2100783"/>
            <a:ext cx="3855244"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Alice" pitchFamily="34" charset="0"/>
                <a:ea typeface="Alice" pitchFamily="34" charset="-122"/>
                <a:cs typeface="Alice" pitchFamily="34" charset="-120"/>
              </a:rPr>
              <a:t>AES — Advanced Encryption Standard</a:t>
            </a:r>
            <a:endParaRPr lang="en-US" sz="1200" dirty="0"/>
          </a:p>
        </p:txBody>
      </p:sp>
      <p:sp>
        <p:nvSpPr>
          <p:cNvPr id="8" name="Text 6"/>
          <p:cNvSpPr/>
          <p:nvPr/>
        </p:nvSpPr>
        <p:spPr>
          <a:xfrm>
            <a:off x="530796" y="2418606"/>
            <a:ext cx="3855244"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Lora" pitchFamily="34" charset="0"/>
                <a:ea typeface="Lora" pitchFamily="34" charset="-122"/>
                <a:cs typeface="Lora" pitchFamily="34" charset="-120"/>
              </a:rPr>
              <a:t>AES is a </a:t>
            </a:r>
            <a:pPr algn="l" indent="0" marL="0">
              <a:lnSpc>
                <a:spcPct val="133000"/>
              </a:lnSpc>
              <a:buNone/>
            </a:pPr>
            <a:r>
              <a:rPr lang="en-US" sz="950" b="1" dirty="0">
                <a:solidFill>
                  <a:srgbClr val="FFFFFF"/>
                </a:solidFill>
                <a:latin typeface="Lora Bold" pitchFamily="34" charset="0"/>
                <a:ea typeface="Lora Bold" pitchFamily="34" charset="-122"/>
                <a:cs typeface="Lora Bold" pitchFamily="34" charset="-120"/>
              </a:rPr>
              <a:t>symmetric block cipher</a:t>
            </a:r>
            <a:pPr algn="l" indent="0" marL="0">
              <a:lnSpc>
                <a:spcPct val="133000"/>
              </a:lnSpc>
              <a:buNone/>
            </a:pPr>
            <a:r>
              <a:rPr lang="en-US" sz="950" dirty="0">
                <a:solidFill>
                  <a:srgbClr val="FFFFFF"/>
                </a:solidFill>
                <a:latin typeface="Lora" pitchFamily="34" charset="0"/>
                <a:ea typeface="Lora" pitchFamily="34" charset="-122"/>
                <a:cs typeface="Lora" pitchFamily="34" charset="-120"/>
              </a:rPr>
              <a:t> that operates on 128-bit blocks of data. It supports three key lengths:</a:t>
            </a:r>
            <a:endParaRPr lang="en-US" sz="950" dirty="0"/>
          </a:p>
        </p:txBody>
      </p:sp>
      <p:sp>
        <p:nvSpPr>
          <p:cNvPr id="9" name="Text 7"/>
          <p:cNvSpPr/>
          <p:nvPr/>
        </p:nvSpPr>
        <p:spPr>
          <a:xfrm>
            <a:off x="530796" y="2927152"/>
            <a:ext cx="3855244" cy="682154"/>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b="1" dirty="0">
                <a:solidFill>
                  <a:srgbClr val="FFFFFF"/>
                </a:solidFill>
                <a:latin typeface="Lora Bold" pitchFamily="34" charset="0"/>
                <a:ea typeface="Lora Bold" pitchFamily="34" charset="-122"/>
                <a:cs typeface="Lora Bold" pitchFamily="34" charset="-120"/>
              </a:rPr>
              <a:t>128-bit</a:t>
            </a:r>
            <a:pPr algn="l" marL="193040" indent="-193040">
              <a:lnSpc>
                <a:spcPct val="133000"/>
              </a:lnSpc>
              <a:buSzPct val="100000"/>
              <a:buChar char="•"/>
            </a:pPr>
            <a:r>
              <a:rPr lang="en-US" sz="950" dirty="0">
                <a:solidFill>
                  <a:srgbClr val="FFFFFF"/>
                </a:solidFill>
                <a:latin typeface="Lora" pitchFamily="34" charset="0"/>
                <a:ea typeface="Lora" pitchFamily="34" charset="-122"/>
                <a:cs typeface="Lora" pitchFamily="34" charset="-120"/>
              </a:rPr>
              <a:t> — Standard Wi-Fi use; 2¹²⁸ possible keys</a:t>
            </a:r>
            <a:endParaRPr lang="en-US" sz="950" dirty="0"/>
          </a:p>
          <a:p>
            <a:pPr algn="l" marL="193040" indent="-193040">
              <a:lnSpc>
                <a:spcPct val="133000"/>
              </a:lnSpc>
              <a:buSzPct val="100000"/>
              <a:buChar char="•"/>
            </a:pPr>
            <a:r>
              <a:rPr lang="en-US" sz="950" b="1" dirty="0">
                <a:solidFill>
                  <a:srgbClr val="FFFFFF"/>
                </a:solidFill>
                <a:latin typeface="Lora Bold" pitchFamily="34" charset="0"/>
                <a:ea typeface="Lora Bold" pitchFamily="34" charset="-122"/>
                <a:cs typeface="Lora Bold" pitchFamily="34" charset="-120"/>
              </a:rPr>
              <a:t>192-bit</a:t>
            </a:r>
            <a:pPr algn="l" marL="193040" indent="-193040">
              <a:lnSpc>
                <a:spcPct val="133000"/>
              </a:lnSpc>
              <a:buSzPct val="100000"/>
              <a:buChar char="•"/>
            </a:pPr>
            <a:r>
              <a:rPr lang="en-US" sz="950" dirty="0">
                <a:solidFill>
                  <a:srgbClr val="FFFFFF"/>
                </a:solidFill>
                <a:latin typeface="Lora" pitchFamily="34" charset="0"/>
                <a:ea typeface="Lora" pitchFamily="34" charset="-122"/>
                <a:cs typeface="Lora" pitchFamily="34" charset="-120"/>
              </a:rPr>
              <a:t> — Government and critical infrastructure</a:t>
            </a:r>
            <a:endParaRPr lang="en-US" sz="950" dirty="0"/>
          </a:p>
          <a:p>
            <a:pPr algn="l" marL="193040" indent="-193040">
              <a:lnSpc>
                <a:spcPct val="133000"/>
              </a:lnSpc>
              <a:buSzPct val="100000"/>
              <a:buChar char="•"/>
            </a:pPr>
            <a:r>
              <a:rPr lang="en-US" sz="950" b="1" dirty="0">
                <a:solidFill>
                  <a:srgbClr val="FFFFFF"/>
                </a:solidFill>
                <a:latin typeface="Lora Bold" pitchFamily="34" charset="0"/>
                <a:ea typeface="Lora Bold" pitchFamily="34" charset="-122"/>
                <a:cs typeface="Lora Bold" pitchFamily="34" charset="-120"/>
              </a:rPr>
              <a:t>256-bit</a:t>
            </a:r>
            <a:pPr algn="l" marL="193040" indent="-193040">
              <a:lnSpc>
                <a:spcPct val="133000"/>
              </a:lnSpc>
              <a:buSzPct val="100000"/>
              <a:buChar char="•"/>
            </a:pPr>
            <a:r>
              <a:rPr lang="en-US" sz="950" dirty="0">
                <a:solidFill>
                  <a:srgbClr val="FFFFFF"/>
                </a:solidFill>
                <a:latin typeface="Lora" pitchFamily="34" charset="0"/>
                <a:ea typeface="Lora" pitchFamily="34" charset="-122"/>
                <a:cs typeface="Lora" pitchFamily="34" charset="-120"/>
              </a:rPr>
              <a:t> — Highest security classification</a:t>
            </a:r>
            <a:endParaRPr lang="en-US" sz="950" dirty="0"/>
          </a:p>
        </p:txBody>
      </p:sp>
      <p:sp>
        <p:nvSpPr>
          <p:cNvPr id="10" name="Text 8"/>
          <p:cNvSpPr/>
          <p:nvPr/>
        </p:nvSpPr>
        <p:spPr>
          <a:xfrm>
            <a:off x="530796" y="3720926"/>
            <a:ext cx="3855244"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Lora" pitchFamily="34" charset="0"/>
                <a:ea typeface="Lora" pitchFamily="34" charset="-122"/>
                <a:cs typeface="Lora" pitchFamily="34" charset="-120"/>
              </a:rPr>
              <a:t>AES is used by the U.S. government, NATO, banks, hospitals, and militaries worldwide — not just Wi-Fi.</a:t>
            </a:r>
            <a:endParaRPr lang="en-US" sz="950" dirty="0"/>
          </a:p>
        </p:txBody>
      </p:sp>
      <p:sp>
        <p:nvSpPr>
          <p:cNvPr id="11" name="Text 9"/>
          <p:cNvSpPr/>
          <p:nvPr/>
        </p:nvSpPr>
        <p:spPr>
          <a:xfrm>
            <a:off x="4728046" y="2100783"/>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233E32"/>
                </a:solidFill>
                <a:latin typeface="Alice" pitchFamily="34" charset="0"/>
                <a:ea typeface="Alice" pitchFamily="34" charset="-122"/>
                <a:cs typeface="Alice" pitchFamily="34" charset="-120"/>
              </a:rPr>
              <a:t>CCMP — What It Provides</a:t>
            </a:r>
            <a:endParaRPr lang="en-US" sz="1200" dirty="0"/>
          </a:p>
        </p:txBody>
      </p:sp>
      <p:sp>
        <p:nvSpPr>
          <p:cNvPr id="12" name="Text 10"/>
          <p:cNvSpPr/>
          <p:nvPr/>
        </p:nvSpPr>
        <p:spPr>
          <a:xfrm>
            <a:off x="4728046" y="2418606"/>
            <a:ext cx="3924598" cy="1277541"/>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b="1" dirty="0">
                <a:solidFill>
                  <a:srgbClr val="2C2821"/>
                </a:solidFill>
                <a:latin typeface="Lora Bold" pitchFamily="34" charset="0"/>
                <a:ea typeface="Lora Bold" pitchFamily="34" charset="-122"/>
                <a:cs typeface="Lora Bold" pitchFamily="34" charset="-120"/>
              </a:rPr>
              <a:t>Encryption</a:t>
            </a:r>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 — AES in Counter Mode (CTR) scrambles payload data</a:t>
            </a:r>
            <a:endParaRPr lang="en-US" sz="950" dirty="0"/>
          </a:p>
          <a:p>
            <a:pPr algn="l" marL="193040" indent="-193040">
              <a:lnSpc>
                <a:spcPct val="133000"/>
              </a:lnSpc>
              <a:buSzPct val="100000"/>
              <a:buChar char="•"/>
            </a:pPr>
            <a:r>
              <a:rPr lang="en-US" sz="950" b="1" dirty="0">
                <a:solidFill>
                  <a:srgbClr val="2C2821"/>
                </a:solidFill>
                <a:latin typeface="Lora Bold" pitchFamily="34" charset="0"/>
                <a:ea typeface="Lora Bold" pitchFamily="34" charset="-122"/>
                <a:cs typeface="Lora Bold" pitchFamily="34" charset="-120"/>
              </a:rPr>
              <a:t>Integrity</a:t>
            </a:r>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 — CBC-MAC generates a message authentication code to detect tampering</a:t>
            </a:r>
            <a:endParaRPr lang="en-US" sz="950" dirty="0"/>
          </a:p>
          <a:p>
            <a:pPr algn="l" marL="193040" indent="-193040">
              <a:lnSpc>
                <a:spcPct val="133000"/>
              </a:lnSpc>
              <a:buSzPct val="100000"/>
              <a:buChar char="•"/>
            </a:pPr>
            <a:r>
              <a:rPr lang="en-US" sz="950" b="1" dirty="0">
                <a:solidFill>
                  <a:srgbClr val="2C2821"/>
                </a:solidFill>
                <a:latin typeface="Lora Bold" pitchFamily="34" charset="0"/>
                <a:ea typeface="Lora Bold" pitchFamily="34" charset="-122"/>
                <a:cs typeface="Lora Bold" pitchFamily="34" charset="-120"/>
              </a:rPr>
              <a:t>Replay protection</a:t>
            </a:r>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 — A packet counter prevents attackers from re-injecting captured packets</a:t>
            </a:r>
            <a:endParaRPr lang="en-US" sz="950" dirty="0"/>
          </a:p>
        </p:txBody>
      </p:sp>
      <p:sp>
        <p:nvSpPr>
          <p:cNvPr id="13" name="Text 11"/>
          <p:cNvSpPr/>
          <p:nvPr/>
        </p:nvSpPr>
        <p:spPr>
          <a:xfrm>
            <a:off x="4728046" y="3807768"/>
            <a:ext cx="3924598"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CCMP bundles all three security functions into a single, efficient protocol — a significant improvement over the patchwork approach of TKIP.</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96119" y="341114"/>
            <a:ext cx="264170" cy="94283"/>
          </a:xfrm>
          <a:prstGeom prst="roundRect">
            <a:avLst>
              <a:gd name="adj" fmla="val 7894"/>
            </a:avLst>
          </a:prstGeom>
          <a:solidFill>
            <a:srgbClr val="D7F4E4"/>
          </a:solidFill>
          <a:ln/>
        </p:spPr>
      </p:sp>
      <p:sp>
        <p:nvSpPr>
          <p:cNvPr id="3" name="Text 1"/>
          <p:cNvSpPr/>
          <p:nvPr/>
        </p:nvSpPr>
        <p:spPr>
          <a:xfrm>
            <a:off x="533326" y="359718"/>
            <a:ext cx="646956" cy="57076"/>
          </a:xfrm>
          <a:prstGeom prst="rect">
            <a:avLst/>
          </a:prstGeom>
          <a:noFill/>
          <a:ln/>
        </p:spPr>
        <p:txBody>
          <a:bodyPr wrap="none" lIns="0" tIns="0" rIns="0" bIns="0" rtlCol="0" anchor="t"/>
          <a:lstStyle/>
          <a:p>
            <a:pPr algn="l" indent="0" marL="0">
              <a:lnSpc>
                <a:spcPct val="96000"/>
              </a:lnSpc>
              <a:buNone/>
            </a:pPr>
            <a:r>
              <a:rPr lang="en-US" sz="350" dirty="0">
                <a:solidFill>
                  <a:srgbClr val="2C2821"/>
                </a:solidFill>
                <a:latin typeface="Lora" pitchFamily="34" charset="0"/>
                <a:ea typeface="Lora" pitchFamily="34" charset="-122"/>
                <a:cs typeface="Lora" pitchFamily="34" charset="-120"/>
              </a:rPr>
              <a:t>SLIDE 11</a:t>
            </a:r>
            <a:endParaRPr lang="en-US" sz="350" dirty="0"/>
          </a:p>
        </p:txBody>
      </p:sp>
      <p:sp>
        <p:nvSpPr>
          <p:cNvPr id="4" name="Text 2"/>
          <p:cNvSpPr/>
          <p:nvPr/>
        </p:nvSpPr>
        <p:spPr>
          <a:xfrm>
            <a:off x="496119" y="447749"/>
            <a:ext cx="8151763" cy="193849"/>
          </a:xfrm>
          <a:prstGeom prst="rect">
            <a:avLst/>
          </a:prstGeom>
          <a:noFill/>
          <a:ln/>
        </p:spPr>
        <p:txBody>
          <a:bodyPr wrap="none" lIns="0" tIns="0" rIns="0" bIns="0" rtlCol="0" anchor="t"/>
          <a:lstStyle/>
          <a:p>
            <a:pPr algn="l" indent="0" marL="0">
              <a:lnSpc>
                <a:spcPct val="104000"/>
              </a:lnSpc>
              <a:buNone/>
            </a:pPr>
            <a:r>
              <a:rPr lang="en-US" sz="1200" dirty="0">
                <a:solidFill>
                  <a:srgbClr val="233E32"/>
                </a:solidFill>
                <a:latin typeface="Alice" pitchFamily="34" charset="0"/>
                <a:ea typeface="Alice" pitchFamily="34" charset="-122"/>
                <a:cs typeface="Alice" pitchFamily="34" charset="-120"/>
              </a:rPr>
              <a:t>Symmetric Encryption Refresher</a:t>
            </a:r>
            <a:endParaRPr lang="en-US" sz="1200" dirty="0"/>
          </a:p>
        </p:txBody>
      </p:sp>
      <p:sp>
        <p:nvSpPr>
          <p:cNvPr id="5" name="Text 3"/>
          <p:cNvSpPr/>
          <p:nvPr/>
        </p:nvSpPr>
        <p:spPr>
          <a:xfrm>
            <a:off x="496119" y="688107"/>
            <a:ext cx="8608963" cy="74340"/>
          </a:xfrm>
          <a:prstGeom prst="rect">
            <a:avLst/>
          </a:prstGeom>
          <a:noFill/>
          <a:ln/>
        </p:spPr>
        <p:txBody>
          <a:bodyPr wrap="none" lIns="0" tIns="0" rIns="0" bIns="0" rtlCol="0" anchor="t"/>
          <a:lstStyle/>
          <a:p>
            <a:pPr algn="l" indent="0" marL="0">
              <a:lnSpc>
                <a:spcPct val="100000"/>
              </a:lnSpc>
              <a:buNone/>
            </a:pPr>
            <a:r>
              <a:rPr lang="en-US" sz="450" dirty="0">
                <a:solidFill>
                  <a:srgbClr val="2C2821"/>
                </a:solidFill>
                <a:latin typeface="Lora" pitchFamily="34" charset="0"/>
                <a:ea typeface="Lora" pitchFamily="34" charset="-122"/>
                <a:cs typeface="Lora" pitchFamily="34" charset="-120"/>
              </a:rPr>
              <a:t>Wireless networks rely primarily on </a:t>
            </a:r>
            <a:pPr algn="l" indent="0" marL="0">
              <a:lnSpc>
                <a:spcPct val="100000"/>
              </a:lnSpc>
              <a:buNone/>
            </a:pPr>
            <a:r>
              <a:rPr lang="en-US" sz="450" b="1" dirty="0">
                <a:solidFill>
                  <a:srgbClr val="2C2821"/>
                </a:solidFill>
                <a:latin typeface="Lora Bold" pitchFamily="34" charset="0"/>
                <a:ea typeface="Lora Bold" pitchFamily="34" charset="-122"/>
                <a:cs typeface="Lora Bold" pitchFamily="34" charset="-120"/>
              </a:rPr>
              <a:t>symmetric encryption</a:t>
            </a:r>
            <a:pPr algn="l" indent="0" marL="0">
              <a:lnSpc>
                <a:spcPct val="100000"/>
              </a:lnSpc>
              <a:buNone/>
            </a:pPr>
            <a:r>
              <a:rPr lang="en-US" sz="450" dirty="0">
                <a:solidFill>
                  <a:srgbClr val="2C2821"/>
                </a:solidFill>
                <a:latin typeface="Lora" pitchFamily="34" charset="0"/>
                <a:ea typeface="Lora" pitchFamily="34" charset="-122"/>
                <a:cs typeface="Lora" pitchFamily="34" charset="-120"/>
              </a:rPr>
              <a:t> — a model where the same cryptographic key is used to both encrypt outgoing data and decrypt incoming data. Understanding this model is foundational to understanding how AES works in a Wi-Fi context.</a:t>
            </a:r>
            <a:endParaRPr lang="en-US" sz="450" dirty="0"/>
          </a:p>
        </p:txBody>
      </p:sp>
      <p:pic>
        <p:nvPicPr>
          <p:cNvPr id="6" name="Image 0" descr="preencoded.png">    </p:cNvPr>
          <p:cNvPicPr>
            <a:picLocks noChangeAspect="1"/>
          </p:cNvPicPr>
          <p:nvPr/>
        </p:nvPicPr>
        <p:blipFill>
          <a:blip r:embed="rId1"/>
          <a:stretch>
            <a:fillRect/>
          </a:stretch>
        </p:blipFill>
        <p:spPr>
          <a:xfrm>
            <a:off x="1823070" y="797272"/>
            <a:ext cx="5497860" cy="4132436"/>
          </a:xfrm>
          <a:prstGeom prst="rect">
            <a:avLst/>
          </a:prstGeom>
        </p:spPr>
      </p:pic>
      <p:sp>
        <p:nvSpPr>
          <p:cNvPr id="7" name="Text 4"/>
          <p:cNvSpPr/>
          <p:nvPr/>
        </p:nvSpPr>
        <p:spPr>
          <a:xfrm>
            <a:off x="4068438" y="2662754"/>
            <a:ext cx="1002663" cy="687802"/>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FFFFFF"/>
                </a:solidFill>
                <a:latin typeface="Alice" pitchFamily="34" charset="0"/>
                <a:ea typeface="Alice" pitchFamily="34" charset="-122"/>
                <a:cs typeface="Alice" pitchFamily="34" charset="-120"/>
              </a:rPr>
              <a:t>Symmetric Encryption Flow</a:t>
            </a:r>
            <a:endParaRPr lang="en-US" sz="1400" dirty="0"/>
          </a:p>
        </p:txBody>
      </p:sp>
      <p:sp>
        <p:nvSpPr>
          <p:cNvPr id="8" name="Text 5"/>
          <p:cNvSpPr/>
          <p:nvPr/>
        </p:nvSpPr>
        <p:spPr>
          <a:xfrm>
            <a:off x="5568356" y="3814567"/>
            <a:ext cx="1491639" cy="229267"/>
          </a:xfrm>
          <a:prstGeom prst="rect">
            <a:avLst/>
          </a:prstGeom>
          <a:noFill/>
          <a:ln/>
        </p:spPr>
        <p:txBody>
          <a:bodyPr wrap="none" lIns="0" tIns="0" rIns="0" bIns="0" rtlCol="0" anchor="t"/>
          <a:lstStyle/>
          <a:p>
            <a:pPr algn="ctr" indent="0" marL="0">
              <a:lnSpc>
                <a:spcPct val="104000"/>
              </a:lnSpc>
              <a:buNone/>
            </a:pPr>
            <a:r>
              <a:rPr lang="en-US" sz="1400" dirty="0">
                <a:solidFill>
                  <a:srgbClr val="2C2821"/>
                </a:solidFill>
                <a:latin typeface="Alice" pitchFamily="34" charset="0"/>
                <a:ea typeface="Alice" pitchFamily="34" charset="-122"/>
                <a:cs typeface="Alice" pitchFamily="34" charset="-120"/>
              </a:rPr>
              <a:t>Shared Secret Key</a:t>
            </a:r>
            <a:endParaRPr lang="en-US" sz="1400" dirty="0"/>
          </a:p>
        </p:txBody>
      </p:sp>
      <p:sp>
        <p:nvSpPr>
          <p:cNvPr id="9" name="Text 6"/>
          <p:cNvSpPr/>
          <p:nvPr/>
        </p:nvSpPr>
        <p:spPr>
          <a:xfrm>
            <a:off x="5568356" y="4109049"/>
            <a:ext cx="1491639" cy="412681"/>
          </a:xfrm>
          <a:prstGeom prst="rect">
            <a:avLst/>
          </a:prstGeom>
          <a:noFill/>
          <a:ln/>
        </p:spPr>
        <p:txBody>
          <a:bodyPr wrap="square" lIns="0" tIns="0" rIns="0" bIns="0" rtlCol="0" anchor="t">
            <a:normAutofit/>
          </a:bodyPr>
          <a:lstStyle/>
          <a:p>
            <a:pPr algn="ctr" indent="0" marL="0">
              <a:lnSpc>
                <a:spcPct val="78000"/>
              </a:lnSpc>
              <a:buNone/>
            </a:pPr>
            <a:r>
              <a:rPr lang="en-US" sz="1150" dirty="0">
                <a:solidFill>
                  <a:srgbClr val="2C2821"/>
                </a:solidFill>
                <a:latin typeface="Lora" pitchFamily="34" charset="0"/>
                <a:ea typeface="Lora" pitchFamily="34" charset="-122"/>
                <a:cs typeface="Lora" pitchFamily="34" charset="-120"/>
              </a:rPr>
              <a:t>AES encrypts plaintext → ciphertext</a:t>
            </a:r>
            <a:endParaRPr lang="en-US" sz="1150" dirty="0"/>
          </a:p>
        </p:txBody>
      </p:sp>
      <p:sp>
        <p:nvSpPr>
          <p:cNvPr id="10" name="Text 7"/>
          <p:cNvSpPr/>
          <p:nvPr/>
        </p:nvSpPr>
        <p:spPr>
          <a:xfrm>
            <a:off x="2071265" y="3883348"/>
            <a:ext cx="1491639" cy="229267"/>
          </a:xfrm>
          <a:prstGeom prst="rect">
            <a:avLst/>
          </a:prstGeom>
          <a:noFill/>
          <a:ln/>
        </p:spPr>
        <p:txBody>
          <a:bodyPr wrap="none" lIns="0" tIns="0" rIns="0" bIns="0" rtlCol="0" anchor="t"/>
          <a:lstStyle/>
          <a:p>
            <a:pPr algn="ctr" indent="0" marL="0">
              <a:lnSpc>
                <a:spcPct val="104000"/>
              </a:lnSpc>
              <a:buNone/>
            </a:pPr>
            <a:r>
              <a:rPr lang="en-US" sz="1400" dirty="0">
                <a:solidFill>
                  <a:srgbClr val="2C2821"/>
                </a:solidFill>
                <a:latin typeface="Alice" pitchFamily="34" charset="0"/>
                <a:ea typeface="Alice" pitchFamily="34" charset="-122"/>
                <a:cs typeface="Alice" pitchFamily="34" charset="-120"/>
              </a:rPr>
              <a:t>Access Point</a:t>
            </a:r>
            <a:endParaRPr lang="en-US" sz="1400" dirty="0"/>
          </a:p>
        </p:txBody>
      </p:sp>
      <p:sp>
        <p:nvSpPr>
          <p:cNvPr id="11" name="Text 8"/>
          <p:cNvSpPr/>
          <p:nvPr/>
        </p:nvSpPr>
        <p:spPr>
          <a:xfrm>
            <a:off x="2071265" y="4177829"/>
            <a:ext cx="1491639" cy="275121"/>
          </a:xfrm>
          <a:prstGeom prst="rect">
            <a:avLst/>
          </a:prstGeom>
          <a:noFill/>
          <a:ln/>
        </p:spPr>
        <p:txBody>
          <a:bodyPr wrap="square" lIns="0" tIns="0" rIns="0" bIns="0" rtlCol="0" anchor="t">
            <a:normAutofit/>
          </a:bodyPr>
          <a:lstStyle/>
          <a:p>
            <a:pPr algn="ctr" indent="0" marL="0">
              <a:lnSpc>
                <a:spcPct val="78000"/>
              </a:lnSpc>
              <a:buNone/>
            </a:pPr>
            <a:r>
              <a:rPr lang="en-US" sz="1150" dirty="0">
                <a:solidFill>
                  <a:srgbClr val="2C2821"/>
                </a:solidFill>
                <a:latin typeface="Lora" pitchFamily="34" charset="0"/>
                <a:ea typeface="Lora" pitchFamily="34" charset="-122"/>
                <a:cs typeface="Lora" pitchFamily="34" charset="-120"/>
              </a:rPr>
              <a:t>Decrypts ciphertext to plaintext</a:t>
            </a:r>
            <a:endParaRPr lang="en-US" sz="1150" dirty="0"/>
          </a:p>
        </p:txBody>
      </p:sp>
      <p:sp>
        <p:nvSpPr>
          <p:cNvPr id="12" name="Text 9"/>
          <p:cNvSpPr/>
          <p:nvPr/>
        </p:nvSpPr>
        <p:spPr>
          <a:xfrm>
            <a:off x="3799431" y="1241679"/>
            <a:ext cx="1532397" cy="229267"/>
          </a:xfrm>
          <a:prstGeom prst="rect">
            <a:avLst/>
          </a:prstGeom>
          <a:noFill/>
          <a:ln/>
        </p:spPr>
        <p:txBody>
          <a:bodyPr wrap="none" lIns="0" tIns="0" rIns="0" bIns="0" rtlCol="0" anchor="t"/>
          <a:lstStyle/>
          <a:p>
            <a:pPr algn="ctr" indent="0" marL="0">
              <a:lnSpc>
                <a:spcPct val="104000"/>
              </a:lnSpc>
              <a:buNone/>
            </a:pPr>
            <a:r>
              <a:rPr lang="en-US" sz="1400" dirty="0">
                <a:solidFill>
                  <a:srgbClr val="2C2821"/>
                </a:solidFill>
                <a:latin typeface="Alice" pitchFamily="34" charset="0"/>
                <a:ea typeface="Alice" pitchFamily="34" charset="-122"/>
                <a:cs typeface="Alice" pitchFamily="34" charset="-120"/>
              </a:rPr>
              <a:t>Laptop</a:t>
            </a:r>
            <a:endParaRPr lang="en-US" sz="1400" dirty="0"/>
          </a:p>
        </p:txBody>
      </p:sp>
      <p:sp>
        <p:nvSpPr>
          <p:cNvPr id="13" name="Text 10"/>
          <p:cNvSpPr/>
          <p:nvPr/>
        </p:nvSpPr>
        <p:spPr>
          <a:xfrm>
            <a:off x="3799431" y="1536160"/>
            <a:ext cx="1532397" cy="137560"/>
          </a:xfrm>
          <a:prstGeom prst="rect">
            <a:avLst/>
          </a:prstGeom>
          <a:noFill/>
          <a:ln/>
        </p:spPr>
        <p:txBody>
          <a:bodyPr wrap="none" lIns="0" tIns="0" rIns="0" bIns="0" rtlCol="0" anchor="t"/>
          <a:lstStyle/>
          <a:p>
            <a:pPr algn="ctr" indent="0" marL="0">
              <a:lnSpc>
                <a:spcPct val="78000"/>
              </a:lnSpc>
              <a:buNone/>
            </a:pPr>
            <a:r>
              <a:rPr lang="en-US" sz="1150" dirty="0">
                <a:solidFill>
                  <a:srgbClr val="2C2821"/>
                </a:solidFill>
                <a:latin typeface="Lora" pitchFamily="34" charset="0"/>
                <a:ea typeface="Lora" pitchFamily="34" charset="-122"/>
                <a:cs typeface="Lora" pitchFamily="34" charset="-120"/>
              </a:rPr>
              <a:t>Plaintext data to send</a:t>
            </a:r>
            <a:endParaRPr lang="en-US" sz="1150" dirty="0"/>
          </a:p>
        </p:txBody>
      </p:sp>
      <p:sp>
        <p:nvSpPr>
          <p:cNvPr id="14" name="Text 11"/>
          <p:cNvSpPr/>
          <p:nvPr/>
        </p:nvSpPr>
        <p:spPr>
          <a:xfrm>
            <a:off x="496119" y="4995490"/>
            <a:ext cx="4000277" cy="96887"/>
          </a:xfrm>
          <a:prstGeom prst="rect">
            <a:avLst/>
          </a:prstGeom>
          <a:noFill/>
          <a:ln/>
        </p:spPr>
        <p:txBody>
          <a:bodyPr wrap="none" lIns="0" tIns="0" rIns="0" bIns="0" rtlCol="0" anchor="t"/>
          <a:lstStyle/>
          <a:p>
            <a:pPr algn="l" indent="0" marL="0">
              <a:lnSpc>
                <a:spcPct val="104000"/>
              </a:lnSpc>
              <a:buNone/>
            </a:pPr>
            <a:r>
              <a:rPr lang="en-US" sz="600" dirty="0">
                <a:solidFill>
                  <a:srgbClr val="233E32"/>
                </a:solidFill>
                <a:latin typeface="Alice" pitchFamily="34" charset="0"/>
                <a:ea typeface="Alice" pitchFamily="34" charset="-122"/>
                <a:cs typeface="Alice" pitchFamily="34" charset="-120"/>
              </a:rPr>
              <a:t>Why Symmetric Works for Wi-Fi</a:t>
            </a:r>
            <a:endParaRPr lang="en-US" sz="600" dirty="0"/>
          </a:p>
        </p:txBody>
      </p:sp>
      <p:sp>
        <p:nvSpPr>
          <p:cNvPr id="15" name="Text 12"/>
          <p:cNvSpPr/>
          <p:nvPr/>
        </p:nvSpPr>
        <p:spPr>
          <a:xfrm>
            <a:off x="496119" y="5123334"/>
            <a:ext cx="4000277" cy="244599"/>
          </a:xfrm>
          <a:prstGeom prst="rect">
            <a:avLst/>
          </a:prstGeom>
          <a:noFill/>
          <a:ln/>
        </p:spPr>
        <p:txBody>
          <a:bodyPr wrap="square" lIns="0" tIns="0" rIns="0" bIns="0" rtlCol="0" anchor="t">
            <a:normAutofit/>
          </a:bodyPr>
          <a:lstStyle/>
          <a:p>
            <a:pPr algn="l" marL="91440" indent="-91440">
              <a:lnSpc>
                <a:spcPct val="100000"/>
              </a:lnSpc>
              <a:buSzPct val="100000"/>
              <a:buChar char="•"/>
            </a:pPr>
            <a:r>
              <a:rPr lang="en-US" sz="450" dirty="0">
                <a:solidFill>
                  <a:srgbClr val="2C2821"/>
                </a:solidFill>
                <a:latin typeface="Lora" pitchFamily="34" charset="0"/>
                <a:ea typeface="Lora" pitchFamily="34" charset="-122"/>
                <a:cs typeface="Lora" pitchFamily="34" charset="-120"/>
              </a:rPr>
              <a:t>Extremely fast — hardware-accelerated on modern chipsets</a:t>
            </a:r>
            <a:endParaRPr lang="en-US" sz="450" dirty="0"/>
          </a:p>
          <a:p>
            <a:pPr algn="l" marL="91440" indent="-91440">
              <a:lnSpc>
                <a:spcPct val="100000"/>
              </a:lnSpc>
              <a:buSzPct val="100000"/>
              <a:buChar char="•"/>
            </a:pPr>
            <a:r>
              <a:rPr lang="en-US" sz="450" dirty="0">
                <a:solidFill>
                  <a:srgbClr val="2C2821"/>
                </a:solidFill>
                <a:latin typeface="Lora" pitchFamily="34" charset="0"/>
                <a:ea typeface="Lora" pitchFamily="34" charset="-122"/>
                <a:cs typeface="Lora" pitchFamily="34" charset="-120"/>
              </a:rPr>
              <a:t>Low CPU and battery overhead</a:t>
            </a:r>
            <a:endParaRPr lang="en-US" sz="450" dirty="0"/>
          </a:p>
          <a:p>
            <a:pPr algn="l" marL="91440" indent="-91440">
              <a:lnSpc>
                <a:spcPct val="100000"/>
              </a:lnSpc>
              <a:buSzPct val="100000"/>
              <a:buChar char="•"/>
            </a:pPr>
            <a:r>
              <a:rPr lang="en-US" sz="450" dirty="0">
                <a:solidFill>
                  <a:srgbClr val="2C2821"/>
                </a:solidFill>
                <a:latin typeface="Lora" pitchFamily="34" charset="0"/>
                <a:ea typeface="Lora" pitchFamily="34" charset="-122"/>
                <a:cs typeface="Lora" pitchFamily="34" charset="-120"/>
              </a:rPr>
              <a:t>Well-suited for real-time, high-throughput data streams</a:t>
            </a:r>
            <a:endParaRPr lang="en-US" sz="450" dirty="0"/>
          </a:p>
        </p:txBody>
      </p:sp>
      <p:sp>
        <p:nvSpPr>
          <p:cNvPr id="16" name="Text 13"/>
          <p:cNvSpPr/>
          <p:nvPr/>
        </p:nvSpPr>
        <p:spPr>
          <a:xfrm>
            <a:off x="4652367" y="4995490"/>
            <a:ext cx="4000277" cy="96887"/>
          </a:xfrm>
          <a:prstGeom prst="rect">
            <a:avLst/>
          </a:prstGeom>
          <a:noFill/>
          <a:ln/>
        </p:spPr>
        <p:txBody>
          <a:bodyPr wrap="none" lIns="0" tIns="0" rIns="0" bIns="0" rtlCol="0" anchor="t"/>
          <a:lstStyle/>
          <a:p>
            <a:pPr algn="l" indent="0" marL="0">
              <a:lnSpc>
                <a:spcPct val="104000"/>
              </a:lnSpc>
              <a:buNone/>
            </a:pPr>
            <a:r>
              <a:rPr lang="en-US" sz="600" dirty="0">
                <a:solidFill>
                  <a:srgbClr val="233E32"/>
                </a:solidFill>
                <a:latin typeface="Alice" pitchFamily="34" charset="0"/>
                <a:ea typeface="Alice" pitchFamily="34" charset="-122"/>
                <a:cs typeface="Alice" pitchFamily="34" charset="-120"/>
              </a:rPr>
              <a:t>The Core Challenge</a:t>
            </a:r>
            <a:endParaRPr lang="en-US" sz="600" dirty="0"/>
          </a:p>
        </p:txBody>
      </p:sp>
      <p:sp>
        <p:nvSpPr>
          <p:cNvPr id="17" name="Text 14"/>
          <p:cNvSpPr/>
          <p:nvPr/>
        </p:nvSpPr>
        <p:spPr>
          <a:xfrm>
            <a:off x="4652367" y="5123334"/>
            <a:ext cx="4000277" cy="148679"/>
          </a:xfrm>
          <a:prstGeom prst="rect">
            <a:avLst/>
          </a:prstGeom>
          <a:noFill/>
          <a:ln/>
        </p:spPr>
        <p:txBody>
          <a:bodyPr wrap="square" lIns="0" tIns="0" rIns="0" bIns="0" rtlCol="0" anchor="t">
            <a:normAutofit/>
          </a:bodyPr>
          <a:lstStyle/>
          <a:p>
            <a:pPr algn="l" indent="0" marL="0">
              <a:lnSpc>
                <a:spcPct val="100000"/>
              </a:lnSpc>
              <a:buNone/>
            </a:pPr>
            <a:r>
              <a:rPr lang="en-US" sz="450" dirty="0">
                <a:solidFill>
                  <a:srgbClr val="2C2821"/>
                </a:solidFill>
                <a:latin typeface="Lora" pitchFamily="34" charset="0"/>
                <a:ea typeface="Lora" pitchFamily="34" charset="-122"/>
                <a:cs typeface="Lora" pitchFamily="34" charset="-120"/>
              </a:rPr>
              <a:t>Both parties must obtain the </a:t>
            </a:r>
            <a:pPr algn="l" indent="0" marL="0">
              <a:lnSpc>
                <a:spcPct val="100000"/>
              </a:lnSpc>
              <a:buNone/>
            </a:pPr>
            <a:r>
              <a:rPr lang="en-US" sz="450" b="1" dirty="0">
                <a:solidFill>
                  <a:srgbClr val="2C2821"/>
                </a:solidFill>
                <a:latin typeface="Lora Bold" pitchFamily="34" charset="0"/>
                <a:ea typeface="Lora Bold" pitchFamily="34" charset="-122"/>
                <a:cs typeface="Lora Bold" pitchFamily="34" charset="-120"/>
              </a:rPr>
              <a:t>same key through a secure channel</a:t>
            </a:r>
            <a:pPr algn="l" indent="0" marL="0">
              <a:lnSpc>
                <a:spcPct val="100000"/>
              </a:lnSpc>
              <a:buNone/>
            </a:pPr>
            <a:r>
              <a:rPr lang="en-US" sz="450" dirty="0">
                <a:solidFill>
                  <a:srgbClr val="2C2821"/>
                </a:solidFill>
                <a:latin typeface="Lora" pitchFamily="34" charset="0"/>
                <a:ea typeface="Lora" pitchFamily="34" charset="-122"/>
                <a:cs typeface="Lora" pitchFamily="34" charset="-120"/>
              </a:rPr>
              <a:t> before communication begins. This is the fundamental problem that the handshake process — and later SAE — is designed to solve. If the key exchange is compromised, the encryption is worthless.</a:t>
            </a:r>
            <a:endParaRPr lang="en-US" sz="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96119" y="496937"/>
            <a:ext cx="545753" cy="188565"/>
          </a:xfrm>
          <a:prstGeom prst="roundRect">
            <a:avLst>
              <a:gd name="adj" fmla="val 7894"/>
            </a:avLst>
          </a:prstGeom>
          <a:solidFill>
            <a:srgbClr val="D7F4E4"/>
          </a:solidFill>
          <a:ln/>
        </p:spPr>
      </p:sp>
      <p:sp>
        <p:nvSpPr>
          <p:cNvPr id="3" name="Text 1"/>
          <p:cNvSpPr/>
          <p:nvPr/>
        </p:nvSpPr>
        <p:spPr>
          <a:xfrm>
            <a:off x="570533" y="534144"/>
            <a:ext cx="854125" cy="11415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12</a:t>
            </a:r>
            <a:endParaRPr lang="en-US" sz="750" dirty="0"/>
          </a:p>
        </p:txBody>
      </p:sp>
      <p:sp>
        <p:nvSpPr>
          <p:cNvPr id="4" name="Text 2"/>
          <p:cNvSpPr/>
          <p:nvPr/>
        </p:nvSpPr>
        <p:spPr>
          <a:xfrm>
            <a:off x="496119" y="735062"/>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Authentication vs. Encryption</a:t>
            </a:r>
            <a:endParaRPr lang="en-US" sz="2400" dirty="0"/>
          </a:p>
        </p:txBody>
      </p:sp>
      <p:sp>
        <p:nvSpPr>
          <p:cNvPr id="5" name="Text 3"/>
          <p:cNvSpPr/>
          <p:nvPr/>
        </p:nvSpPr>
        <p:spPr>
          <a:xfrm>
            <a:off x="496119" y="1308646"/>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These two concepts are frequently confused by students — and keeping them separate is critical to understanding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why WPA2 was vulnerable despite using strong AES encryption</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a:t>
            </a:r>
            <a:endParaRPr lang="en-US" sz="950" dirty="0"/>
          </a:p>
        </p:txBody>
      </p:sp>
      <p:sp>
        <p:nvSpPr>
          <p:cNvPr id="6" name="Shape 4"/>
          <p:cNvSpPr/>
          <p:nvPr/>
        </p:nvSpPr>
        <p:spPr>
          <a:xfrm>
            <a:off x="406822" y="1845097"/>
            <a:ext cx="4103191" cy="1967433"/>
          </a:xfrm>
          <a:prstGeom prst="roundRect">
            <a:avLst>
              <a:gd name="adj" fmla="val 946"/>
            </a:avLst>
          </a:prstGeom>
          <a:solidFill>
            <a:srgbClr val="1B5F39"/>
          </a:solidFill>
          <a:ln/>
        </p:spPr>
      </p:sp>
      <p:sp>
        <p:nvSpPr>
          <p:cNvPr id="7" name="Text 5"/>
          <p:cNvSpPr/>
          <p:nvPr/>
        </p:nvSpPr>
        <p:spPr>
          <a:xfrm>
            <a:off x="530796" y="1969071"/>
            <a:ext cx="3855244"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Alice" pitchFamily="34" charset="0"/>
                <a:ea typeface="Alice" pitchFamily="34" charset="-122"/>
                <a:cs typeface="Alice" pitchFamily="34" charset="-120"/>
              </a:rPr>
              <a:t>Authentication</a:t>
            </a:r>
            <a:endParaRPr lang="en-US" sz="1200" dirty="0"/>
          </a:p>
        </p:txBody>
      </p:sp>
      <p:sp>
        <p:nvSpPr>
          <p:cNvPr id="8" name="Text 6"/>
          <p:cNvSpPr/>
          <p:nvPr/>
        </p:nvSpPr>
        <p:spPr>
          <a:xfrm>
            <a:off x="530796" y="2286893"/>
            <a:ext cx="3855244" cy="1414016"/>
          </a:xfrm>
          <a:prstGeom prst="rect">
            <a:avLst/>
          </a:prstGeom>
          <a:noFill/>
          <a:ln/>
        </p:spPr>
        <p:txBody>
          <a:bodyPr wrap="square" lIns="0" tIns="0" rIns="0" bIns="0" rtlCol="0" anchor="t"/>
          <a:lstStyle/>
          <a:p>
            <a:pPr algn="l" indent="0" marL="0">
              <a:lnSpc>
                <a:spcPct val="133000"/>
              </a:lnSpc>
              <a:spcAft>
                <a:spcPts val="850"/>
              </a:spcAft>
              <a:buNone/>
            </a:pPr>
            <a:r>
              <a:rPr lang="en-US" sz="950" i="1" dirty="0">
                <a:solidFill>
                  <a:srgbClr val="FFFFFF"/>
                </a:solidFill>
                <a:latin typeface="Lora" pitchFamily="34" charset="0"/>
                <a:ea typeface="Lora" pitchFamily="34" charset="-122"/>
                <a:cs typeface="Lora" pitchFamily="34" charset="-120"/>
              </a:rPr>
              <a:t>"Who are you?"</a:t>
            </a:r>
            <a:endParaRPr lang="en-US" sz="950" dirty="0"/>
          </a:p>
          <a:p>
            <a:pPr algn="l" indent="0" marL="0">
              <a:lnSpc>
                <a:spcPct val="133000"/>
              </a:lnSpc>
              <a:buNone/>
            </a:pPr>
            <a:r>
              <a:rPr lang="en-US" sz="950" dirty="0">
                <a:solidFill>
                  <a:srgbClr val="FFFFFF"/>
                </a:solidFill>
                <a:latin typeface="Lora" pitchFamily="34" charset="0"/>
                <a:ea typeface="Lora" pitchFamily="34" charset="-122"/>
                <a:cs typeface="Lora" pitchFamily="34" charset="-120"/>
              </a:rPr>
              <a:t>Authentication verifies the identity of a device or user before allowing access to the network. It answers the question: </a:t>
            </a:r>
            <a:pPr algn="l" indent="0" marL="0">
              <a:lnSpc>
                <a:spcPct val="133000"/>
              </a:lnSpc>
              <a:spcAft>
                <a:spcPts val="850"/>
              </a:spcAft>
              <a:buNone/>
            </a:pPr>
            <a:r>
              <a:rPr lang="en-US" sz="950" b="1" dirty="0">
                <a:solidFill>
                  <a:srgbClr val="FFFFFF"/>
                </a:solidFill>
                <a:latin typeface="Lora Bold" pitchFamily="34" charset="0"/>
                <a:ea typeface="Lora Bold" pitchFamily="34" charset="-122"/>
                <a:cs typeface="Lora Bold" pitchFamily="34" charset="-120"/>
              </a:rPr>
              <a:t>Is this entity who they claim to be?</a:t>
            </a:r>
            <a:endParaRPr lang="en-US" sz="950" dirty="0"/>
          </a:p>
          <a:p>
            <a:pPr algn="l" indent="0" marL="0">
              <a:lnSpc>
                <a:spcPct val="133000"/>
              </a:lnSpc>
              <a:buNone/>
            </a:pPr>
            <a:r>
              <a:rPr lang="en-US" sz="950" dirty="0">
                <a:solidFill>
                  <a:srgbClr val="FFFFFF"/>
                </a:solidFill>
                <a:latin typeface="Lora" pitchFamily="34" charset="0"/>
                <a:ea typeface="Lora" pitchFamily="34" charset="-122"/>
                <a:cs typeface="Lora" pitchFamily="34" charset="-120"/>
              </a:rPr>
              <a:t>Example: Entering your PIN at an ATM authenticates your identity to the bank's system.</a:t>
            </a:r>
            <a:endParaRPr lang="en-US" sz="950" dirty="0"/>
          </a:p>
        </p:txBody>
      </p:sp>
      <p:sp>
        <p:nvSpPr>
          <p:cNvPr id="9" name="Text 7"/>
          <p:cNvSpPr/>
          <p:nvPr/>
        </p:nvSpPr>
        <p:spPr>
          <a:xfrm>
            <a:off x="4728046" y="1969071"/>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233E32"/>
                </a:solidFill>
                <a:latin typeface="Alice" pitchFamily="34" charset="0"/>
                <a:ea typeface="Alice" pitchFamily="34" charset="-122"/>
                <a:cs typeface="Alice" pitchFamily="34" charset="-120"/>
              </a:rPr>
              <a:t>Encryption</a:t>
            </a:r>
            <a:endParaRPr lang="en-US" sz="1200" dirty="0"/>
          </a:p>
        </p:txBody>
      </p:sp>
      <p:sp>
        <p:nvSpPr>
          <p:cNvPr id="10" name="Text 8"/>
          <p:cNvSpPr/>
          <p:nvPr/>
        </p:nvSpPr>
        <p:spPr>
          <a:xfrm>
            <a:off x="4728046" y="2286893"/>
            <a:ext cx="3924598" cy="1414016"/>
          </a:xfrm>
          <a:prstGeom prst="rect">
            <a:avLst/>
          </a:prstGeom>
          <a:noFill/>
          <a:ln/>
        </p:spPr>
        <p:txBody>
          <a:bodyPr wrap="square" lIns="0" tIns="0" rIns="0" bIns="0" rtlCol="0" anchor="t"/>
          <a:lstStyle/>
          <a:p>
            <a:pPr algn="l" indent="0" marL="0">
              <a:lnSpc>
                <a:spcPct val="133000"/>
              </a:lnSpc>
              <a:spcAft>
                <a:spcPts val="850"/>
              </a:spcAft>
              <a:buNone/>
            </a:pPr>
            <a:r>
              <a:rPr lang="en-US" sz="950" i="1" dirty="0">
                <a:solidFill>
                  <a:srgbClr val="2C2821"/>
                </a:solidFill>
                <a:latin typeface="Lora" pitchFamily="34" charset="0"/>
                <a:ea typeface="Lora" pitchFamily="34" charset="-122"/>
                <a:cs typeface="Lora" pitchFamily="34" charset="-120"/>
              </a:rPr>
              <a:t>"Can anyone else read this?"</a:t>
            </a:r>
            <a:endParaRPr lang="en-US" sz="950" dirty="0"/>
          </a:p>
          <a:p>
            <a:pPr algn="l" indent="0" marL="0">
              <a:lnSpc>
                <a:spcPct val="133000"/>
              </a:lnSpc>
              <a:buNone/>
            </a:pPr>
            <a:r>
              <a:rPr lang="en-US" sz="950" dirty="0">
                <a:solidFill>
                  <a:srgbClr val="2C2821"/>
                </a:solidFill>
                <a:latin typeface="Lora" pitchFamily="34" charset="0"/>
                <a:ea typeface="Lora" pitchFamily="34" charset="-122"/>
                <a:cs typeface="Lora" pitchFamily="34" charset="-120"/>
              </a:rPr>
              <a:t>Encryption scrambles data in transit so only intended recipients can read it. It protects the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content</a:t>
            </a:r>
            <a:pPr algn="l" indent="0" marL="0">
              <a:lnSpc>
                <a:spcPct val="133000"/>
              </a:lnSpc>
              <a:spcAft>
                <a:spcPts val="850"/>
              </a:spcAft>
              <a:buNone/>
            </a:pPr>
            <a:r>
              <a:rPr lang="en-US" sz="950" dirty="0">
                <a:solidFill>
                  <a:srgbClr val="2C2821"/>
                </a:solidFill>
                <a:latin typeface="Lora" pitchFamily="34" charset="0"/>
                <a:ea typeface="Lora" pitchFamily="34" charset="-122"/>
                <a:cs typeface="Lora" pitchFamily="34" charset="-120"/>
              </a:rPr>
              <a:t> of communication — not the identity of who is communicating.</a:t>
            </a:r>
            <a:endParaRPr lang="en-US" sz="950" dirty="0"/>
          </a:p>
          <a:p>
            <a:pPr algn="l" indent="0" marL="0">
              <a:lnSpc>
                <a:spcPct val="133000"/>
              </a:lnSpc>
              <a:buNone/>
            </a:pPr>
            <a:r>
              <a:rPr lang="en-US" sz="950" dirty="0">
                <a:solidFill>
                  <a:srgbClr val="2C2821"/>
                </a:solidFill>
                <a:latin typeface="Lora" pitchFamily="34" charset="0"/>
                <a:ea typeface="Lora" pitchFamily="34" charset="-122"/>
                <a:cs typeface="Lora" pitchFamily="34" charset="-120"/>
              </a:rPr>
              <a:t>Example: The encrypted link between your browser and your bank protects your session data after authentication succeeds.</a:t>
            </a:r>
            <a:endParaRPr lang="en-US" sz="950" dirty="0"/>
          </a:p>
        </p:txBody>
      </p:sp>
      <p:sp>
        <p:nvSpPr>
          <p:cNvPr id="11" name="Shape 9"/>
          <p:cNvSpPr/>
          <p:nvPr/>
        </p:nvSpPr>
        <p:spPr>
          <a:xfrm>
            <a:off x="496119" y="3952056"/>
            <a:ext cx="8151763" cy="694432"/>
          </a:xfrm>
          <a:prstGeom prst="roundRect">
            <a:avLst>
              <a:gd name="adj" fmla="val 2679"/>
            </a:avLst>
          </a:prstGeom>
          <a:solidFill>
            <a:srgbClr val="D7F4E4"/>
          </a:solidFill>
          <a:ln/>
        </p:spPr>
      </p:sp>
      <p:pic>
        <p:nvPicPr>
          <p:cNvPr id="12" name="Image 0" descr="preencoded.png">    </p:cNvPr>
          <p:cNvPicPr>
            <a:picLocks noChangeAspect="1"/>
          </p:cNvPicPr>
          <p:nvPr/>
        </p:nvPicPr>
        <p:blipFill>
          <a:blip r:embed="rId1"/>
          <a:stretch>
            <a:fillRect/>
          </a:stretch>
        </p:blipFill>
        <p:spPr>
          <a:xfrm>
            <a:off x="620092" y="4131841"/>
            <a:ext cx="155004" cy="123974"/>
          </a:xfrm>
          <a:prstGeom prst="rect">
            <a:avLst/>
          </a:prstGeom>
        </p:spPr>
      </p:pic>
      <p:sp>
        <p:nvSpPr>
          <p:cNvPr id="13" name="Text 10"/>
          <p:cNvSpPr/>
          <p:nvPr/>
        </p:nvSpPr>
        <p:spPr>
          <a:xfrm>
            <a:off x="899071" y="4106987"/>
            <a:ext cx="762483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Lora" pitchFamily="34" charset="0"/>
                <a:ea typeface="Lora" pitchFamily="34" charset="-122"/>
                <a:cs typeface="Lora" pitchFamily="34" charset="-120"/>
              </a:rPr>
              <a:t>Both are necessary. Strong encryption with weak authentication is like a vault with a strong lock but an easily guessed combination — the lock itself is fine; the weakness is in how you verify who gets to use it.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96119" y="344612"/>
            <a:ext cx="436438" cy="150168"/>
          </a:xfrm>
          <a:prstGeom prst="roundRect">
            <a:avLst>
              <a:gd name="adj" fmla="val 7899"/>
            </a:avLst>
          </a:prstGeom>
          <a:solidFill>
            <a:srgbClr val="D7F4E4"/>
          </a:solidFill>
          <a:ln/>
        </p:spPr>
      </p:sp>
      <p:sp>
        <p:nvSpPr>
          <p:cNvPr id="3" name="Text 1"/>
          <p:cNvSpPr/>
          <p:nvPr/>
        </p:nvSpPr>
        <p:spPr>
          <a:xfrm>
            <a:off x="555427" y="374228"/>
            <a:ext cx="775022" cy="90934"/>
          </a:xfrm>
          <a:prstGeom prst="rect">
            <a:avLst/>
          </a:prstGeom>
          <a:noFill/>
          <a:ln/>
        </p:spPr>
        <p:txBody>
          <a:bodyPr wrap="none" lIns="0" tIns="0" rIns="0" bIns="0" rtlCol="0" anchor="t"/>
          <a:lstStyle/>
          <a:p>
            <a:pPr algn="l" indent="0" marL="0">
              <a:lnSpc>
                <a:spcPct val="96000"/>
              </a:lnSpc>
              <a:buNone/>
            </a:pPr>
            <a:r>
              <a:rPr lang="en-US" sz="600" dirty="0">
                <a:solidFill>
                  <a:srgbClr val="2C2821"/>
                </a:solidFill>
                <a:latin typeface="Lora" pitchFamily="34" charset="0"/>
                <a:ea typeface="Lora" pitchFamily="34" charset="-122"/>
                <a:cs typeface="Lora" pitchFamily="34" charset="-120"/>
              </a:rPr>
              <a:t>SLIDE 13</a:t>
            </a:r>
            <a:endParaRPr lang="en-US" sz="600" dirty="0"/>
          </a:p>
        </p:txBody>
      </p:sp>
      <p:sp>
        <p:nvSpPr>
          <p:cNvPr id="4" name="Text 2"/>
          <p:cNvSpPr/>
          <p:nvPr/>
        </p:nvSpPr>
        <p:spPr>
          <a:xfrm>
            <a:off x="496119" y="526256"/>
            <a:ext cx="8151763" cy="308893"/>
          </a:xfrm>
          <a:prstGeom prst="rect">
            <a:avLst/>
          </a:prstGeom>
          <a:noFill/>
          <a:ln/>
        </p:spPr>
        <p:txBody>
          <a:bodyPr wrap="none" lIns="0" tIns="0" rIns="0" bIns="0" rtlCol="0" anchor="t"/>
          <a:lstStyle/>
          <a:p>
            <a:pPr algn="l" indent="0" marL="0">
              <a:lnSpc>
                <a:spcPct val="104000"/>
              </a:lnSpc>
              <a:buNone/>
            </a:pPr>
            <a:r>
              <a:rPr lang="en-US" sz="1900" dirty="0">
                <a:solidFill>
                  <a:srgbClr val="233E32"/>
                </a:solidFill>
                <a:latin typeface="Alice" pitchFamily="34" charset="0"/>
                <a:ea typeface="Alice" pitchFamily="34" charset="-122"/>
                <a:cs typeface="Alice" pitchFamily="34" charset="-120"/>
              </a:rPr>
              <a:t>WPA2 Authentication: The Four-Way Handshake</a:t>
            </a:r>
            <a:endParaRPr lang="en-US" sz="1900" dirty="0"/>
          </a:p>
        </p:txBody>
      </p:sp>
      <p:sp>
        <p:nvSpPr>
          <p:cNvPr id="5" name="Text 3"/>
          <p:cNvSpPr/>
          <p:nvPr/>
        </p:nvSpPr>
        <p:spPr>
          <a:xfrm>
            <a:off x="496119" y="953244"/>
            <a:ext cx="8151763" cy="284113"/>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2C2821"/>
                </a:solidFill>
                <a:latin typeface="Lora" pitchFamily="34" charset="0"/>
                <a:ea typeface="Lora" pitchFamily="34" charset="-122"/>
                <a:cs typeface="Lora" pitchFamily="34" charset="-120"/>
              </a:rPr>
              <a:t>The WPA2 Four-Way Handshake establishes session keys between a client device and an access point without transmitting the actual password over the air. It uses a pre-negotiated </a:t>
            </a:r>
            <a:pPr algn="l" indent="0" marL="0">
              <a:lnSpc>
                <a:spcPct val="120000"/>
              </a:lnSpc>
              <a:buNone/>
            </a:pPr>
            <a:r>
              <a:rPr lang="en-US" sz="750" b="1" dirty="0">
                <a:solidFill>
                  <a:srgbClr val="2C2821"/>
                </a:solidFill>
                <a:latin typeface="Lora Bold" pitchFamily="34" charset="0"/>
                <a:ea typeface="Lora Bold" pitchFamily="34" charset="-122"/>
                <a:cs typeface="Lora Bold" pitchFamily="34" charset="-120"/>
              </a:rPr>
              <a:t>Pairwise Master Key (PMK)</a:t>
            </a:r>
            <a:pPr algn="l" indent="0" marL="0">
              <a:lnSpc>
                <a:spcPct val="120000"/>
              </a:lnSpc>
              <a:buNone/>
            </a:pPr>
            <a:r>
              <a:rPr lang="en-US" sz="750" dirty="0">
                <a:solidFill>
                  <a:srgbClr val="2C2821"/>
                </a:solidFill>
                <a:latin typeface="Lora" pitchFamily="34" charset="0"/>
                <a:ea typeface="Lora" pitchFamily="34" charset="-122"/>
                <a:cs typeface="Lora" pitchFamily="34" charset="-120"/>
              </a:rPr>
              <a:t> — derived from the password — to create unique </a:t>
            </a:r>
            <a:pPr algn="l" indent="0" marL="0">
              <a:lnSpc>
                <a:spcPct val="120000"/>
              </a:lnSpc>
              <a:buNone/>
            </a:pPr>
            <a:r>
              <a:rPr lang="en-US" sz="750" b="1" dirty="0">
                <a:solidFill>
                  <a:srgbClr val="2C2821"/>
                </a:solidFill>
                <a:latin typeface="Lora Bold" pitchFamily="34" charset="0"/>
                <a:ea typeface="Lora Bold" pitchFamily="34" charset="-122"/>
                <a:cs typeface="Lora Bold" pitchFamily="34" charset="-120"/>
              </a:rPr>
              <a:t>session keys (PTK)</a:t>
            </a:r>
            <a:pPr algn="l" indent="0" marL="0">
              <a:lnSpc>
                <a:spcPct val="120000"/>
              </a:lnSpc>
              <a:buNone/>
            </a:pPr>
            <a:r>
              <a:rPr lang="en-US" sz="750" dirty="0">
                <a:solidFill>
                  <a:srgbClr val="2C2821"/>
                </a:solidFill>
                <a:latin typeface="Lora" pitchFamily="34" charset="0"/>
                <a:ea typeface="Lora" pitchFamily="34" charset="-122"/>
                <a:cs typeface="Lora" pitchFamily="34" charset="-120"/>
              </a:rPr>
              <a:t> for each connection.</a:t>
            </a:r>
            <a:endParaRPr lang="en-US" sz="750" dirty="0"/>
          </a:p>
        </p:txBody>
      </p:sp>
      <p:pic>
        <p:nvPicPr>
          <p:cNvPr id="6" name="Image 0" descr="preencoded.png">    </p:cNvPr>
          <p:cNvPicPr>
            <a:picLocks noChangeAspect="1"/>
          </p:cNvPicPr>
          <p:nvPr/>
        </p:nvPicPr>
        <p:blipFill>
          <a:blip r:embed="rId1"/>
          <a:stretch>
            <a:fillRect/>
          </a:stretch>
        </p:blipFill>
        <p:spPr>
          <a:xfrm>
            <a:off x="1402407" y="1325910"/>
            <a:ext cx="6339185" cy="2901255"/>
          </a:xfrm>
          <a:prstGeom prst="rect">
            <a:avLst/>
          </a:prstGeom>
        </p:spPr>
      </p:pic>
      <p:sp>
        <p:nvSpPr>
          <p:cNvPr id="7" name="Text 4"/>
          <p:cNvSpPr/>
          <p:nvPr/>
        </p:nvSpPr>
        <p:spPr>
          <a:xfrm>
            <a:off x="6256361" y="3423575"/>
            <a:ext cx="1190142" cy="458531"/>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2C2821"/>
                </a:solidFill>
                <a:latin typeface="Alice" pitchFamily="34" charset="0"/>
                <a:ea typeface="Alice" pitchFamily="34" charset="-122"/>
                <a:cs typeface="Alice" pitchFamily="34" charset="-120"/>
              </a:rPr>
              <a:t>AP Verify &amp; Install</a:t>
            </a:r>
            <a:endParaRPr lang="en-US" sz="1400" dirty="0"/>
          </a:p>
        </p:txBody>
      </p:sp>
      <p:sp>
        <p:nvSpPr>
          <p:cNvPr id="8" name="Text 5"/>
          <p:cNvSpPr/>
          <p:nvPr/>
        </p:nvSpPr>
        <p:spPr>
          <a:xfrm>
            <a:off x="4756456" y="3423575"/>
            <a:ext cx="1190143" cy="458531"/>
          </a:xfrm>
          <a:prstGeom prst="rect">
            <a:avLst/>
          </a:prstGeom>
          <a:noFill/>
          <a:ln/>
        </p:spPr>
        <p:txBody>
          <a:bodyPr wrap="square" lIns="0" tIns="0" rIns="0" bIns="0" rtlCol="0" anchor="t">
            <a:normAutofit/>
          </a:bodyPr>
          <a:lstStyle/>
          <a:p>
            <a:pPr algn="ctr" indent="0" marL="0">
              <a:lnSpc>
                <a:spcPct val="104000"/>
              </a:lnSpc>
              <a:buNone/>
            </a:pPr>
            <a:r>
              <a:rPr lang="en-US" sz="1400" dirty="0">
                <a:solidFill>
                  <a:srgbClr val="2C2821"/>
                </a:solidFill>
                <a:latin typeface="Alice" pitchFamily="34" charset="0"/>
                <a:ea typeface="Alice" pitchFamily="34" charset="-122"/>
                <a:cs typeface="Alice" pitchFamily="34" charset="-120"/>
              </a:rPr>
              <a:t>Client → SNonce+MIC</a:t>
            </a:r>
            <a:endParaRPr lang="en-US" sz="1400" dirty="0"/>
          </a:p>
        </p:txBody>
      </p:sp>
      <p:sp>
        <p:nvSpPr>
          <p:cNvPr id="9" name="Text 6"/>
          <p:cNvSpPr/>
          <p:nvPr/>
        </p:nvSpPr>
        <p:spPr>
          <a:xfrm>
            <a:off x="3264702" y="3538208"/>
            <a:ext cx="1190142" cy="229265"/>
          </a:xfrm>
          <a:prstGeom prst="rect">
            <a:avLst/>
          </a:prstGeom>
          <a:noFill/>
          <a:ln/>
        </p:spPr>
        <p:txBody>
          <a:bodyPr wrap="none" lIns="0" tIns="0" rIns="0" bIns="0" rtlCol="0" anchor="t"/>
          <a:lstStyle/>
          <a:p>
            <a:pPr algn="ctr" indent="0" marL="0">
              <a:lnSpc>
                <a:spcPct val="104000"/>
              </a:lnSpc>
              <a:buNone/>
            </a:pPr>
            <a:r>
              <a:rPr lang="en-US" sz="1400" dirty="0">
                <a:solidFill>
                  <a:srgbClr val="2C2821"/>
                </a:solidFill>
                <a:latin typeface="Alice" pitchFamily="34" charset="0"/>
                <a:ea typeface="Alice" pitchFamily="34" charset="-122"/>
                <a:cs typeface="Alice" pitchFamily="34" charset="-120"/>
              </a:rPr>
              <a:t>AP → ANonce</a:t>
            </a:r>
            <a:endParaRPr lang="en-US" sz="1400" dirty="0"/>
          </a:p>
        </p:txBody>
      </p:sp>
      <p:sp>
        <p:nvSpPr>
          <p:cNvPr id="10" name="Text 7"/>
          <p:cNvSpPr/>
          <p:nvPr/>
        </p:nvSpPr>
        <p:spPr>
          <a:xfrm>
            <a:off x="1740341" y="3538208"/>
            <a:ext cx="1190142" cy="229265"/>
          </a:xfrm>
          <a:prstGeom prst="rect">
            <a:avLst/>
          </a:prstGeom>
          <a:noFill/>
          <a:ln/>
        </p:spPr>
        <p:txBody>
          <a:bodyPr wrap="none" lIns="0" tIns="0" rIns="0" bIns="0" rtlCol="0" anchor="t"/>
          <a:lstStyle/>
          <a:p>
            <a:pPr algn="ctr" indent="0" marL="0">
              <a:lnSpc>
                <a:spcPct val="104000"/>
              </a:lnSpc>
              <a:buNone/>
            </a:pPr>
            <a:r>
              <a:rPr lang="en-US" sz="1400" dirty="0">
                <a:solidFill>
                  <a:srgbClr val="2C2821"/>
                </a:solidFill>
                <a:latin typeface="Alice" pitchFamily="34" charset="0"/>
                <a:ea typeface="Alice" pitchFamily="34" charset="-122"/>
                <a:cs typeface="Alice" pitchFamily="34" charset="-120"/>
              </a:rPr>
              <a:t>Assoc Request</a:t>
            </a:r>
            <a:endParaRPr lang="en-US" sz="1400" dirty="0"/>
          </a:p>
        </p:txBody>
      </p:sp>
      <p:sp>
        <p:nvSpPr>
          <p:cNvPr id="11" name="Shape 8"/>
          <p:cNvSpPr/>
          <p:nvPr/>
        </p:nvSpPr>
        <p:spPr>
          <a:xfrm>
            <a:off x="496119" y="4315718"/>
            <a:ext cx="8151763" cy="483096"/>
          </a:xfrm>
          <a:prstGeom prst="roundRect">
            <a:avLst>
              <a:gd name="adj" fmla="val 3069"/>
            </a:avLst>
          </a:prstGeom>
          <a:solidFill>
            <a:srgbClr val="FCF2B5"/>
          </a:solidFill>
          <a:ln/>
        </p:spPr>
      </p:sp>
      <p:pic>
        <p:nvPicPr>
          <p:cNvPr id="12" name="Image 1" descr="preencoded.png">    </p:cNvPr>
          <p:cNvPicPr>
            <a:picLocks noChangeAspect="1"/>
          </p:cNvPicPr>
          <p:nvPr/>
        </p:nvPicPr>
        <p:blipFill>
          <a:blip r:embed="rId2"/>
          <a:stretch>
            <a:fillRect/>
          </a:stretch>
        </p:blipFill>
        <p:spPr>
          <a:xfrm>
            <a:off x="594940" y="4448026"/>
            <a:ext cx="123527" cy="98822"/>
          </a:xfrm>
          <a:prstGeom prst="rect">
            <a:avLst/>
          </a:prstGeom>
        </p:spPr>
      </p:pic>
      <p:sp>
        <p:nvSpPr>
          <p:cNvPr id="13" name="Text 9"/>
          <p:cNvSpPr/>
          <p:nvPr/>
        </p:nvSpPr>
        <p:spPr>
          <a:xfrm>
            <a:off x="817290" y="4419154"/>
            <a:ext cx="7731770" cy="284113"/>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000000"/>
                </a:solidFill>
                <a:latin typeface="Lora" pitchFamily="34" charset="0"/>
                <a:ea typeface="Lora" pitchFamily="34" charset="-122"/>
                <a:cs typeface="Lora" pitchFamily="34" charset="-120"/>
              </a:rPr>
              <a:t>The critical vulnerability: The entire handshake can be captured by a passive observer. An attacker who captures the handshake can take it offline and attempt to crack the password using a dictionary attack — without ever alerting the network. This is the core weakness WPA3 was designed to eliminate.</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96119" y="497012"/>
            <a:ext cx="546199" cy="188565"/>
          </a:xfrm>
          <a:prstGeom prst="roundRect">
            <a:avLst>
              <a:gd name="adj" fmla="val 7894"/>
            </a:avLst>
          </a:prstGeom>
          <a:solidFill>
            <a:srgbClr val="D7F4E4"/>
          </a:solidFill>
          <a:ln/>
        </p:spPr>
      </p:sp>
      <p:sp>
        <p:nvSpPr>
          <p:cNvPr id="3" name="Text 1"/>
          <p:cNvSpPr/>
          <p:nvPr/>
        </p:nvSpPr>
        <p:spPr>
          <a:xfrm>
            <a:off x="570533" y="534219"/>
            <a:ext cx="854571" cy="11415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14</a:t>
            </a:r>
            <a:endParaRPr lang="en-US" sz="750" dirty="0"/>
          </a:p>
        </p:txBody>
      </p:sp>
      <p:sp>
        <p:nvSpPr>
          <p:cNvPr id="4" name="Text 2"/>
          <p:cNvSpPr/>
          <p:nvPr/>
        </p:nvSpPr>
        <p:spPr>
          <a:xfrm>
            <a:off x="496119" y="735137"/>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Weaknesses of WPA2</a:t>
            </a:r>
            <a:endParaRPr lang="en-US" sz="2400" dirty="0"/>
          </a:p>
        </p:txBody>
      </p:sp>
      <p:sp>
        <p:nvSpPr>
          <p:cNvPr id="5" name="Text 3"/>
          <p:cNvSpPr/>
          <p:nvPr/>
        </p:nvSpPr>
        <p:spPr>
          <a:xfrm>
            <a:off x="496119" y="1308720"/>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Despite using the unbroken AES cipher, WPA2 had significant vulnerabilities in its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authentication and key exchange layer</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 Strong encryption means very little if an attacker can bypass or brute-force the authentication process that establishes the encryption keys.</a:t>
            </a:r>
            <a:endParaRPr lang="en-US" sz="9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845171"/>
            <a:ext cx="4013895" cy="1338635"/>
          </a:xfrm>
          <a:prstGeom prst="rect">
            <a:avLst/>
          </a:prstGeom>
        </p:spPr>
      </p:pic>
      <p:sp>
        <p:nvSpPr>
          <p:cNvPr id="7" name="Text 4"/>
          <p:cNvSpPr/>
          <p:nvPr/>
        </p:nvSpPr>
        <p:spPr>
          <a:xfrm>
            <a:off x="691530" y="1983432"/>
            <a:ext cx="3680222"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Offline Dictionary Attacks</a:t>
            </a:r>
            <a:endParaRPr lang="en-US" sz="1200" dirty="0"/>
          </a:p>
        </p:txBody>
      </p:sp>
      <p:sp>
        <p:nvSpPr>
          <p:cNvPr id="8" name="Text 5"/>
          <p:cNvSpPr/>
          <p:nvPr/>
        </p:nvSpPr>
        <p:spPr>
          <a:xfrm>
            <a:off x="691530" y="2251695"/>
            <a:ext cx="3680222"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A captured Four-Way Handshake can be taken offline and tested against millions of password candidates per second using tools like Hashcat on consumer GPU hardware. The network never sees these attempts.</a:t>
            </a:r>
            <a:endParaRPr lang="en-US" sz="9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33987" y="1845171"/>
            <a:ext cx="4013895" cy="1338635"/>
          </a:xfrm>
          <a:prstGeom prst="rect">
            <a:avLst/>
          </a:prstGeom>
        </p:spPr>
      </p:pic>
      <p:sp>
        <p:nvSpPr>
          <p:cNvPr id="10" name="Text 6"/>
          <p:cNvSpPr/>
          <p:nvPr/>
        </p:nvSpPr>
        <p:spPr>
          <a:xfrm>
            <a:off x="4829398" y="1983432"/>
            <a:ext cx="3680222"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Shared Pre-Shared Keys (PSK)</a:t>
            </a:r>
            <a:endParaRPr lang="en-US" sz="1200" dirty="0"/>
          </a:p>
        </p:txBody>
      </p:sp>
      <p:sp>
        <p:nvSpPr>
          <p:cNvPr id="11" name="Text 7"/>
          <p:cNvSpPr/>
          <p:nvPr/>
        </p:nvSpPr>
        <p:spPr>
          <a:xfrm>
            <a:off x="4829398" y="2251695"/>
            <a:ext cx="3680222"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In Personal mode, every device on the network uses the same password. One compromised device or leaked credential exposes the entire network's traffic — past and future.</a:t>
            </a:r>
            <a:endParaRPr lang="en-US" sz="9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307779"/>
            <a:ext cx="4013895" cy="1338635"/>
          </a:xfrm>
          <a:prstGeom prst="rect">
            <a:avLst/>
          </a:prstGeom>
        </p:spPr>
      </p:pic>
      <p:sp>
        <p:nvSpPr>
          <p:cNvPr id="13" name="Text 8"/>
          <p:cNvSpPr/>
          <p:nvPr/>
        </p:nvSpPr>
        <p:spPr>
          <a:xfrm>
            <a:off x="691530" y="3446041"/>
            <a:ext cx="3680222"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KRACK (Key Reinstallation Attack)</a:t>
            </a:r>
            <a:endParaRPr lang="en-US" sz="1200" dirty="0"/>
          </a:p>
        </p:txBody>
      </p:sp>
      <p:sp>
        <p:nvSpPr>
          <p:cNvPr id="14" name="Text 9"/>
          <p:cNvSpPr/>
          <p:nvPr/>
        </p:nvSpPr>
        <p:spPr>
          <a:xfrm>
            <a:off x="691530" y="3714304"/>
            <a:ext cx="3680222"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Discovered in 2017, KRACK exploited the handshake by forcing nonce reuse through packet replay — affecting virtually every WPA2 implementation across all vendors and operating systems.</a:t>
            </a:r>
            <a:endParaRPr lang="en-US" sz="9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33987" y="3307779"/>
            <a:ext cx="4013895" cy="1338635"/>
          </a:xfrm>
          <a:prstGeom prst="rect">
            <a:avLst/>
          </a:prstGeom>
        </p:spPr>
      </p:pic>
      <p:sp>
        <p:nvSpPr>
          <p:cNvPr id="16" name="Text 10"/>
          <p:cNvSpPr/>
          <p:nvPr/>
        </p:nvSpPr>
        <p:spPr>
          <a:xfrm>
            <a:off x="4829398" y="3446041"/>
            <a:ext cx="3680222"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Unprotected Management Frames</a:t>
            </a:r>
            <a:endParaRPr lang="en-US" sz="1200" dirty="0"/>
          </a:p>
        </p:txBody>
      </p:sp>
      <p:sp>
        <p:nvSpPr>
          <p:cNvPr id="17" name="Text 11"/>
          <p:cNvSpPr/>
          <p:nvPr/>
        </p:nvSpPr>
        <p:spPr>
          <a:xfrm>
            <a:off x="4829398" y="3714304"/>
            <a:ext cx="3680222"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Association, authentication, and disassociation frames were sent in the clear without integrity protection, enabling spoofed deauthentication attacks that forcibly disconnect legitimate clients.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96119" y="426467"/>
            <a:ext cx="546497" cy="188565"/>
          </a:xfrm>
          <a:prstGeom prst="roundRect">
            <a:avLst>
              <a:gd name="adj" fmla="val 7894"/>
            </a:avLst>
          </a:prstGeom>
          <a:solidFill>
            <a:srgbClr val="D7F4E4"/>
          </a:solidFill>
          <a:ln/>
        </p:spPr>
      </p:sp>
      <p:sp>
        <p:nvSpPr>
          <p:cNvPr id="3" name="Text 1"/>
          <p:cNvSpPr/>
          <p:nvPr/>
        </p:nvSpPr>
        <p:spPr>
          <a:xfrm>
            <a:off x="570533" y="463674"/>
            <a:ext cx="854869" cy="11415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15</a:t>
            </a:r>
            <a:endParaRPr lang="en-US" sz="750" dirty="0"/>
          </a:p>
        </p:txBody>
      </p:sp>
      <p:sp>
        <p:nvSpPr>
          <p:cNvPr id="4" name="Text 2"/>
          <p:cNvSpPr/>
          <p:nvPr/>
        </p:nvSpPr>
        <p:spPr>
          <a:xfrm>
            <a:off x="496119" y="664592"/>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Introducing WPA3</a:t>
            </a:r>
            <a:endParaRPr lang="en-US" sz="2400" dirty="0"/>
          </a:p>
        </p:txBody>
      </p:sp>
      <p:sp>
        <p:nvSpPr>
          <p:cNvPr id="5" name="Text 3"/>
          <p:cNvSpPr/>
          <p:nvPr/>
        </p:nvSpPr>
        <p:spPr>
          <a:xfrm>
            <a:off x="496119" y="1238176"/>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Released by the Wi-Fi Alliance in 2018, WPA3 was designed from the ground up to address every significant weakness identified in WPA2. Rather than a patch, it represents a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fundamental redesign of the authentication and key exchange model</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a:t>
            </a:r>
            <a:endParaRPr lang="en-US" sz="950" dirty="0"/>
          </a:p>
        </p:txBody>
      </p:sp>
      <p:sp>
        <p:nvSpPr>
          <p:cNvPr id="6" name="Shape 4"/>
          <p:cNvSpPr/>
          <p:nvPr/>
        </p:nvSpPr>
        <p:spPr>
          <a:xfrm>
            <a:off x="496119" y="1774627"/>
            <a:ext cx="4013895" cy="1409179"/>
          </a:xfrm>
          <a:prstGeom prst="roundRect">
            <a:avLst>
              <a:gd name="adj" fmla="val 1320"/>
            </a:avLst>
          </a:prstGeom>
          <a:solidFill>
            <a:srgbClr val="F0EDE6"/>
          </a:solidFill>
          <a:ln/>
        </p:spPr>
      </p:sp>
      <p:sp>
        <p:nvSpPr>
          <p:cNvPr id="7" name="Shape 5"/>
          <p:cNvSpPr/>
          <p:nvPr/>
        </p:nvSpPr>
        <p:spPr>
          <a:xfrm>
            <a:off x="620092" y="1898600"/>
            <a:ext cx="372070" cy="372070"/>
          </a:xfrm>
          <a:prstGeom prst="ellipse">
            <a:avLst/>
          </a:prstGeom>
          <a:solidFill>
            <a:srgbClr val="1B5F39"/>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2412" y="2000845"/>
            <a:ext cx="167432" cy="167432"/>
          </a:xfrm>
          <a:prstGeom prst="rect">
            <a:avLst/>
          </a:prstGeom>
        </p:spPr>
      </p:pic>
      <p:sp>
        <p:nvSpPr>
          <p:cNvPr id="9" name="Text 6"/>
          <p:cNvSpPr/>
          <p:nvPr/>
        </p:nvSpPr>
        <p:spPr>
          <a:xfrm>
            <a:off x="620092" y="2394645"/>
            <a:ext cx="3765947"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Stronger Authentication</a:t>
            </a:r>
            <a:endParaRPr lang="en-US" sz="1200" dirty="0"/>
          </a:p>
        </p:txBody>
      </p:sp>
      <p:sp>
        <p:nvSpPr>
          <p:cNvPr id="10" name="Text 7"/>
          <p:cNvSpPr/>
          <p:nvPr/>
        </p:nvSpPr>
        <p:spPr>
          <a:xfrm>
            <a:off x="620092" y="2662907"/>
            <a:ext cx="376594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SAE (Simultaneous Authentication of Equals) replaces PSK-based handshake, eliminating offline dictionary attacks entirely.</a:t>
            </a:r>
            <a:endParaRPr lang="en-US" sz="950" dirty="0"/>
          </a:p>
        </p:txBody>
      </p:sp>
      <p:sp>
        <p:nvSpPr>
          <p:cNvPr id="11" name="Shape 8"/>
          <p:cNvSpPr/>
          <p:nvPr/>
        </p:nvSpPr>
        <p:spPr>
          <a:xfrm>
            <a:off x="4633987" y="1774627"/>
            <a:ext cx="4013895" cy="1409179"/>
          </a:xfrm>
          <a:prstGeom prst="roundRect">
            <a:avLst>
              <a:gd name="adj" fmla="val 1320"/>
            </a:avLst>
          </a:prstGeom>
          <a:solidFill>
            <a:srgbClr val="F0EDE6"/>
          </a:solidFill>
          <a:ln/>
        </p:spPr>
      </p:sp>
      <p:sp>
        <p:nvSpPr>
          <p:cNvPr id="12" name="Shape 9"/>
          <p:cNvSpPr/>
          <p:nvPr/>
        </p:nvSpPr>
        <p:spPr>
          <a:xfrm>
            <a:off x="4757961" y="1898600"/>
            <a:ext cx="372070" cy="372070"/>
          </a:xfrm>
          <a:prstGeom prst="ellipse">
            <a:avLst/>
          </a:prstGeom>
          <a:solidFill>
            <a:srgbClr val="1B5F39"/>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60280" y="2000845"/>
            <a:ext cx="167432" cy="167432"/>
          </a:xfrm>
          <a:prstGeom prst="rect">
            <a:avLst/>
          </a:prstGeom>
        </p:spPr>
      </p:pic>
      <p:sp>
        <p:nvSpPr>
          <p:cNvPr id="14" name="Text 10"/>
          <p:cNvSpPr/>
          <p:nvPr/>
        </p:nvSpPr>
        <p:spPr>
          <a:xfrm>
            <a:off x="4757961" y="2394645"/>
            <a:ext cx="3765947"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Forward Secrecy</a:t>
            </a:r>
            <a:endParaRPr lang="en-US" sz="1200" dirty="0"/>
          </a:p>
        </p:txBody>
      </p:sp>
      <p:sp>
        <p:nvSpPr>
          <p:cNvPr id="15" name="Text 11"/>
          <p:cNvSpPr/>
          <p:nvPr/>
        </p:nvSpPr>
        <p:spPr>
          <a:xfrm>
            <a:off x="4757961" y="2662907"/>
            <a:ext cx="376594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Every session generates unique keys. A future password compromise cannot decrypt previously captured traffic sessions.</a:t>
            </a:r>
            <a:endParaRPr lang="en-US" sz="950" dirty="0"/>
          </a:p>
        </p:txBody>
      </p:sp>
      <p:sp>
        <p:nvSpPr>
          <p:cNvPr id="16" name="Shape 12"/>
          <p:cNvSpPr/>
          <p:nvPr/>
        </p:nvSpPr>
        <p:spPr>
          <a:xfrm>
            <a:off x="496119" y="3307779"/>
            <a:ext cx="4013895" cy="1409179"/>
          </a:xfrm>
          <a:prstGeom prst="roundRect">
            <a:avLst>
              <a:gd name="adj" fmla="val 1320"/>
            </a:avLst>
          </a:prstGeom>
          <a:solidFill>
            <a:srgbClr val="F0EDE6"/>
          </a:solidFill>
          <a:ln/>
        </p:spPr>
      </p:sp>
      <p:sp>
        <p:nvSpPr>
          <p:cNvPr id="17" name="Shape 13"/>
          <p:cNvSpPr/>
          <p:nvPr/>
        </p:nvSpPr>
        <p:spPr>
          <a:xfrm>
            <a:off x="620092" y="3431753"/>
            <a:ext cx="372070" cy="372070"/>
          </a:xfrm>
          <a:prstGeom prst="ellipse">
            <a:avLst/>
          </a:prstGeom>
          <a:solidFill>
            <a:srgbClr val="1B5F39"/>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2412" y="3533998"/>
            <a:ext cx="167432" cy="167432"/>
          </a:xfrm>
          <a:prstGeom prst="rect">
            <a:avLst/>
          </a:prstGeom>
        </p:spPr>
      </p:pic>
      <p:sp>
        <p:nvSpPr>
          <p:cNvPr id="19" name="Text 14"/>
          <p:cNvSpPr/>
          <p:nvPr/>
        </p:nvSpPr>
        <p:spPr>
          <a:xfrm>
            <a:off x="620092" y="3927797"/>
            <a:ext cx="3765947"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Protected Management Frames</a:t>
            </a:r>
            <a:endParaRPr lang="en-US" sz="1200" dirty="0"/>
          </a:p>
        </p:txBody>
      </p:sp>
      <p:sp>
        <p:nvSpPr>
          <p:cNvPr id="20" name="Text 15"/>
          <p:cNvSpPr/>
          <p:nvPr/>
        </p:nvSpPr>
        <p:spPr>
          <a:xfrm>
            <a:off x="620092" y="4196060"/>
            <a:ext cx="376594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PMF is now mandatory in WPA3, protecting association, authentication, and disassociation frames from spoofing.</a:t>
            </a:r>
            <a:endParaRPr lang="en-US" sz="950" dirty="0"/>
          </a:p>
        </p:txBody>
      </p:sp>
      <p:sp>
        <p:nvSpPr>
          <p:cNvPr id="21" name="Shape 16"/>
          <p:cNvSpPr/>
          <p:nvPr/>
        </p:nvSpPr>
        <p:spPr>
          <a:xfrm>
            <a:off x="4633987" y="3307779"/>
            <a:ext cx="4013895" cy="1409179"/>
          </a:xfrm>
          <a:prstGeom prst="roundRect">
            <a:avLst>
              <a:gd name="adj" fmla="val 1320"/>
            </a:avLst>
          </a:prstGeom>
          <a:solidFill>
            <a:srgbClr val="F0EDE6"/>
          </a:solidFill>
          <a:ln/>
        </p:spPr>
      </p:sp>
      <p:sp>
        <p:nvSpPr>
          <p:cNvPr id="22" name="Shape 17"/>
          <p:cNvSpPr/>
          <p:nvPr/>
        </p:nvSpPr>
        <p:spPr>
          <a:xfrm>
            <a:off x="4757961" y="3431753"/>
            <a:ext cx="372070" cy="372070"/>
          </a:xfrm>
          <a:prstGeom prst="ellipse">
            <a:avLst/>
          </a:prstGeom>
          <a:solidFill>
            <a:srgbClr val="1B5F39"/>
          </a:solidFill>
          <a:ln/>
        </p:spPr>
      </p:sp>
      <p:pic>
        <p:nvPicPr>
          <p:cNvPr id="2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60280" y="3533998"/>
            <a:ext cx="167432" cy="167432"/>
          </a:xfrm>
          <a:prstGeom prst="rect">
            <a:avLst/>
          </a:prstGeom>
        </p:spPr>
      </p:pic>
      <p:sp>
        <p:nvSpPr>
          <p:cNvPr id="24" name="Text 18"/>
          <p:cNvSpPr/>
          <p:nvPr/>
        </p:nvSpPr>
        <p:spPr>
          <a:xfrm>
            <a:off x="4757961" y="3927797"/>
            <a:ext cx="3765947"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192-Bit Enterprise Security</a:t>
            </a:r>
            <a:endParaRPr lang="en-US" sz="1200" dirty="0"/>
          </a:p>
        </p:txBody>
      </p:sp>
      <p:sp>
        <p:nvSpPr>
          <p:cNvPr id="25" name="Text 19"/>
          <p:cNvSpPr/>
          <p:nvPr/>
        </p:nvSpPr>
        <p:spPr>
          <a:xfrm>
            <a:off x="4757961" y="4196060"/>
            <a:ext cx="3765947"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An optional 192-bit security suite aligned with CNSA standards, designed for government, military, and critical infrastructure.</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96119" y="706189"/>
            <a:ext cx="549771" cy="188565"/>
          </a:xfrm>
          <a:prstGeom prst="roundRect">
            <a:avLst>
              <a:gd name="adj" fmla="val 7894"/>
            </a:avLst>
          </a:prstGeom>
          <a:solidFill>
            <a:srgbClr val="D7F4E4"/>
          </a:solidFill>
          <a:ln/>
        </p:spPr>
      </p:sp>
      <p:sp>
        <p:nvSpPr>
          <p:cNvPr id="3" name="Text 1"/>
          <p:cNvSpPr/>
          <p:nvPr/>
        </p:nvSpPr>
        <p:spPr>
          <a:xfrm>
            <a:off x="570533" y="743396"/>
            <a:ext cx="858143" cy="11415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16</a:t>
            </a:r>
            <a:endParaRPr lang="en-US" sz="750" dirty="0"/>
          </a:p>
        </p:txBody>
      </p:sp>
      <p:sp>
        <p:nvSpPr>
          <p:cNvPr id="4" name="Text 2"/>
          <p:cNvSpPr/>
          <p:nvPr/>
        </p:nvSpPr>
        <p:spPr>
          <a:xfrm>
            <a:off x="496119" y="944314"/>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SAE: The Dragonfly Handshake</a:t>
            </a:r>
            <a:endParaRPr lang="en-US" sz="2400" dirty="0"/>
          </a:p>
        </p:txBody>
      </p:sp>
      <p:sp>
        <p:nvSpPr>
          <p:cNvPr id="5" name="Text 3"/>
          <p:cNvSpPr/>
          <p:nvPr/>
        </p:nvSpPr>
        <p:spPr>
          <a:xfrm>
            <a:off x="496119" y="1517898"/>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Simultaneous Authentication of Equals (SAE), based on the Dragonfly key exchange protocol, is the most important change in WPA3. It solves the fundamental flaw of the WPA2 handshake by ensuring that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the password itself is never transmitted or derivable from captured traffic</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a:t>
            </a:r>
            <a:endParaRPr lang="en-US" sz="950" dirty="0"/>
          </a:p>
        </p:txBody>
      </p:sp>
      <p:sp>
        <p:nvSpPr>
          <p:cNvPr id="6" name="Shape 4"/>
          <p:cNvSpPr/>
          <p:nvPr/>
        </p:nvSpPr>
        <p:spPr>
          <a:xfrm>
            <a:off x="406822" y="2054349"/>
            <a:ext cx="4103191" cy="2382887"/>
          </a:xfrm>
          <a:prstGeom prst="roundRect">
            <a:avLst>
              <a:gd name="adj" fmla="val 781"/>
            </a:avLst>
          </a:prstGeom>
          <a:solidFill>
            <a:srgbClr val="1B5F39"/>
          </a:solidFill>
          <a:ln/>
        </p:spPr>
      </p:sp>
      <p:sp>
        <p:nvSpPr>
          <p:cNvPr id="7" name="Text 5"/>
          <p:cNvSpPr/>
          <p:nvPr/>
        </p:nvSpPr>
        <p:spPr>
          <a:xfrm>
            <a:off x="530796" y="2178323"/>
            <a:ext cx="3855244"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Alice" pitchFamily="34" charset="0"/>
                <a:ea typeface="Alice" pitchFamily="34" charset="-122"/>
                <a:cs typeface="Alice" pitchFamily="34" charset="-120"/>
              </a:rPr>
              <a:t>The Core Principle</a:t>
            </a:r>
            <a:endParaRPr lang="en-US" sz="1200" dirty="0"/>
          </a:p>
        </p:txBody>
      </p:sp>
      <p:sp>
        <p:nvSpPr>
          <p:cNvPr id="8" name="Text 6"/>
          <p:cNvSpPr/>
          <p:nvPr/>
        </p:nvSpPr>
        <p:spPr>
          <a:xfrm>
            <a:off x="530796" y="2496145"/>
            <a:ext cx="3855244" cy="150085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Lora" pitchFamily="34" charset="0"/>
                <a:ea typeface="Lora" pitchFamily="34" charset="-122"/>
                <a:cs typeface="Lora" pitchFamily="34" charset="-120"/>
              </a:rPr>
              <a:t>Instead of exchanging password-derived key material that an attacker can capture and test offline, SAE uses a </a:t>
            </a:r>
            <a:pPr algn="l" indent="0" marL="0">
              <a:lnSpc>
                <a:spcPct val="133000"/>
              </a:lnSpc>
              <a:buNone/>
            </a:pPr>
            <a:r>
              <a:rPr lang="en-US" sz="950" b="1" dirty="0">
                <a:solidFill>
                  <a:srgbClr val="FFFFFF"/>
                </a:solidFill>
                <a:latin typeface="Lora Bold" pitchFamily="34" charset="0"/>
                <a:ea typeface="Lora Bold" pitchFamily="34" charset="-122"/>
                <a:cs typeface="Lora Bold" pitchFamily="34" charset="-120"/>
              </a:rPr>
              <a:t>zero-knowledge proof</a:t>
            </a:r>
            <a:pPr algn="l" indent="0" marL="0">
              <a:lnSpc>
                <a:spcPct val="133000"/>
              </a:lnSpc>
              <a:spcAft>
                <a:spcPts val="850"/>
              </a:spcAft>
              <a:buNone/>
            </a:pPr>
            <a:r>
              <a:rPr lang="en-US" sz="950" dirty="0">
                <a:solidFill>
                  <a:srgbClr val="FFFFFF"/>
                </a:solidFill>
                <a:latin typeface="Lora" pitchFamily="34" charset="0"/>
                <a:ea typeface="Lora" pitchFamily="34" charset="-122"/>
                <a:cs typeface="Lora" pitchFamily="34" charset="-120"/>
              </a:rPr>
              <a:t> approach: both the client and the access point independently prove they know the password — without either party ever sending it.</a:t>
            </a:r>
            <a:endParaRPr lang="en-US" sz="950" dirty="0"/>
          </a:p>
          <a:p>
            <a:pPr algn="l" indent="0" marL="0">
              <a:lnSpc>
                <a:spcPct val="133000"/>
              </a:lnSpc>
              <a:buNone/>
            </a:pPr>
            <a:r>
              <a:rPr lang="en-US" sz="950" dirty="0">
                <a:solidFill>
                  <a:srgbClr val="FFFFFF"/>
                </a:solidFill>
                <a:latin typeface="Lora" pitchFamily="34" charset="0"/>
                <a:ea typeface="Lora" pitchFamily="34" charset="-122"/>
                <a:cs typeface="Lora" pitchFamily="34" charset="-120"/>
              </a:rPr>
              <a:t>Each session produces a completely unique cryptographic exchange. There is no reusable handshake to capture.</a:t>
            </a:r>
            <a:endParaRPr lang="en-US" sz="950" dirty="0"/>
          </a:p>
        </p:txBody>
      </p:sp>
      <p:sp>
        <p:nvSpPr>
          <p:cNvPr id="9" name="Text 7"/>
          <p:cNvSpPr/>
          <p:nvPr/>
        </p:nvSpPr>
        <p:spPr>
          <a:xfrm>
            <a:off x="4728046" y="2178323"/>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233E32"/>
                </a:solidFill>
                <a:latin typeface="Alice" pitchFamily="34" charset="0"/>
                <a:ea typeface="Alice" pitchFamily="34" charset="-122"/>
                <a:cs typeface="Alice" pitchFamily="34" charset="-120"/>
              </a:rPr>
              <a:t>What This Eliminates</a:t>
            </a:r>
            <a:endParaRPr lang="en-US" sz="1200" dirty="0"/>
          </a:p>
        </p:txBody>
      </p:sp>
      <p:sp>
        <p:nvSpPr>
          <p:cNvPr id="10" name="Text 8"/>
          <p:cNvSpPr/>
          <p:nvPr/>
        </p:nvSpPr>
        <p:spPr>
          <a:xfrm>
            <a:off x="4728046" y="2496145"/>
            <a:ext cx="3924598" cy="1320924"/>
          </a:xfrm>
          <a:prstGeom prst="rect">
            <a:avLst/>
          </a:prstGeom>
          <a:noFill/>
          <a:ln/>
        </p:spPr>
        <p:txBody>
          <a:bodyPr wrap="square" lIns="0" tIns="0" rIns="0" bIns="0" rtlCol="0" anchor="t">
            <a:normAutofit/>
          </a:bodyPr>
          <a:lstStyle/>
          <a:p>
            <a:pPr algn="l" marL="193040" indent="-193040">
              <a:lnSpc>
                <a:spcPct val="133000"/>
              </a:lnSpc>
              <a:buSzPct val="100000"/>
              <a:buChar char="•"/>
            </a:pPr>
            <a:r>
              <a:rPr lang="en-US" sz="950" b="1" dirty="0">
                <a:solidFill>
                  <a:srgbClr val="2C2821"/>
                </a:solidFill>
                <a:latin typeface="Lora Bold" pitchFamily="34" charset="0"/>
                <a:ea typeface="Lora Bold" pitchFamily="34" charset="-122"/>
                <a:cs typeface="Lora Bold" pitchFamily="34" charset="-120"/>
              </a:rPr>
              <a:t>Offline dictionary attacks</a:t>
            </a:r>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 — no captured credential to brute-force</a:t>
            </a:r>
            <a:endParaRPr lang="en-US" sz="950" dirty="0"/>
          </a:p>
          <a:p>
            <a:pPr algn="l" marL="193040" indent="-193040">
              <a:lnSpc>
                <a:spcPct val="133000"/>
              </a:lnSpc>
              <a:buSzPct val="100000"/>
              <a:buChar char="•"/>
            </a:pPr>
            <a:r>
              <a:rPr lang="en-US" sz="950" b="1" dirty="0">
                <a:solidFill>
                  <a:srgbClr val="2C2821"/>
                </a:solidFill>
                <a:latin typeface="Lora Bold" pitchFamily="34" charset="0"/>
                <a:ea typeface="Lora Bold" pitchFamily="34" charset="-122"/>
                <a:cs typeface="Lora Bold" pitchFamily="34" charset="-120"/>
              </a:rPr>
              <a:t>Online brute-force</a:t>
            </a:r>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 — the network can rate-limit SAE attempts</a:t>
            </a:r>
            <a:endParaRPr lang="en-US" sz="950" dirty="0"/>
          </a:p>
          <a:p>
            <a:pPr algn="l" marL="193040" indent="-193040">
              <a:lnSpc>
                <a:spcPct val="133000"/>
              </a:lnSpc>
              <a:buSzPct val="100000"/>
              <a:buChar char="•"/>
            </a:pPr>
            <a:r>
              <a:rPr lang="en-US" sz="950" b="1" dirty="0">
                <a:solidFill>
                  <a:srgbClr val="2C2821"/>
                </a:solidFill>
                <a:latin typeface="Lora Bold" pitchFamily="34" charset="0"/>
                <a:ea typeface="Lora Bold" pitchFamily="34" charset="-122"/>
                <a:cs typeface="Lora Bold" pitchFamily="34" charset="-120"/>
              </a:rPr>
              <a:t>Handshake replay</a:t>
            </a:r>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 — each exchange is mathematically unique</a:t>
            </a:r>
            <a:endParaRPr lang="en-US" sz="950" dirty="0"/>
          </a:p>
          <a:p>
            <a:pPr algn="l" marL="193040" indent="-193040">
              <a:lnSpc>
                <a:spcPct val="133000"/>
              </a:lnSpc>
              <a:buSzPct val="100000"/>
              <a:buChar char="•"/>
            </a:pPr>
            <a:r>
              <a:rPr lang="en-US" sz="950" b="1" dirty="0">
                <a:solidFill>
                  <a:srgbClr val="2C2821"/>
                </a:solidFill>
                <a:latin typeface="Lora Bold" pitchFamily="34" charset="0"/>
                <a:ea typeface="Lora Bold" pitchFamily="34" charset="-122"/>
                <a:cs typeface="Lora Bold" pitchFamily="34" charset="-120"/>
              </a:rPr>
              <a:t>KRACK-style attacks</a:t>
            </a:r>
            <a:pPr algn="l" marL="193040" indent="-193040">
              <a:lnSpc>
                <a:spcPct val="133000"/>
              </a:lnSpc>
              <a:buSzPct val="100000"/>
              <a:buChar char="•"/>
            </a:pPr>
            <a:r>
              <a:rPr lang="en-US" sz="950" dirty="0">
                <a:solidFill>
                  <a:srgbClr val="2C2821"/>
                </a:solidFill>
                <a:latin typeface="Lora" pitchFamily="34" charset="0"/>
                <a:ea typeface="Lora" pitchFamily="34" charset="-122"/>
                <a:cs typeface="Lora" pitchFamily="34" charset="-120"/>
              </a:rPr>
              <a:t> — nonce reuse is not possible in SAE's design</a:t>
            </a:r>
            <a:endParaRPr lang="en-US" sz="950" dirty="0"/>
          </a:p>
        </p:txBody>
      </p:sp>
      <p:sp>
        <p:nvSpPr>
          <p:cNvPr id="11" name="Text 9"/>
          <p:cNvSpPr/>
          <p:nvPr/>
        </p:nvSpPr>
        <p:spPr>
          <a:xfrm>
            <a:off x="4728046" y="3928690"/>
            <a:ext cx="392459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Even a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weak password</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 becomes significantly harder to attack under SAE — though strong passwords remain best practice.</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96119" y="367903"/>
            <a:ext cx="495895" cy="173757"/>
          </a:xfrm>
          <a:prstGeom prst="roundRect">
            <a:avLst>
              <a:gd name="adj" fmla="val 7898"/>
            </a:avLst>
          </a:prstGeom>
          <a:solidFill>
            <a:srgbClr val="D7F4E4"/>
          </a:solidFill>
          <a:ln/>
        </p:spPr>
      </p:sp>
      <p:sp>
        <p:nvSpPr>
          <p:cNvPr id="3" name="Text 1"/>
          <p:cNvSpPr/>
          <p:nvPr/>
        </p:nvSpPr>
        <p:spPr>
          <a:xfrm>
            <a:off x="564728" y="402208"/>
            <a:ext cx="815876" cy="105147"/>
          </a:xfrm>
          <a:prstGeom prst="rect">
            <a:avLst/>
          </a:prstGeom>
          <a:noFill/>
          <a:ln/>
        </p:spPr>
        <p:txBody>
          <a:bodyPr wrap="none" lIns="0" tIns="0" rIns="0" bIns="0" rtlCol="0" anchor="t"/>
          <a:lstStyle/>
          <a:p>
            <a:pPr algn="l" indent="0" marL="0">
              <a:lnSpc>
                <a:spcPct val="96000"/>
              </a:lnSpc>
              <a:buNone/>
            </a:pPr>
            <a:r>
              <a:rPr lang="en-US" sz="700" dirty="0">
                <a:solidFill>
                  <a:srgbClr val="2C2821"/>
                </a:solidFill>
                <a:latin typeface="Lora" pitchFamily="34" charset="0"/>
                <a:ea typeface="Lora" pitchFamily="34" charset="-122"/>
                <a:cs typeface="Lora" pitchFamily="34" charset="-120"/>
              </a:rPr>
              <a:t>SLIDE 17</a:t>
            </a:r>
            <a:endParaRPr lang="en-US" sz="700" dirty="0"/>
          </a:p>
        </p:txBody>
      </p:sp>
      <p:sp>
        <p:nvSpPr>
          <p:cNvPr id="4" name="Text 2"/>
          <p:cNvSpPr/>
          <p:nvPr/>
        </p:nvSpPr>
        <p:spPr>
          <a:xfrm>
            <a:off x="496119" y="583778"/>
            <a:ext cx="8151763" cy="357336"/>
          </a:xfrm>
          <a:prstGeom prst="rect">
            <a:avLst/>
          </a:prstGeom>
          <a:noFill/>
          <a:ln/>
        </p:spPr>
        <p:txBody>
          <a:bodyPr wrap="none" lIns="0" tIns="0" rIns="0" bIns="0" rtlCol="0" anchor="t"/>
          <a:lstStyle/>
          <a:p>
            <a:pPr algn="l" indent="0" marL="0">
              <a:lnSpc>
                <a:spcPct val="104000"/>
              </a:lnSpc>
              <a:buNone/>
            </a:pPr>
            <a:r>
              <a:rPr lang="en-US" sz="2250" dirty="0">
                <a:solidFill>
                  <a:srgbClr val="233E32"/>
                </a:solidFill>
                <a:latin typeface="Alice" pitchFamily="34" charset="0"/>
                <a:ea typeface="Alice" pitchFamily="34" charset="-122"/>
                <a:cs typeface="Alice" pitchFamily="34" charset="-120"/>
              </a:rPr>
              <a:t>WPA2 vs. WPA3: Deep Comparison</a:t>
            </a:r>
            <a:endParaRPr lang="en-US" sz="2250" dirty="0"/>
          </a:p>
        </p:txBody>
      </p:sp>
      <p:sp>
        <p:nvSpPr>
          <p:cNvPr id="5" name="Text 3"/>
          <p:cNvSpPr/>
          <p:nvPr/>
        </p:nvSpPr>
        <p:spPr>
          <a:xfrm>
            <a:off x="496119" y="1099245"/>
            <a:ext cx="8151763" cy="351681"/>
          </a:xfrm>
          <a:prstGeom prst="rect">
            <a:avLst/>
          </a:prstGeom>
          <a:noFill/>
          <a:ln/>
        </p:spPr>
        <p:txBody>
          <a:bodyPr wrap="square" lIns="0" tIns="0" rIns="0" bIns="0" rtlCol="0" anchor="t">
            <a:normAutofit/>
          </a:bodyPr>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This side-by-side comparison covers every dimension where WPA3 makes a meaningful improvement over WPA2. Use this as a reference for exam preparation and practical deployment decisions.</a:t>
            </a:r>
            <a:endParaRPr lang="en-US" sz="900" dirty="0"/>
          </a:p>
        </p:txBody>
      </p:sp>
      <p:sp>
        <p:nvSpPr>
          <p:cNvPr id="6" name="Shape 4"/>
          <p:cNvSpPr/>
          <p:nvPr/>
        </p:nvSpPr>
        <p:spPr>
          <a:xfrm>
            <a:off x="496119" y="1569467"/>
            <a:ext cx="8151763" cy="3206130"/>
          </a:xfrm>
          <a:prstGeom prst="roundRect">
            <a:avLst>
              <a:gd name="adj" fmla="val 535"/>
            </a:avLst>
          </a:prstGeom>
          <a:noFill/>
          <a:ln w="4763">
            <a:solidFill>
              <a:srgbClr val="000000">
                <a:alpha val="8000"/>
              </a:srgbClr>
            </a:solidFill>
            <a:prstDash val="solid"/>
          </a:ln>
        </p:spPr>
      </p:sp>
      <p:sp>
        <p:nvSpPr>
          <p:cNvPr id="7" name="Shape 5"/>
          <p:cNvSpPr/>
          <p:nvPr/>
        </p:nvSpPr>
        <p:spPr>
          <a:xfrm>
            <a:off x="496119" y="1888480"/>
            <a:ext cx="8151763" cy="7147"/>
          </a:xfrm>
          <a:prstGeom prst="rect">
            <a:avLst/>
          </a:prstGeom>
          <a:solidFill>
            <a:srgbClr val="000000">
              <a:alpha val="8000"/>
            </a:srgbClr>
          </a:solidFill>
          <a:ln/>
        </p:spPr>
      </p:sp>
      <p:sp>
        <p:nvSpPr>
          <p:cNvPr id="8" name="Shape 6"/>
          <p:cNvSpPr/>
          <p:nvPr/>
        </p:nvSpPr>
        <p:spPr>
          <a:xfrm>
            <a:off x="496119" y="2205112"/>
            <a:ext cx="8151763" cy="7147"/>
          </a:xfrm>
          <a:prstGeom prst="rect">
            <a:avLst/>
          </a:prstGeom>
          <a:solidFill>
            <a:srgbClr val="000000">
              <a:alpha val="8000"/>
            </a:srgbClr>
          </a:solidFill>
          <a:ln/>
        </p:spPr>
      </p:sp>
      <p:sp>
        <p:nvSpPr>
          <p:cNvPr id="9" name="Shape 7"/>
          <p:cNvSpPr/>
          <p:nvPr/>
        </p:nvSpPr>
        <p:spPr>
          <a:xfrm>
            <a:off x="496119" y="2521744"/>
            <a:ext cx="8151763" cy="7147"/>
          </a:xfrm>
          <a:prstGeom prst="rect">
            <a:avLst/>
          </a:prstGeom>
          <a:solidFill>
            <a:srgbClr val="000000">
              <a:alpha val="8000"/>
            </a:srgbClr>
          </a:solidFill>
          <a:ln/>
        </p:spPr>
      </p:sp>
      <p:sp>
        <p:nvSpPr>
          <p:cNvPr id="10" name="Shape 8"/>
          <p:cNvSpPr/>
          <p:nvPr/>
        </p:nvSpPr>
        <p:spPr>
          <a:xfrm>
            <a:off x="496119" y="2838376"/>
            <a:ext cx="8151763" cy="7147"/>
          </a:xfrm>
          <a:prstGeom prst="rect">
            <a:avLst/>
          </a:prstGeom>
          <a:solidFill>
            <a:srgbClr val="000000">
              <a:alpha val="8000"/>
            </a:srgbClr>
          </a:solidFill>
          <a:ln/>
        </p:spPr>
      </p:sp>
      <p:sp>
        <p:nvSpPr>
          <p:cNvPr id="11" name="Shape 9"/>
          <p:cNvSpPr/>
          <p:nvPr/>
        </p:nvSpPr>
        <p:spPr>
          <a:xfrm>
            <a:off x="496119" y="3155007"/>
            <a:ext cx="8151763" cy="7147"/>
          </a:xfrm>
          <a:prstGeom prst="rect">
            <a:avLst/>
          </a:prstGeom>
          <a:solidFill>
            <a:srgbClr val="000000">
              <a:alpha val="8000"/>
            </a:srgbClr>
          </a:solidFill>
          <a:ln/>
        </p:spPr>
      </p:sp>
      <p:sp>
        <p:nvSpPr>
          <p:cNvPr id="12" name="Shape 10"/>
          <p:cNvSpPr/>
          <p:nvPr/>
        </p:nvSpPr>
        <p:spPr>
          <a:xfrm>
            <a:off x="496119" y="3647480"/>
            <a:ext cx="8151763" cy="7147"/>
          </a:xfrm>
          <a:prstGeom prst="rect">
            <a:avLst/>
          </a:prstGeom>
          <a:solidFill>
            <a:srgbClr val="000000">
              <a:alpha val="8000"/>
            </a:srgbClr>
          </a:solidFill>
          <a:ln/>
        </p:spPr>
      </p:sp>
      <p:sp>
        <p:nvSpPr>
          <p:cNvPr id="13" name="Shape 11"/>
          <p:cNvSpPr/>
          <p:nvPr/>
        </p:nvSpPr>
        <p:spPr>
          <a:xfrm>
            <a:off x="496119" y="3964112"/>
            <a:ext cx="8151763" cy="7147"/>
          </a:xfrm>
          <a:prstGeom prst="rect">
            <a:avLst/>
          </a:prstGeom>
          <a:solidFill>
            <a:srgbClr val="000000">
              <a:alpha val="8000"/>
            </a:srgbClr>
          </a:solidFill>
          <a:ln/>
        </p:spPr>
      </p:sp>
      <p:sp>
        <p:nvSpPr>
          <p:cNvPr id="14" name="Shape 12"/>
          <p:cNvSpPr/>
          <p:nvPr/>
        </p:nvSpPr>
        <p:spPr>
          <a:xfrm>
            <a:off x="496119" y="4280743"/>
            <a:ext cx="8151763" cy="7147"/>
          </a:xfrm>
          <a:prstGeom prst="rect">
            <a:avLst/>
          </a:prstGeom>
          <a:solidFill>
            <a:srgbClr val="000000">
              <a:alpha val="8000"/>
            </a:srgbClr>
          </a:solidFill>
          <a:ln/>
        </p:spPr>
      </p:sp>
      <p:sp>
        <p:nvSpPr>
          <p:cNvPr id="15" name="Shape 13"/>
          <p:cNvSpPr/>
          <p:nvPr/>
        </p:nvSpPr>
        <p:spPr>
          <a:xfrm>
            <a:off x="500955" y="1574229"/>
            <a:ext cx="1791221" cy="314251"/>
          </a:xfrm>
          <a:prstGeom prst="rect">
            <a:avLst/>
          </a:prstGeom>
          <a:solidFill>
            <a:srgbClr val="1B5F39"/>
          </a:solidFill>
          <a:ln/>
        </p:spPr>
      </p:sp>
      <p:sp>
        <p:nvSpPr>
          <p:cNvPr id="16" name="Text 14"/>
          <p:cNvSpPr/>
          <p:nvPr/>
        </p:nvSpPr>
        <p:spPr>
          <a:xfrm>
            <a:off x="615255" y="1642244"/>
            <a:ext cx="2019821" cy="175840"/>
          </a:xfrm>
          <a:prstGeom prst="rect">
            <a:avLst/>
          </a:prstGeom>
          <a:noFill/>
          <a:ln/>
        </p:spPr>
        <p:txBody>
          <a:bodyPr wrap="none" lIns="0" tIns="0" rIns="0" bIns="0" rtlCol="0" anchor="t"/>
          <a:lstStyle/>
          <a:p>
            <a:pPr algn="l" indent="0" marL="0">
              <a:lnSpc>
                <a:spcPct val="128000"/>
              </a:lnSpc>
              <a:buNone/>
            </a:pPr>
            <a:r>
              <a:rPr lang="en-US" sz="900" b="1" dirty="0">
                <a:solidFill>
                  <a:srgbClr val="FFFFFF"/>
                </a:solidFill>
                <a:latin typeface="Lora Bold" pitchFamily="34" charset="0"/>
                <a:ea typeface="Lora Bold" pitchFamily="34" charset="-122"/>
                <a:cs typeface="Lora Bold" pitchFamily="34" charset="-120"/>
              </a:rPr>
              <a:t>Dimension</a:t>
            </a:r>
            <a:endParaRPr lang="en-US" sz="900" dirty="0"/>
          </a:p>
        </p:txBody>
      </p:sp>
      <p:sp>
        <p:nvSpPr>
          <p:cNvPr id="17" name="Shape 15"/>
          <p:cNvSpPr/>
          <p:nvPr/>
        </p:nvSpPr>
        <p:spPr>
          <a:xfrm>
            <a:off x="2292176" y="1574229"/>
            <a:ext cx="3175471" cy="314251"/>
          </a:xfrm>
          <a:prstGeom prst="rect">
            <a:avLst/>
          </a:prstGeom>
          <a:solidFill>
            <a:srgbClr val="1B5F39"/>
          </a:solidFill>
          <a:ln/>
        </p:spPr>
      </p:sp>
      <p:sp>
        <p:nvSpPr>
          <p:cNvPr id="18" name="Text 16"/>
          <p:cNvSpPr/>
          <p:nvPr/>
        </p:nvSpPr>
        <p:spPr>
          <a:xfrm>
            <a:off x="2406476" y="1642244"/>
            <a:ext cx="3404071" cy="175840"/>
          </a:xfrm>
          <a:prstGeom prst="rect">
            <a:avLst/>
          </a:prstGeom>
          <a:noFill/>
          <a:ln/>
        </p:spPr>
        <p:txBody>
          <a:bodyPr wrap="none" lIns="0" tIns="0" rIns="0" bIns="0" rtlCol="0" anchor="t"/>
          <a:lstStyle/>
          <a:p>
            <a:pPr algn="l" indent="0" marL="0">
              <a:lnSpc>
                <a:spcPct val="128000"/>
              </a:lnSpc>
              <a:buNone/>
            </a:pPr>
            <a:r>
              <a:rPr lang="en-US" sz="900" b="1" dirty="0">
                <a:solidFill>
                  <a:srgbClr val="FFFFFF"/>
                </a:solidFill>
                <a:latin typeface="Lora Bold" pitchFamily="34" charset="0"/>
                <a:ea typeface="Lora Bold" pitchFamily="34" charset="-122"/>
                <a:cs typeface="Lora Bold" pitchFamily="34" charset="-120"/>
              </a:rPr>
              <a:t>WPA2</a:t>
            </a:r>
            <a:endParaRPr lang="en-US" sz="900" dirty="0"/>
          </a:p>
        </p:txBody>
      </p:sp>
      <p:sp>
        <p:nvSpPr>
          <p:cNvPr id="19" name="Shape 17"/>
          <p:cNvSpPr/>
          <p:nvPr/>
        </p:nvSpPr>
        <p:spPr>
          <a:xfrm>
            <a:off x="5467648" y="1574229"/>
            <a:ext cx="3175471" cy="314251"/>
          </a:xfrm>
          <a:prstGeom prst="rect">
            <a:avLst/>
          </a:prstGeom>
          <a:solidFill>
            <a:srgbClr val="1B5F39"/>
          </a:solidFill>
          <a:ln/>
        </p:spPr>
      </p:sp>
      <p:sp>
        <p:nvSpPr>
          <p:cNvPr id="20" name="Text 18"/>
          <p:cNvSpPr/>
          <p:nvPr/>
        </p:nvSpPr>
        <p:spPr>
          <a:xfrm>
            <a:off x="5581948" y="1642244"/>
            <a:ext cx="3404071" cy="175840"/>
          </a:xfrm>
          <a:prstGeom prst="rect">
            <a:avLst/>
          </a:prstGeom>
          <a:noFill/>
          <a:ln/>
        </p:spPr>
        <p:txBody>
          <a:bodyPr wrap="none" lIns="0" tIns="0" rIns="0" bIns="0" rtlCol="0" anchor="t"/>
          <a:lstStyle/>
          <a:p>
            <a:pPr algn="l" indent="0" marL="0">
              <a:lnSpc>
                <a:spcPct val="128000"/>
              </a:lnSpc>
              <a:buNone/>
            </a:pPr>
            <a:r>
              <a:rPr lang="en-US" sz="900" b="1" dirty="0">
                <a:solidFill>
                  <a:srgbClr val="FFFFFF"/>
                </a:solidFill>
                <a:latin typeface="Lora Bold" pitchFamily="34" charset="0"/>
                <a:ea typeface="Lora Bold" pitchFamily="34" charset="-122"/>
                <a:cs typeface="Lora Bold" pitchFamily="34" charset="-120"/>
              </a:rPr>
              <a:t>WPA3</a:t>
            </a:r>
            <a:endParaRPr lang="en-US" sz="900" dirty="0"/>
          </a:p>
        </p:txBody>
      </p:sp>
      <p:sp>
        <p:nvSpPr>
          <p:cNvPr id="21" name="Text 19"/>
          <p:cNvSpPr/>
          <p:nvPr/>
        </p:nvSpPr>
        <p:spPr>
          <a:xfrm>
            <a:off x="615255" y="1958876"/>
            <a:ext cx="2019821" cy="175840"/>
          </a:xfrm>
          <a:prstGeom prst="rect">
            <a:avLst/>
          </a:prstGeom>
          <a:noFill/>
          <a:ln/>
        </p:spPr>
        <p:txBody>
          <a:bodyPr wrap="none" lIns="0" tIns="0" rIns="0" bIns="0" rtlCol="0" anchor="t"/>
          <a:lstStyle/>
          <a:p>
            <a:pPr algn="l" indent="0" marL="0">
              <a:lnSpc>
                <a:spcPct val="128000"/>
              </a:lnSpc>
              <a:buNone/>
            </a:pPr>
            <a:r>
              <a:rPr lang="en-US" sz="900" b="1" dirty="0">
                <a:solidFill>
                  <a:srgbClr val="2C2821"/>
                </a:solidFill>
                <a:latin typeface="Lora Bold" pitchFamily="34" charset="0"/>
                <a:ea typeface="Lora Bold" pitchFamily="34" charset="-122"/>
                <a:cs typeface="Lora Bold" pitchFamily="34" charset="-120"/>
              </a:rPr>
              <a:t>Authentication</a:t>
            </a:r>
            <a:endParaRPr lang="en-US" sz="900" dirty="0"/>
          </a:p>
        </p:txBody>
      </p:sp>
      <p:sp>
        <p:nvSpPr>
          <p:cNvPr id="22" name="Text 20"/>
          <p:cNvSpPr/>
          <p:nvPr/>
        </p:nvSpPr>
        <p:spPr>
          <a:xfrm>
            <a:off x="2406476" y="1958876"/>
            <a:ext cx="3404071" cy="175840"/>
          </a:xfrm>
          <a:prstGeom prst="rect">
            <a:avLst/>
          </a:prstGeom>
          <a:noFill/>
          <a:ln/>
        </p:spPr>
        <p:txBody>
          <a:bodyPr wrap="none" lIns="0" tIns="0" rIns="0" bIns="0" rtlCol="0" anchor="t"/>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4-Way Handshake with PSK — offline crackable</a:t>
            </a:r>
            <a:endParaRPr lang="en-US" sz="900" dirty="0"/>
          </a:p>
        </p:txBody>
      </p:sp>
      <p:sp>
        <p:nvSpPr>
          <p:cNvPr id="23" name="Text 21"/>
          <p:cNvSpPr/>
          <p:nvPr/>
        </p:nvSpPr>
        <p:spPr>
          <a:xfrm>
            <a:off x="5581948" y="1958876"/>
            <a:ext cx="3404071" cy="175840"/>
          </a:xfrm>
          <a:prstGeom prst="rect">
            <a:avLst/>
          </a:prstGeom>
          <a:noFill/>
          <a:ln/>
        </p:spPr>
        <p:txBody>
          <a:bodyPr wrap="none" lIns="0" tIns="0" rIns="0" bIns="0" rtlCol="0" anchor="t"/>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SAE (Dragonfly) — zero-knowledge, no offline attack</a:t>
            </a:r>
            <a:endParaRPr lang="en-US" sz="900" dirty="0"/>
          </a:p>
        </p:txBody>
      </p:sp>
      <p:sp>
        <p:nvSpPr>
          <p:cNvPr id="24" name="Text 22"/>
          <p:cNvSpPr/>
          <p:nvPr/>
        </p:nvSpPr>
        <p:spPr>
          <a:xfrm>
            <a:off x="615255" y="2275508"/>
            <a:ext cx="2019821" cy="175840"/>
          </a:xfrm>
          <a:prstGeom prst="rect">
            <a:avLst/>
          </a:prstGeom>
          <a:noFill/>
          <a:ln/>
        </p:spPr>
        <p:txBody>
          <a:bodyPr wrap="none" lIns="0" tIns="0" rIns="0" bIns="0" rtlCol="0" anchor="t"/>
          <a:lstStyle/>
          <a:p>
            <a:pPr algn="l" indent="0" marL="0">
              <a:lnSpc>
                <a:spcPct val="128000"/>
              </a:lnSpc>
              <a:buNone/>
            </a:pPr>
            <a:r>
              <a:rPr lang="en-US" sz="900" b="1" dirty="0">
                <a:solidFill>
                  <a:srgbClr val="2C2821"/>
                </a:solidFill>
                <a:latin typeface="Lora Bold" pitchFamily="34" charset="0"/>
                <a:ea typeface="Lora Bold" pitchFamily="34" charset="-122"/>
                <a:cs typeface="Lora Bold" pitchFamily="34" charset="-120"/>
              </a:rPr>
              <a:t>Encryption</a:t>
            </a:r>
            <a:endParaRPr lang="en-US" sz="900" dirty="0"/>
          </a:p>
        </p:txBody>
      </p:sp>
      <p:sp>
        <p:nvSpPr>
          <p:cNvPr id="25" name="Text 23"/>
          <p:cNvSpPr/>
          <p:nvPr/>
        </p:nvSpPr>
        <p:spPr>
          <a:xfrm>
            <a:off x="2406476" y="2275508"/>
            <a:ext cx="3404071" cy="175840"/>
          </a:xfrm>
          <a:prstGeom prst="rect">
            <a:avLst/>
          </a:prstGeom>
          <a:noFill/>
          <a:ln/>
        </p:spPr>
        <p:txBody>
          <a:bodyPr wrap="none" lIns="0" tIns="0" rIns="0" bIns="0" rtlCol="0" anchor="t"/>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AES-128 (CCMP) mandatory</a:t>
            </a:r>
            <a:endParaRPr lang="en-US" sz="900" dirty="0"/>
          </a:p>
        </p:txBody>
      </p:sp>
      <p:sp>
        <p:nvSpPr>
          <p:cNvPr id="26" name="Text 24"/>
          <p:cNvSpPr/>
          <p:nvPr/>
        </p:nvSpPr>
        <p:spPr>
          <a:xfrm>
            <a:off x="5581948" y="2275508"/>
            <a:ext cx="3404071" cy="175840"/>
          </a:xfrm>
          <a:prstGeom prst="rect">
            <a:avLst/>
          </a:prstGeom>
          <a:noFill/>
          <a:ln/>
        </p:spPr>
        <p:txBody>
          <a:bodyPr wrap="none" lIns="0" tIns="0" rIns="0" bIns="0" rtlCol="0" anchor="t"/>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AES-128 minimum; AES-256-GCM in Enterprise mode</a:t>
            </a:r>
            <a:endParaRPr lang="en-US" sz="900" dirty="0"/>
          </a:p>
        </p:txBody>
      </p:sp>
      <p:sp>
        <p:nvSpPr>
          <p:cNvPr id="27" name="Text 25"/>
          <p:cNvSpPr/>
          <p:nvPr/>
        </p:nvSpPr>
        <p:spPr>
          <a:xfrm>
            <a:off x="615255" y="2592139"/>
            <a:ext cx="2019821" cy="175840"/>
          </a:xfrm>
          <a:prstGeom prst="rect">
            <a:avLst/>
          </a:prstGeom>
          <a:noFill/>
          <a:ln/>
        </p:spPr>
        <p:txBody>
          <a:bodyPr wrap="none" lIns="0" tIns="0" rIns="0" bIns="0" rtlCol="0" anchor="t"/>
          <a:lstStyle/>
          <a:p>
            <a:pPr algn="l" indent="0" marL="0">
              <a:lnSpc>
                <a:spcPct val="128000"/>
              </a:lnSpc>
              <a:buNone/>
            </a:pPr>
            <a:r>
              <a:rPr lang="en-US" sz="900" b="1" dirty="0">
                <a:solidFill>
                  <a:srgbClr val="2C2821"/>
                </a:solidFill>
                <a:latin typeface="Lora Bold" pitchFamily="34" charset="0"/>
                <a:ea typeface="Lora Bold" pitchFamily="34" charset="-122"/>
                <a:cs typeface="Lora Bold" pitchFamily="34" charset="-120"/>
              </a:rPr>
              <a:t>Forward Secrecy</a:t>
            </a:r>
            <a:endParaRPr lang="en-US" sz="900" dirty="0"/>
          </a:p>
        </p:txBody>
      </p:sp>
      <p:sp>
        <p:nvSpPr>
          <p:cNvPr id="28" name="Text 26"/>
          <p:cNvSpPr/>
          <p:nvPr/>
        </p:nvSpPr>
        <p:spPr>
          <a:xfrm>
            <a:off x="2406476" y="2592139"/>
            <a:ext cx="3404071" cy="175840"/>
          </a:xfrm>
          <a:prstGeom prst="rect">
            <a:avLst/>
          </a:prstGeom>
          <a:noFill/>
          <a:ln/>
        </p:spPr>
        <p:txBody>
          <a:bodyPr wrap="none" lIns="0" tIns="0" rIns="0" bIns="0" rtlCol="0" anchor="t"/>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Not supported — past traffic vulnerable if key leaks</a:t>
            </a:r>
            <a:endParaRPr lang="en-US" sz="900" dirty="0"/>
          </a:p>
        </p:txBody>
      </p:sp>
      <p:sp>
        <p:nvSpPr>
          <p:cNvPr id="29" name="Text 27"/>
          <p:cNvSpPr/>
          <p:nvPr/>
        </p:nvSpPr>
        <p:spPr>
          <a:xfrm>
            <a:off x="5581948" y="2592139"/>
            <a:ext cx="3404071" cy="175840"/>
          </a:xfrm>
          <a:prstGeom prst="rect">
            <a:avLst/>
          </a:prstGeom>
          <a:noFill/>
          <a:ln/>
        </p:spPr>
        <p:txBody>
          <a:bodyPr wrap="none" lIns="0" tIns="0" rIns="0" bIns="0" rtlCol="0" anchor="t"/>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Mandatory — unique keys per session</a:t>
            </a:r>
            <a:endParaRPr lang="en-US" sz="900" dirty="0"/>
          </a:p>
        </p:txBody>
      </p:sp>
      <p:sp>
        <p:nvSpPr>
          <p:cNvPr id="30" name="Text 28"/>
          <p:cNvSpPr/>
          <p:nvPr/>
        </p:nvSpPr>
        <p:spPr>
          <a:xfrm>
            <a:off x="615255" y="2908771"/>
            <a:ext cx="2019821" cy="175840"/>
          </a:xfrm>
          <a:prstGeom prst="rect">
            <a:avLst/>
          </a:prstGeom>
          <a:noFill/>
          <a:ln/>
        </p:spPr>
        <p:txBody>
          <a:bodyPr wrap="none" lIns="0" tIns="0" rIns="0" bIns="0" rtlCol="0" anchor="t"/>
          <a:lstStyle/>
          <a:p>
            <a:pPr algn="l" indent="0" marL="0">
              <a:lnSpc>
                <a:spcPct val="128000"/>
              </a:lnSpc>
              <a:buNone/>
            </a:pPr>
            <a:r>
              <a:rPr lang="en-US" sz="900" b="1" dirty="0">
                <a:solidFill>
                  <a:srgbClr val="2C2821"/>
                </a:solidFill>
                <a:latin typeface="Lora Bold" pitchFamily="34" charset="0"/>
                <a:ea typeface="Lora Bold" pitchFamily="34" charset="-122"/>
                <a:cs typeface="Lora Bold" pitchFamily="34" charset="-120"/>
              </a:rPr>
              <a:t>Management Frames</a:t>
            </a:r>
            <a:endParaRPr lang="en-US" sz="900" dirty="0"/>
          </a:p>
        </p:txBody>
      </p:sp>
      <p:sp>
        <p:nvSpPr>
          <p:cNvPr id="31" name="Text 29"/>
          <p:cNvSpPr/>
          <p:nvPr/>
        </p:nvSpPr>
        <p:spPr>
          <a:xfrm>
            <a:off x="2406476" y="2908771"/>
            <a:ext cx="3404071" cy="175840"/>
          </a:xfrm>
          <a:prstGeom prst="rect">
            <a:avLst/>
          </a:prstGeom>
          <a:noFill/>
          <a:ln/>
        </p:spPr>
        <p:txBody>
          <a:bodyPr wrap="none" lIns="0" tIns="0" rIns="0" bIns="0" rtlCol="0" anchor="t"/>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Optional PMF (frequently misconfigured or disabled)</a:t>
            </a:r>
            <a:endParaRPr lang="en-US" sz="900" dirty="0"/>
          </a:p>
        </p:txBody>
      </p:sp>
      <p:sp>
        <p:nvSpPr>
          <p:cNvPr id="32" name="Text 30"/>
          <p:cNvSpPr/>
          <p:nvPr/>
        </p:nvSpPr>
        <p:spPr>
          <a:xfrm>
            <a:off x="5581948" y="2908771"/>
            <a:ext cx="3404071" cy="175840"/>
          </a:xfrm>
          <a:prstGeom prst="rect">
            <a:avLst/>
          </a:prstGeom>
          <a:noFill/>
          <a:ln/>
        </p:spPr>
        <p:txBody>
          <a:bodyPr wrap="none" lIns="0" tIns="0" rIns="0" bIns="0" rtlCol="0" anchor="t"/>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Mandatory PMF — deauth spoofing prevented</a:t>
            </a:r>
            <a:endParaRPr lang="en-US" sz="900" dirty="0"/>
          </a:p>
        </p:txBody>
      </p:sp>
      <p:sp>
        <p:nvSpPr>
          <p:cNvPr id="33" name="Text 31"/>
          <p:cNvSpPr/>
          <p:nvPr/>
        </p:nvSpPr>
        <p:spPr>
          <a:xfrm>
            <a:off x="615255" y="3225403"/>
            <a:ext cx="2019821" cy="175840"/>
          </a:xfrm>
          <a:prstGeom prst="rect">
            <a:avLst/>
          </a:prstGeom>
          <a:noFill/>
          <a:ln/>
        </p:spPr>
        <p:txBody>
          <a:bodyPr wrap="none" lIns="0" tIns="0" rIns="0" bIns="0" rtlCol="0" anchor="t"/>
          <a:lstStyle/>
          <a:p>
            <a:pPr algn="l" indent="0" marL="0">
              <a:lnSpc>
                <a:spcPct val="128000"/>
              </a:lnSpc>
              <a:buNone/>
            </a:pPr>
            <a:r>
              <a:rPr lang="en-US" sz="900" b="1" dirty="0">
                <a:solidFill>
                  <a:srgbClr val="2C2821"/>
                </a:solidFill>
                <a:latin typeface="Lora Bold" pitchFamily="34" charset="0"/>
                <a:ea typeface="Lora Bold" pitchFamily="34" charset="-122"/>
                <a:cs typeface="Lora Bold" pitchFamily="34" charset="-120"/>
              </a:rPr>
              <a:t>Offline Attacks</a:t>
            </a:r>
            <a:endParaRPr lang="en-US" sz="900" dirty="0"/>
          </a:p>
        </p:txBody>
      </p:sp>
      <p:sp>
        <p:nvSpPr>
          <p:cNvPr id="34" name="Text 32"/>
          <p:cNvSpPr/>
          <p:nvPr/>
        </p:nvSpPr>
        <p:spPr>
          <a:xfrm>
            <a:off x="2406476" y="3225403"/>
            <a:ext cx="2946871" cy="351681"/>
          </a:xfrm>
          <a:prstGeom prst="rect">
            <a:avLst/>
          </a:prstGeom>
          <a:noFill/>
          <a:ln/>
        </p:spPr>
        <p:txBody>
          <a:bodyPr wrap="square" lIns="0" tIns="0" rIns="0" bIns="0" rtlCol="0" anchor="t">
            <a:normAutofit/>
          </a:bodyPr>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Highly vulnerable — GPU cracking at billions of guesses/sec</a:t>
            </a:r>
            <a:endParaRPr lang="en-US" sz="900" dirty="0"/>
          </a:p>
        </p:txBody>
      </p:sp>
      <p:sp>
        <p:nvSpPr>
          <p:cNvPr id="35" name="Text 33"/>
          <p:cNvSpPr/>
          <p:nvPr/>
        </p:nvSpPr>
        <p:spPr>
          <a:xfrm>
            <a:off x="5581948" y="3225403"/>
            <a:ext cx="3404071" cy="175840"/>
          </a:xfrm>
          <a:prstGeom prst="rect">
            <a:avLst/>
          </a:prstGeom>
          <a:noFill/>
          <a:ln/>
        </p:spPr>
        <p:txBody>
          <a:bodyPr wrap="none" lIns="0" tIns="0" rIns="0" bIns="0" rtlCol="0" anchor="t"/>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Not possible — SAE produces no reusable handshake</a:t>
            </a:r>
            <a:endParaRPr lang="en-US" sz="900" dirty="0"/>
          </a:p>
        </p:txBody>
      </p:sp>
      <p:sp>
        <p:nvSpPr>
          <p:cNvPr id="36" name="Text 34"/>
          <p:cNvSpPr/>
          <p:nvPr/>
        </p:nvSpPr>
        <p:spPr>
          <a:xfrm>
            <a:off x="615255" y="3717875"/>
            <a:ext cx="2019821" cy="175840"/>
          </a:xfrm>
          <a:prstGeom prst="rect">
            <a:avLst/>
          </a:prstGeom>
          <a:noFill/>
          <a:ln/>
        </p:spPr>
        <p:txBody>
          <a:bodyPr wrap="none" lIns="0" tIns="0" rIns="0" bIns="0" rtlCol="0" anchor="t"/>
          <a:lstStyle/>
          <a:p>
            <a:pPr algn="l" indent="0" marL="0">
              <a:lnSpc>
                <a:spcPct val="128000"/>
              </a:lnSpc>
              <a:buNone/>
            </a:pPr>
            <a:r>
              <a:rPr lang="en-US" sz="900" b="1" dirty="0">
                <a:solidFill>
                  <a:srgbClr val="2C2821"/>
                </a:solidFill>
                <a:latin typeface="Lora Bold" pitchFamily="34" charset="0"/>
                <a:ea typeface="Lora Bold" pitchFamily="34" charset="-122"/>
                <a:cs typeface="Lora Bold" pitchFamily="34" charset="-120"/>
              </a:rPr>
              <a:t>Enterprise Mode</a:t>
            </a:r>
            <a:endParaRPr lang="en-US" sz="900" dirty="0"/>
          </a:p>
        </p:txBody>
      </p:sp>
      <p:sp>
        <p:nvSpPr>
          <p:cNvPr id="37" name="Text 35"/>
          <p:cNvSpPr/>
          <p:nvPr/>
        </p:nvSpPr>
        <p:spPr>
          <a:xfrm>
            <a:off x="2406476" y="3717875"/>
            <a:ext cx="3404071" cy="175840"/>
          </a:xfrm>
          <a:prstGeom prst="rect">
            <a:avLst/>
          </a:prstGeom>
          <a:noFill/>
          <a:ln/>
        </p:spPr>
        <p:txBody>
          <a:bodyPr wrap="none" lIns="0" tIns="0" rIns="0" bIns="0" rtlCol="0" anchor="t"/>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128-bit AES; 802.1X with RADIUS</a:t>
            </a:r>
            <a:endParaRPr lang="en-US" sz="900" dirty="0"/>
          </a:p>
        </p:txBody>
      </p:sp>
      <p:sp>
        <p:nvSpPr>
          <p:cNvPr id="38" name="Text 36"/>
          <p:cNvSpPr/>
          <p:nvPr/>
        </p:nvSpPr>
        <p:spPr>
          <a:xfrm>
            <a:off x="5581948" y="3717875"/>
            <a:ext cx="3404071" cy="175840"/>
          </a:xfrm>
          <a:prstGeom prst="rect">
            <a:avLst/>
          </a:prstGeom>
          <a:noFill/>
          <a:ln/>
        </p:spPr>
        <p:txBody>
          <a:bodyPr wrap="none" lIns="0" tIns="0" rIns="0" bIns="0" rtlCol="0" anchor="t"/>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192-bit CNSA-aligned suite available</a:t>
            </a:r>
            <a:endParaRPr lang="en-US" sz="900" dirty="0"/>
          </a:p>
        </p:txBody>
      </p:sp>
      <p:sp>
        <p:nvSpPr>
          <p:cNvPr id="39" name="Text 37"/>
          <p:cNvSpPr/>
          <p:nvPr/>
        </p:nvSpPr>
        <p:spPr>
          <a:xfrm>
            <a:off x="615255" y="4034507"/>
            <a:ext cx="2019821" cy="175840"/>
          </a:xfrm>
          <a:prstGeom prst="rect">
            <a:avLst/>
          </a:prstGeom>
          <a:noFill/>
          <a:ln/>
        </p:spPr>
        <p:txBody>
          <a:bodyPr wrap="none" lIns="0" tIns="0" rIns="0" bIns="0" rtlCol="0" anchor="t"/>
          <a:lstStyle/>
          <a:p>
            <a:pPr algn="l" indent="0" marL="0">
              <a:lnSpc>
                <a:spcPct val="128000"/>
              </a:lnSpc>
              <a:buNone/>
            </a:pPr>
            <a:r>
              <a:rPr lang="en-US" sz="900" b="1" dirty="0">
                <a:solidFill>
                  <a:srgbClr val="2C2821"/>
                </a:solidFill>
                <a:latin typeface="Lora Bold" pitchFamily="34" charset="0"/>
                <a:ea typeface="Lora Bold" pitchFamily="34" charset="-122"/>
                <a:cs typeface="Lora Bold" pitchFamily="34" charset="-120"/>
              </a:rPr>
              <a:t>IoT / Simple Devices</a:t>
            </a:r>
            <a:endParaRPr lang="en-US" sz="900" dirty="0"/>
          </a:p>
        </p:txBody>
      </p:sp>
      <p:sp>
        <p:nvSpPr>
          <p:cNvPr id="40" name="Text 38"/>
          <p:cNvSpPr/>
          <p:nvPr/>
        </p:nvSpPr>
        <p:spPr>
          <a:xfrm>
            <a:off x="2406476" y="4034507"/>
            <a:ext cx="3404071" cy="175840"/>
          </a:xfrm>
          <a:prstGeom prst="rect">
            <a:avLst/>
          </a:prstGeom>
          <a:noFill/>
          <a:ln/>
        </p:spPr>
        <p:txBody>
          <a:bodyPr wrap="none" lIns="0" tIns="0" rIns="0" bIns="0" rtlCol="0" anchor="t"/>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WPS (frequently exploited)</a:t>
            </a:r>
            <a:endParaRPr lang="en-US" sz="900" dirty="0"/>
          </a:p>
        </p:txBody>
      </p:sp>
      <p:sp>
        <p:nvSpPr>
          <p:cNvPr id="41" name="Text 39"/>
          <p:cNvSpPr/>
          <p:nvPr/>
        </p:nvSpPr>
        <p:spPr>
          <a:xfrm>
            <a:off x="5581948" y="4034507"/>
            <a:ext cx="3404071" cy="175840"/>
          </a:xfrm>
          <a:prstGeom prst="rect">
            <a:avLst/>
          </a:prstGeom>
          <a:noFill/>
          <a:ln/>
        </p:spPr>
        <p:txBody>
          <a:bodyPr wrap="none" lIns="0" tIns="0" rIns="0" bIns="0" rtlCol="0" anchor="t"/>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Wi-Fi Easy Connect (QR code-based, secure)</a:t>
            </a:r>
            <a:endParaRPr lang="en-US" sz="900" dirty="0"/>
          </a:p>
        </p:txBody>
      </p:sp>
      <p:sp>
        <p:nvSpPr>
          <p:cNvPr id="42" name="Text 40"/>
          <p:cNvSpPr/>
          <p:nvPr/>
        </p:nvSpPr>
        <p:spPr>
          <a:xfrm>
            <a:off x="615255" y="4351139"/>
            <a:ext cx="2019821" cy="175840"/>
          </a:xfrm>
          <a:prstGeom prst="rect">
            <a:avLst/>
          </a:prstGeom>
          <a:noFill/>
          <a:ln/>
        </p:spPr>
        <p:txBody>
          <a:bodyPr wrap="none" lIns="0" tIns="0" rIns="0" bIns="0" rtlCol="0" anchor="t"/>
          <a:lstStyle/>
          <a:p>
            <a:pPr algn="l" indent="0" marL="0">
              <a:lnSpc>
                <a:spcPct val="128000"/>
              </a:lnSpc>
              <a:buNone/>
            </a:pPr>
            <a:r>
              <a:rPr lang="en-US" sz="900" b="1" dirty="0">
                <a:solidFill>
                  <a:srgbClr val="2C2821"/>
                </a:solidFill>
                <a:latin typeface="Lora Bold" pitchFamily="34" charset="0"/>
                <a:ea typeface="Lora Bold" pitchFamily="34" charset="-122"/>
                <a:cs typeface="Lora Bold" pitchFamily="34" charset="-120"/>
              </a:rPr>
              <a:t>Password Resistance</a:t>
            </a:r>
            <a:endParaRPr lang="en-US" sz="900" dirty="0"/>
          </a:p>
        </p:txBody>
      </p:sp>
      <p:sp>
        <p:nvSpPr>
          <p:cNvPr id="43" name="Text 41"/>
          <p:cNvSpPr/>
          <p:nvPr/>
        </p:nvSpPr>
        <p:spPr>
          <a:xfrm>
            <a:off x="2406476" y="4351139"/>
            <a:ext cx="3404071" cy="175840"/>
          </a:xfrm>
          <a:prstGeom prst="rect">
            <a:avLst/>
          </a:prstGeom>
          <a:noFill/>
          <a:ln/>
        </p:spPr>
        <p:txBody>
          <a:bodyPr wrap="none" lIns="0" tIns="0" rIns="0" bIns="0" rtlCol="0" anchor="t"/>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Weak passwords easily cracked offline</a:t>
            </a:r>
            <a:endParaRPr lang="en-US" sz="900" dirty="0"/>
          </a:p>
        </p:txBody>
      </p:sp>
      <p:sp>
        <p:nvSpPr>
          <p:cNvPr id="44" name="Text 42"/>
          <p:cNvSpPr/>
          <p:nvPr/>
        </p:nvSpPr>
        <p:spPr>
          <a:xfrm>
            <a:off x="5581948" y="4351139"/>
            <a:ext cx="2946871" cy="351681"/>
          </a:xfrm>
          <a:prstGeom prst="rect">
            <a:avLst/>
          </a:prstGeom>
          <a:noFill/>
          <a:ln/>
        </p:spPr>
        <p:txBody>
          <a:bodyPr wrap="square" lIns="0" tIns="0" rIns="0" bIns="0" rtlCol="0" anchor="t">
            <a:normAutofit/>
          </a:bodyPr>
          <a:lstStyle/>
          <a:p>
            <a:pPr algn="l" indent="0" marL="0">
              <a:lnSpc>
                <a:spcPct val="128000"/>
              </a:lnSpc>
              <a:buNone/>
            </a:pPr>
            <a:r>
              <a:rPr lang="en-US" sz="900" dirty="0">
                <a:solidFill>
                  <a:srgbClr val="2C2821"/>
                </a:solidFill>
                <a:latin typeface="Lora" pitchFamily="34" charset="0"/>
                <a:ea typeface="Lora" pitchFamily="34" charset="-122"/>
                <a:cs typeface="Lora" pitchFamily="34" charset="-120"/>
              </a:rPr>
              <a:t>SAE provides strong protection even with weak passwords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96119" y="616223"/>
            <a:ext cx="548208" cy="188565"/>
          </a:xfrm>
          <a:prstGeom prst="roundRect">
            <a:avLst>
              <a:gd name="adj" fmla="val 7894"/>
            </a:avLst>
          </a:prstGeom>
          <a:solidFill>
            <a:srgbClr val="D7F4E4"/>
          </a:solidFill>
          <a:ln/>
        </p:spPr>
      </p:sp>
      <p:sp>
        <p:nvSpPr>
          <p:cNvPr id="3" name="Text 1"/>
          <p:cNvSpPr/>
          <p:nvPr/>
        </p:nvSpPr>
        <p:spPr>
          <a:xfrm>
            <a:off x="570533" y="653430"/>
            <a:ext cx="856580" cy="11415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18</a:t>
            </a:r>
            <a:endParaRPr lang="en-US" sz="750" dirty="0"/>
          </a:p>
        </p:txBody>
      </p:sp>
      <p:sp>
        <p:nvSpPr>
          <p:cNvPr id="4" name="Text 2"/>
          <p:cNvSpPr/>
          <p:nvPr/>
        </p:nvSpPr>
        <p:spPr>
          <a:xfrm>
            <a:off x="496119" y="854348"/>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Forward Secrecy</a:t>
            </a:r>
            <a:endParaRPr lang="en-US" sz="2400" dirty="0"/>
          </a:p>
        </p:txBody>
      </p:sp>
      <p:sp>
        <p:nvSpPr>
          <p:cNvPr id="5" name="Text 3"/>
          <p:cNvSpPr/>
          <p:nvPr/>
        </p:nvSpPr>
        <p:spPr>
          <a:xfrm>
            <a:off x="496119" y="1427931"/>
            <a:ext cx="8151763"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Forward secrecy is one of the most practically significant improvements WPA3 brings to everyday wireless security. It means that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each session's encryption keys are generated independently</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 — and are destroyed when the session ends. No key is ever reused, and no future key can decrypt past traffic.</a:t>
            </a:r>
            <a:endParaRPr lang="en-US" sz="950" dirty="0"/>
          </a:p>
        </p:txBody>
      </p:sp>
      <p:sp>
        <p:nvSpPr>
          <p:cNvPr id="6" name="Shape 4"/>
          <p:cNvSpPr/>
          <p:nvPr/>
        </p:nvSpPr>
        <p:spPr>
          <a:xfrm>
            <a:off x="406822" y="2162845"/>
            <a:ext cx="4103191" cy="2364358"/>
          </a:xfrm>
          <a:prstGeom prst="roundRect">
            <a:avLst>
              <a:gd name="adj" fmla="val 787"/>
            </a:avLst>
          </a:prstGeom>
          <a:solidFill>
            <a:srgbClr val="1B5F39"/>
          </a:solidFill>
          <a:ln/>
        </p:spPr>
      </p:sp>
      <p:sp>
        <p:nvSpPr>
          <p:cNvPr id="7" name="Text 5"/>
          <p:cNvSpPr/>
          <p:nvPr/>
        </p:nvSpPr>
        <p:spPr>
          <a:xfrm>
            <a:off x="530796" y="2286819"/>
            <a:ext cx="3855244"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Alice" pitchFamily="34" charset="0"/>
                <a:ea typeface="Alice" pitchFamily="34" charset="-122"/>
                <a:cs typeface="Alice" pitchFamily="34" charset="-120"/>
              </a:rPr>
              <a:t>Why This Matters</a:t>
            </a:r>
            <a:endParaRPr lang="en-US" sz="1200" dirty="0"/>
          </a:p>
        </p:txBody>
      </p:sp>
      <p:sp>
        <p:nvSpPr>
          <p:cNvPr id="8" name="Text 6"/>
          <p:cNvSpPr/>
          <p:nvPr/>
        </p:nvSpPr>
        <p:spPr>
          <a:xfrm>
            <a:off x="530796" y="2604641"/>
            <a:ext cx="3855244" cy="150085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Lora" pitchFamily="34" charset="0"/>
                <a:ea typeface="Lora" pitchFamily="34" charset="-122"/>
                <a:cs typeface="Lora" pitchFamily="34" charset="-120"/>
              </a:rPr>
              <a:t>Under WPA2, an attacker could record encrypted wireless traffic over months or years. If they later obtained the network password — through a data breach, a disgruntled employee, or a brute-force attack — they could go back and decrypt </a:t>
            </a:r>
            <a:pPr algn="l" indent="0" marL="0">
              <a:lnSpc>
                <a:spcPct val="133000"/>
              </a:lnSpc>
              <a:buNone/>
            </a:pPr>
            <a:r>
              <a:rPr lang="en-US" sz="950" i="1" dirty="0">
                <a:solidFill>
                  <a:srgbClr val="FFFFFF"/>
                </a:solidFill>
                <a:latin typeface="Lora" pitchFamily="34" charset="0"/>
                <a:ea typeface="Lora" pitchFamily="34" charset="-122"/>
                <a:cs typeface="Lora" pitchFamily="34" charset="-120"/>
              </a:rPr>
              <a:t>all</a:t>
            </a:r>
            <a:pPr algn="l" indent="0" marL="0">
              <a:lnSpc>
                <a:spcPct val="133000"/>
              </a:lnSpc>
              <a:spcAft>
                <a:spcPts val="850"/>
              </a:spcAft>
              <a:buNone/>
            </a:pPr>
            <a:r>
              <a:rPr lang="en-US" sz="950" dirty="0">
                <a:solidFill>
                  <a:srgbClr val="FFFFFF"/>
                </a:solidFill>
                <a:latin typeface="Lora" pitchFamily="34" charset="0"/>
                <a:ea typeface="Lora" pitchFamily="34" charset="-122"/>
                <a:cs typeface="Lora" pitchFamily="34" charset="-120"/>
              </a:rPr>
              <a:t> of that previously captured traffic retroactively.</a:t>
            </a:r>
            <a:endParaRPr lang="en-US" sz="950" dirty="0"/>
          </a:p>
          <a:p>
            <a:pPr algn="l" indent="0" marL="0">
              <a:lnSpc>
                <a:spcPct val="133000"/>
              </a:lnSpc>
              <a:buNone/>
            </a:pPr>
            <a:r>
              <a:rPr lang="en-US" sz="950" dirty="0">
                <a:solidFill>
                  <a:srgbClr val="FFFFFF"/>
                </a:solidFill>
                <a:latin typeface="Lora" pitchFamily="34" charset="0"/>
                <a:ea typeface="Lora" pitchFamily="34" charset="-122"/>
                <a:cs typeface="Lora" pitchFamily="34" charset="-120"/>
              </a:rPr>
              <a:t>With WPA3's forward secrecy, that recorded traffic becomes permanently undecryptable, even with the correct password.</a:t>
            </a:r>
            <a:endParaRPr lang="en-US" sz="950" dirty="0"/>
          </a:p>
        </p:txBody>
      </p:sp>
      <p:sp>
        <p:nvSpPr>
          <p:cNvPr id="9" name="Text 7"/>
          <p:cNvSpPr/>
          <p:nvPr/>
        </p:nvSpPr>
        <p:spPr>
          <a:xfrm>
            <a:off x="4728046" y="2286819"/>
            <a:ext cx="3924598" cy="193849"/>
          </a:xfrm>
          <a:prstGeom prst="rect">
            <a:avLst/>
          </a:prstGeom>
          <a:noFill/>
          <a:ln/>
        </p:spPr>
        <p:txBody>
          <a:bodyPr wrap="none" lIns="0" tIns="0" rIns="0" bIns="0" rtlCol="0" anchor="t"/>
          <a:lstStyle/>
          <a:p>
            <a:pPr algn="l" indent="0" marL="0">
              <a:lnSpc>
                <a:spcPct val="104000"/>
              </a:lnSpc>
              <a:buNone/>
            </a:pPr>
            <a:r>
              <a:rPr lang="en-US" sz="1200" dirty="0">
                <a:solidFill>
                  <a:srgbClr val="233E32"/>
                </a:solidFill>
                <a:latin typeface="Alice" pitchFamily="34" charset="0"/>
                <a:ea typeface="Alice" pitchFamily="34" charset="-122"/>
                <a:cs typeface="Alice" pitchFamily="34" charset="-120"/>
              </a:rPr>
              <a:t>The Safe Analogy</a:t>
            </a:r>
            <a:endParaRPr lang="en-US" sz="1200" dirty="0"/>
          </a:p>
        </p:txBody>
      </p:sp>
      <p:sp>
        <p:nvSpPr>
          <p:cNvPr id="10" name="Text 8"/>
          <p:cNvSpPr/>
          <p:nvPr/>
        </p:nvSpPr>
        <p:spPr>
          <a:xfrm>
            <a:off x="4728046" y="2604641"/>
            <a:ext cx="3924598" cy="1810941"/>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Imagine every email you send is locked inside a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completely different physical safe</a:t>
            </a:r>
            <a:pPr algn="l" indent="0" marL="0">
              <a:lnSpc>
                <a:spcPct val="133000"/>
              </a:lnSpc>
              <a:spcAft>
                <a:spcPts val="850"/>
              </a:spcAft>
              <a:buNone/>
            </a:pPr>
            <a:r>
              <a:rPr lang="en-US" sz="950" dirty="0">
                <a:solidFill>
                  <a:srgbClr val="2C2821"/>
                </a:solidFill>
                <a:latin typeface="Lora" pitchFamily="34" charset="0"/>
                <a:ea typeface="Lora" pitchFamily="34" charset="-122"/>
                <a:cs typeface="Lora" pitchFamily="34" charset="-120"/>
              </a:rPr>
              <a:t>, each with a unique combination known only at the moment of use and then destroyed.</a:t>
            </a:r>
            <a:endParaRPr lang="en-US" sz="950" dirty="0"/>
          </a:p>
          <a:p>
            <a:pPr algn="l" indent="0" marL="0">
              <a:lnSpc>
                <a:spcPct val="133000"/>
              </a:lnSpc>
              <a:buNone/>
            </a:pPr>
            <a:r>
              <a:rPr lang="en-US" sz="950" dirty="0">
                <a:solidFill>
                  <a:srgbClr val="2C2821"/>
                </a:solidFill>
                <a:latin typeface="Lora" pitchFamily="34" charset="0"/>
                <a:ea typeface="Lora" pitchFamily="34" charset="-122"/>
                <a:cs typeface="Lora" pitchFamily="34" charset="-120"/>
              </a:rPr>
              <a:t>Even if someone finds one combination — they open exactly one safe. Every other safe remains locked forever. </a:t>
            </a:r>
            <a:pPr algn="l" indent="0" marL="0">
              <a:lnSpc>
                <a:spcPct val="133000"/>
              </a:lnSpc>
              <a:spcAft>
                <a:spcPts val="850"/>
              </a:spcAft>
              <a:buNone/>
            </a:pPr>
            <a:r>
              <a:rPr lang="en-US" sz="950" b="1" dirty="0">
                <a:solidFill>
                  <a:srgbClr val="2C2821"/>
                </a:solidFill>
                <a:latin typeface="Lora Bold" pitchFamily="34" charset="0"/>
                <a:ea typeface="Lora Bold" pitchFamily="34" charset="-122"/>
                <a:cs typeface="Lora Bold" pitchFamily="34" charset="-120"/>
              </a:rPr>
              <a:t>One compromise does not unlock the past.</a:t>
            </a:r>
            <a:endParaRPr lang="en-US" sz="950" dirty="0"/>
          </a:p>
          <a:p>
            <a:pPr algn="l" indent="0" marL="0">
              <a:lnSpc>
                <a:spcPct val="133000"/>
              </a:lnSpc>
              <a:buNone/>
            </a:pPr>
            <a:r>
              <a:rPr lang="en-US" sz="950" dirty="0">
                <a:solidFill>
                  <a:srgbClr val="2C2821"/>
                </a:solidFill>
                <a:latin typeface="Lora" pitchFamily="34" charset="0"/>
                <a:ea typeface="Lora" pitchFamily="34" charset="-122"/>
                <a:cs typeface="Lora" pitchFamily="34" charset="-120"/>
              </a:rPr>
              <a:t>This property is especially critical for healthcare, legal, financial, and government communications carried over wireless networks.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96119" y="744587"/>
            <a:ext cx="549771" cy="188565"/>
          </a:xfrm>
          <a:prstGeom prst="roundRect">
            <a:avLst>
              <a:gd name="adj" fmla="val 7894"/>
            </a:avLst>
          </a:prstGeom>
          <a:solidFill>
            <a:srgbClr val="D7F4E4"/>
          </a:solidFill>
          <a:ln/>
        </p:spPr>
      </p:sp>
      <p:sp>
        <p:nvSpPr>
          <p:cNvPr id="3" name="Text 1"/>
          <p:cNvSpPr/>
          <p:nvPr/>
        </p:nvSpPr>
        <p:spPr>
          <a:xfrm>
            <a:off x="570533" y="781794"/>
            <a:ext cx="858143" cy="11415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19</a:t>
            </a:r>
            <a:endParaRPr lang="en-US" sz="750" dirty="0"/>
          </a:p>
        </p:txBody>
      </p:sp>
      <p:sp>
        <p:nvSpPr>
          <p:cNvPr id="4" name="Text 2"/>
          <p:cNvSpPr/>
          <p:nvPr/>
        </p:nvSpPr>
        <p:spPr>
          <a:xfrm>
            <a:off x="496119" y="982712"/>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192-Bit Enterprise Security Suite</a:t>
            </a:r>
            <a:endParaRPr lang="en-US" sz="2400" dirty="0"/>
          </a:p>
        </p:txBody>
      </p:sp>
      <p:sp>
        <p:nvSpPr>
          <p:cNvPr id="5" name="Text 3"/>
          <p:cNvSpPr/>
          <p:nvPr/>
        </p:nvSpPr>
        <p:spPr>
          <a:xfrm>
            <a:off x="496119" y="1556296"/>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WPA3-Enterprise offers an optional </a:t>
            </a:r>
            <a:pPr algn="l" indent="0" marL="0">
              <a:lnSpc>
                <a:spcPct val="133000"/>
              </a:lnSpc>
              <a:buNone/>
            </a:pPr>
            <a:r>
              <a:rPr lang="en-US" sz="950" b="1" dirty="0">
                <a:solidFill>
                  <a:srgbClr val="2C2821"/>
                </a:solidFill>
                <a:latin typeface="Lora Bold" pitchFamily="34" charset="0"/>
                <a:ea typeface="Lora Bold" pitchFamily="34" charset="-122"/>
                <a:cs typeface="Lora Bold" pitchFamily="34" charset="-120"/>
              </a:rPr>
              <a:t>192-bit security mode</a:t>
            </a:r>
            <a:pPr algn="l" indent="0" marL="0">
              <a:lnSpc>
                <a:spcPct val="133000"/>
              </a:lnSpc>
              <a:buNone/>
            </a:pPr>
            <a:r>
              <a:rPr lang="en-US" sz="950" dirty="0">
                <a:solidFill>
                  <a:srgbClr val="2C2821"/>
                </a:solidFill>
                <a:latin typeface="Lora" pitchFamily="34" charset="0"/>
                <a:ea typeface="Lora" pitchFamily="34" charset="-122"/>
                <a:cs typeface="Lora" pitchFamily="34" charset="-120"/>
              </a:rPr>
              <a:t> aligned with the Commercial National Security Algorithm (CNSA) suite — the standard used by U.S. federal agencies for protecting classified and sensitive data.</a:t>
            </a:r>
            <a:endParaRPr lang="en-US" sz="9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092747"/>
            <a:ext cx="2634555" cy="2306092"/>
          </a:xfrm>
          <a:prstGeom prst="rect">
            <a:avLst/>
          </a:prstGeom>
        </p:spPr>
      </p:pic>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20379" y="2199977"/>
            <a:ext cx="186035" cy="186035"/>
          </a:xfrm>
          <a:prstGeom prst="rect">
            <a:avLst/>
          </a:prstGeom>
        </p:spPr>
      </p:pic>
      <p:sp>
        <p:nvSpPr>
          <p:cNvPr id="8" name="Text 4"/>
          <p:cNvSpPr/>
          <p:nvPr/>
        </p:nvSpPr>
        <p:spPr>
          <a:xfrm>
            <a:off x="634380" y="2603078"/>
            <a:ext cx="2358033"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What the 192-Bit Suite Includes</a:t>
            </a:r>
            <a:endParaRPr lang="en-US" sz="1200" dirty="0"/>
          </a:p>
        </p:txBody>
      </p:sp>
      <p:sp>
        <p:nvSpPr>
          <p:cNvPr id="9" name="Text 5"/>
          <p:cNvSpPr/>
          <p:nvPr/>
        </p:nvSpPr>
        <p:spPr>
          <a:xfrm>
            <a:off x="634380" y="2871341"/>
            <a:ext cx="2358033" cy="138923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AES-256-GCM for data encryption, ECDH and ECDSA using 384-bit elliptic curves for key agreement and authentication, HMAC-SHA-384 for integrity verification. Every component is elevated to match NSA Suite B requirements.</a:t>
            </a:r>
            <a:endParaRPr lang="en-US" sz="9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54648" y="2092747"/>
            <a:ext cx="2634630" cy="2306092"/>
          </a:xfrm>
          <a:prstGeom prst="rect">
            <a:avLst/>
          </a:prstGeom>
        </p:spPr>
      </p:pic>
      <p:pic>
        <p:nvPicPr>
          <p:cNvPr id="1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78908" y="2199977"/>
            <a:ext cx="186035" cy="186035"/>
          </a:xfrm>
          <a:prstGeom prst="rect">
            <a:avLst/>
          </a:prstGeom>
        </p:spPr>
      </p:pic>
      <p:sp>
        <p:nvSpPr>
          <p:cNvPr id="12" name="Text 6"/>
          <p:cNvSpPr/>
          <p:nvPr/>
        </p:nvSpPr>
        <p:spPr>
          <a:xfrm>
            <a:off x="3392909" y="2603078"/>
            <a:ext cx="2358107"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Who Uses Enterprise Mode</a:t>
            </a:r>
            <a:endParaRPr lang="en-US" sz="1200" dirty="0"/>
          </a:p>
        </p:txBody>
      </p:sp>
      <p:sp>
        <p:nvSpPr>
          <p:cNvPr id="13" name="Text 7"/>
          <p:cNvSpPr/>
          <p:nvPr/>
        </p:nvSpPr>
        <p:spPr>
          <a:xfrm>
            <a:off x="3392909" y="2871341"/>
            <a:ext cx="2358107" cy="138923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Canadian federal departments, U.S. government agencies, NATO members, military networks, power grid operators, financial market infrastructure, and any organization subject to regulatory requirements mandating FIPS 140-2 or higher compliance.</a:t>
            </a:r>
            <a:endParaRPr lang="en-US" sz="950" dirty="0"/>
          </a:p>
        </p:txBody>
      </p:sp>
      <p:pic>
        <p:nvPicPr>
          <p:cNvPr id="1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013252" y="2092747"/>
            <a:ext cx="2634555" cy="2306092"/>
          </a:xfrm>
          <a:prstGeom prst="rect">
            <a:avLst/>
          </a:prstGeom>
        </p:spPr>
      </p:pic>
      <p:pic>
        <p:nvPicPr>
          <p:cNvPr id="15"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37512" y="2199977"/>
            <a:ext cx="186035" cy="186035"/>
          </a:xfrm>
          <a:prstGeom prst="rect">
            <a:avLst/>
          </a:prstGeom>
        </p:spPr>
      </p:pic>
      <p:sp>
        <p:nvSpPr>
          <p:cNvPr id="16" name="Text 8"/>
          <p:cNvSpPr/>
          <p:nvPr/>
        </p:nvSpPr>
        <p:spPr>
          <a:xfrm>
            <a:off x="6151513" y="2603078"/>
            <a:ext cx="2358033"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Why 192 Bits vs. 128 Bits</a:t>
            </a:r>
            <a:endParaRPr lang="en-US" sz="1200" dirty="0"/>
          </a:p>
        </p:txBody>
      </p:sp>
      <p:sp>
        <p:nvSpPr>
          <p:cNvPr id="17" name="Text 9"/>
          <p:cNvSpPr/>
          <p:nvPr/>
        </p:nvSpPr>
        <p:spPr>
          <a:xfrm>
            <a:off x="6151513" y="2871341"/>
            <a:ext cx="2358033" cy="1389236"/>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128-bit AES is secure today against all known classical attacks. 192-bit provides a larger safety margin against future advances — including early-stage quantum computing threats — for long-lived classified data that must stay secret for decades.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96119" y="364629"/>
            <a:ext cx="544562" cy="179561"/>
          </a:xfrm>
          <a:prstGeom prst="roundRect">
            <a:avLst>
              <a:gd name="adj" fmla="val 7901"/>
            </a:avLst>
          </a:prstGeom>
          <a:solidFill>
            <a:srgbClr val="D7F4E4"/>
          </a:solidFill>
          <a:ln/>
        </p:spPr>
      </p:sp>
      <p:sp>
        <p:nvSpPr>
          <p:cNvPr id="3" name="Text 1"/>
          <p:cNvSpPr/>
          <p:nvPr/>
        </p:nvSpPr>
        <p:spPr>
          <a:xfrm>
            <a:off x="567035" y="400050"/>
            <a:ext cx="859929" cy="108719"/>
          </a:xfrm>
          <a:prstGeom prst="rect">
            <a:avLst/>
          </a:prstGeom>
          <a:noFill/>
          <a:ln/>
        </p:spPr>
        <p:txBody>
          <a:bodyPr wrap="none" lIns="0" tIns="0" rIns="0" bIns="0" rtlCol="0" anchor="t"/>
          <a:lstStyle/>
          <a:p>
            <a:pPr algn="l" indent="0" marL="0">
              <a:lnSpc>
                <a:spcPct val="96000"/>
              </a:lnSpc>
              <a:buNone/>
            </a:pPr>
            <a:r>
              <a:rPr lang="en-US" sz="700" dirty="0">
                <a:solidFill>
                  <a:srgbClr val="2C2821"/>
                </a:solidFill>
                <a:latin typeface="Lora" pitchFamily="34" charset="0"/>
                <a:ea typeface="Lora" pitchFamily="34" charset="-122"/>
                <a:cs typeface="Lora" pitchFamily="34" charset="-120"/>
              </a:rPr>
              <a:t>SLIDE 20</a:t>
            </a:r>
            <a:endParaRPr lang="en-US" sz="700" dirty="0"/>
          </a:p>
        </p:txBody>
      </p:sp>
      <p:sp>
        <p:nvSpPr>
          <p:cNvPr id="4" name="Text 2"/>
          <p:cNvSpPr/>
          <p:nvPr/>
        </p:nvSpPr>
        <p:spPr>
          <a:xfrm>
            <a:off x="496119" y="589211"/>
            <a:ext cx="8151763" cy="369466"/>
          </a:xfrm>
          <a:prstGeom prst="rect">
            <a:avLst/>
          </a:prstGeom>
          <a:noFill/>
          <a:ln/>
        </p:spPr>
        <p:txBody>
          <a:bodyPr wrap="none" lIns="0" tIns="0" rIns="0" bIns="0" rtlCol="0" anchor="t"/>
          <a:lstStyle/>
          <a:p>
            <a:pPr algn="l" indent="0" marL="0">
              <a:lnSpc>
                <a:spcPct val="104000"/>
              </a:lnSpc>
              <a:buNone/>
            </a:pPr>
            <a:r>
              <a:rPr lang="en-US" sz="2300" dirty="0">
                <a:solidFill>
                  <a:srgbClr val="233E32"/>
                </a:solidFill>
                <a:latin typeface="Alice" pitchFamily="34" charset="0"/>
                <a:ea typeface="Alice" pitchFamily="34" charset="-122"/>
                <a:cs typeface="Alice" pitchFamily="34" charset="-120"/>
              </a:rPr>
              <a:t>Protected Management Frames (PMF)</a:t>
            </a:r>
            <a:endParaRPr lang="en-US" sz="2300" dirty="0"/>
          </a:p>
        </p:txBody>
      </p:sp>
      <p:sp>
        <p:nvSpPr>
          <p:cNvPr id="5" name="Text 3"/>
          <p:cNvSpPr/>
          <p:nvPr/>
        </p:nvSpPr>
        <p:spPr>
          <a:xfrm>
            <a:off x="496119" y="1127671"/>
            <a:ext cx="8151763" cy="369391"/>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2C2821"/>
                </a:solidFill>
                <a:latin typeface="Lora" pitchFamily="34" charset="0"/>
                <a:ea typeface="Lora" pitchFamily="34" charset="-122"/>
                <a:cs typeface="Lora" pitchFamily="34" charset="-120"/>
              </a:rPr>
              <a:t>Management frames are the control messages that Wi-Fi networks use to coordinate client connections. Prior to WPA3, these frames were sent in plaintext with no authentication — making them trivial to forge.</a:t>
            </a:r>
            <a:endParaRPr lang="en-US" sz="900" dirty="0"/>
          </a:p>
        </p:txBody>
      </p:sp>
      <p:sp>
        <p:nvSpPr>
          <p:cNvPr id="6" name="Text 4"/>
          <p:cNvSpPr/>
          <p:nvPr/>
        </p:nvSpPr>
        <p:spPr>
          <a:xfrm>
            <a:off x="496119" y="1736452"/>
            <a:ext cx="3931667" cy="184696"/>
          </a:xfrm>
          <a:prstGeom prst="rect">
            <a:avLst/>
          </a:prstGeom>
          <a:noFill/>
          <a:ln/>
        </p:spPr>
        <p:txBody>
          <a:bodyPr wrap="none" lIns="0" tIns="0" rIns="0" bIns="0" rtlCol="0" anchor="t"/>
          <a:lstStyle/>
          <a:p>
            <a:pPr algn="l" indent="0" marL="0">
              <a:lnSpc>
                <a:spcPct val="104000"/>
              </a:lnSpc>
              <a:buNone/>
            </a:pPr>
            <a:r>
              <a:rPr lang="en-US" sz="1150" dirty="0">
                <a:solidFill>
                  <a:srgbClr val="233E32"/>
                </a:solidFill>
                <a:latin typeface="Alice" pitchFamily="34" charset="0"/>
                <a:ea typeface="Alice" pitchFamily="34" charset="-122"/>
                <a:cs typeface="Alice" pitchFamily="34" charset="-120"/>
              </a:rPr>
              <a:t>Management Frame Types</a:t>
            </a:r>
            <a:endParaRPr lang="en-US" sz="115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81831" y="2033588"/>
            <a:ext cx="3945954" cy="510629"/>
          </a:xfrm>
          <a:prstGeom prst="rect">
            <a:avLst/>
          </a:prstGeom>
        </p:spPr>
      </p:pic>
      <p:sp>
        <p:nvSpPr>
          <p:cNvPr id="8" name="Text 5"/>
          <p:cNvSpPr/>
          <p:nvPr/>
        </p:nvSpPr>
        <p:spPr>
          <a:xfrm>
            <a:off x="642863" y="2047875"/>
            <a:ext cx="3784922" cy="184696"/>
          </a:xfrm>
          <a:prstGeom prst="rect">
            <a:avLst/>
          </a:prstGeom>
          <a:noFill/>
          <a:ln/>
        </p:spPr>
        <p:txBody>
          <a:bodyPr wrap="none" lIns="0" tIns="0" rIns="0" bIns="0" rtlCol="0" anchor="t"/>
          <a:lstStyle/>
          <a:p>
            <a:pPr algn="l" indent="0" marL="0">
              <a:lnSpc>
                <a:spcPct val="104000"/>
              </a:lnSpc>
              <a:buNone/>
            </a:pPr>
            <a:r>
              <a:rPr lang="en-US" sz="1150" dirty="0">
                <a:solidFill>
                  <a:srgbClr val="2C2821"/>
                </a:solidFill>
                <a:latin typeface="Alice" pitchFamily="34" charset="0"/>
                <a:ea typeface="Alice" pitchFamily="34" charset="-122"/>
                <a:cs typeface="Alice" pitchFamily="34" charset="-120"/>
              </a:rPr>
              <a:t>Beacon Frames</a:t>
            </a:r>
            <a:endParaRPr lang="en-US" sz="1150" dirty="0"/>
          </a:p>
        </p:txBody>
      </p:sp>
      <p:sp>
        <p:nvSpPr>
          <p:cNvPr id="9" name="Text 6"/>
          <p:cNvSpPr/>
          <p:nvPr/>
        </p:nvSpPr>
        <p:spPr>
          <a:xfrm>
            <a:off x="642863" y="2345234"/>
            <a:ext cx="3784922" cy="184696"/>
          </a:xfrm>
          <a:prstGeom prst="rect">
            <a:avLst/>
          </a:prstGeom>
          <a:noFill/>
          <a:ln/>
        </p:spPr>
        <p:txBody>
          <a:bodyPr wrap="none" lIns="0" tIns="0" rIns="0" bIns="0" rtlCol="0" anchor="t"/>
          <a:lstStyle/>
          <a:p>
            <a:pPr algn="l" indent="0" marL="0">
              <a:lnSpc>
                <a:spcPct val="130000"/>
              </a:lnSpc>
              <a:buNone/>
            </a:pPr>
            <a:r>
              <a:rPr lang="en-US" sz="900" dirty="0">
                <a:solidFill>
                  <a:srgbClr val="2C2821"/>
                </a:solidFill>
                <a:latin typeface="Lora" pitchFamily="34" charset="0"/>
                <a:ea typeface="Lora" pitchFamily="34" charset="-122"/>
                <a:cs typeface="Lora" pitchFamily="34" charset="-120"/>
              </a:rPr>
              <a:t>Broadcast by APs to announce network presence and capabilities</a:t>
            </a:r>
            <a:endParaRPr lang="en-US" sz="9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1831" y="2740968"/>
            <a:ext cx="3945954" cy="510629"/>
          </a:xfrm>
          <a:prstGeom prst="rect">
            <a:avLst/>
          </a:prstGeom>
        </p:spPr>
      </p:pic>
      <p:sp>
        <p:nvSpPr>
          <p:cNvPr id="11" name="Text 7"/>
          <p:cNvSpPr/>
          <p:nvPr/>
        </p:nvSpPr>
        <p:spPr>
          <a:xfrm>
            <a:off x="642863" y="2755255"/>
            <a:ext cx="3784922" cy="184696"/>
          </a:xfrm>
          <a:prstGeom prst="rect">
            <a:avLst/>
          </a:prstGeom>
          <a:noFill/>
          <a:ln/>
        </p:spPr>
        <p:txBody>
          <a:bodyPr wrap="none" lIns="0" tIns="0" rIns="0" bIns="0" rtlCol="0" anchor="t"/>
          <a:lstStyle/>
          <a:p>
            <a:pPr algn="l" indent="0" marL="0">
              <a:lnSpc>
                <a:spcPct val="104000"/>
              </a:lnSpc>
              <a:buNone/>
            </a:pPr>
            <a:r>
              <a:rPr lang="en-US" sz="1150" dirty="0">
                <a:solidFill>
                  <a:srgbClr val="2C2821"/>
                </a:solidFill>
                <a:latin typeface="Alice" pitchFamily="34" charset="0"/>
                <a:ea typeface="Alice" pitchFamily="34" charset="-122"/>
                <a:cs typeface="Alice" pitchFamily="34" charset="-120"/>
              </a:rPr>
              <a:t>Probe Frames</a:t>
            </a:r>
            <a:endParaRPr lang="en-US" sz="1150" dirty="0"/>
          </a:p>
        </p:txBody>
      </p:sp>
      <p:sp>
        <p:nvSpPr>
          <p:cNvPr id="12" name="Text 8"/>
          <p:cNvSpPr/>
          <p:nvPr/>
        </p:nvSpPr>
        <p:spPr>
          <a:xfrm>
            <a:off x="642863" y="3052614"/>
            <a:ext cx="3784922" cy="184696"/>
          </a:xfrm>
          <a:prstGeom prst="rect">
            <a:avLst/>
          </a:prstGeom>
          <a:noFill/>
          <a:ln/>
        </p:spPr>
        <p:txBody>
          <a:bodyPr wrap="none" lIns="0" tIns="0" rIns="0" bIns="0" rtlCol="0" anchor="t"/>
          <a:lstStyle/>
          <a:p>
            <a:pPr algn="l" indent="0" marL="0">
              <a:lnSpc>
                <a:spcPct val="130000"/>
              </a:lnSpc>
              <a:buNone/>
            </a:pPr>
            <a:r>
              <a:rPr lang="en-US" sz="900" dirty="0">
                <a:solidFill>
                  <a:srgbClr val="2C2821"/>
                </a:solidFill>
                <a:latin typeface="Lora" pitchFamily="34" charset="0"/>
                <a:ea typeface="Lora" pitchFamily="34" charset="-122"/>
                <a:cs typeface="Lora" pitchFamily="34" charset="-120"/>
              </a:rPr>
              <a:t>Devices request and receive network availability information</a:t>
            </a:r>
            <a:endParaRPr lang="en-US" sz="9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1831" y="3448348"/>
            <a:ext cx="3945954" cy="510629"/>
          </a:xfrm>
          <a:prstGeom prst="rect">
            <a:avLst/>
          </a:prstGeom>
        </p:spPr>
      </p:pic>
      <p:sp>
        <p:nvSpPr>
          <p:cNvPr id="14" name="Text 9"/>
          <p:cNvSpPr/>
          <p:nvPr/>
        </p:nvSpPr>
        <p:spPr>
          <a:xfrm>
            <a:off x="642863" y="3462635"/>
            <a:ext cx="3784922" cy="184696"/>
          </a:xfrm>
          <a:prstGeom prst="rect">
            <a:avLst/>
          </a:prstGeom>
          <a:noFill/>
          <a:ln/>
        </p:spPr>
        <p:txBody>
          <a:bodyPr wrap="none" lIns="0" tIns="0" rIns="0" bIns="0" rtlCol="0" anchor="t"/>
          <a:lstStyle/>
          <a:p>
            <a:pPr algn="l" indent="0" marL="0">
              <a:lnSpc>
                <a:spcPct val="104000"/>
              </a:lnSpc>
              <a:buNone/>
            </a:pPr>
            <a:r>
              <a:rPr lang="en-US" sz="1150" dirty="0">
                <a:solidFill>
                  <a:srgbClr val="2C2821"/>
                </a:solidFill>
                <a:latin typeface="Alice" pitchFamily="34" charset="0"/>
                <a:ea typeface="Alice" pitchFamily="34" charset="-122"/>
                <a:cs typeface="Alice" pitchFamily="34" charset="-120"/>
              </a:rPr>
              <a:t>Association / Disassociation</a:t>
            </a:r>
            <a:endParaRPr lang="en-US" sz="1150" dirty="0"/>
          </a:p>
        </p:txBody>
      </p:sp>
      <p:sp>
        <p:nvSpPr>
          <p:cNvPr id="15" name="Text 10"/>
          <p:cNvSpPr/>
          <p:nvPr/>
        </p:nvSpPr>
        <p:spPr>
          <a:xfrm>
            <a:off x="642863" y="3759994"/>
            <a:ext cx="3784922" cy="184696"/>
          </a:xfrm>
          <a:prstGeom prst="rect">
            <a:avLst/>
          </a:prstGeom>
          <a:noFill/>
          <a:ln/>
        </p:spPr>
        <p:txBody>
          <a:bodyPr wrap="none" lIns="0" tIns="0" rIns="0" bIns="0" rtlCol="0" anchor="t"/>
          <a:lstStyle/>
          <a:p>
            <a:pPr algn="l" indent="0" marL="0">
              <a:lnSpc>
                <a:spcPct val="130000"/>
              </a:lnSpc>
              <a:buNone/>
            </a:pPr>
            <a:r>
              <a:rPr lang="en-US" sz="900" dirty="0">
                <a:solidFill>
                  <a:srgbClr val="2C2821"/>
                </a:solidFill>
                <a:latin typeface="Lora" pitchFamily="34" charset="0"/>
                <a:ea typeface="Lora" pitchFamily="34" charset="-122"/>
                <a:cs typeface="Lora" pitchFamily="34" charset="-120"/>
              </a:rPr>
              <a:t>Client joins or leaves a network formally</a:t>
            </a:r>
            <a:endParaRPr lang="en-US" sz="9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1831" y="4155728"/>
            <a:ext cx="3945954" cy="510629"/>
          </a:xfrm>
          <a:prstGeom prst="rect">
            <a:avLst/>
          </a:prstGeom>
        </p:spPr>
      </p:pic>
      <p:sp>
        <p:nvSpPr>
          <p:cNvPr id="17" name="Text 11"/>
          <p:cNvSpPr/>
          <p:nvPr/>
        </p:nvSpPr>
        <p:spPr>
          <a:xfrm>
            <a:off x="642863" y="4170015"/>
            <a:ext cx="3784922" cy="184696"/>
          </a:xfrm>
          <a:prstGeom prst="rect">
            <a:avLst/>
          </a:prstGeom>
          <a:noFill/>
          <a:ln/>
        </p:spPr>
        <p:txBody>
          <a:bodyPr wrap="none" lIns="0" tIns="0" rIns="0" bIns="0" rtlCol="0" anchor="t"/>
          <a:lstStyle/>
          <a:p>
            <a:pPr algn="l" indent="0" marL="0">
              <a:lnSpc>
                <a:spcPct val="104000"/>
              </a:lnSpc>
              <a:buNone/>
            </a:pPr>
            <a:r>
              <a:rPr lang="en-US" sz="1150" dirty="0">
                <a:solidFill>
                  <a:srgbClr val="2C2821"/>
                </a:solidFill>
                <a:latin typeface="Alice" pitchFamily="34" charset="0"/>
                <a:ea typeface="Alice" pitchFamily="34" charset="-122"/>
                <a:cs typeface="Alice" pitchFamily="34" charset="-120"/>
              </a:rPr>
              <a:t>Deauthentication</a:t>
            </a:r>
            <a:endParaRPr lang="en-US" sz="1150" dirty="0"/>
          </a:p>
        </p:txBody>
      </p:sp>
      <p:sp>
        <p:nvSpPr>
          <p:cNvPr id="18" name="Text 12"/>
          <p:cNvSpPr/>
          <p:nvPr/>
        </p:nvSpPr>
        <p:spPr>
          <a:xfrm>
            <a:off x="642863" y="4467374"/>
            <a:ext cx="3784922" cy="184696"/>
          </a:xfrm>
          <a:prstGeom prst="rect">
            <a:avLst/>
          </a:prstGeom>
          <a:noFill/>
          <a:ln/>
        </p:spPr>
        <p:txBody>
          <a:bodyPr wrap="none" lIns="0" tIns="0" rIns="0" bIns="0" rtlCol="0" anchor="t"/>
          <a:lstStyle/>
          <a:p>
            <a:pPr algn="l" indent="0" marL="0">
              <a:lnSpc>
                <a:spcPct val="130000"/>
              </a:lnSpc>
              <a:buNone/>
            </a:pPr>
            <a:r>
              <a:rPr lang="en-US" sz="900" dirty="0">
                <a:solidFill>
                  <a:srgbClr val="2C2821"/>
                </a:solidFill>
                <a:latin typeface="Lora" pitchFamily="34" charset="0"/>
                <a:ea typeface="Lora" pitchFamily="34" charset="-122"/>
                <a:cs typeface="Lora" pitchFamily="34" charset="-120"/>
              </a:rPr>
              <a:t>Forces a device to disconnect from the network</a:t>
            </a:r>
            <a:endParaRPr lang="en-US" sz="900" dirty="0"/>
          </a:p>
        </p:txBody>
      </p:sp>
      <p:sp>
        <p:nvSpPr>
          <p:cNvPr id="19" name="Shape 13"/>
          <p:cNvSpPr/>
          <p:nvPr/>
        </p:nvSpPr>
        <p:spPr>
          <a:xfrm>
            <a:off x="4635847" y="1623789"/>
            <a:ext cx="4101926" cy="3155007"/>
          </a:xfrm>
          <a:prstGeom prst="roundRect">
            <a:avLst>
              <a:gd name="adj" fmla="val 562"/>
            </a:avLst>
          </a:prstGeom>
          <a:solidFill>
            <a:srgbClr val="1B5F39"/>
          </a:solidFill>
          <a:ln/>
        </p:spPr>
      </p:sp>
      <p:sp>
        <p:nvSpPr>
          <p:cNvPr id="20" name="Text 14"/>
          <p:cNvSpPr/>
          <p:nvPr/>
        </p:nvSpPr>
        <p:spPr>
          <a:xfrm>
            <a:off x="4754017" y="1736452"/>
            <a:ext cx="3865587" cy="184696"/>
          </a:xfrm>
          <a:prstGeom prst="rect">
            <a:avLst/>
          </a:prstGeom>
          <a:noFill/>
          <a:ln/>
        </p:spPr>
        <p:txBody>
          <a:bodyPr wrap="none" lIns="0" tIns="0" rIns="0" bIns="0" rtlCol="0" anchor="t"/>
          <a:lstStyle/>
          <a:p>
            <a:pPr algn="l" indent="0" marL="0">
              <a:lnSpc>
                <a:spcPct val="104000"/>
              </a:lnSpc>
              <a:buNone/>
            </a:pPr>
            <a:r>
              <a:rPr lang="en-US" sz="1150" dirty="0">
                <a:solidFill>
                  <a:srgbClr val="FFFFFF"/>
                </a:solidFill>
                <a:latin typeface="Alice" pitchFamily="34" charset="0"/>
                <a:ea typeface="Alice" pitchFamily="34" charset="-122"/>
                <a:cs typeface="Alice" pitchFamily="34" charset="-120"/>
              </a:rPr>
              <a:t>Before and After PMF</a:t>
            </a:r>
            <a:endParaRPr lang="en-US" sz="1150" dirty="0"/>
          </a:p>
        </p:txBody>
      </p:sp>
      <p:sp>
        <p:nvSpPr>
          <p:cNvPr id="21" name="Text 15"/>
          <p:cNvSpPr/>
          <p:nvPr/>
        </p:nvSpPr>
        <p:spPr>
          <a:xfrm>
            <a:off x="4754017" y="2033811"/>
            <a:ext cx="3865587" cy="1763613"/>
          </a:xfrm>
          <a:prstGeom prst="rect">
            <a:avLst/>
          </a:prstGeom>
          <a:noFill/>
          <a:ln/>
        </p:spPr>
        <p:txBody>
          <a:bodyPr wrap="square" lIns="0" tIns="0" rIns="0" bIns="0" rtlCol="0" anchor="t">
            <a:normAutofit/>
          </a:bodyPr>
          <a:lstStyle/>
          <a:p>
            <a:pPr algn="l" indent="0" marL="0">
              <a:lnSpc>
                <a:spcPct val="130000"/>
              </a:lnSpc>
              <a:buNone/>
            </a:pPr>
            <a:r>
              <a:rPr lang="en-US" sz="900" b="1" dirty="0">
                <a:solidFill>
                  <a:srgbClr val="FFFFFF"/>
                </a:solidFill>
                <a:latin typeface="Lora Bold" pitchFamily="34" charset="0"/>
                <a:ea typeface="Lora Bold" pitchFamily="34" charset="-122"/>
                <a:cs typeface="Lora Bold" pitchFamily="34" charset="-120"/>
              </a:rPr>
              <a:t>Before WPA3:</a:t>
            </a:r>
            <a:pPr algn="l" indent="0" marL="0">
              <a:lnSpc>
                <a:spcPct val="130000"/>
              </a:lnSpc>
              <a:spcAft>
                <a:spcPts val="750"/>
              </a:spcAft>
              <a:buNone/>
            </a:pPr>
            <a:r>
              <a:rPr lang="en-US" sz="900" dirty="0">
                <a:solidFill>
                  <a:srgbClr val="FFFFFF"/>
                </a:solidFill>
                <a:latin typeface="Lora" pitchFamily="34" charset="0"/>
                <a:ea typeface="Lora" pitchFamily="34" charset="-122"/>
                <a:cs typeface="Lora" pitchFamily="34" charset="-120"/>
              </a:rPr>
              <a:t> Attackers could send a spoofed deauthentication frame impersonating a legitimate access point. The targeted device, receiving what appeared to be a valid instruction from the network, would immediately disconnect — enabling denial-of-service attacks or forcing reconnections to a rogue AP.</a:t>
            </a:r>
            <a:endParaRPr lang="en-US" sz="900" dirty="0"/>
          </a:p>
          <a:p>
            <a:pPr algn="l" indent="0" marL="0">
              <a:lnSpc>
                <a:spcPct val="130000"/>
              </a:lnSpc>
              <a:buNone/>
            </a:pPr>
            <a:r>
              <a:rPr lang="en-US" sz="900" b="1" dirty="0">
                <a:solidFill>
                  <a:srgbClr val="FFFFFF"/>
                </a:solidFill>
                <a:latin typeface="Lora Bold" pitchFamily="34" charset="0"/>
                <a:ea typeface="Lora Bold" pitchFamily="34" charset="-122"/>
                <a:cs typeface="Lora Bold" pitchFamily="34" charset="-120"/>
              </a:rPr>
              <a:t>With Mandatory PMF:</a:t>
            </a:r>
            <a:pPr algn="l" indent="0" marL="0">
              <a:lnSpc>
                <a:spcPct val="130000"/>
              </a:lnSpc>
              <a:buNone/>
            </a:pPr>
            <a:r>
              <a:rPr lang="en-US" sz="900" dirty="0">
                <a:solidFill>
                  <a:srgbClr val="FFFFFF"/>
                </a:solidFill>
                <a:latin typeface="Lora" pitchFamily="34" charset="0"/>
                <a:ea typeface="Lora" pitchFamily="34" charset="-122"/>
                <a:cs typeface="Lora" pitchFamily="34" charset="-120"/>
              </a:rPr>
              <a:t> Management frames are cryptographically signed. A device receiving a deauthentication frame can verify it genuinely originated from its authenticated access point. Spoofed frames are rejected automatically.</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96119" y="413817"/>
            <a:ext cx="545753" cy="188565"/>
          </a:xfrm>
          <a:prstGeom prst="roundRect">
            <a:avLst>
              <a:gd name="adj" fmla="val 7894"/>
            </a:avLst>
          </a:prstGeom>
          <a:solidFill>
            <a:srgbClr val="D7F4E4"/>
          </a:solidFill>
          <a:ln/>
        </p:spPr>
      </p:sp>
      <p:sp>
        <p:nvSpPr>
          <p:cNvPr id="3" name="Text 1"/>
          <p:cNvSpPr/>
          <p:nvPr/>
        </p:nvSpPr>
        <p:spPr>
          <a:xfrm>
            <a:off x="570533" y="451024"/>
            <a:ext cx="854125" cy="11415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21</a:t>
            </a:r>
            <a:endParaRPr lang="en-US" sz="750" dirty="0"/>
          </a:p>
        </p:txBody>
      </p:sp>
      <p:sp>
        <p:nvSpPr>
          <p:cNvPr id="4" name="Text 2"/>
          <p:cNvSpPr/>
          <p:nvPr/>
        </p:nvSpPr>
        <p:spPr>
          <a:xfrm>
            <a:off x="496119" y="651942"/>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WPA3 in Real Organizations</a:t>
            </a:r>
            <a:endParaRPr lang="en-US" sz="2400" dirty="0"/>
          </a:p>
        </p:txBody>
      </p:sp>
      <p:sp>
        <p:nvSpPr>
          <p:cNvPr id="5" name="Text 3"/>
          <p:cNvSpPr/>
          <p:nvPr/>
        </p:nvSpPr>
        <p:spPr>
          <a:xfrm>
            <a:off x="496119" y="1225525"/>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WPA3 is not just a theoretical improvement — its features directly address the specific security challenges faced by organizations managing complex wireless environments with diverse device types and user populations.</a:t>
            </a:r>
            <a:endParaRPr lang="en-US" sz="9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761976"/>
            <a:ext cx="310083" cy="310083"/>
          </a:xfrm>
          <a:prstGeom prst="rect">
            <a:avLst/>
          </a:prstGeom>
        </p:spPr>
      </p:pic>
      <p:sp>
        <p:nvSpPr>
          <p:cNvPr id="7" name="Text 4"/>
          <p:cNvSpPr/>
          <p:nvPr/>
        </p:nvSpPr>
        <p:spPr>
          <a:xfrm>
            <a:off x="961206" y="1761976"/>
            <a:ext cx="3533254"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Hospital</a:t>
            </a:r>
            <a:endParaRPr lang="en-US" sz="1200" dirty="0"/>
          </a:p>
        </p:txBody>
      </p:sp>
      <p:sp>
        <p:nvSpPr>
          <p:cNvPr id="8" name="Text 5"/>
          <p:cNvSpPr/>
          <p:nvPr/>
        </p:nvSpPr>
        <p:spPr>
          <a:xfrm>
            <a:off x="961206" y="2030239"/>
            <a:ext cx="3533254" cy="119077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Medical IoT devices (infusion pumps, patient monitors) connect alongside staff laptops and physician phones. WPA3's Easy Connect enables secure IoT onboarding. PMF protects against deauth attacks that could interrupt device communication. 192-bit mode for HIPAA-sensitive clinical data.</a:t>
            </a:r>
            <a:endParaRPr lang="en-US" sz="9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49465" y="1761976"/>
            <a:ext cx="310083" cy="310083"/>
          </a:xfrm>
          <a:prstGeom prst="rect">
            <a:avLst/>
          </a:prstGeom>
        </p:spPr>
      </p:pic>
      <p:sp>
        <p:nvSpPr>
          <p:cNvPr id="10" name="Text 6"/>
          <p:cNvSpPr/>
          <p:nvPr/>
        </p:nvSpPr>
        <p:spPr>
          <a:xfrm>
            <a:off x="5114553" y="1761976"/>
            <a:ext cx="3533329"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University</a:t>
            </a:r>
            <a:endParaRPr lang="en-US" sz="1200" dirty="0"/>
          </a:p>
        </p:txBody>
      </p:sp>
      <p:sp>
        <p:nvSpPr>
          <p:cNvPr id="11" name="Text 7"/>
          <p:cNvSpPr/>
          <p:nvPr/>
        </p:nvSpPr>
        <p:spPr>
          <a:xfrm>
            <a:off x="5114553" y="2030239"/>
            <a:ext cx="3533329"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Thousands of BYOD devices from students, faculty, and guests. WPA3 SAE prevents credential theft on high-density campus networks. eduroam federation with WPA3-Enterprise provides seamless, secure roaming across institutions.</a:t>
            </a:r>
            <a:endParaRPr lang="en-US" sz="9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469035"/>
            <a:ext cx="310083" cy="310083"/>
          </a:xfrm>
          <a:prstGeom prst="rect">
            <a:avLst/>
          </a:prstGeom>
        </p:spPr>
      </p:pic>
      <p:sp>
        <p:nvSpPr>
          <p:cNvPr id="13" name="Text 8"/>
          <p:cNvSpPr/>
          <p:nvPr/>
        </p:nvSpPr>
        <p:spPr>
          <a:xfrm>
            <a:off x="961206" y="3469035"/>
            <a:ext cx="3533254"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Airport</a:t>
            </a:r>
            <a:endParaRPr lang="en-US" sz="1200" dirty="0"/>
          </a:p>
        </p:txBody>
      </p:sp>
      <p:sp>
        <p:nvSpPr>
          <p:cNvPr id="14" name="Text 9"/>
          <p:cNvSpPr/>
          <p:nvPr/>
        </p:nvSpPr>
        <p:spPr>
          <a:xfrm>
            <a:off x="961206" y="3737297"/>
            <a:ext cx="3533254"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Passenger Wi-Fi, airline operations, baggage handling systems, and security communications all share physical space. WPA3 separates guest access from operational networks using forward secrecy — a passenger compromise cannot reach back-end infrastructure.</a:t>
            </a:r>
            <a:endParaRPr lang="en-US" sz="9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49465" y="3469035"/>
            <a:ext cx="310083" cy="310083"/>
          </a:xfrm>
          <a:prstGeom prst="rect">
            <a:avLst/>
          </a:prstGeom>
        </p:spPr>
      </p:pic>
      <p:sp>
        <p:nvSpPr>
          <p:cNvPr id="16" name="Text 10"/>
          <p:cNvSpPr/>
          <p:nvPr/>
        </p:nvSpPr>
        <p:spPr>
          <a:xfrm>
            <a:off x="5114553" y="3469035"/>
            <a:ext cx="3533329"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Manufacturing Plant</a:t>
            </a:r>
            <a:endParaRPr lang="en-US" sz="1200" dirty="0"/>
          </a:p>
        </p:txBody>
      </p:sp>
      <p:sp>
        <p:nvSpPr>
          <p:cNvPr id="17" name="Text 11"/>
          <p:cNvSpPr/>
          <p:nvPr/>
        </p:nvSpPr>
        <p:spPr>
          <a:xfrm>
            <a:off x="5114553" y="3737297"/>
            <a:ext cx="3533329"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Industrial IoT sensors, programmable logic controllers, and operator tablets require reliable, authenticated wireless connectivity. Management frame protection prevents denial-of-service attacks that could disrupt production-critical equipment communications.</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96119" y="355550"/>
            <a:ext cx="554013" cy="185514"/>
          </a:xfrm>
          <a:prstGeom prst="roundRect">
            <a:avLst>
              <a:gd name="adj" fmla="val 7899"/>
            </a:avLst>
          </a:prstGeom>
          <a:solidFill>
            <a:srgbClr val="D7F4E4"/>
          </a:solidFill>
          <a:ln/>
        </p:spPr>
      </p:sp>
      <p:sp>
        <p:nvSpPr>
          <p:cNvPr id="3" name="Text 1"/>
          <p:cNvSpPr/>
          <p:nvPr/>
        </p:nvSpPr>
        <p:spPr>
          <a:xfrm>
            <a:off x="569342" y="392162"/>
            <a:ext cx="864766" cy="11229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22</a:t>
            </a:r>
            <a:endParaRPr lang="en-US" sz="750" dirty="0"/>
          </a:p>
        </p:txBody>
      </p:sp>
      <p:sp>
        <p:nvSpPr>
          <p:cNvPr id="4" name="Text 2"/>
          <p:cNvSpPr/>
          <p:nvPr/>
        </p:nvSpPr>
        <p:spPr>
          <a:xfrm>
            <a:off x="496119" y="589136"/>
            <a:ext cx="8151763" cy="381521"/>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Migration Challenges</a:t>
            </a:r>
            <a:endParaRPr lang="en-US" sz="2400" dirty="0"/>
          </a:p>
        </p:txBody>
      </p:sp>
      <p:sp>
        <p:nvSpPr>
          <p:cNvPr id="5" name="Text 3"/>
          <p:cNvSpPr/>
          <p:nvPr/>
        </p:nvSpPr>
        <p:spPr>
          <a:xfrm>
            <a:off x="496119" y="1150888"/>
            <a:ext cx="8151763" cy="387697"/>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2C2821"/>
                </a:solidFill>
                <a:latin typeface="Lora" pitchFamily="34" charset="0"/>
                <a:ea typeface="Lora" pitchFamily="34" charset="-122"/>
                <a:cs typeface="Lora" pitchFamily="34" charset="-120"/>
              </a:rPr>
              <a:t>Transitioning an existing network from WPA2 to WPA3 is rarely as simple as changing a configuration setting. Real-world deployments involve legacy constraints, budget realities, and organizational complexity that must be managed carefully.</a:t>
            </a:r>
            <a:endParaRPr lang="en-US" sz="950" dirty="0"/>
          </a:p>
        </p:txBody>
      </p:sp>
      <p:sp>
        <p:nvSpPr>
          <p:cNvPr id="6" name="Shape 4"/>
          <p:cNvSpPr/>
          <p:nvPr/>
        </p:nvSpPr>
        <p:spPr>
          <a:xfrm>
            <a:off x="408236" y="1673796"/>
            <a:ext cx="4102745" cy="2301850"/>
          </a:xfrm>
          <a:prstGeom prst="roundRect">
            <a:avLst>
              <a:gd name="adj" fmla="val 796"/>
            </a:avLst>
          </a:prstGeom>
          <a:solidFill>
            <a:srgbClr val="1B5F39"/>
          </a:solidFill>
          <a:ln/>
        </p:spPr>
      </p:sp>
      <p:sp>
        <p:nvSpPr>
          <p:cNvPr id="7" name="Text 5"/>
          <p:cNvSpPr/>
          <p:nvPr/>
        </p:nvSpPr>
        <p:spPr>
          <a:xfrm>
            <a:off x="530275" y="1793974"/>
            <a:ext cx="3858667" cy="190723"/>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Alice" pitchFamily="34" charset="0"/>
                <a:ea typeface="Alice" pitchFamily="34" charset="-122"/>
                <a:cs typeface="Alice" pitchFamily="34" charset="-120"/>
              </a:rPr>
              <a:t>Technical Barriers</a:t>
            </a:r>
            <a:endParaRPr lang="en-US" sz="1200" dirty="0"/>
          </a:p>
        </p:txBody>
      </p:sp>
      <p:sp>
        <p:nvSpPr>
          <p:cNvPr id="8" name="Text 6"/>
          <p:cNvSpPr/>
          <p:nvPr/>
        </p:nvSpPr>
        <p:spPr>
          <a:xfrm>
            <a:off x="530275" y="2104876"/>
            <a:ext cx="3858667" cy="1828726"/>
          </a:xfrm>
          <a:prstGeom prst="rect">
            <a:avLst/>
          </a:prstGeom>
          <a:noFill/>
          <a:ln/>
        </p:spPr>
        <p:txBody>
          <a:bodyPr wrap="square" lIns="0" tIns="0" rIns="0" bIns="0" rtlCol="0" anchor="t">
            <a:normAutofit/>
          </a:bodyPr>
          <a:lstStyle/>
          <a:p>
            <a:pPr algn="l" marL="193040" indent="-193040">
              <a:lnSpc>
                <a:spcPct val="132000"/>
              </a:lnSpc>
              <a:buSzPct val="100000"/>
              <a:buChar char="•"/>
            </a:pPr>
            <a:r>
              <a:rPr lang="en-US" sz="950" b="1" dirty="0">
                <a:solidFill>
                  <a:srgbClr val="FFFFFF"/>
                </a:solidFill>
                <a:latin typeface="Lora Bold" pitchFamily="34" charset="0"/>
                <a:ea typeface="Lora Bold" pitchFamily="34" charset="-122"/>
                <a:cs typeface="Lora Bold" pitchFamily="34" charset="-120"/>
              </a:rPr>
              <a:t>Legacy devices</a:t>
            </a:r>
            <a:pPr algn="l" marL="193040" indent="-193040">
              <a:lnSpc>
                <a:spcPct val="132000"/>
              </a:lnSpc>
              <a:buSzPct val="100000"/>
              <a:buChar char="•"/>
            </a:pPr>
            <a:r>
              <a:rPr lang="en-US" sz="950" dirty="0">
                <a:solidFill>
                  <a:srgbClr val="FFFFFF"/>
                </a:solidFill>
                <a:latin typeface="Lora" pitchFamily="34" charset="0"/>
                <a:ea typeface="Lora" pitchFamily="34" charset="-122"/>
                <a:cs typeface="Lora" pitchFamily="34" charset="-120"/>
              </a:rPr>
              <a:t> — Older printers, IoT sensors, and embedded systems may not support WPA3 at all, even with firmware updates</a:t>
            </a:r>
            <a:endParaRPr lang="en-US" sz="950" dirty="0"/>
          </a:p>
          <a:p>
            <a:pPr algn="l" marL="193040" indent="-193040">
              <a:lnSpc>
                <a:spcPct val="132000"/>
              </a:lnSpc>
              <a:buSzPct val="100000"/>
              <a:buChar char="•"/>
            </a:pPr>
            <a:r>
              <a:rPr lang="en-US" sz="950" b="1" dirty="0">
                <a:solidFill>
                  <a:srgbClr val="FFFFFF"/>
                </a:solidFill>
                <a:latin typeface="Lora Bold" pitchFamily="34" charset="0"/>
                <a:ea typeface="Lora Bold" pitchFamily="34" charset="-122"/>
                <a:cs typeface="Lora Bold" pitchFamily="34" charset="-120"/>
              </a:rPr>
              <a:t>Driver and firmware gaps</a:t>
            </a:r>
            <a:pPr algn="l" marL="193040" indent="-193040">
              <a:lnSpc>
                <a:spcPct val="132000"/>
              </a:lnSpc>
              <a:buSzPct val="100000"/>
              <a:buChar char="•"/>
            </a:pPr>
            <a:r>
              <a:rPr lang="en-US" sz="950" dirty="0">
                <a:solidFill>
                  <a:srgbClr val="FFFFFF"/>
                </a:solidFill>
                <a:latin typeface="Lora" pitchFamily="34" charset="0"/>
                <a:ea typeface="Lora" pitchFamily="34" charset="-122"/>
                <a:cs typeface="Lora" pitchFamily="34" charset="-120"/>
              </a:rPr>
              <a:t> — Many enterprise-class APs require firmware upgrades to enable WPA3; some older models cannot be upgraded</a:t>
            </a:r>
            <a:endParaRPr lang="en-US" sz="950" dirty="0"/>
          </a:p>
          <a:p>
            <a:pPr algn="l" marL="193040" indent="-193040">
              <a:lnSpc>
                <a:spcPct val="132000"/>
              </a:lnSpc>
              <a:buSzPct val="100000"/>
              <a:buChar char="•"/>
            </a:pPr>
            <a:r>
              <a:rPr lang="en-US" sz="950" b="1" dirty="0">
                <a:solidFill>
                  <a:srgbClr val="FFFFFF"/>
                </a:solidFill>
                <a:latin typeface="Lora Bold" pitchFamily="34" charset="0"/>
                <a:ea typeface="Lora Bold" pitchFamily="34" charset="-122"/>
                <a:cs typeface="Lora Bold" pitchFamily="34" charset="-120"/>
              </a:rPr>
              <a:t>Transition/Compatibility Mode</a:t>
            </a:r>
            <a:pPr algn="l" marL="193040" indent="-193040">
              <a:lnSpc>
                <a:spcPct val="132000"/>
              </a:lnSpc>
              <a:buSzPct val="100000"/>
              <a:buChar char="•"/>
            </a:pPr>
            <a:r>
              <a:rPr lang="en-US" sz="950" dirty="0">
                <a:solidFill>
                  <a:srgbClr val="FFFFFF"/>
                </a:solidFill>
                <a:latin typeface="Lora" pitchFamily="34" charset="0"/>
                <a:ea typeface="Lora" pitchFamily="34" charset="-122"/>
                <a:cs typeface="Lora" pitchFamily="34" charset="-120"/>
              </a:rPr>
              <a:t> — Most deployments must run WPA2 and WPA3 simultaneously, which limits some WPA3 security benefits</a:t>
            </a:r>
            <a:endParaRPr lang="en-US" sz="950" dirty="0"/>
          </a:p>
        </p:txBody>
      </p:sp>
      <p:sp>
        <p:nvSpPr>
          <p:cNvPr id="9" name="Text 7"/>
          <p:cNvSpPr/>
          <p:nvPr/>
        </p:nvSpPr>
        <p:spPr>
          <a:xfrm>
            <a:off x="4725665" y="1793974"/>
            <a:ext cx="3926979" cy="190723"/>
          </a:xfrm>
          <a:prstGeom prst="rect">
            <a:avLst/>
          </a:prstGeom>
          <a:noFill/>
          <a:ln/>
        </p:spPr>
        <p:txBody>
          <a:bodyPr wrap="none" lIns="0" tIns="0" rIns="0" bIns="0" rtlCol="0" anchor="t"/>
          <a:lstStyle/>
          <a:p>
            <a:pPr algn="l" indent="0" marL="0">
              <a:lnSpc>
                <a:spcPct val="104000"/>
              </a:lnSpc>
              <a:buNone/>
            </a:pPr>
            <a:r>
              <a:rPr lang="en-US" sz="1200" dirty="0">
                <a:solidFill>
                  <a:srgbClr val="233E32"/>
                </a:solidFill>
                <a:latin typeface="Alice" pitchFamily="34" charset="0"/>
                <a:ea typeface="Alice" pitchFamily="34" charset="-122"/>
                <a:cs typeface="Alice" pitchFamily="34" charset="-120"/>
              </a:rPr>
              <a:t>Organizational Barriers</a:t>
            </a:r>
            <a:endParaRPr lang="en-US" sz="1200" dirty="0"/>
          </a:p>
        </p:txBody>
      </p:sp>
      <p:sp>
        <p:nvSpPr>
          <p:cNvPr id="10" name="Text 8"/>
          <p:cNvSpPr/>
          <p:nvPr/>
        </p:nvSpPr>
        <p:spPr>
          <a:xfrm>
            <a:off x="4725665" y="2104876"/>
            <a:ext cx="3926979" cy="1676921"/>
          </a:xfrm>
          <a:prstGeom prst="rect">
            <a:avLst/>
          </a:prstGeom>
          <a:noFill/>
          <a:ln/>
        </p:spPr>
        <p:txBody>
          <a:bodyPr wrap="square" lIns="0" tIns="0" rIns="0" bIns="0" rtlCol="0" anchor="t">
            <a:normAutofit/>
          </a:bodyPr>
          <a:lstStyle/>
          <a:p>
            <a:pPr algn="l" marL="193040" indent="-193040">
              <a:lnSpc>
                <a:spcPct val="132000"/>
              </a:lnSpc>
              <a:buSzPct val="100000"/>
              <a:buChar char="•"/>
            </a:pPr>
            <a:r>
              <a:rPr lang="en-US" sz="950" b="1" dirty="0">
                <a:solidFill>
                  <a:srgbClr val="2C2821"/>
                </a:solidFill>
                <a:latin typeface="Lora Bold" pitchFamily="34" charset="0"/>
                <a:ea typeface="Lora Bold" pitchFamily="34" charset="-122"/>
                <a:cs typeface="Lora Bold" pitchFamily="34" charset="-120"/>
              </a:rPr>
              <a:t>Budget cycles</a:t>
            </a:r>
            <a:pPr algn="l" marL="193040" indent="-193040">
              <a:lnSpc>
                <a:spcPct val="132000"/>
              </a:lnSpc>
              <a:buSzPct val="100000"/>
              <a:buChar char="•"/>
            </a:pPr>
            <a:r>
              <a:rPr lang="en-US" sz="950" dirty="0">
                <a:solidFill>
                  <a:srgbClr val="2C2821"/>
                </a:solidFill>
                <a:latin typeface="Lora" pitchFamily="34" charset="0"/>
                <a:ea typeface="Lora" pitchFamily="34" charset="-122"/>
                <a:cs typeface="Lora" pitchFamily="34" charset="-120"/>
              </a:rPr>
              <a:t> — Hardware refresh programs may span 3–5 years; WPA3-capable APs require capital investment</a:t>
            </a:r>
            <a:endParaRPr lang="en-US" sz="950" dirty="0"/>
          </a:p>
          <a:p>
            <a:pPr algn="l" marL="193040" indent="-193040">
              <a:lnSpc>
                <a:spcPct val="132000"/>
              </a:lnSpc>
              <a:buSzPct val="100000"/>
              <a:buChar char="•"/>
            </a:pPr>
            <a:r>
              <a:rPr lang="en-US" sz="950" b="1" dirty="0">
                <a:solidFill>
                  <a:srgbClr val="2C2821"/>
                </a:solidFill>
                <a:latin typeface="Lora Bold" pitchFamily="34" charset="0"/>
                <a:ea typeface="Lora Bold" pitchFamily="34" charset="-122"/>
                <a:cs typeface="Lora Bold" pitchFamily="34" charset="-120"/>
              </a:rPr>
              <a:t>Mixed vendor environments</a:t>
            </a:r>
            <a:pPr algn="l" marL="193040" indent="-193040">
              <a:lnSpc>
                <a:spcPct val="132000"/>
              </a:lnSpc>
              <a:buSzPct val="100000"/>
              <a:buChar char="•"/>
            </a:pPr>
            <a:r>
              <a:rPr lang="en-US" sz="950" dirty="0">
                <a:solidFill>
                  <a:srgbClr val="2C2821"/>
                </a:solidFill>
                <a:latin typeface="Lora" pitchFamily="34" charset="0"/>
                <a:ea typeface="Lora" pitchFamily="34" charset="-122"/>
                <a:cs typeface="Lora" pitchFamily="34" charset="-120"/>
              </a:rPr>
              <a:t> — Different AP vendors implement WPA3 features inconsistently, particularly Enterprise mode</a:t>
            </a:r>
            <a:endParaRPr lang="en-US" sz="950" dirty="0"/>
          </a:p>
          <a:p>
            <a:pPr algn="l" marL="193040" indent="-193040">
              <a:lnSpc>
                <a:spcPct val="132000"/>
              </a:lnSpc>
              <a:buSzPct val="100000"/>
              <a:buChar char="•"/>
            </a:pPr>
            <a:r>
              <a:rPr lang="en-US" sz="950" b="1" dirty="0">
                <a:solidFill>
                  <a:srgbClr val="2C2821"/>
                </a:solidFill>
                <a:latin typeface="Lora Bold" pitchFamily="34" charset="0"/>
                <a:ea typeface="Lora Bold" pitchFamily="34" charset="-122"/>
                <a:cs typeface="Lora Bold" pitchFamily="34" charset="-120"/>
              </a:rPr>
              <a:t>User education</a:t>
            </a:r>
            <a:pPr algn="l" marL="193040" indent="-193040">
              <a:lnSpc>
                <a:spcPct val="132000"/>
              </a:lnSpc>
              <a:buSzPct val="100000"/>
              <a:buChar char="•"/>
            </a:pPr>
            <a:r>
              <a:rPr lang="en-US" sz="950" dirty="0">
                <a:solidFill>
                  <a:srgbClr val="2C2821"/>
                </a:solidFill>
                <a:latin typeface="Lora" pitchFamily="34" charset="0"/>
                <a:ea typeface="Lora" pitchFamily="34" charset="-122"/>
                <a:cs typeface="Lora" pitchFamily="34" charset="-120"/>
              </a:rPr>
              <a:t> — Help desk tickets spike during transitions as devices behave unexpectedly</a:t>
            </a:r>
            <a:endParaRPr lang="en-US" sz="950" dirty="0"/>
          </a:p>
          <a:p>
            <a:pPr algn="l" marL="193040" indent="-193040">
              <a:lnSpc>
                <a:spcPct val="132000"/>
              </a:lnSpc>
              <a:buSzPct val="100000"/>
              <a:buChar char="•"/>
            </a:pPr>
            <a:r>
              <a:rPr lang="en-US" sz="950" b="1" dirty="0">
                <a:solidFill>
                  <a:srgbClr val="2C2821"/>
                </a:solidFill>
                <a:latin typeface="Lora Bold" pitchFamily="34" charset="0"/>
                <a:ea typeface="Lora Bold" pitchFamily="34" charset="-122"/>
                <a:cs typeface="Lora Bold" pitchFamily="34" charset="-120"/>
              </a:rPr>
              <a:t>Testing requirements</a:t>
            </a:r>
            <a:pPr algn="l" marL="193040" indent="-193040">
              <a:lnSpc>
                <a:spcPct val="132000"/>
              </a:lnSpc>
              <a:buSzPct val="100000"/>
              <a:buChar char="•"/>
            </a:pPr>
            <a:r>
              <a:rPr lang="en-US" sz="950" dirty="0">
                <a:solidFill>
                  <a:srgbClr val="2C2821"/>
                </a:solidFill>
                <a:latin typeface="Lora" pitchFamily="34" charset="0"/>
                <a:ea typeface="Lora" pitchFamily="34" charset="-122"/>
                <a:cs typeface="Lora" pitchFamily="34" charset="-120"/>
              </a:rPr>
              <a:t> — Enterprise environments require staged rollout and compatibility testing before full deployment</a:t>
            </a:r>
            <a:endParaRPr lang="en-US" sz="950" dirty="0"/>
          </a:p>
        </p:txBody>
      </p:sp>
      <p:sp>
        <p:nvSpPr>
          <p:cNvPr id="11" name="Shape 9"/>
          <p:cNvSpPr/>
          <p:nvPr/>
        </p:nvSpPr>
        <p:spPr>
          <a:xfrm>
            <a:off x="496119" y="4110856"/>
            <a:ext cx="8151763" cy="677019"/>
          </a:xfrm>
          <a:prstGeom prst="roundRect">
            <a:avLst>
              <a:gd name="adj" fmla="val 2705"/>
            </a:avLst>
          </a:prstGeom>
          <a:solidFill>
            <a:srgbClr val="B6D6FC"/>
          </a:solidFill>
          <a:ln/>
        </p:spPr>
      </p:sp>
      <p:pic>
        <p:nvPicPr>
          <p:cNvPr id="12" name="Image 0" descr="preencoded.png">    </p:cNvPr>
          <p:cNvPicPr>
            <a:picLocks noChangeAspect="1"/>
          </p:cNvPicPr>
          <p:nvPr/>
        </p:nvPicPr>
        <p:blipFill>
          <a:blip r:embed="rId1"/>
          <a:stretch>
            <a:fillRect/>
          </a:stretch>
        </p:blipFill>
        <p:spPr>
          <a:xfrm>
            <a:off x="618158" y="4285208"/>
            <a:ext cx="152623" cy="122039"/>
          </a:xfrm>
          <a:prstGeom prst="rect">
            <a:avLst/>
          </a:prstGeom>
        </p:spPr>
      </p:pic>
      <p:sp>
        <p:nvSpPr>
          <p:cNvPr id="13" name="Text 10"/>
          <p:cNvSpPr/>
          <p:nvPr/>
        </p:nvSpPr>
        <p:spPr>
          <a:xfrm>
            <a:off x="892820" y="4261545"/>
            <a:ext cx="7633022" cy="387697"/>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000000"/>
                </a:solidFill>
                <a:latin typeface="Lora" pitchFamily="34" charset="0"/>
                <a:ea typeface="Lora" pitchFamily="34" charset="-122"/>
                <a:cs typeface="Lora" pitchFamily="34" charset="-120"/>
              </a:rPr>
              <a:t>Best practice: Enable WPA3 Transition Mode first, monitor for client issues over 30–60 days, then gradually disable WPA2 as legacy devices are retired.</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96119" y="426393"/>
            <a:ext cx="563389" cy="188565"/>
          </a:xfrm>
          <a:prstGeom prst="roundRect">
            <a:avLst>
              <a:gd name="adj" fmla="val 7894"/>
            </a:avLst>
          </a:prstGeom>
          <a:solidFill>
            <a:srgbClr val="D7F4E4"/>
          </a:solidFill>
          <a:ln/>
        </p:spPr>
      </p:sp>
      <p:sp>
        <p:nvSpPr>
          <p:cNvPr id="3" name="Text 1"/>
          <p:cNvSpPr/>
          <p:nvPr/>
        </p:nvSpPr>
        <p:spPr>
          <a:xfrm>
            <a:off x="570533" y="463600"/>
            <a:ext cx="871761" cy="114151"/>
          </a:xfrm>
          <a:prstGeom prst="rect">
            <a:avLst/>
          </a:prstGeom>
          <a:noFill/>
          <a:ln/>
        </p:spPr>
        <p:txBody>
          <a:bodyPr wrap="none" lIns="0" tIns="0" rIns="0" bIns="0" rtlCol="0" anchor="t"/>
          <a:lstStyle/>
          <a:p>
            <a:pPr algn="l" indent="0" marL="0">
              <a:lnSpc>
                <a:spcPct val="96000"/>
              </a:lnSpc>
              <a:buNone/>
            </a:pPr>
            <a:r>
              <a:rPr lang="en-US" sz="750" dirty="0">
                <a:solidFill>
                  <a:srgbClr val="2C2821"/>
                </a:solidFill>
                <a:latin typeface="Lora" pitchFamily="34" charset="0"/>
                <a:ea typeface="Lora" pitchFamily="34" charset="-122"/>
                <a:cs typeface="Lora" pitchFamily="34" charset="-120"/>
              </a:rPr>
              <a:t>SLIDE 23</a:t>
            </a:r>
            <a:endParaRPr lang="en-US" sz="750" dirty="0"/>
          </a:p>
        </p:txBody>
      </p:sp>
      <p:sp>
        <p:nvSpPr>
          <p:cNvPr id="4" name="Text 2"/>
          <p:cNvSpPr/>
          <p:nvPr/>
        </p:nvSpPr>
        <p:spPr>
          <a:xfrm>
            <a:off x="496119" y="664518"/>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233E32"/>
                </a:solidFill>
                <a:latin typeface="Alice" pitchFamily="34" charset="0"/>
                <a:ea typeface="Alice" pitchFamily="34" charset="-122"/>
                <a:cs typeface="Alice" pitchFamily="34" charset="-120"/>
              </a:rPr>
              <a:t>Emerging Wireless Security</a:t>
            </a:r>
            <a:endParaRPr lang="en-US" sz="2400" dirty="0"/>
          </a:p>
        </p:txBody>
      </p:sp>
      <p:sp>
        <p:nvSpPr>
          <p:cNvPr id="5" name="Text 3"/>
          <p:cNvSpPr/>
          <p:nvPr/>
        </p:nvSpPr>
        <p:spPr>
          <a:xfrm>
            <a:off x="496119" y="1238101"/>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WPA3 is the current standard — but the wireless security landscape is already evolving toward the next generation of challenges and solutions. Understanding these trends prepares you for what comes after WPA3.</a:t>
            </a:r>
            <a:endParaRPr lang="en-US" sz="950" dirty="0"/>
          </a:p>
        </p:txBody>
      </p:sp>
      <p:sp>
        <p:nvSpPr>
          <p:cNvPr id="6" name="Shape 4"/>
          <p:cNvSpPr/>
          <p:nvPr/>
        </p:nvSpPr>
        <p:spPr>
          <a:xfrm>
            <a:off x="496119" y="1774552"/>
            <a:ext cx="2634555" cy="1508522"/>
          </a:xfrm>
          <a:prstGeom prst="roundRect">
            <a:avLst>
              <a:gd name="adj" fmla="val 1233"/>
            </a:avLst>
          </a:prstGeom>
          <a:solidFill>
            <a:srgbClr val="F0EDE6"/>
          </a:solidFill>
          <a:ln/>
        </p:spPr>
      </p:sp>
      <p:sp>
        <p:nvSpPr>
          <p:cNvPr id="7" name="Text 5"/>
          <p:cNvSpPr/>
          <p:nvPr/>
        </p:nvSpPr>
        <p:spPr>
          <a:xfrm>
            <a:off x="620092" y="1898526"/>
            <a:ext cx="2386608"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Wi-Fi 7 (802.11be)</a:t>
            </a:r>
            <a:endParaRPr lang="en-US" sz="1200" dirty="0"/>
          </a:p>
        </p:txBody>
      </p:sp>
      <p:sp>
        <p:nvSpPr>
          <p:cNvPr id="8" name="Text 6"/>
          <p:cNvSpPr/>
          <p:nvPr/>
        </p:nvSpPr>
        <p:spPr>
          <a:xfrm>
            <a:off x="620092" y="2166789"/>
            <a:ext cx="2386608"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Multi-link operation, 46 Gbps theoretical throughput. New attack surfaces from increased complexity. WPA3 required. Security architecture evolving to match.</a:t>
            </a:r>
            <a:endParaRPr lang="en-US" sz="950" dirty="0"/>
          </a:p>
        </p:txBody>
      </p:sp>
      <p:sp>
        <p:nvSpPr>
          <p:cNvPr id="9" name="Shape 7"/>
          <p:cNvSpPr/>
          <p:nvPr/>
        </p:nvSpPr>
        <p:spPr>
          <a:xfrm>
            <a:off x="3254648" y="1774552"/>
            <a:ext cx="2634630" cy="1508522"/>
          </a:xfrm>
          <a:prstGeom prst="roundRect">
            <a:avLst>
              <a:gd name="adj" fmla="val 1233"/>
            </a:avLst>
          </a:prstGeom>
          <a:solidFill>
            <a:srgbClr val="F0EDE6"/>
          </a:solidFill>
          <a:ln/>
        </p:spPr>
      </p:sp>
      <p:sp>
        <p:nvSpPr>
          <p:cNvPr id="10" name="Text 8"/>
          <p:cNvSpPr/>
          <p:nvPr/>
        </p:nvSpPr>
        <p:spPr>
          <a:xfrm>
            <a:off x="3378622" y="1898526"/>
            <a:ext cx="2386682"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Zero Trust Wireless</a:t>
            </a:r>
            <a:endParaRPr lang="en-US" sz="1200" dirty="0"/>
          </a:p>
        </p:txBody>
      </p:sp>
      <p:sp>
        <p:nvSpPr>
          <p:cNvPr id="11" name="Text 9"/>
          <p:cNvSpPr/>
          <p:nvPr/>
        </p:nvSpPr>
        <p:spPr>
          <a:xfrm>
            <a:off x="3378622" y="2166789"/>
            <a:ext cx="2386682"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No device is trusted by default — even on an internal Wi-Fi network. Continuous identity verification, micro-segmentation, and least-privilege access enforced per device per session.</a:t>
            </a:r>
            <a:endParaRPr lang="en-US" sz="950" dirty="0"/>
          </a:p>
        </p:txBody>
      </p:sp>
      <p:sp>
        <p:nvSpPr>
          <p:cNvPr id="12" name="Shape 10"/>
          <p:cNvSpPr/>
          <p:nvPr/>
        </p:nvSpPr>
        <p:spPr>
          <a:xfrm>
            <a:off x="6013252" y="1774552"/>
            <a:ext cx="2634555" cy="1508522"/>
          </a:xfrm>
          <a:prstGeom prst="roundRect">
            <a:avLst>
              <a:gd name="adj" fmla="val 1233"/>
            </a:avLst>
          </a:prstGeom>
          <a:solidFill>
            <a:srgbClr val="F0EDE6"/>
          </a:solidFill>
          <a:ln/>
        </p:spPr>
      </p:sp>
      <p:sp>
        <p:nvSpPr>
          <p:cNvPr id="13" name="Text 11"/>
          <p:cNvSpPr/>
          <p:nvPr/>
        </p:nvSpPr>
        <p:spPr>
          <a:xfrm>
            <a:off x="6137225" y="1898526"/>
            <a:ext cx="2386608"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AI-Managed Radios</a:t>
            </a:r>
            <a:endParaRPr lang="en-US" sz="1200" dirty="0"/>
          </a:p>
        </p:txBody>
      </p:sp>
      <p:sp>
        <p:nvSpPr>
          <p:cNvPr id="14" name="Text 12"/>
          <p:cNvSpPr/>
          <p:nvPr/>
        </p:nvSpPr>
        <p:spPr>
          <a:xfrm>
            <a:off x="6137225" y="2166789"/>
            <a:ext cx="2386608"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Machine learning detects anomalous wireless behavior — rogue APs, unusual client patterns, and novel attack signatures — in real time, enabling automated threat response.</a:t>
            </a:r>
            <a:endParaRPr lang="en-US" sz="950" dirty="0"/>
          </a:p>
        </p:txBody>
      </p:sp>
      <p:sp>
        <p:nvSpPr>
          <p:cNvPr id="15" name="Shape 13"/>
          <p:cNvSpPr/>
          <p:nvPr/>
        </p:nvSpPr>
        <p:spPr>
          <a:xfrm>
            <a:off x="496119" y="3407048"/>
            <a:ext cx="4013820" cy="1310060"/>
          </a:xfrm>
          <a:prstGeom prst="roundRect">
            <a:avLst>
              <a:gd name="adj" fmla="val 1420"/>
            </a:avLst>
          </a:prstGeom>
          <a:solidFill>
            <a:srgbClr val="F0EDE6"/>
          </a:solidFill>
          <a:ln/>
        </p:spPr>
      </p:sp>
      <p:sp>
        <p:nvSpPr>
          <p:cNvPr id="16" name="Text 14"/>
          <p:cNvSpPr/>
          <p:nvPr/>
        </p:nvSpPr>
        <p:spPr>
          <a:xfrm>
            <a:off x="620092" y="3531022"/>
            <a:ext cx="3765872"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Certificate Authentication</a:t>
            </a:r>
            <a:endParaRPr lang="en-US" sz="1200" dirty="0"/>
          </a:p>
        </p:txBody>
      </p:sp>
      <p:sp>
        <p:nvSpPr>
          <p:cNvPr id="17" name="Text 15"/>
          <p:cNvSpPr/>
          <p:nvPr/>
        </p:nvSpPr>
        <p:spPr>
          <a:xfrm>
            <a:off x="620092" y="3799284"/>
            <a:ext cx="3765872"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Moving beyond passwords entirely — device certificates issued by enterprise PKI infrastructure authenticate clients cryptographically, eliminating credential-based attacks at the source.</a:t>
            </a:r>
            <a:endParaRPr lang="en-US" sz="950" dirty="0"/>
          </a:p>
        </p:txBody>
      </p:sp>
      <p:sp>
        <p:nvSpPr>
          <p:cNvPr id="18" name="Shape 16"/>
          <p:cNvSpPr/>
          <p:nvPr/>
        </p:nvSpPr>
        <p:spPr>
          <a:xfrm>
            <a:off x="4633913" y="3407048"/>
            <a:ext cx="4013895" cy="1310060"/>
          </a:xfrm>
          <a:prstGeom prst="roundRect">
            <a:avLst>
              <a:gd name="adj" fmla="val 1420"/>
            </a:avLst>
          </a:prstGeom>
          <a:solidFill>
            <a:srgbClr val="F0EDE6"/>
          </a:solidFill>
          <a:ln/>
        </p:spPr>
      </p:sp>
      <p:sp>
        <p:nvSpPr>
          <p:cNvPr id="19" name="Text 17"/>
          <p:cNvSpPr/>
          <p:nvPr/>
        </p:nvSpPr>
        <p:spPr>
          <a:xfrm>
            <a:off x="4757886" y="3531022"/>
            <a:ext cx="3765947" cy="193849"/>
          </a:xfrm>
          <a:prstGeom prst="rect">
            <a:avLst/>
          </a:prstGeom>
          <a:noFill/>
          <a:ln/>
        </p:spPr>
        <p:txBody>
          <a:bodyPr wrap="none" lIns="0" tIns="0" rIns="0" bIns="0" rtlCol="0" anchor="t"/>
          <a:lstStyle/>
          <a:p>
            <a:pPr algn="l" indent="0" marL="0">
              <a:lnSpc>
                <a:spcPct val="104000"/>
              </a:lnSpc>
              <a:buNone/>
            </a:pPr>
            <a:r>
              <a:rPr lang="en-US" sz="1200" dirty="0">
                <a:solidFill>
                  <a:srgbClr val="2C2821"/>
                </a:solidFill>
                <a:latin typeface="Alice" pitchFamily="34" charset="0"/>
                <a:ea typeface="Alice" pitchFamily="34" charset="-122"/>
                <a:cs typeface="Alice" pitchFamily="34" charset="-120"/>
              </a:rPr>
              <a:t>Quantum-Resistant Encryption</a:t>
            </a:r>
            <a:endParaRPr lang="en-US" sz="1200" dirty="0"/>
          </a:p>
        </p:txBody>
      </p:sp>
      <p:sp>
        <p:nvSpPr>
          <p:cNvPr id="20" name="Text 18"/>
          <p:cNvSpPr/>
          <p:nvPr/>
        </p:nvSpPr>
        <p:spPr>
          <a:xfrm>
            <a:off x="4757886" y="3799284"/>
            <a:ext cx="376594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C2821"/>
                </a:solidFill>
                <a:latin typeface="Lora" pitchFamily="34" charset="0"/>
                <a:ea typeface="Lora" pitchFamily="34" charset="-122"/>
                <a:cs typeface="Lora" pitchFamily="34" charset="-120"/>
              </a:rPr>
              <a:t>NIST has finalized post-quantum cryptographic algorithms (CRYSTALS-Kyber, CRYSTALS-Dilithium). Future wireless standards will incorporate these to resist attacks from quantum computers.</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96119" y="414710"/>
            <a:ext cx="508546" cy="170855"/>
          </a:xfrm>
          <a:prstGeom prst="roundRect">
            <a:avLst>
              <a:gd name="adj" fmla="val 7896"/>
            </a:avLst>
          </a:prstGeom>
          <a:solidFill>
            <a:srgbClr val="D7F4E4"/>
          </a:solidFill>
          <a:ln/>
        </p:spPr>
      </p:sp>
      <p:sp>
        <p:nvSpPr>
          <p:cNvPr id="3" name="Text 1"/>
          <p:cNvSpPr/>
          <p:nvPr/>
        </p:nvSpPr>
        <p:spPr>
          <a:xfrm>
            <a:off x="563538" y="448419"/>
            <a:ext cx="830907" cy="103436"/>
          </a:xfrm>
          <a:prstGeom prst="rect">
            <a:avLst/>
          </a:prstGeom>
          <a:noFill/>
          <a:ln/>
        </p:spPr>
        <p:txBody>
          <a:bodyPr wrap="none" lIns="0" tIns="0" rIns="0" bIns="0" rtlCol="0" anchor="t"/>
          <a:lstStyle/>
          <a:p>
            <a:pPr algn="l" indent="0" marL="0">
              <a:lnSpc>
                <a:spcPct val="96000"/>
              </a:lnSpc>
              <a:buNone/>
            </a:pPr>
            <a:r>
              <a:rPr lang="en-US" sz="700" dirty="0">
                <a:solidFill>
                  <a:srgbClr val="2C2821"/>
                </a:solidFill>
                <a:latin typeface="Lora" pitchFamily="34" charset="0"/>
                <a:ea typeface="Lora" pitchFamily="34" charset="-122"/>
                <a:cs typeface="Lora" pitchFamily="34" charset="-120"/>
              </a:rPr>
              <a:t>SLIDE 24</a:t>
            </a:r>
            <a:endParaRPr lang="en-US" sz="700" dirty="0"/>
          </a:p>
        </p:txBody>
      </p:sp>
      <p:sp>
        <p:nvSpPr>
          <p:cNvPr id="4" name="Text 2"/>
          <p:cNvSpPr/>
          <p:nvPr/>
        </p:nvSpPr>
        <p:spPr>
          <a:xfrm>
            <a:off x="496119" y="626269"/>
            <a:ext cx="8151763" cy="351309"/>
          </a:xfrm>
          <a:prstGeom prst="rect">
            <a:avLst/>
          </a:prstGeom>
          <a:noFill/>
          <a:ln/>
        </p:spPr>
        <p:txBody>
          <a:bodyPr wrap="none" lIns="0" tIns="0" rIns="0" bIns="0" rtlCol="0" anchor="t"/>
          <a:lstStyle/>
          <a:p>
            <a:pPr algn="l" indent="0" marL="0">
              <a:lnSpc>
                <a:spcPct val="104000"/>
              </a:lnSpc>
              <a:buNone/>
            </a:pPr>
            <a:r>
              <a:rPr lang="en-US" sz="2200" dirty="0">
                <a:solidFill>
                  <a:srgbClr val="233E32"/>
                </a:solidFill>
                <a:latin typeface="Alice" pitchFamily="34" charset="0"/>
                <a:ea typeface="Alice" pitchFamily="34" charset="-122"/>
                <a:cs typeface="Alice" pitchFamily="34" charset="-120"/>
              </a:rPr>
              <a:t>Discussion Questions &amp; Live Demonstrations</a:t>
            </a:r>
            <a:endParaRPr lang="en-US" sz="2200" dirty="0"/>
          </a:p>
        </p:txBody>
      </p:sp>
      <p:sp>
        <p:nvSpPr>
          <p:cNvPr id="5" name="Text 3"/>
          <p:cNvSpPr/>
          <p:nvPr/>
        </p:nvSpPr>
        <p:spPr>
          <a:xfrm>
            <a:off x="496119" y="1232222"/>
            <a:ext cx="3938736" cy="175617"/>
          </a:xfrm>
          <a:prstGeom prst="rect">
            <a:avLst/>
          </a:prstGeom>
          <a:noFill/>
          <a:ln/>
        </p:spPr>
        <p:txBody>
          <a:bodyPr wrap="none" lIns="0" tIns="0" rIns="0" bIns="0" rtlCol="0" anchor="t"/>
          <a:lstStyle/>
          <a:p>
            <a:pPr algn="l" indent="0" marL="0">
              <a:lnSpc>
                <a:spcPct val="104000"/>
              </a:lnSpc>
              <a:buNone/>
            </a:pPr>
            <a:r>
              <a:rPr lang="en-US" sz="1100" dirty="0">
                <a:solidFill>
                  <a:srgbClr val="000000"/>
                </a:solidFill>
                <a:latin typeface="Alice" pitchFamily="34" charset="0"/>
                <a:ea typeface="Alice" pitchFamily="34" charset="-122"/>
                <a:cs typeface="Alice" pitchFamily="34" charset="-120"/>
              </a:rPr>
              <a:t>💬</a:t>
            </a:r>
            <a:pPr algn="l" indent="0" marL="0">
              <a:lnSpc>
                <a:spcPct val="104000"/>
              </a:lnSpc>
              <a:buNone/>
            </a:pPr>
            <a:r>
              <a:rPr lang="en-US" sz="1100" dirty="0">
                <a:solidFill>
                  <a:srgbClr val="233E32"/>
                </a:solidFill>
                <a:latin typeface="Alice" pitchFamily="34" charset="0"/>
                <a:ea typeface="Alice" pitchFamily="34" charset="-122"/>
                <a:cs typeface="Alice" pitchFamily="34" charset="-120"/>
              </a:rPr>
              <a:t> Discussion Questions</a:t>
            </a:r>
            <a:endParaRPr lang="en-US" sz="1100" dirty="0"/>
          </a:p>
        </p:txBody>
      </p:sp>
      <p:sp>
        <p:nvSpPr>
          <p:cNvPr id="6" name="Shape 4"/>
          <p:cNvSpPr/>
          <p:nvPr/>
        </p:nvSpPr>
        <p:spPr>
          <a:xfrm>
            <a:off x="496119" y="1522437"/>
            <a:ext cx="252933" cy="252933"/>
          </a:xfrm>
          <a:prstGeom prst="roundRect">
            <a:avLst>
              <a:gd name="adj" fmla="val 6667"/>
            </a:avLst>
          </a:prstGeom>
          <a:solidFill>
            <a:srgbClr val="F0EDE6"/>
          </a:solidFill>
          <a:ln/>
        </p:spPr>
      </p:sp>
      <p:sp>
        <p:nvSpPr>
          <p:cNvPr id="7" name="Text 5"/>
          <p:cNvSpPr/>
          <p:nvPr/>
        </p:nvSpPr>
        <p:spPr>
          <a:xfrm>
            <a:off x="538237" y="1543496"/>
            <a:ext cx="168622" cy="210741"/>
          </a:xfrm>
          <a:prstGeom prst="rect">
            <a:avLst/>
          </a:prstGeom>
          <a:noFill/>
          <a:ln/>
        </p:spPr>
        <p:txBody>
          <a:bodyPr wrap="none" lIns="0" tIns="0" rIns="0" bIns="0" rtlCol="0" anchor="ctr"/>
          <a:lstStyle/>
          <a:p>
            <a:pPr algn="ctr" indent="0" marL="0">
              <a:lnSpc>
                <a:spcPct val="100000"/>
              </a:lnSpc>
              <a:buNone/>
            </a:pPr>
            <a:r>
              <a:rPr lang="en-US" sz="1300" dirty="0">
                <a:solidFill>
                  <a:srgbClr val="2C2821"/>
                </a:solidFill>
                <a:latin typeface="Alice" pitchFamily="34" charset="0"/>
                <a:ea typeface="Alice" pitchFamily="34" charset="-122"/>
                <a:cs typeface="Alice" pitchFamily="34" charset="-120"/>
              </a:rPr>
              <a:t>1</a:t>
            </a:r>
            <a:endParaRPr lang="en-US" sz="1300" dirty="0"/>
          </a:p>
        </p:txBody>
      </p:sp>
      <p:sp>
        <p:nvSpPr>
          <p:cNvPr id="8" name="Text 6"/>
          <p:cNvSpPr/>
          <p:nvPr/>
        </p:nvSpPr>
        <p:spPr>
          <a:xfrm>
            <a:off x="850925" y="1561058"/>
            <a:ext cx="3583930" cy="175617"/>
          </a:xfrm>
          <a:prstGeom prst="rect">
            <a:avLst/>
          </a:prstGeom>
          <a:noFill/>
          <a:ln/>
        </p:spPr>
        <p:txBody>
          <a:bodyPr wrap="none" lIns="0" tIns="0" rIns="0" bIns="0" rtlCol="0" anchor="t"/>
          <a:lstStyle/>
          <a:p>
            <a:pPr algn="l" indent="0" marL="0">
              <a:lnSpc>
                <a:spcPct val="104000"/>
              </a:lnSpc>
              <a:buNone/>
            </a:pPr>
            <a:r>
              <a:rPr lang="en-US" sz="1100" dirty="0">
                <a:solidFill>
                  <a:srgbClr val="2C2821"/>
                </a:solidFill>
                <a:latin typeface="Alice" pitchFamily="34" charset="0"/>
                <a:ea typeface="Alice" pitchFamily="34" charset="-122"/>
                <a:cs typeface="Alice" pitchFamily="34" charset="-120"/>
              </a:rPr>
              <a:t>Why isn't AES enough by itself?</a:t>
            </a:r>
            <a:endParaRPr lang="en-US" sz="1100" dirty="0"/>
          </a:p>
        </p:txBody>
      </p:sp>
      <p:sp>
        <p:nvSpPr>
          <p:cNvPr id="9" name="Text 7"/>
          <p:cNvSpPr/>
          <p:nvPr/>
        </p:nvSpPr>
        <p:spPr>
          <a:xfrm>
            <a:off x="850925" y="1838548"/>
            <a:ext cx="3583930"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2C2821"/>
                </a:solidFill>
                <a:latin typeface="Lora" pitchFamily="34" charset="0"/>
                <a:ea typeface="Lora" pitchFamily="34" charset="-122"/>
                <a:cs typeface="Lora" pitchFamily="34" charset="-120"/>
              </a:rPr>
              <a:t>Strong encryption doesn't help if the key exchange is compromised. WPA2's authentication was crackable regardless of AES strength.</a:t>
            </a:r>
            <a:endParaRPr lang="en-US" sz="850" dirty="0"/>
          </a:p>
        </p:txBody>
      </p:sp>
      <p:sp>
        <p:nvSpPr>
          <p:cNvPr id="10" name="Shape 8"/>
          <p:cNvSpPr/>
          <p:nvPr/>
        </p:nvSpPr>
        <p:spPr>
          <a:xfrm>
            <a:off x="496119" y="2385194"/>
            <a:ext cx="252933" cy="252933"/>
          </a:xfrm>
          <a:prstGeom prst="roundRect">
            <a:avLst>
              <a:gd name="adj" fmla="val 6667"/>
            </a:avLst>
          </a:prstGeom>
          <a:solidFill>
            <a:srgbClr val="F0EDE6"/>
          </a:solidFill>
          <a:ln/>
        </p:spPr>
      </p:sp>
      <p:sp>
        <p:nvSpPr>
          <p:cNvPr id="11" name="Text 9"/>
          <p:cNvSpPr/>
          <p:nvPr/>
        </p:nvSpPr>
        <p:spPr>
          <a:xfrm>
            <a:off x="538237" y="2406253"/>
            <a:ext cx="168622" cy="210741"/>
          </a:xfrm>
          <a:prstGeom prst="rect">
            <a:avLst/>
          </a:prstGeom>
          <a:noFill/>
          <a:ln/>
        </p:spPr>
        <p:txBody>
          <a:bodyPr wrap="none" lIns="0" tIns="0" rIns="0" bIns="0" rtlCol="0" anchor="ctr"/>
          <a:lstStyle/>
          <a:p>
            <a:pPr algn="ctr" indent="0" marL="0">
              <a:lnSpc>
                <a:spcPct val="100000"/>
              </a:lnSpc>
              <a:buNone/>
            </a:pPr>
            <a:r>
              <a:rPr lang="en-US" sz="1300" dirty="0">
                <a:solidFill>
                  <a:srgbClr val="2C2821"/>
                </a:solidFill>
                <a:latin typeface="Alice" pitchFamily="34" charset="0"/>
                <a:ea typeface="Alice" pitchFamily="34" charset="-122"/>
                <a:cs typeface="Alice" pitchFamily="34" charset="-120"/>
              </a:rPr>
              <a:t>2</a:t>
            </a:r>
            <a:endParaRPr lang="en-US" sz="1300" dirty="0"/>
          </a:p>
        </p:txBody>
      </p:sp>
      <p:sp>
        <p:nvSpPr>
          <p:cNvPr id="12" name="Text 10"/>
          <p:cNvSpPr/>
          <p:nvPr/>
        </p:nvSpPr>
        <p:spPr>
          <a:xfrm>
            <a:off x="850925" y="2423815"/>
            <a:ext cx="3583930" cy="175617"/>
          </a:xfrm>
          <a:prstGeom prst="rect">
            <a:avLst/>
          </a:prstGeom>
          <a:noFill/>
          <a:ln/>
        </p:spPr>
        <p:txBody>
          <a:bodyPr wrap="none" lIns="0" tIns="0" rIns="0" bIns="0" rtlCol="0" anchor="t"/>
          <a:lstStyle/>
          <a:p>
            <a:pPr algn="l" indent="0" marL="0">
              <a:lnSpc>
                <a:spcPct val="104000"/>
              </a:lnSpc>
              <a:buNone/>
            </a:pPr>
            <a:r>
              <a:rPr lang="en-US" sz="1100" dirty="0">
                <a:solidFill>
                  <a:srgbClr val="2C2821"/>
                </a:solidFill>
                <a:latin typeface="Alice" pitchFamily="34" charset="0"/>
                <a:ea typeface="Alice" pitchFamily="34" charset="-122"/>
                <a:cs typeface="Alice" pitchFamily="34" charset="-120"/>
              </a:rPr>
              <a:t>Would you trust public Wi-Fi if it used WPA3?</a:t>
            </a:r>
            <a:endParaRPr lang="en-US" sz="1100" dirty="0"/>
          </a:p>
        </p:txBody>
      </p:sp>
      <p:sp>
        <p:nvSpPr>
          <p:cNvPr id="13" name="Text 11"/>
          <p:cNvSpPr/>
          <p:nvPr/>
        </p:nvSpPr>
        <p:spPr>
          <a:xfrm>
            <a:off x="850925" y="2701305"/>
            <a:ext cx="3583930"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2C2821"/>
                </a:solidFill>
                <a:latin typeface="Lora" pitchFamily="34" charset="0"/>
                <a:ea typeface="Lora" pitchFamily="34" charset="-122"/>
                <a:cs typeface="Lora" pitchFamily="34" charset="-120"/>
              </a:rPr>
              <a:t>Consider: SAE protects your handshake, but what about the destination servers and the access point operator themselves?</a:t>
            </a:r>
            <a:endParaRPr lang="en-US" sz="850" dirty="0"/>
          </a:p>
        </p:txBody>
      </p:sp>
      <p:sp>
        <p:nvSpPr>
          <p:cNvPr id="14" name="Shape 12"/>
          <p:cNvSpPr/>
          <p:nvPr/>
        </p:nvSpPr>
        <p:spPr>
          <a:xfrm>
            <a:off x="496119" y="3247951"/>
            <a:ext cx="252933" cy="252933"/>
          </a:xfrm>
          <a:prstGeom prst="roundRect">
            <a:avLst>
              <a:gd name="adj" fmla="val 6667"/>
            </a:avLst>
          </a:prstGeom>
          <a:solidFill>
            <a:srgbClr val="F0EDE6"/>
          </a:solidFill>
          <a:ln/>
        </p:spPr>
      </p:sp>
      <p:sp>
        <p:nvSpPr>
          <p:cNvPr id="15" name="Text 13"/>
          <p:cNvSpPr/>
          <p:nvPr/>
        </p:nvSpPr>
        <p:spPr>
          <a:xfrm>
            <a:off x="538237" y="3269010"/>
            <a:ext cx="168622" cy="210741"/>
          </a:xfrm>
          <a:prstGeom prst="rect">
            <a:avLst/>
          </a:prstGeom>
          <a:noFill/>
          <a:ln/>
        </p:spPr>
        <p:txBody>
          <a:bodyPr wrap="none" lIns="0" tIns="0" rIns="0" bIns="0" rtlCol="0" anchor="ctr"/>
          <a:lstStyle/>
          <a:p>
            <a:pPr algn="ctr" indent="0" marL="0">
              <a:lnSpc>
                <a:spcPct val="100000"/>
              </a:lnSpc>
              <a:buNone/>
            </a:pPr>
            <a:r>
              <a:rPr lang="en-US" sz="1300" dirty="0">
                <a:solidFill>
                  <a:srgbClr val="2C2821"/>
                </a:solidFill>
                <a:latin typeface="Alice" pitchFamily="34" charset="0"/>
                <a:ea typeface="Alice" pitchFamily="34" charset="-122"/>
                <a:cs typeface="Alice" pitchFamily="34" charset="-120"/>
              </a:rPr>
              <a:t>3</a:t>
            </a:r>
            <a:endParaRPr lang="en-US" sz="1300" dirty="0"/>
          </a:p>
        </p:txBody>
      </p:sp>
      <p:sp>
        <p:nvSpPr>
          <p:cNvPr id="16" name="Text 14"/>
          <p:cNvSpPr/>
          <p:nvPr/>
        </p:nvSpPr>
        <p:spPr>
          <a:xfrm>
            <a:off x="850925" y="3286571"/>
            <a:ext cx="3583930" cy="175617"/>
          </a:xfrm>
          <a:prstGeom prst="rect">
            <a:avLst/>
          </a:prstGeom>
          <a:noFill/>
          <a:ln/>
        </p:spPr>
        <p:txBody>
          <a:bodyPr wrap="none" lIns="0" tIns="0" rIns="0" bIns="0" rtlCol="0" anchor="t"/>
          <a:lstStyle/>
          <a:p>
            <a:pPr algn="l" indent="0" marL="0">
              <a:lnSpc>
                <a:spcPct val="104000"/>
              </a:lnSpc>
              <a:buNone/>
            </a:pPr>
            <a:r>
              <a:rPr lang="en-US" sz="1100" dirty="0">
                <a:solidFill>
                  <a:srgbClr val="2C2821"/>
                </a:solidFill>
                <a:latin typeface="Alice" pitchFamily="34" charset="0"/>
                <a:ea typeface="Alice" pitchFamily="34" charset="-122"/>
                <a:cs typeface="Alice" pitchFamily="34" charset="-120"/>
              </a:rPr>
              <a:t>Should organizations disable WPA2 entirely?</a:t>
            </a:r>
            <a:endParaRPr lang="en-US" sz="1100" dirty="0"/>
          </a:p>
        </p:txBody>
      </p:sp>
      <p:sp>
        <p:nvSpPr>
          <p:cNvPr id="17" name="Text 15"/>
          <p:cNvSpPr/>
          <p:nvPr/>
        </p:nvSpPr>
        <p:spPr>
          <a:xfrm>
            <a:off x="850925" y="3564062"/>
            <a:ext cx="3583930"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2C2821"/>
                </a:solidFill>
                <a:latin typeface="Lora" pitchFamily="34" charset="0"/>
                <a:ea typeface="Lora" pitchFamily="34" charset="-122"/>
                <a:cs typeface="Lora" pitchFamily="34" charset="-120"/>
              </a:rPr>
              <a:t>Weigh security gains against operational risk. What happens to legacy medical or industrial devices that cannot be upgraded?</a:t>
            </a:r>
            <a:endParaRPr lang="en-US" sz="850" dirty="0"/>
          </a:p>
        </p:txBody>
      </p:sp>
      <p:sp>
        <p:nvSpPr>
          <p:cNvPr id="18" name="Shape 16"/>
          <p:cNvSpPr/>
          <p:nvPr/>
        </p:nvSpPr>
        <p:spPr>
          <a:xfrm>
            <a:off x="4632945" y="1130350"/>
            <a:ext cx="4100661" cy="2891210"/>
          </a:xfrm>
          <a:prstGeom prst="roundRect">
            <a:avLst>
              <a:gd name="adj" fmla="val 583"/>
            </a:avLst>
          </a:prstGeom>
          <a:solidFill>
            <a:srgbClr val="1B5F39"/>
          </a:solidFill>
          <a:ln/>
        </p:spPr>
      </p:sp>
      <p:sp>
        <p:nvSpPr>
          <p:cNvPr id="19" name="Text 17"/>
          <p:cNvSpPr/>
          <p:nvPr/>
        </p:nvSpPr>
        <p:spPr>
          <a:xfrm>
            <a:off x="4745310" y="1232222"/>
            <a:ext cx="3875931" cy="175617"/>
          </a:xfrm>
          <a:prstGeom prst="rect">
            <a:avLst/>
          </a:prstGeom>
          <a:noFill/>
          <a:ln/>
        </p:spPr>
        <p:txBody>
          <a:bodyPr wrap="none" lIns="0" tIns="0" rIns="0" bIns="0" rtlCol="0" anchor="t"/>
          <a:lstStyle/>
          <a:p>
            <a:pPr algn="l" indent="0" marL="0">
              <a:lnSpc>
                <a:spcPct val="104000"/>
              </a:lnSpc>
              <a:buNone/>
            </a:pPr>
            <a:r>
              <a:rPr lang="en-US" sz="1100" dirty="0">
                <a:solidFill>
                  <a:srgbClr val="000000"/>
                </a:solidFill>
                <a:latin typeface="Alice" pitchFamily="34" charset="0"/>
                <a:ea typeface="Alice" pitchFamily="34" charset="-122"/>
                <a:cs typeface="Alice" pitchFamily="34" charset="-120"/>
              </a:rPr>
              <a:t>🔬</a:t>
            </a:r>
            <a:pPr algn="l" indent="0" marL="0">
              <a:lnSpc>
                <a:spcPct val="104000"/>
              </a:lnSpc>
              <a:buNone/>
            </a:pPr>
            <a:r>
              <a:rPr lang="en-US" sz="1100" dirty="0">
                <a:solidFill>
                  <a:srgbClr val="FFFFFF"/>
                </a:solidFill>
                <a:latin typeface="Alice" pitchFamily="34" charset="0"/>
                <a:ea typeface="Alice" pitchFamily="34" charset="-122"/>
                <a:cs typeface="Alice" pitchFamily="34" charset="-120"/>
              </a:rPr>
              <a:t> Lab Demonstrations</a:t>
            </a:r>
            <a:endParaRPr lang="en-US" sz="1100" dirty="0"/>
          </a:p>
        </p:txBody>
      </p:sp>
      <p:sp>
        <p:nvSpPr>
          <p:cNvPr id="20" name="Text 18"/>
          <p:cNvSpPr/>
          <p:nvPr/>
        </p:nvSpPr>
        <p:spPr>
          <a:xfrm>
            <a:off x="4745310" y="1509713"/>
            <a:ext cx="3875931" cy="1857077"/>
          </a:xfrm>
          <a:prstGeom prst="rect">
            <a:avLst/>
          </a:prstGeom>
          <a:noFill/>
          <a:ln/>
        </p:spPr>
        <p:txBody>
          <a:bodyPr wrap="square" lIns="0" tIns="0" rIns="0" bIns="0" rtlCol="0" anchor="t">
            <a:normAutofit/>
          </a:bodyPr>
          <a:lstStyle/>
          <a:p>
            <a:pPr algn="l" marL="172720" indent="-172720">
              <a:lnSpc>
                <a:spcPct val="127000"/>
              </a:lnSpc>
              <a:buSzPct val="100000"/>
              <a:buChar char="•"/>
            </a:pPr>
            <a:r>
              <a:rPr lang="en-US" sz="850" dirty="0">
                <a:solidFill>
                  <a:srgbClr val="FFFFFF"/>
                </a:solidFill>
                <a:latin typeface="Lora" pitchFamily="34" charset="0"/>
                <a:ea typeface="Lora" pitchFamily="34" charset="-122"/>
                <a:cs typeface="Lora" pitchFamily="34" charset="-120"/>
              </a:rPr>
              <a:t>Capture beacon frames in </a:t>
            </a:r>
            <a:pPr algn="l" marL="172720" indent="-172720">
              <a:lnSpc>
                <a:spcPct val="127000"/>
              </a:lnSpc>
              <a:buSzPct val="100000"/>
              <a:buChar char="•"/>
            </a:pPr>
            <a:r>
              <a:rPr lang="en-US" sz="850" b="1" dirty="0">
                <a:solidFill>
                  <a:srgbClr val="FFFFFF"/>
                </a:solidFill>
                <a:latin typeface="Lora Bold" pitchFamily="34" charset="0"/>
                <a:ea typeface="Lora Bold" pitchFamily="34" charset="-122"/>
                <a:cs typeface="Lora Bold" pitchFamily="34" charset="-120"/>
              </a:rPr>
              <a:t>monitor mode</a:t>
            </a:r>
            <a:pPr algn="l" marL="172720" indent="-172720">
              <a:lnSpc>
                <a:spcPct val="127000"/>
              </a:lnSpc>
              <a:buSzPct val="100000"/>
              <a:buChar char="•"/>
            </a:pPr>
            <a:r>
              <a:rPr lang="en-US" sz="850" dirty="0">
                <a:solidFill>
                  <a:srgbClr val="FFFFFF"/>
                </a:solidFill>
                <a:latin typeface="Lora" pitchFamily="34" charset="0"/>
                <a:ea typeface="Lora" pitchFamily="34" charset="-122"/>
                <a:cs typeface="Lora" pitchFamily="34" charset="-120"/>
              </a:rPr>
              <a:t> using Wireshark — observe management frames in plaintext</a:t>
            </a:r>
            <a:endParaRPr lang="en-US" sz="850" dirty="0"/>
          </a:p>
          <a:p>
            <a:pPr algn="l" marL="172720" indent="-172720">
              <a:lnSpc>
                <a:spcPct val="127000"/>
              </a:lnSpc>
              <a:buSzPct val="100000"/>
              <a:buChar char="•"/>
            </a:pPr>
            <a:r>
              <a:rPr lang="en-US" sz="850" dirty="0">
                <a:solidFill>
                  <a:srgbClr val="FFFFFF"/>
                </a:solidFill>
                <a:latin typeface="Lora" pitchFamily="34" charset="0"/>
                <a:ea typeface="Lora" pitchFamily="34" charset="-122"/>
                <a:cs typeface="Lora" pitchFamily="34" charset="-120"/>
              </a:rPr>
              <a:t>Compare the WPA2 </a:t>
            </a:r>
            <a:pPr algn="l" marL="172720" indent="-172720">
              <a:lnSpc>
                <a:spcPct val="127000"/>
              </a:lnSpc>
              <a:buSzPct val="100000"/>
              <a:buChar char="•"/>
            </a:pPr>
            <a:r>
              <a:rPr lang="en-US" sz="850" b="1" dirty="0">
                <a:solidFill>
                  <a:srgbClr val="FFFFFF"/>
                </a:solidFill>
                <a:latin typeface="Lora Bold" pitchFamily="34" charset="0"/>
                <a:ea typeface="Lora Bold" pitchFamily="34" charset="-122"/>
                <a:cs typeface="Lora Bold" pitchFamily="34" charset="-120"/>
              </a:rPr>
              <a:t>Four-Way Handshake</a:t>
            </a:r>
            <a:pPr algn="l" marL="172720" indent="-172720">
              <a:lnSpc>
                <a:spcPct val="127000"/>
              </a:lnSpc>
              <a:buSzPct val="100000"/>
              <a:buChar char="•"/>
            </a:pPr>
            <a:r>
              <a:rPr lang="en-US" sz="850" dirty="0">
                <a:solidFill>
                  <a:srgbClr val="FFFFFF"/>
                </a:solidFill>
                <a:latin typeface="Lora" pitchFamily="34" charset="0"/>
                <a:ea typeface="Lora" pitchFamily="34" charset="-122"/>
                <a:cs typeface="Lora" pitchFamily="34" charset="-120"/>
              </a:rPr>
              <a:t> to a WPA3 SAE authentication trace — note what differs</a:t>
            </a:r>
            <a:endParaRPr lang="en-US" sz="850" dirty="0"/>
          </a:p>
          <a:p>
            <a:pPr algn="l" marL="172720" indent="-172720">
              <a:lnSpc>
                <a:spcPct val="127000"/>
              </a:lnSpc>
              <a:buSzPct val="100000"/>
              <a:buChar char="•"/>
            </a:pPr>
            <a:r>
              <a:rPr lang="en-US" sz="850" dirty="0">
                <a:solidFill>
                  <a:srgbClr val="FFFFFF"/>
                </a:solidFill>
                <a:latin typeface="Lora" pitchFamily="34" charset="0"/>
                <a:ea typeface="Lora" pitchFamily="34" charset="-122"/>
                <a:cs typeface="Lora" pitchFamily="34" charset="-120"/>
              </a:rPr>
              <a:t>Demonstrate </a:t>
            </a:r>
            <a:pPr algn="l" marL="172720" indent="-172720">
              <a:lnSpc>
                <a:spcPct val="127000"/>
              </a:lnSpc>
              <a:buSzPct val="100000"/>
              <a:buChar char="•"/>
            </a:pPr>
            <a:r>
              <a:rPr lang="en-US" sz="850" b="1" dirty="0">
                <a:solidFill>
                  <a:srgbClr val="FFFFFF"/>
                </a:solidFill>
                <a:latin typeface="Lora Bold" pitchFamily="34" charset="0"/>
                <a:ea typeface="Lora Bold" pitchFamily="34" charset="-122"/>
                <a:cs typeface="Lora Bold" pitchFamily="34" charset="-120"/>
              </a:rPr>
              <a:t>offline password recovery</a:t>
            </a:r>
            <a:pPr algn="l" marL="172720" indent="-172720">
              <a:lnSpc>
                <a:spcPct val="127000"/>
              </a:lnSpc>
              <a:buSzPct val="100000"/>
              <a:buChar char="•"/>
            </a:pPr>
            <a:r>
              <a:rPr lang="en-US" sz="850" dirty="0">
                <a:solidFill>
                  <a:srgbClr val="FFFFFF"/>
                </a:solidFill>
                <a:latin typeface="Lora" pitchFamily="34" charset="0"/>
                <a:ea typeface="Lora" pitchFamily="34" charset="-122"/>
                <a:cs typeface="Lora" pitchFamily="34" charset="-120"/>
              </a:rPr>
              <a:t> from a pre-built WPA2 handshake capture using a wordlist (lab environment only)</a:t>
            </a:r>
            <a:endParaRPr lang="en-US" sz="850" dirty="0"/>
          </a:p>
          <a:p>
            <a:pPr algn="l" marL="172720" indent="-172720">
              <a:lnSpc>
                <a:spcPct val="127000"/>
              </a:lnSpc>
              <a:buSzPct val="100000"/>
              <a:buChar char="•"/>
            </a:pPr>
            <a:r>
              <a:rPr lang="en-US" sz="850" dirty="0">
                <a:solidFill>
                  <a:srgbClr val="FFFFFF"/>
                </a:solidFill>
                <a:latin typeface="Lora" pitchFamily="34" charset="0"/>
                <a:ea typeface="Lora" pitchFamily="34" charset="-122"/>
                <a:cs typeface="Lora" pitchFamily="34" charset="-120"/>
              </a:rPr>
              <a:t>Enable WPA3 on a </a:t>
            </a:r>
            <a:pPr algn="l" marL="172720" indent="-172720">
              <a:lnSpc>
                <a:spcPct val="127000"/>
              </a:lnSpc>
              <a:buSzPct val="100000"/>
              <a:buChar char="•"/>
            </a:pPr>
            <a:r>
              <a:rPr lang="en-US" sz="850" b="1" dirty="0">
                <a:solidFill>
                  <a:srgbClr val="FFFFFF"/>
                </a:solidFill>
                <a:latin typeface="Lora Bold" pitchFamily="34" charset="0"/>
                <a:ea typeface="Lora Bold" pitchFamily="34" charset="-122"/>
                <a:cs typeface="Lora Bold" pitchFamily="34" charset="-120"/>
              </a:rPr>
              <a:t>lab access point</a:t>
            </a:r>
            <a:pPr algn="l" marL="172720" indent="-172720">
              <a:lnSpc>
                <a:spcPct val="127000"/>
              </a:lnSpc>
              <a:buSzPct val="100000"/>
              <a:buChar char="•"/>
            </a:pPr>
            <a:r>
              <a:rPr lang="en-US" sz="850" dirty="0">
                <a:solidFill>
                  <a:srgbClr val="FFFFFF"/>
                </a:solidFill>
                <a:latin typeface="Lora" pitchFamily="34" charset="0"/>
                <a:ea typeface="Lora" pitchFamily="34" charset="-122"/>
                <a:cs typeface="Lora" pitchFamily="34" charset="-120"/>
              </a:rPr>
              <a:t> and observe how client connection behavior changes</a:t>
            </a:r>
            <a:endParaRPr lang="en-US" sz="850" dirty="0"/>
          </a:p>
          <a:p>
            <a:pPr algn="l" marL="172720" indent="-172720">
              <a:lnSpc>
                <a:spcPct val="127000"/>
              </a:lnSpc>
              <a:buSzPct val="100000"/>
              <a:buChar char="•"/>
            </a:pPr>
            <a:r>
              <a:rPr lang="en-US" sz="850" dirty="0">
                <a:solidFill>
                  <a:srgbClr val="FFFFFF"/>
                </a:solidFill>
                <a:latin typeface="Lora" pitchFamily="34" charset="0"/>
                <a:ea typeface="Lora" pitchFamily="34" charset="-122"/>
                <a:cs typeface="Lora" pitchFamily="34" charset="-120"/>
              </a:rPr>
              <a:t>Show how </a:t>
            </a:r>
            <a:pPr algn="l" marL="172720" indent="-172720">
              <a:lnSpc>
                <a:spcPct val="127000"/>
              </a:lnSpc>
              <a:buSzPct val="100000"/>
              <a:buChar char="•"/>
            </a:pPr>
            <a:r>
              <a:rPr lang="en-US" sz="850" b="1" dirty="0">
                <a:solidFill>
                  <a:srgbClr val="FFFFFF"/>
                </a:solidFill>
                <a:latin typeface="Lora Bold" pitchFamily="34" charset="0"/>
                <a:ea typeface="Lora Bold" pitchFamily="34" charset="-122"/>
                <a:cs typeface="Lora Bold" pitchFamily="34" charset="-120"/>
              </a:rPr>
              <a:t>Protected Management Frames</a:t>
            </a:r>
            <a:pPr algn="l" marL="172720" indent="-172720">
              <a:lnSpc>
                <a:spcPct val="127000"/>
              </a:lnSpc>
              <a:buSzPct val="100000"/>
              <a:buChar char="•"/>
            </a:pPr>
            <a:r>
              <a:rPr lang="en-US" sz="850" dirty="0">
                <a:solidFill>
                  <a:srgbClr val="FFFFFF"/>
                </a:solidFill>
                <a:latin typeface="Lora" pitchFamily="34" charset="0"/>
                <a:ea typeface="Lora" pitchFamily="34" charset="-122"/>
                <a:cs typeface="Lora" pitchFamily="34" charset="-120"/>
              </a:rPr>
              <a:t> in WPA3 reject spoofed deauthentication attacks</a:t>
            </a:r>
            <a:endParaRPr lang="en-US" sz="850" dirty="0"/>
          </a:p>
        </p:txBody>
      </p:sp>
      <p:sp>
        <p:nvSpPr>
          <p:cNvPr id="21" name="Shape 19"/>
          <p:cNvSpPr/>
          <p:nvPr/>
        </p:nvSpPr>
        <p:spPr>
          <a:xfrm>
            <a:off x="496119" y="4136157"/>
            <a:ext cx="8151763" cy="592559"/>
          </a:xfrm>
          <a:prstGeom prst="roundRect">
            <a:avLst>
              <a:gd name="adj" fmla="val 2846"/>
            </a:avLst>
          </a:prstGeom>
          <a:solidFill>
            <a:srgbClr val="D7F4E4"/>
          </a:solidFill>
          <a:ln/>
        </p:spPr>
      </p:sp>
      <p:pic>
        <p:nvPicPr>
          <p:cNvPr id="22" name="Image 0" descr="preencoded.png">    </p:cNvPr>
          <p:cNvPicPr>
            <a:picLocks noChangeAspect="1"/>
          </p:cNvPicPr>
          <p:nvPr/>
        </p:nvPicPr>
        <p:blipFill>
          <a:blip r:embed="rId1"/>
          <a:stretch>
            <a:fillRect/>
          </a:stretch>
        </p:blipFill>
        <p:spPr>
          <a:xfrm>
            <a:off x="608484" y="4292501"/>
            <a:ext cx="140494" cy="112365"/>
          </a:xfrm>
          <a:prstGeom prst="rect">
            <a:avLst/>
          </a:prstGeom>
        </p:spPr>
      </p:pic>
      <p:sp>
        <p:nvSpPr>
          <p:cNvPr id="23" name="Text 20"/>
          <p:cNvSpPr/>
          <p:nvPr/>
        </p:nvSpPr>
        <p:spPr>
          <a:xfrm>
            <a:off x="861343" y="4266084"/>
            <a:ext cx="7674173"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000000"/>
                </a:solidFill>
                <a:latin typeface="Lora" pitchFamily="34" charset="0"/>
                <a:ea typeface="Lora" pitchFamily="34" charset="-122"/>
                <a:cs typeface="Lora" pitchFamily="34" charset="-120"/>
              </a:rPr>
              <a:t>Key takeaway: WPA3 is not just a version number — it fundamentally changes the trust model of wireless authentication. Authentication and encryption are both essential; neither alone is sufficient.</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2026-07-10T14:51:10Z</dcterms:created>
  <dcterms:modified xsi:type="dcterms:W3CDTF">2026-07-10T14:51:10Z</dcterms:modified>
</cp:coreProperties>
</file>