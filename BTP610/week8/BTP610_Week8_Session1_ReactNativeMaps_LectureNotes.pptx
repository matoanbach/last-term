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77" r:id="rId4"/>
    <p:sldId id="279" r:id="rId5"/>
    <p:sldId id="262" r:id="rId6"/>
    <p:sldId id="280" r:id="rId7"/>
    <p:sldId id="278" r:id="rId8"/>
    <p:sldId id="258" r:id="rId9"/>
    <p:sldId id="281" r:id="rId10"/>
    <p:sldId id="282" r:id="rId11"/>
    <p:sldId id="283" r:id="rId12"/>
    <p:sldId id="259" r:id="rId13"/>
    <p:sldId id="287" r:id="rId14"/>
    <p:sldId id="274" r:id="rId15"/>
    <p:sldId id="275" r:id="rId16"/>
    <p:sldId id="276" r:id="rId17"/>
    <p:sldId id="284" r:id="rId18"/>
    <p:sldId id="286" r:id="rId19"/>
    <p:sldId id="288" r:id="rId20"/>
    <p:sldId id="289" r:id="rId21"/>
    <p:sldId id="285" r:id="rId22"/>
    <p:sldId id="270" r:id="rId23"/>
    <p:sldId id="271" r:id="rId24"/>
    <p:sldId id="272" r:id="rId25"/>
    <p:sldId id="273"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910" autoAdjust="0"/>
  </p:normalViewPr>
  <p:slideViewPr>
    <p:cSldViewPr snapToGrid="0" snapToObjects="1">
      <p:cViewPr varScale="1">
        <p:scale>
          <a:sx n="131" d="100"/>
          <a:sy n="131" d="100"/>
        </p:scale>
        <p:origin x="10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019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8! Today we cover react-native-maps — how to display a map, add markers dynamically, and programmatically navigate the camera.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we build today. 3 buttons + 1 full-screen map. Attractions list is hardcoded. Add Marker picks randomly from the list, adds it to state, and flies the camera. Clear resets everything. Zoom To Location demonstrates animateToRegion independently of markers.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react-native-maps is the standard community map library for React Native / Expo. On iOS it defaults to Apple Maps; on Android it uses Google Maps (may need API key for prod builds). In Expo Go it just works. One install command, one import.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CA" dirty="0" err="1"/>
              <a:t>npm</a:t>
            </a:r>
            <a:r>
              <a:rPr lang="en-CA" dirty="0"/>
              <a:t> install react-native-maps@1.20.1</a:t>
            </a:r>
          </a:p>
        </p:txBody>
      </p:sp>
    </p:spTree>
    <p:extLst>
      <p:ext uri="{BB962C8B-B14F-4D97-AF65-F5344CB8AC3E}">
        <p14:creationId xmlns:p14="http://schemas.microsoft.com/office/powerpoint/2010/main" val="315825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CA" dirty="0"/>
          </a:p>
        </p:txBody>
      </p:sp>
    </p:spTree>
    <p:extLst>
      <p:ext uri="{BB962C8B-B14F-4D97-AF65-F5344CB8AC3E}">
        <p14:creationId xmlns:p14="http://schemas.microsoft.com/office/powerpoint/2010/main" val="1534301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the most important concept. Think of it like camera settings: latitude/longitude = where the camera points, deltas = how wide the lens is open. Small delta = zoomed in. We use initialRegion to set starting position, then useRef + animateToRegion to move programmatically.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push+spread</a:t>
            </a:r>
            <a:r>
              <a:rPr lang="en-US" dirty="0"/>
              <a:t> pattern. If you just do </a:t>
            </a:r>
            <a:r>
              <a:rPr lang="en-US" dirty="0" err="1"/>
              <a:t>setMarkerList</a:t>
            </a:r>
            <a:r>
              <a:rPr lang="en-US" dirty="0"/>
              <a:t>(</a:t>
            </a:r>
            <a:r>
              <a:rPr lang="en-US" dirty="0" err="1"/>
              <a:t>markerList</a:t>
            </a:r>
            <a:r>
              <a:rPr lang="en-US" dirty="0"/>
              <a:t>) after push — won't re-render because the reference is the same. Need the spread [...</a:t>
            </a:r>
            <a:r>
              <a:rPr lang="en-US" dirty="0" err="1"/>
              <a:t>markerList</a:t>
            </a:r>
            <a:r>
              <a:rPr lang="en-US" dirty="0"/>
              <a:t>] to create a new array reference. Also </a:t>
            </a:r>
            <a:r>
              <a:rPr lang="en-US" dirty="0" err="1"/>
              <a:t>animateToRegion</a:t>
            </a:r>
            <a:r>
              <a:rPr lang="en-US" dirty="0"/>
              <a:t> — it takes a Region object, just like </a:t>
            </a:r>
            <a:r>
              <a:rPr lang="en-US" dirty="0" err="1"/>
              <a:t>initialRegion</a:t>
            </a:r>
            <a:r>
              <a:rPr lang="en-US" dirty="0"/>
              <a:t>.</a:t>
            </a:r>
          </a:p>
          <a:p>
            <a:endParaRPr lang="en-CA" dirty="0"/>
          </a:p>
        </p:txBody>
      </p:sp>
    </p:spTree>
    <p:extLst>
      <p:ext uri="{BB962C8B-B14F-4D97-AF65-F5344CB8AC3E}">
        <p14:creationId xmlns:p14="http://schemas.microsoft.com/office/powerpoint/2010/main" val="780180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Both functions follow the same pattern: null check → do the thing. </a:t>
            </a:r>
            <a:r>
              <a:rPr lang="en-US" dirty="0" err="1"/>
              <a:t>clearMarkers</a:t>
            </a:r>
            <a:r>
              <a:rPr lang="en-US" dirty="0"/>
              <a:t> is simple: empty array in state = no markers. </a:t>
            </a:r>
            <a:r>
              <a:rPr lang="en-US" dirty="0" err="1"/>
              <a:t>zoomToLocation</a:t>
            </a:r>
            <a:r>
              <a:rPr lang="en-US" dirty="0"/>
              <a:t> shows that </a:t>
            </a:r>
            <a:r>
              <a:rPr lang="en-US" dirty="0" err="1"/>
              <a:t>animateToRegion</a:t>
            </a:r>
            <a:r>
              <a:rPr lang="en-US" dirty="0"/>
              <a:t> is independent — can navigate without adding markers. Good discussion: how would you zoom to the user's current GPS location? (expo-location)</a:t>
            </a:r>
          </a:p>
          <a:p>
            <a:endParaRPr lang="en-CA" dirty="0"/>
          </a:p>
        </p:txBody>
      </p:sp>
    </p:spTree>
    <p:extLst>
      <p:ext uri="{BB962C8B-B14F-4D97-AF65-F5344CB8AC3E}">
        <p14:creationId xmlns:p14="http://schemas.microsoft.com/office/powerpoint/2010/main" val="1836527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Styles are straightforward. Highlight </a:t>
            </a:r>
            <a:r>
              <a:rPr lang="en-US" dirty="0" err="1"/>
              <a:t>rgba</a:t>
            </a:r>
            <a:r>
              <a:rPr lang="en-US" dirty="0"/>
              <a:t>() for semi-transparent background — students should know this pattern. </a:t>
            </a:r>
            <a:r>
              <a:rPr lang="en-US" dirty="0" err="1"/>
              <a:t>fontWeight</a:t>
            </a:r>
            <a:r>
              <a:rPr lang="en-US" dirty="0"/>
              <a:t> must be a string in React Native: '700' not 700. Remind them the map uses inline style={{ flex: 1 }} directly, not </a:t>
            </a:r>
            <a:r>
              <a:rPr lang="en-US" dirty="0" err="1"/>
              <a:t>StyleSheet</a:t>
            </a:r>
            <a:r>
              <a:rPr lang="en-US" dirty="0"/>
              <a:t>.</a:t>
            </a:r>
          </a:p>
          <a:p>
            <a:endParaRPr lang="en-CA" dirty="0"/>
          </a:p>
          <a:p>
            <a:r>
              <a:rPr lang="en-CA" dirty="0" err="1"/>
              <a:t>npx</a:t>
            </a:r>
            <a:r>
              <a:rPr lang="en-CA" dirty="0"/>
              <a:t> expo start</a:t>
            </a:r>
          </a:p>
          <a:p>
            <a:r>
              <a:rPr lang="en-CA" dirty="0" err="1"/>
              <a:t>npx</a:t>
            </a:r>
            <a:r>
              <a:rPr lang="en-CA" dirty="0"/>
              <a:t> expo start --clear</a:t>
            </a:r>
          </a:p>
          <a:p>
            <a:r>
              <a:rPr lang="en-CA" dirty="0"/>
              <a:t>“r” command to reload application</a:t>
            </a:r>
          </a:p>
          <a:p>
            <a:endParaRPr lang="en-CA" dirty="0"/>
          </a:p>
        </p:txBody>
      </p:sp>
    </p:spTree>
    <p:extLst>
      <p:ext uri="{BB962C8B-B14F-4D97-AF65-F5344CB8AC3E}">
        <p14:creationId xmlns:p14="http://schemas.microsoft.com/office/powerpoint/2010/main" val="411361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checkpoint before starting or after finishing to make sure students have all the pieces. The structure top-to-bottom: imports → types → data → component hook (state+ref) → handlers → JSX → styles. This pattern scales to any React Native screen.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most common issues. The push+spread one bites almost everyone the first time. The flex:1 issue is also very common — if the map appears to have zero height it's invisible. The latitude vs lat naming mismatch is a quick fix once you know.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open during live coding as a quick reference. Students can screenshot it. The three columns — component/prop, what it does, example — are designed to be scannable.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hyperlink" Target="https://icons.expo.fyi/Index"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731520"/>
            <a:ext cx="3200400" cy="3200400"/>
          </a:xfrm>
          <a:prstGeom prst="ellipse">
            <a:avLst/>
          </a:prstGeom>
          <a:solidFill>
            <a:srgbClr val="0A7E8C">
              <a:alpha val="22000"/>
            </a:srgbClr>
          </a:solidFill>
          <a:ln/>
        </p:spPr>
        <p:txBody>
          <a:bodyPr/>
          <a:lstStyle/>
          <a:p>
            <a:endParaRPr lang="en-CA"/>
          </a:p>
        </p:txBody>
      </p:sp>
      <p:sp>
        <p:nvSpPr>
          <p:cNvPr id="3" name="Shape 1"/>
          <p:cNvSpPr/>
          <p:nvPr/>
        </p:nvSpPr>
        <p:spPr>
          <a:xfrm>
            <a:off x="7132320" y="-274320"/>
            <a:ext cx="2011680" cy="2011680"/>
          </a:xfrm>
          <a:prstGeom prst="ellipse">
            <a:avLst/>
          </a:prstGeom>
          <a:solidFill>
            <a:srgbClr val="1AB8C4">
              <a:alpha val="18000"/>
            </a:srgbClr>
          </a:solidFill>
          <a:ln/>
        </p:spPr>
        <p:txBody>
          <a:bodyPr/>
          <a:lstStyle/>
          <a:p>
            <a:endParaRPr lang="en-CA"/>
          </a:p>
        </p:txBody>
      </p:sp>
      <p:pic>
        <p:nvPicPr>
          <p:cNvPr id="4" name="Image 0" descr="preencoded.png"/>
          <p:cNvPicPr>
            <a:picLocks noChangeAspect="1"/>
          </p:cNvPicPr>
          <p:nvPr/>
        </p:nvPicPr>
        <p:blipFill>
          <a:blip r:embed="rId3"/>
          <a:stretch>
            <a:fillRect/>
          </a:stretch>
        </p:blipFill>
        <p:spPr>
          <a:xfrm>
            <a:off x="457200" y="822960"/>
            <a:ext cx="914400" cy="914400"/>
          </a:xfrm>
          <a:prstGeom prst="rect">
            <a:avLst/>
          </a:prstGeom>
        </p:spPr>
      </p:pic>
      <p:sp>
        <p:nvSpPr>
          <p:cNvPr id="5" name="Text 2"/>
          <p:cNvSpPr/>
          <p:nvPr/>
        </p:nvSpPr>
        <p:spPr>
          <a:xfrm>
            <a:off x="457200" y="713232"/>
            <a:ext cx="7772400" cy="365760"/>
          </a:xfrm>
          <a:prstGeom prst="rect">
            <a:avLst/>
          </a:prstGeom>
          <a:noFill/>
          <a:ln/>
        </p:spPr>
        <p:txBody>
          <a:bodyPr wrap="square" lIns="0" tIns="0" rIns="0" bIns="0" rtlCol="0" anchor="ctr"/>
          <a:lstStyle/>
          <a:p>
            <a:pPr marL="0" indent="0">
              <a:buNone/>
            </a:pPr>
            <a:r>
              <a:rPr lang="en-US" sz="1300" dirty="0">
                <a:solidFill>
                  <a:srgbClr val="1AB8C4"/>
                </a:solidFill>
                <a:latin typeface="Calibri" pitchFamily="34" charset="0"/>
                <a:ea typeface="Calibri" pitchFamily="34" charset="-122"/>
                <a:cs typeface="Calibri" pitchFamily="34" charset="-120"/>
              </a:rPr>
              <a:t>BTP610 – Mobile Applications</a:t>
            </a:r>
            <a:endParaRPr lang="en-US" sz="1300" dirty="0"/>
          </a:p>
        </p:txBody>
      </p:sp>
      <p:sp>
        <p:nvSpPr>
          <p:cNvPr id="6" name="Text 3"/>
          <p:cNvSpPr/>
          <p:nvPr/>
        </p:nvSpPr>
        <p:spPr>
          <a:xfrm>
            <a:off x="457200" y="1078992"/>
            <a:ext cx="7772400" cy="457200"/>
          </a:xfrm>
          <a:prstGeom prst="rect">
            <a:avLst/>
          </a:prstGeom>
          <a:noFill/>
          <a:ln/>
        </p:spPr>
        <p:txBody>
          <a:bodyPr wrap="square" lIns="0" tIns="0" rIns="0" bIns="0" rtlCol="0" anchor="ctr"/>
          <a:lstStyle/>
          <a:p>
            <a:pPr marL="0" indent="0">
              <a:buNone/>
            </a:pPr>
            <a:r>
              <a:rPr lang="en-US" sz="2000" b="1" dirty="0">
                <a:solidFill>
                  <a:srgbClr val="1AB8C4"/>
                </a:solidFill>
                <a:latin typeface="Cambria" pitchFamily="34" charset="0"/>
                <a:ea typeface="Cambria" pitchFamily="34" charset="-122"/>
                <a:cs typeface="Cambria" pitchFamily="34" charset="-120"/>
              </a:rPr>
              <a:t>Week 8</a:t>
            </a:r>
            <a:endParaRPr lang="en-US" sz="2000" dirty="0"/>
          </a:p>
        </p:txBody>
      </p:sp>
      <p:sp>
        <p:nvSpPr>
          <p:cNvPr id="7" name="Text 4"/>
          <p:cNvSpPr/>
          <p:nvPr/>
        </p:nvSpPr>
        <p:spPr>
          <a:xfrm>
            <a:off x="457200" y="1572768"/>
            <a:ext cx="8229600" cy="10972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React Native Maps</a:t>
            </a:r>
            <a:endParaRPr lang="en-US" sz="5200" dirty="0"/>
          </a:p>
        </p:txBody>
      </p:sp>
      <p:sp>
        <p:nvSpPr>
          <p:cNvPr id="8" name="Text 5"/>
          <p:cNvSpPr/>
          <p:nvPr/>
        </p:nvSpPr>
        <p:spPr>
          <a:xfrm>
            <a:off x="457200" y="2816352"/>
            <a:ext cx="6858000" cy="822960"/>
          </a:xfrm>
          <a:prstGeom prst="rect">
            <a:avLst/>
          </a:prstGeom>
          <a:noFill/>
          <a:ln/>
        </p:spPr>
        <p:txBody>
          <a:bodyPr wrap="square" lIns="0" tIns="0" rIns="0" bIns="0" rtlCol="0" anchor="ctr"/>
          <a:lstStyle/>
          <a:p>
            <a:pPr marL="0" indent="0">
              <a:buNone/>
            </a:pPr>
            <a:r>
              <a:rPr lang="en-US" sz="1600" dirty="0">
                <a:solidFill>
                  <a:srgbClr val="D4F5F5"/>
                </a:solidFill>
                <a:latin typeface="Calibri" pitchFamily="34" charset="0"/>
                <a:ea typeface="Calibri" pitchFamily="34" charset="-122"/>
                <a:cs typeface="Calibri" pitchFamily="34" charset="-120"/>
              </a:rPr>
              <a:t>Displaying maps, markers, and programmatic navigation</a:t>
            </a:r>
            <a:endParaRPr lang="en-US" sz="1600" dirty="0"/>
          </a:p>
          <a:p>
            <a:pPr marL="0" indent="0">
              <a:buNone/>
            </a:pPr>
            <a:r>
              <a:rPr lang="en-US" sz="1600" dirty="0">
                <a:solidFill>
                  <a:srgbClr val="D4F5F5"/>
                </a:solidFill>
                <a:latin typeface="Calibri" pitchFamily="34" charset="0"/>
                <a:ea typeface="Calibri" pitchFamily="34" charset="-122"/>
                <a:cs typeface="Calibri" pitchFamily="34" charset="-120"/>
              </a:rPr>
              <a:t>in your Expo React Native apps</a:t>
            </a:r>
            <a:endParaRPr lang="en-US" sz="1600" dirty="0"/>
          </a:p>
        </p:txBody>
      </p:sp>
      <p:sp>
        <p:nvSpPr>
          <p:cNvPr id="9" name="Shape 6"/>
          <p:cNvSpPr/>
          <p:nvPr/>
        </p:nvSpPr>
        <p:spPr>
          <a:xfrm>
            <a:off x="0" y="4681728"/>
            <a:ext cx="9144000" cy="461772"/>
          </a:xfrm>
          <a:prstGeom prst="rect">
            <a:avLst/>
          </a:prstGeom>
          <a:solidFill>
            <a:srgbClr val="0A7E8C"/>
          </a:solidFill>
          <a:ln/>
        </p:spPr>
        <p:txBody>
          <a:bodyPr/>
          <a:lstStyle/>
          <a:p>
            <a:endParaRPr lang="en-CA"/>
          </a:p>
        </p:txBody>
      </p:sp>
      <p:sp>
        <p:nvSpPr>
          <p:cNvPr id="10" name="Text 7"/>
          <p:cNvSpPr/>
          <p:nvPr/>
        </p:nvSpPr>
        <p:spPr>
          <a:xfrm>
            <a:off x="457200" y="4700016"/>
            <a:ext cx="8229600" cy="42062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Library: react-native-maps   |   Expo SDK ~54   |   TypeScript + Expo Router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Today's Agenda</a:t>
            </a:r>
            <a:endParaRPr lang="en-US" sz="2200" dirty="0"/>
          </a:p>
        </p:txBody>
      </p:sp>
      <p:sp>
        <p:nvSpPr>
          <p:cNvPr id="4" name="Shape 2"/>
          <p:cNvSpPr/>
          <p:nvPr/>
        </p:nvSpPr>
        <p:spPr>
          <a:xfrm>
            <a:off x="365760" y="960120"/>
            <a:ext cx="8412480" cy="658368"/>
          </a:xfrm>
          <a:prstGeom prst="roundRect">
            <a:avLst>
              <a:gd name="adj" fmla="val 111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5" name="Shape 3"/>
          <p:cNvSpPr/>
          <p:nvPr/>
        </p:nvSpPr>
        <p:spPr>
          <a:xfrm>
            <a:off x="365760" y="960120"/>
            <a:ext cx="548640" cy="658368"/>
          </a:xfrm>
          <a:prstGeom prst="roundRect">
            <a:avLst>
              <a:gd name="adj" fmla="val 13333"/>
            </a:avLst>
          </a:prstGeom>
          <a:solidFill>
            <a:srgbClr val="0A7E8C"/>
          </a:solidFill>
          <a:ln/>
        </p:spPr>
        <p:txBody>
          <a:bodyPr/>
          <a:lstStyle/>
          <a:p>
            <a:endParaRPr lang="en-CA"/>
          </a:p>
        </p:txBody>
      </p:sp>
      <p:sp>
        <p:nvSpPr>
          <p:cNvPr id="6" name="Text 4"/>
          <p:cNvSpPr/>
          <p:nvPr/>
        </p:nvSpPr>
        <p:spPr>
          <a:xfrm>
            <a:off x="365760" y="960120"/>
            <a:ext cx="5486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051560" y="1005840"/>
            <a:ext cx="5029200" cy="292608"/>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What is react-native-maps?</a:t>
            </a:r>
            <a:endParaRPr lang="en-US" sz="1400" dirty="0"/>
          </a:p>
        </p:txBody>
      </p:sp>
      <p:sp>
        <p:nvSpPr>
          <p:cNvPr id="8" name="Text 6"/>
          <p:cNvSpPr/>
          <p:nvPr/>
        </p:nvSpPr>
        <p:spPr>
          <a:xfrm>
            <a:off x="1051560" y="1289304"/>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Library overview, platform support, installation</a:t>
            </a:r>
            <a:endParaRPr lang="en-US" sz="1100" dirty="0"/>
          </a:p>
        </p:txBody>
      </p:sp>
      <p:sp>
        <p:nvSpPr>
          <p:cNvPr id="9" name="Shape 7"/>
          <p:cNvSpPr/>
          <p:nvPr/>
        </p:nvSpPr>
        <p:spPr>
          <a:xfrm>
            <a:off x="365760" y="1746504"/>
            <a:ext cx="8412480" cy="658368"/>
          </a:xfrm>
          <a:prstGeom prst="roundRect">
            <a:avLst>
              <a:gd name="adj" fmla="val 111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0" name="Shape 8"/>
          <p:cNvSpPr/>
          <p:nvPr/>
        </p:nvSpPr>
        <p:spPr>
          <a:xfrm>
            <a:off x="365760" y="1746504"/>
            <a:ext cx="548640" cy="658368"/>
          </a:xfrm>
          <a:prstGeom prst="roundRect">
            <a:avLst>
              <a:gd name="adj" fmla="val 13333"/>
            </a:avLst>
          </a:prstGeom>
          <a:solidFill>
            <a:srgbClr val="0A7E8C"/>
          </a:solidFill>
          <a:ln/>
        </p:spPr>
        <p:txBody>
          <a:bodyPr/>
          <a:lstStyle/>
          <a:p>
            <a:endParaRPr lang="en-CA"/>
          </a:p>
        </p:txBody>
      </p:sp>
      <p:sp>
        <p:nvSpPr>
          <p:cNvPr id="11" name="Text 9"/>
          <p:cNvSpPr/>
          <p:nvPr/>
        </p:nvSpPr>
        <p:spPr>
          <a:xfrm>
            <a:off x="365760" y="1746504"/>
            <a:ext cx="5486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1051560" y="1792224"/>
            <a:ext cx="5029200" cy="292608"/>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Core concepts</a:t>
            </a:r>
            <a:endParaRPr lang="en-US" sz="1400" dirty="0"/>
          </a:p>
        </p:txBody>
      </p:sp>
      <p:sp>
        <p:nvSpPr>
          <p:cNvPr id="13" name="Text 11"/>
          <p:cNvSpPr/>
          <p:nvPr/>
        </p:nvSpPr>
        <p:spPr>
          <a:xfrm>
            <a:off x="1051560" y="2075688"/>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MapView, Region, Marker, useRef, animateToRegion</a:t>
            </a:r>
            <a:endParaRPr lang="en-US" sz="1100" dirty="0"/>
          </a:p>
        </p:txBody>
      </p:sp>
      <p:sp>
        <p:nvSpPr>
          <p:cNvPr id="14" name="Shape 12"/>
          <p:cNvSpPr/>
          <p:nvPr/>
        </p:nvSpPr>
        <p:spPr>
          <a:xfrm>
            <a:off x="365760" y="2532888"/>
            <a:ext cx="8412480" cy="658368"/>
          </a:xfrm>
          <a:prstGeom prst="roundRect">
            <a:avLst>
              <a:gd name="adj" fmla="val 111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5" name="Shape 13"/>
          <p:cNvSpPr/>
          <p:nvPr/>
        </p:nvSpPr>
        <p:spPr>
          <a:xfrm>
            <a:off x="365760" y="2532888"/>
            <a:ext cx="548640" cy="658368"/>
          </a:xfrm>
          <a:prstGeom prst="roundRect">
            <a:avLst>
              <a:gd name="adj" fmla="val 13333"/>
            </a:avLst>
          </a:prstGeom>
          <a:solidFill>
            <a:srgbClr val="0A7E8C"/>
          </a:solidFill>
          <a:ln/>
        </p:spPr>
        <p:txBody>
          <a:bodyPr/>
          <a:lstStyle/>
          <a:p>
            <a:endParaRPr lang="en-CA"/>
          </a:p>
        </p:txBody>
      </p:sp>
      <p:sp>
        <p:nvSpPr>
          <p:cNvPr id="16" name="Text 14"/>
          <p:cNvSpPr/>
          <p:nvPr/>
        </p:nvSpPr>
        <p:spPr>
          <a:xfrm>
            <a:off x="365760" y="2532888"/>
            <a:ext cx="5486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1051560" y="2578608"/>
            <a:ext cx="5029200" cy="292608"/>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Project walkthrough – Step by step</a:t>
            </a:r>
            <a:endParaRPr lang="en-US" sz="1400" dirty="0"/>
          </a:p>
        </p:txBody>
      </p:sp>
      <p:sp>
        <p:nvSpPr>
          <p:cNvPr id="18" name="Text 16"/>
          <p:cNvSpPr/>
          <p:nvPr/>
        </p:nvSpPr>
        <p:spPr>
          <a:xfrm>
            <a:off x="1051560" y="2862072"/>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Live coding the Week 8 MapView project</a:t>
            </a:r>
            <a:endParaRPr lang="en-US" sz="1100" dirty="0"/>
          </a:p>
        </p:txBody>
      </p:sp>
      <p:sp>
        <p:nvSpPr>
          <p:cNvPr id="19" name="Shape 17"/>
          <p:cNvSpPr/>
          <p:nvPr/>
        </p:nvSpPr>
        <p:spPr>
          <a:xfrm>
            <a:off x="365760" y="3319272"/>
            <a:ext cx="8412480" cy="658368"/>
          </a:xfrm>
          <a:prstGeom prst="roundRect">
            <a:avLst>
              <a:gd name="adj" fmla="val 111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0" name="Shape 18"/>
          <p:cNvSpPr/>
          <p:nvPr/>
        </p:nvSpPr>
        <p:spPr>
          <a:xfrm>
            <a:off x="365760" y="3319272"/>
            <a:ext cx="548640" cy="658368"/>
          </a:xfrm>
          <a:prstGeom prst="roundRect">
            <a:avLst>
              <a:gd name="adj" fmla="val 13333"/>
            </a:avLst>
          </a:prstGeom>
          <a:solidFill>
            <a:srgbClr val="0A7E8C"/>
          </a:solidFill>
          <a:ln/>
        </p:spPr>
        <p:txBody>
          <a:bodyPr/>
          <a:lstStyle/>
          <a:p>
            <a:endParaRPr lang="en-CA"/>
          </a:p>
        </p:txBody>
      </p:sp>
      <p:sp>
        <p:nvSpPr>
          <p:cNvPr id="21" name="Text 19"/>
          <p:cNvSpPr/>
          <p:nvPr/>
        </p:nvSpPr>
        <p:spPr>
          <a:xfrm>
            <a:off x="365760" y="3319272"/>
            <a:ext cx="5486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1051560" y="3364992"/>
            <a:ext cx="5029200" cy="292608"/>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Key TypeScript patterns</a:t>
            </a:r>
            <a:endParaRPr lang="en-US" sz="1400" dirty="0"/>
          </a:p>
        </p:txBody>
      </p:sp>
      <p:sp>
        <p:nvSpPr>
          <p:cNvPr id="23" name="Text 21"/>
          <p:cNvSpPr/>
          <p:nvPr/>
        </p:nvSpPr>
        <p:spPr>
          <a:xfrm>
            <a:off x="1051560" y="3648456"/>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Custom types, useState with arrays, useRef</a:t>
            </a:r>
            <a:endParaRPr lang="en-US" sz="1100" dirty="0"/>
          </a:p>
        </p:txBody>
      </p:sp>
      <p:sp>
        <p:nvSpPr>
          <p:cNvPr id="24" name="Shape 22"/>
          <p:cNvSpPr/>
          <p:nvPr/>
        </p:nvSpPr>
        <p:spPr>
          <a:xfrm>
            <a:off x="365760" y="4105656"/>
            <a:ext cx="8412480" cy="658368"/>
          </a:xfrm>
          <a:prstGeom prst="roundRect">
            <a:avLst>
              <a:gd name="adj" fmla="val 111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5" name="Shape 23"/>
          <p:cNvSpPr/>
          <p:nvPr/>
        </p:nvSpPr>
        <p:spPr>
          <a:xfrm>
            <a:off x="365760" y="4105656"/>
            <a:ext cx="548640" cy="658368"/>
          </a:xfrm>
          <a:prstGeom prst="roundRect">
            <a:avLst>
              <a:gd name="adj" fmla="val 13333"/>
            </a:avLst>
          </a:prstGeom>
          <a:solidFill>
            <a:srgbClr val="0A7E8C"/>
          </a:solidFill>
          <a:ln/>
        </p:spPr>
        <p:txBody>
          <a:bodyPr/>
          <a:lstStyle/>
          <a:p>
            <a:endParaRPr lang="en-CA"/>
          </a:p>
        </p:txBody>
      </p:sp>
      <p:sp>
        <p:nvSpPr>
          <p:cNvPr id="26" name="Text 24"/>
          <p:cNvSpPr/>
          <p:nvPr/>
        </p:nvSpPr>
        <p:spPr>
          <a:xfrm>
            <a:off x="365760" y="4105656"/>
            <a:ext cx="54864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1051560" y="4151376"/>
            <a:ext cx="5029200" cy="292608"/>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Q &amp; A / Wrap-up</a:t>
            </a:r>
            <a:endParaRPr lang="en-US" sz="1400" dirty="0"/>
          </a:p>
        </p:txBody>
      </p:sp>
      <p:sp>
        <p:nvSpPr>
          <p:cNvPr id="28" name="Text 26"/>
          <p:cNvSpPr/>
          <p:nvPr/>
        </p:nvSpPr>
        <p:spPr>
          <a:xfrm>
            <a:off x="1051560" y="4434840"/>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Review, resources, next steps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BC29FB-75F2-CD8C-0BDB-EE6D6F66C277}"/>
              </a:ext>
            </a:extLst>
          </p:cNvPr>
          <p:cNvPicPr>
            <a:picLocks noChangeAspect="1"/>
          </p:cNvPicPr>
          <p:nvPr/>
        </p:nvPicPr>
        <p:blipFill>
          <a:blip r:embed="rId2"/>
          <a:stretch>
            <a:fillRect/>
          </a:stretch>
        </p:blipFill>
        <p:spPr>
          <a:xfrm>
            <a:off x="532576" y="832646"/>
            <a:ext cx="1821479" cy="3916180"/>
          </a:xfrm>
          <a:prstGeom prst="rect">
            <a:avLst/>
          </a:prstGeom>
        </p:spPr>
      </p:pic>
      <p:sp>
        <p:nvSpPr>
          <p:cNvPr id="7" name="Shape 0">
            <a:extLst>
              <a:ext uri="{FF2B5EF4-FFF2-40B4-BE49-F238E27FC236}">
                <a16:creationId xmlns:a16="http://schemas.microsoft.com/office/drawing/2014/main" id="{0388FB3D-5505-577B-348F-F6CA63B1EF3B}"/>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cs typeface="Cambria" pitchFamily="34" charset="-120"/>
              </a:rPr>
              <a:t>Project</a:t>
            </a:r>
            <a:endParaRPr lang="en-US" dirty="0"/>
          </a:p>
        </p:txBody>
      </p:sp>
      <p:sp>
        <p:nvSpPr>
          <p:cNvPr id="8" name="TextBox 7">
            <a:extLst>
              <a:ext uri="{FF2B5EF4-FFF2-40B4-BE49-F238E27FC236}">
                <a16:creationId xmlns:a16="http://schemas.microsoft.com/office/drawing/2014/main" id="{FC062373-4C64-629A-4393-169FD7A02822}"/>
              </a:ext>
            </a:extLst>
          </p:cNvPr>
          <p:cNvSpPr txBox="1"/>
          <p:nvPr/>
        </p:nvSpPr>
        <p:spPr>
          <a:xfrm>
            <a:off x="2408364" y="1059787"/>
            <a:ext cx="6489991" cy="2862322"/>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dirty="0"/>
              <a:t>This is a mobile app that displays a live interactive Google Map.</a:t>
            </a:r>
          </a:p>
          <a:p>
            <a:pPr marL="285750" indent="-285750">
              <a:buFont typeface="Arial" panose="020B0604020202020204" pitchFamily="34" charset="0"/>
              <a:buChar char="•"/>
            </a:pPr>
            <a:r>
              <a:rPr lang="en-CA" dirty="0"/>
              <a:t>At the top we have three buttons, and below that the map fills the rest of the screen.</a:t>
            </a:r>
          </a:p>
          <a:p>
            <a:pPr marL="285750" indent="-285750">
              <a:buFont typeface="Arial" panose="020B0604020202020204" pitchFamily="34" charset="0"/>
              <a:buChar char="•"/>
            </a:pPr>
            <a:r>
              <a:rPr lang="en-CA" dirty="0"/>
              <a:t>When the app opens, the camera starts pointed at the </a:t>
            </a:r>
            <a:r>
              <a:rPr lang="en-CA" b="1" dirty="0"/>
              <a:t>Great Pyramids of Giza</a:t>
            </a:r>
            <a:r>
              <a:rPr lang="en-CA" dirty="0"/>
              <a:t> — just to prove the map is working from the first second.</a:t>
            </a:r>
          </a:p>
          <a:p>
            <a:pPr marL="285750" indent="-285750">
              <a:buFont typeface="Arial" panose="020B0604020202020204" pitchFamily="34" charset="0"/>
              <a:buChar char="•"/>
            </a:pPr>
            <a:r>
              <a:rPr lang="en-CA" dirty="0"/>
              <a:t>The app has a list of 6 real-world attractions hardcoded in the code — places like the Sydney Opera House, CN Tower, and the Great Barrier Reef. Each one has a name, a latitude, and a longitude.</a:t>
            </a:r>
          </a:p>
        </p:txBody>
      </p:sp>
    </p:spTree>
    <p:extLst>
      <p:ext uri="{BB962C8B-B14F-4D97-AF65-F5344CB8AC3E}">
        <p14:creationId xmlns:p14="http://schemas.microsoft.com/office/powerpoint/2010/main" val="405797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BAB352-9923-1ADD-7F43-086F7782BFC3}"/>
              </a:ext>
            </a:extLst>
          </p:cNvPr>
          <p:cNvSpPr txBox="1"/>
          <p:nvPr/>
        </p:nvSpPr>
        <p:spPr>
          <a:xfrm>
            <a:off x="2800845" y="965565"/>
            <a:ext cx="4668323" cy="3416320"/>
          </a:xfrm>
          <a:prstGeom prst="rect">
            <a:avLst/>
          </a:prstGeom>
          <a:noFill/>
        </p:spPr>
        <p:txBody>
          <a:bodyPr wrap="square" rtlCol="0">
            <a:spAutoFit/>
          </a:bodyPr>
          <a:lstStyle/>
          <a:p>
            <a:pPr marL="285750" indent="-285750">
              <a:buFont typeface="Arial" panose="020B0604020202020204" pitchFamily="34" charset="0"/>
              <a:buChar char="•"/>
            </a:pPr>
            <a:r>
              <a:rPr lang="en-CA" dirty="0"/>
              <a:t>Tapping </a:t>
            </a:r>
            <a:r>
              <a:rPr lang="en-CA" b="1" dirty="0"/>
              <a:t>Add Marker</a:t>
            </a:r>
            <a:r>
              <a:rPr lang="en-CA" dirty="0"/>
              <a:t> randomly picks one of those attractions, drops a custom pin on the map, and flies the camera there smoothly. You can keep tapping it — pins accumulate.</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Tapping </a:t>
            </a:r>
            <a:r>
              <a:rPr lang="en-CA" b="1" dirty="0"/>
              <a:t>Clear Marker</a:t>
            </a:r>
            <a:r>
              <a:rPr lang="en-CA" dirty="0"/>
              <a:t> wipes all the pins and flies back to Toronto.</a:t>
            </a:r>
          </a:p>
          <a:p>
            <a:endParaRPr lang="en-CA" dirty="0"/>
          </a:p>
          <a:p>
            <a:pPr marL="285750" indent="-285750">
              <a:buFont typeface="Arial" panose="020B0604020202020204" pitchFamily="34" charset="0"/>
              <a:buChar char="•"/>
            </a:pPr>
            <a:r>
              <a:rPr lang="en-CA" dirty="0"/>
              <a:t>Tapping </a:t>
            </a:r>
            <a:r>
              <a:rPr lang="en-CA" b="1" dirty="0"/>
              <a:t>Zoom To Location</a:t>
            </a:r>
            <a:r>
              <a:rPr lang="en-CA" dirty="0"/>
              <a:t> just moves the camera to Monaco — no pins — to show that camera movement and markers are two separate things.</a:t>
            </a:r>
          </a:p>
        </p:txBody>
      </p:sp>
      <p:pic>
        <p:nvPicPr>
          <p:cNvPr id="4" name="Picture 3">
            <a:extLst>
              <a:ext uri="{FF2B5EF4-FFF2-40B4-BE49-F238E27FC236}">
                <a16:creationId xmlns:a16="http://schemas.microsoft.com/office/drawing/2014/main" id="{C1F95E74-29D1-C7F2-048B-D55A10396BAA}"/>
              </a:ext>
            </a:extLst>
          </p:cNvPr>
          <p:cNvPicPr>
            <a:picLocks noChangeAspect="1"/>
          </p:cNvPicPr>
          <p:nvPr/>
        </p:nvPicPr>
        <p:blipFill>
          <a:blip r:embed="rId2"/>
          <a:stretch>
            <a:fillRect/>
          </a:stretch>
        </p:blipFill>
        <p:spPr>
          <a:xfrm>
            <a:off x="532576" y="832646"/>
            <a:ext cx="1821479" cy="3916180"/>
          </a:xfrm>
          <a:prstGeom prst="rect">
            <a:avLst/>
          </a:prstGeom>
        </p:spPr>
      </p:pic>
      <p:sp>
        <p:nvSpPr>
          <p:cNvPr id="6" name="Shape 0">
            <a:extLst>
              <a:ext uri="{FF2B5EF4-FFF2-40B4-BE49-F238E27FC236}">
                <a16:creationId xmlns:a16="http://schemas.microsoft.com/office/drawing/2014/main" id="{BBDB857C-C4F7-8511-37A7-06A978EB2866}"/>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cs typeface="Cambria" pitchFamily="34" charset="-120"/>
              </a:rPr>
              <a:t>Project</a:t>
            </a:r>
            <a:endParaRPr lang="en-US" dirty="0"/>
          </a:p>
        </p:txBody>
      </p:sp>
    </p:spTree>
    <p:extLst>
      <p:ext uri="{BB962C8B-B14F-4D97-AF65-F5344CB8AC3E}">
        <p14:creationId xmlns:p14="http://schemas.microsoft.com/office/powerpoint/2010/main" val="3390028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200400" cy="3200400"/>
          </a:xfrm>
          <a:prstGeom prst="ellipse">
            <a:avLst/>
          </a:prstGeom>
          <a:solidFill>
            <a:srgbClr val="0A7E8C">
              <a:alpha val="15000"/>
            </a:srgbClr>
          </a:solidFill>
          <a:ln/>
        </p:spPr>
        <p:txBody>
          <a:bodyPr/>
          <a:lstStyle/>
          <a:p>
            <a:endParaRPr lang="en-CA"/>
          </a:p>
        </p:txBody>
      </p:sp>
      <p:pic>
        <p:nvPicPr>
          <p:cNvPr id="3" name="Image 0" descr="preencoded.png"/>
          <p:cNvPicPr>
            <a:picLocks noChangeAspect="1"/>
          </p:cNvPicPr>
          <p:nvPr/>
        </p:nvPicPr>
        <p:blipFill>
          <a:blip r:embed="rId3"/>
          <a:stretch>
            <a:fillRect/>
          </a:stretch>
        </p:blipFill>
        <p:spPr>
          <a:xfrm>
            <a:off x="457200" y="640080"/>
            <a:ext cx="640080" cy="640080"/>
          </a:xfrm>
          <a:prstGeom prst="rect">
            <a:avLst/>
          </a:prstGeom>
        </p:spPr>
      </p:pic>
      <p:sp>
        <p:nvSpPr>
          <p:cNvPr id="4" name="Text 1"/>
          <p:cNvSpPr/>
          <p:nvPr/>
        </p:nvSpPr>
        <p:spPr>
          <a:xfrm>
            <a:off x="1188720" y="658368"/>
            <a:ext cx="73152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Project: Week 8 MapView</a:t>
            </a:r>
            <a:endParaRPr lang="en-US" sz="2600" dirty="0"/>
          </a:p>
        </p:txBody>
      </p:sp>
      <p:sp>
        <p:nvSpPr>
          <p:cNvPr id="5" name="Text 2"/>
          <p:cNvSpPr/>
          <p:nvPr/>
        </p:nvSpPr>
        <p:spPr>
          <a:xfrm>
            <a:off x="457200" y="1371600"/>
            <a:ext cx="8229600" cy="457200"/>
          </a:xfrm>
          <a:prstGeom prst="rect">
            <a:avLst/>
          </a:prstGeom>
          <a:noFill/>
          <a:ln/>
        </p:spPr>
        <p:txBody>
          <a:bodyPr wrap="square" lIns="0" tIns="0" rIns="0" bIns="0" rtlCol="0" anchor="ctr"/>
          <a:lstStyle/>
          <a:p>
            <a:pPr marL="0" indent="0">
              <a:buNone/>
            </a:pPr>
            <a:r>
              <a:rPr lang="en-US" sz="1400" dirty="0">
                <a:solidFill>
                  <a:srgbClr val="D4F5F5"/>
                </a:solidFill>
                <a:latin typeface="Calibri" pitchFamily="34" charset="0"/>
                <a:ea typeface="Calibri" pitchFamily="34" charset="-122"/>
                <a:cs typeface="Calibri" pitchFamily="34" charset="-120"/>
              </a:rPr>
              <a:t>Attractions Map — Add random world attractions as markers and navigate the map programmatically</a:t>
            </a:r>
            <a:endParaRPr lang="en-US" sz="1400" dirty="0"/>
          </a:p>
        </p:txBody>
      </p:sp>
      <p:sp>
        <p:nvSpPr>
          <p:cNvPr id="6" name="Shape 3"/>
          <p:cNvSpPr/>
          <p:nvPr/>
        </p:nvSpPr>
        <p:spPr>
          <a:xfrm>
            <a:off x="365760" y="2011680"/>
            <a:ext cx="4114800" cy="1051560"/>
          </a:xfrm>
          <a:prstGeom prst="roundRect">
            <a:avLst>
              <a:gd name="adj" fmla="val 8696"/>
            </a:avLst>
          </a:prstGeom>
          <a:solidFill>
            <a:srgbClr val="FFFFFF">
              <a:alpha val="90000"/>
            </a:srgbClr>
          </a:solidFill>
          <a:ln/>
        </p:spPr>
        <p:txBody>
          <a:bodyPr/>
          <a:lstStyle/>
          <a:p>
            <a:endParaRPr lang="en-CA"/>
          </a:p>
        </p:txBody>
      </p:sp>
      <p:sp>
        <p:nvSpPr>
          <p:cNvPr id="7" name="Text 4"/>
          <p:cNvSpPr/>
          <p:nvPr/>
        </p:nvSpPr>
        <p:spPr>
          <a:xfrm>
            <a:off x="548640" y="2103120"/>
            <a:ext cx="3749040" cy="320040"/>
          </a:xfrm>
          <a:prstGeom prst="rect">
            <a:avLst/>
          </a:prstGeom>
          <a:noFill/>
          <a:ln/>
        </p:spPr>
        <p:txBody>
          <a:bodyPr wrap="square" lIns="0" tIns="0" rIns="0" bIns="0" rtlCol="0" anchor="ctr"/>
          <a:lstStyle/>
          <a:p>
            <a:pPr marL="0" indent="0">
              <a:buNone/>
            </a:pPr>
            <a:r>
              <a:rPr lang="en-US" sz="1400" b="1" dirty="0">
                <a:solidFill>
                  <a:srgbClr val="1AB8C4"/>
                </a:solidFill>
                <a:latin typeface="Cambria" pitchFamily="34" charset="0"/>
                <a:ea typeface="Cambria" pitchFamily="34" charset="-122"/>
                <a:cs typeface="Cambria" pitchFamily="34" charset="-120"/>
              </a:rPr>
              <a:t>MapView</a:t>
            </a:r>
            <a:endParaRPr lang="en-US" sz="1400" dirty="0"/>
          </a:p>
        </p:txBody>
      </p:sp>
      <p:sp>
        <p:nvSpPr>
          <p:cNvPr id="8" name="Text 5"/>
          <p:cNvSpPr/>
          <p:nvPr/>
        </p:nvSpPr>
        <p:spPr>
          <a:xfrm>
            <a:off x="548640" y="2450592"/>
            <a:ext cx="3749040" cy="475488"/>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Full-screen interactive map with zoom controls</a:t>
            </a:r>
            <a:endParaRPr lang="en-US" sz="1200" dirty="0"/>
          </a:p>
        </p:txBody>
      </p:sp>
      <p:sp>
        <p:nvSpPr>
          <p:cNvPr id="9" name="Shape 6"/>
          <p:cNvSpPr/>
          <p:nvPr/>
        </p:nvSpPr>
        <p:spPr>
          <a:xfrm>
            <a:off x="4663440" y="2011680"/>
            <a:ext cx="4114800" cy="1051560"/>
          </a:xfrm>
          <a:prstGeom prst="roundRect">
            <a:avLst>
              <a:gd name="adj" fmla="val 8696"/>
            </a:avLst>
          </a:prstGeom>
          <a:solidFill>
            <a:srgbClr val="FFFFFF">
              <a:alpha val="90000"/>
            </a:srgbClr>
          </a:solidFill>
          <a:ln/>
        </p:spPr>
        <p:txBody>
          <a:bodyPr/>
          <a:lstStyle/>
          <a:p>
            <a:endParaRPr lang="en-CA"/>
          </a:p>
        </p:txBody>
      </p:sp>
      <p:sp>
        <p:nvSpPr>
          <p:cNvPr id="10" name="Text 7"/>
          <p:cNvSpPr/>
          <p:nvPr/>
        </p:nvSpPr>
        <p:spPr>
          <a:xfrm>
            <a:off x="4846320" y="2103120"/>
            <a:ext cx="3749040" cy="320040"/>
          </a:xfrm>
          <a:prstGeom prst="rect">
            <a:avLst/>
          </a:prstGeom>
          <a:noFill/>
          <a:ln/>
        </p:spPr>
        <p:txBody>
          <a:bodyPr wrap="square" lIns="0" tIns="0" rIns="0" bIns="0" rtlCol="0" anchor="ctr"/>
          <a:lstStyle/>
          <a:p>
            <a:pPr marL="0" indent="0">
              <a:buNone/>
            </a:pPr>
            <a:r>
              <a:rPr lang="en-US" sz="1400" b="1" dirty="0">
                <a:solidFill>
                  <a:srgbClr val="1AB8C4"/>
                </a:solidFill>
                <a:latin typeface="Cambria" pitchFamily="34" charset="0"/>
                <a:ea typeface="Cambria" pitchFamily="34" charset="-122"/>
                <a:cs typeface="Cambria" pitchFamily="34" charset="-120"/>
              </a:rPr>
              <a:t>Add Marker</a:t>
            </a:r>
            <a:endParaRPr lang="en-US" sz="1400" dirty="0"/>
          </a:p>
        </p:txBody>
      </p:sp>
      <p:sp>
        <p:nvSpPr>
          <p:cNvPr id="11" name="Text 8"/>
          <p:cNvSpPr/>
          <p:nvPr/>
        </p:nvSpPr>
        <p:spPr>
          <a:xfrm>
            <a:off x="4846320" y="2450592"/>
            <a:ext cx="3749040" cy="475488"/>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Pick a random attraction → add custom icon pin + fly to it</a:t>
            </a:r>
            <a:endParaRPr lang="en-US" sz="1200" dirty="0"/>
          </a:p>
        </p:txBody>
      </p:sp>
      <p:sp>
        <p:nvSpPr>
          <p:cNvPr id="12" name="Shape 9"/>
          <p:cNvSpPr/>
          <p:nvPr/>
        </p:nvSpPr>
        <p:spPr>
          <a:xfrm>
            <a:off x="365760" y="3291840"/>
            <a:ext cx="4114800" cy="1051560"/>
          </a:xfrm>
          <a:prstGeom prst="roundRect">
            <a:avLst>
              <a:gd name="adj" fmla="val 8696"/>
            </a:avLst>
          </a:prstGeom>
          <a:solidFill>
            <a:srgbClr val="FFFFFF">
              <a:alpha val="90000"/>
            </a:srgbClr>
          </a:solidFill>
          <a:ln/>
        </p:spPr>
        <p:txBody>
          <a:bodyPr/>
          <a:lstStyle/>
          <a:p>
            <a:endParaRPr lang="en-CA"/>
          </a:p>
        </p:txBody>
      </p:sp>
      <p:sp>
        <p:nvSpPr>
          <p:cNvPr id="13" name="Text 10"/>
          <p:cNvSpPr/>
          <p:nvPr/>
        </p:nvSpPr>
        <p:spPr>
          <a:xfrm>
            <a:off x="548640" y="3383280"/>
            <a:ext cx="3749040" cy="320040"/>
          </a:xfrm>
          <a:prstGeom prst="rect">
            <a:avLst/>
          </a:prstGeom>
          <a:noFill/>
          <a:ln/>
        </p:spPr>
        <p:txBody>
          <a:bodyPr wrap="square" lIns="0" tIns="0" rIns="0" bIns="0" rtlCol="0" anchor="ctr"/>
          <a:lstStyle/>
          <a:p>
            <a:pPr marL="0" indent="0">
              <a:buNone/>
            </a:pPr>
            <a:r>
              <a:rPr lang="en-US" sz="1400" b="1" dirty="0">
                <a:solidFill>
                  <a:srgbClr val="1AB8C4"/>
                </a:solidFill>
                <a:latin typeface="Cambria" pitchFamily="34" charset="0"/>
                <a:ea typeface="Cambria" pitchFamily="34" charset="-122"/>
                <a:cs typeface="Cambria" pitchFamily="34" charset="-120"/>
              </a:rPr>
              <a:t>Clear Markers</a:t>
            </a:r>
            <a:endParaRPr lang="en-US" sz="1400" dirty="0"/>
          </a:p>
        </p:txBody>
      </p:sp>
      <p:sp>
        <p:nvSpPr>
          <p:cNvPr id="14" name="Text 11"/>
          <p:cNvSpPr/>
          <p:nvPr/>
        </p:nvSpPr>
        <p:spPr>
          <a:xfrm>
            <a:off x="548640" y="3730752"/>
            <a:ext cx="3749040" cy="475488"/>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Remove all pins, reset camera to CN Tower</a:t>
            </a:r>
            <a:endParaRPr lang="en-US" sz="1200" dirty="0"/>
          </a:p>
        </p:txBody>
      </p:sp>
      <p:sp>
        <p:nvSpPr>
          <p:cNvPr id="15" name="Shape 12"/>
          <p:cNvSpPr/>
          <p:nvPr/>
        </p:nvSpPr>
        <p:spPr>
          <a:xfrm>
            <a:off x="4663440" y="3291840"/>
            <a:ext cx="4114800" cy="1051560"/>
          </a:xfrm>
          <a:prstGeom prst="roundRect">
            <a:avLst>
              <a:gd name="adj" fmla="val 8696"/>
            </a:avLst>
          </a:prstGeom>
          <a:solidFill>
            <a:srgbClr val="FFFFFF">
              <a:alpha val="90000"/>
            </a:srgbClr>
          </a:solidFill>
          <a:ln/>
        </p:spPr>
        <p:txBody>
          <a:bodyPr/>
          <a:lstStyle/>
          <a:p>
            <a:endParaRPr lang="en-CA"/>
          </a:p>
        </p:txBody>
      </p:sp>
      <p:sp>
        <p:nvSpPr>
          <p:cNvPr id="16" name="Text 13"/>
          <p:cNvSpPr/>
          <p:nvPr/>
        </p:nvSpPr>
        <p:spPr>
          <a:xfrm>
            <a:off x="4846320" y="3383280"/>
            <a:ext cx="3749040" cy="320040"/>
          </a:xfrm>
          <a:prstGeom prst="rect">
            <a:avLst/>
          </a:prstGeom>
          <a:noFill/>
          <a:ln/>
        </p:spPr>
        <p:txBody>
          <a:bodyPr wrap="square" lIns="0" tIns="0" rIns="0" bIns="0" rtlCol="0" anchor="ctr"/>
          <a:lstStyle/>
          <a:p>
            <a:pPr marL="0" indent="0">
              <a:buNone/>
            </a:pPr>
            <a:r>
              <a:rPr lang="en-US" sz="1400" b="1" dirty="0">
                <a:solidFill>
                  <a:srgbClr val="1AB8C4"/>
                </a:solidFill>
                <a:latin typeface="Cambria" pitchFamily="34" charset="0"/>
                <a:ea typeface="Cambria" pitchFamily="34" charset="-122"/>
                <a:cs typeface="Cambria" pitchFamily="34" charset="-120"/>
              </a:rPr>
              <a:t>Zoom To Location</a:t>
            </a:r>
            <a:endParaRPr lang="en-US" sz="1400" dirty="0"/>
          </a:p>
        </p:txBody>
      </p:sp>
      <p:sp>
        <p:nvSpPr>
          <p:cNvPr id="17" name="Text 14"/>
          <p:cNvSpPr/>
          <p:nvPr/>
        </p:nvSpPr>
        <p:spPr>
          <a:xfrm>
            <a:off x="4846320" y="3730752"/>
            <a:ext cx="3749040" cy="475488"/>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Jump camera to Monaco (hardcoded demo)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473B7FD-1763-E4F5-2E8F-608F16846232}"/>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rPr>
              <a:t>Learning Objectives</a:t>
            </a:r>
            <a:endParaRPr lang="en-US" dirty="0"/>
          </a:p>
        </p:txBody>
      </p:sp>
      <p:sp>
        <p:nvSpPr>
          <p:cNvPr id="4" name="TextBox 3">
            <a:extLst>
              <a:ext uri="{FF2B5EF4-FFF2-40B4-BE49-F238E27FC236}">
                <a16:creationId xmlns:a16="http://schemas.microsoft.com/office/drawing/2014/main" id="{5E2F50C0-51FB-ABD5-C381-595B493748B6}"/>
              </a:ext>
            </a:extLst>
          </p:cNvPr>
          <p:cNvSpPr txBox="1"/>
          <p:nvPr/>
        </p:nvSpPr>
        <p:spPr>
          <a:xfrm>
            <a:off x="365760" y="1151138"/>
            <a:ext cx="8385372" cy="2308324"/>
          </a:xfrm>
          <a:prstGeom prst="rect">
            <a:avLst/>
          </a:prstGeom>
          <a:noFill/>
        </p:spPr>
        <p:txBody>
          <a:bodyPr wrap="none" rtlCol="0">
            <a:spAutoFit/>
          </a:bodyPr>
          <a:lstStyle/>
          <a:p>
            <a:pPr marL="285750" indent="-285750">
              <a:buFont typeface="Arial" panose="020B0604020202020204" pitchFamily="34" charset="0"/>
              <a:buChar char="•"/>
            </a:pPr>
            <a:r>
              <a:rPr lang="en-CA" b="1" dirty="0"/>
              <a:t>What you're going to learn from this project:</a:t>
            </a:r>
          </a:p>
          <a:p>
            <a:pPr marL="742950" lvl="1" indent="-285750">
              <a:buFont typeface="Arial" panose="020B0604020202020204" pitchFamily="34" charset="0"/>
              <a:buChar char="•"/>
            </a:pPr>
            <a:r>
              <a:rPr lang="en-CA" dirty="0"/>
              <a:t>How to display a map using react-native-maps</a:t>
            </a:r>
          </a:p>
          <a:p>
            <a:pPr marL="742950" lvl="1" indent="-285750">
              <a:buFont typeface="Arial" panose="020B0604020202020204" pitchFamily="34" charset="0"/>
              <a:buChar char="•"/>
            </a:pPr>
            <a:r>
              <a:rPr lang="en-CA" dirty="0"/>
              <a:t>How to place custom markers on the map from a state array</a:t>
            </a:r>
          </a:p>
          <a:p>
            <a:pPr marL="742950" lvl="1" indent="-285750">
              <a:buFont typeface="Arial" panose="020B0604020202020204" pitchFamily="34" charset="0"/>
              <a:buChar char="•"/>
            </a:pPr>
            <a:r>
              <a:rPr lang="en-CA" dirty="0"/>
              <a:t>How to move the camera programmatically with </a:t>
            </a:r>
            <a:r>
              <a:rPr lang="en-CA" dirty="0" err="1"/>
              <a:t>animateToRegion</a:t>
            </a:r>
            <a:endParaRPr lang="en-CA" dirty="0"/>
          </a:p>
          <a:p>
            <a:pPr marL="742950" lvl="1" indent="-285750">
              <a:buFont typeface="Arial" panose="020B0604020202020204" pitchFamily="34" charset="0"/>
              <a:buChar char="•"/>
            </a:pPr>
            <a:r>
              <a:rPr lang="en-CA" dirty="0"/>
              <a:t>How to use </a:t>
            </a:r>
            <a:r>
              <a:rPr lang="en-CA" dirty="0" err="1"/>
              <a:t>useRef</a:t>
            </a:r>
            <a:r>
              <a:rPr lang="en-CA" dirty="0"/>
              <a:t> to call methods directly on a component</a:t>
            </a:r>
          </a:p>
          <a:p>
            <a:endParaRPr lang="en-CA" dirty="0"/>
          </a:p>
          <a:p>
            <a:pPr marL="285750" indent="-285750">
              <a:buFont typeface="Arial" panose="020B0604020202020204" pitchFamily="34" charset="0"/>
              <a:buChar char="•"/>
            </a:pPr>
            <a:r>
              <a:rPr lang="en-CA" dirty="0"/>
              <a:t>By the end of today you will have a fully working map app running on your emulator.</a:t>
            </a:r>
          </a:p>
          <a:p>
            <a:endParaRPr lang="en-CA" dirty="0"/>
          </a:p>
        </p:txBody>
      </p:sp>
    </p:spTree>
    <p:extLst>
      <p:ext uri="{BB962C8B-B14F-4D97-AF65-F5344CB8AC3E}">
        <p14:creationId xmlns:p14="http://schemas.microsoft.com/office/powerpoint/2010/main" val="112806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6E32DF7-66E3-0E9E-A3A4-8162C59482C9}"/>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rPr>
              <a:t>Step 1: Setting Up a New Project</a:t>
            </a:r>
            <a:endParaRPr lang="en-US" dirty="0"/>
          </a:p>
        </p:txBody>
      </p:sp>
      <p:pic>
        <p:nvPicPr>
          <p:cNvPr id="7" name="Picture 6">
            <a:extLst>
              <a:ext uri="{FF2B5EF4-FFF2-40B4-BE49-F238E27FC236}">
                <a16:creationId xmlns:a16="http://schemas.microsoft.com/office/drawing/2014/main" id="{B9022E75-7322-15AD-D529-BFE060C62790}"/>
              </a:ext>
            </a:extLst>
          </p:cNvPr>
          <p:cNvPicPr>
            <a:picLocks noChangeAspect="1"/>
          </p:cNvPicPr>
          <p:nvPr/>
        </p:nvPicPr>
        <p:blipFill>
          <a:blip r:embed="rId2"/>
          <a:stretch>
            <a:fillRect/>
          </a:stretch>
        </p:blipFill>
        <p:spPr>
          <a:xfrm>
            <a:off x="424992" y="1156718"/>
            <a:ext cx="7937774" cy="343612"/>
          </a:xfrm>
          <a:prstGeom prst="rect">
            <a:avLst/>
          </a:prstGeom>
          <a:ln>
            <a:solidFill>
              <a:schemeClr val="accent1"/>
            </a:solidFill>
          </a:ln>
        </p:spPr>
      </p:pic>
      <p:pic>
        <p:nvPicPr>
          <p:cNvPr id="9" name="Picture 8">
            <a:extLst>
              <a:ext uri="{FF2B5EF4-FFF2-40B4-BE49-F238E27FC236}">
                <a16:creationId xmlns:a16="http://schemas.microsoft.com/office/drawing/2014/main" id="{A3CB4C15-B6F4-6A76-9FCE-D107684E79E1}"/>
              </a:ext>
            </a:extLst>
          </p:cNvPr>
          <p:cNvPicPr>
            <a:picLocks noChangeAspect="1"/>
          </p:cNvPicPr>
          <p:nvPr/>
        </p:nvPicPr>
        <p:blipFill>
          <a:blip r:embed="rId3"/>
          <a:stretch>
            <a:fillRect/>
          </a:stretch>
        </p:blipFill>
        <p:spPr>
          <a:xfrm>
            <a:off x="424992" y="2062427"/>
            <a:ext cx="6843353" cy="217189"/>
          </a:xfrm>
          <a:prstGeom prst="rect">
            <a:avLst/>
          </a:prstGeom>
          <a:ln>
            <a:solidFill>
              <a:schemeClr val="accent1"/>
            </a:solidFill>
          </a:ln>
        </p:spPr>
      </p:pic>
      <p:pic>
        <p:nvPicPr>
          <p:cNvPr id="13" name="Picture 12">
            <a:extLst>
              <a:ext uri="{FF2B5EF4-FFF2-40B4-BE49-F238E27FC236}">
                <a16:creationId xmlns:a16="http://schemas.microsoft.com/office/drawing/2014/main" id="{C5AAF196-A6E2-2D33-6A8A-85DACECE994B}"/>
              </a:ext>
            </a:extLst>
          </p:cNvPr>
          <p:cNvPicPr>
            <a:picLocks noChangeAspect="1"/>
          </p:cNvPicPr>
          <p:nvPr/>
        </p:nvPicPr>
        <p:blipFill>
          <a:blip r:embed="rId4"/>
          <a:stretch>
            <a:fillRect/>
          </a:stretch>
        </p:blipFill>
        <p:spPr>
          <a:xfrm>
            <a:off x="457543" y="2780676"/>
            <a:ext cx="8151479" cy="282630"/>
          </a:xfrm>
          <a:prstGeom prst="rect">
            <a:avLst/>
          </a:prstGeom>
          <a:ln>
            <a:solidFill>
              <a:schemeClr val="accent1"/>
            </a:solidFill>
          </a:ln>
        </p:spPr>
      </p:pic>
      <p:pic>
        <p:nvPicPr>
          <p:cNvPr id="15" name="Picture 14">
            <a:extLst>
              <a:ext uri="{FF2B5EF4-FFF2-40B4-BE49-F238E27FC236}">
                <a16:creationId xmlns:a16="http://schemas.microsoft.com/office/drawing/2014/main" id="{71E4D2B7-1FD7-472E-59FE-63843CFB7940}"/>
              </a:ext>
            </a:extLst>
          </p:cNvPr>
          <p:cNvPicPr>
            <a:picLocks noChangeAspect="1"/>
          </p:cNvPicPr>
          <p:nvPr/>
        </p:nvPicPr>
        <p:blipFill>
          <a:blip r:embed="rId5"/>
          <a:stretch>
            <a:fillRect/>
          </a:stretch>
        </p:blipFill>
        <p:spPr>
          <a:xfrm>
            <a:off x="457543" y="3577131"/>
            <a:ext cx="1581287" cy="217189"/>
          </a:xfrm>
          <a:prstGeom prst="rect">
            <a:avLst/>
          </a:prstGeom>
          <a:ln>
            <a:solidFill>
              <a:schemeClr val="accent1"/>
            </a:solidFill>
          </a:ln>
        </p:spPr>
      </p:pic>
      <p:pic>
        <p:nvPicPr>
          <p:cNvPr id="17" name="Picture 16">
            <a:extLst>
              <a:ext uri="{FF2B5EF4-FFF2-40B4-BE49-F238E27FC236}">
                <a16:creationId xmlns:a16="http://schemas.microsoft.com/office/drawing/2014/main" id="{13FDE873-6509-48CE-4765-852E7FB72FC0}"/>
              </a:ext>
            </a:extLst>
          </p:cNvPr>
          <p:cNvPicPr>
            <a:picLocks noChangeAspect="1"/>
          </p:cNvPicPr>
          <p:nvPr/>
        </p:nvPicPr>
        <p:blipFill>
          <a:blip r:embed="rId6"/>
          <a:stretch>
            <a:fillRect/>
          </a:stretch>
        </p:blipFill>
        <p:spPr>
          <a:xfrm>
            <a:off x="457543" y="3933119"/>
            <a:ext cx="6466130" cy="278154"/>
          </a:xfrm>
          <a:prstGeom prst="rect">
            <a:avLst/>
          </a:prstGeom>
          <a:ln>
            <a:solidFill>
              <a:schemeClr val="accent1"/>
            </a:solidFill>
          </a:ln>
        </p:spPr>
      </p:pic>
      <p:pic>
        <p:nvPicPr>
          <p:cNvPr id="19" name="Picture 18">
            <a:extLst>
              <a:ext uri="{FF2B5EF4-FFF2-40B4-BE49-F238E27FC236}">
                <a16:creationId xmlns:a16="http://schemas.microsoft.com/office/drawing/2014/main" id="{7AC8DE89-3E40-84A5-5905-5D28637EEA1E}"/>
              </a:ext>
            </a:extLst>
          </p:cNvPr>
          <p:cNvPicPr>
            <a:picLocks noChangeAspect="1"/>
          </p:cNvPicPr>
          <p:nvPr/>
        </p:nvPicPr>
        <p:blipFill>
          <a:blip r:embed="rId7"/>
          <a:stretch>
            <a:fillRect/>
          </a:stretch>
        </p:blipFill>
        <p:spPr>
          <a:xfrm>
            <a:off x="424992" y="4735768"/>
            <a:ext cx="8024555" cy="194327"/>
          </a:xfrm>
          <a:prstGeom prst="rect">
            <a:avLst/>
          </a:prstGeom>
          <a:ln>
            <a:solidFill>
              <a:schemeClr val="accent1"/>
            </a:solidFill>
          </a:ln>
        </p:spPr>
      </p:pic>
      <p:sp>
        <p:nvSpPr>
          <p:cNvPr id="20" name="TextBox 19">
            <a:extLst>
              <a:ext uri="{FF2B5EF4-FFF2-40B4-BE49-F238E27FC236}">
                <a16:creationId xmlns:a16="http://schemas.microsoft.com/office/drawing/2014/main" id="{DCBC073E-0F0E-902B-2BA1-324B1828CAA1}"/>
              </a:ext>
            </a:extLst>
          </p:cNvPr>
          <p:cNvSpPr txBox="1"/>
          <p:nvPr/>
        </p:nvSpPr>
        <p:spPr>
          <a:xfrm>
            <a:off x="365760" y="771472"/>
            <a:ext cx="2361865" cy="369332"/>
          </a:xfrm>
          <a:prstGeom prst="rect">
            <a:avLst/>
          </a:prstGeom>
          <a:noFill/>
        </p:spPr>
        <p:txBody>
          <a:bodyPr wrap="none" rtlCol="0">
            <a:spAutoFit/>
          </a:bodyPr>
          <a:lstStyle/>
          <a:p>
            <a:r>
              <a:rPr lang="en-CA" dirty="0"/>
              <a:t>1. Create a new project</a:t>
            </a:r>
          </a:p>
        </p:txBody>
      </p:sp>
      <p:sp>
        <p:nvSpPr>
          <p:cNvPr id="22" name="TextBox 21">
            <a:extLst>
              <a:ext uri="{FF2B5EF4-FFF2-40B4-BE49-F238E27FC236}">
                <a16:creationId xmlns:a16="http://schemas.microsoft.com/office/drawing/2014/main" id="{CC097851-ECD3-594A-61C1-ED78BE28751C}"/>
              </a:ext>
            </a:extLst>
          </p:cNvPr>
          <p:cNvSpPr txBox="1"/>
          <p:nvPr/>
        </p:nvSpPr>
        <p:spPr>
          <a:xfrm>
            <a:off x="365759" y="1606812"/>
            <a:ext cx="2148922" cy="369332"/>
          </a:xfrm>
          <a:prstGeom prst="rect">
            <a:avLst/>
          </a:prstGeom>
          <a:noFill/>
        </p:spPr>
        <p:txBody>
          <a:bodyPr wrap="none" rtlCol="0">
            <a:spAutoFit/>
          </a:bodyPr>
          <a:lstStyle/>
          <a:p>
            <a:r>
              <a:rPr lang="en-CA" dirty="0"/>
              <a:t>2. Select SDK Version</a:t>
            </a:r>
          </a:p>
        </p:txBody>
      </p:sp>
      <p:sp>
        <p:nvSpPr>
          <p:cNvPr id="24" name="TextBox 23">
            <a:extLst>
              <a:ext uri="{FF2B5EF4-FFF2-40B4-BE49-F238E27FC236}">
                <a16:creationId xmlns:a16="http://schemas.microsoft.com/office/drawing/2014/main" id="{709718B8-8F9F-9178-3804-76E3C06A8292}"/>
              </a:ext>
            </a:extLst>
          </p:cNvPr>
          <p:cNvSpPr txBox="1"/>
          <p:nvPr/>
        </p:nvSpPr>
        <p:spPr>
          <a:xfrm>
            <a:off x="343986" y="2365899"/>
            <a:ext cx="3346622" cy="369332"/>
          </a:xfrm>
          <a:prstGeom prst="rect">
            <a:avLst/>
          </a:prstGeom>
          <a:noFill/>
        </p:spPr>
        <p:txBody>
          <a:bodyPr wrap="none" rtlCol="0">
            <a:spAutoFit/>
          </a:bodyPr>
          <a:lstStyle/>
          <a:p>
            <a:r>
              <a:rPr lang="en-CA" dirty="0"/>
              <a:t>3. Change directory to the project</a:t>
            </a:r>
          </a:p>
        </p:txBody>
      </p:sp>
      <p:sp>
        <p:nvSpPr>
          <p:cNvPr id="25" name="TextBox 24">
            <a:extLst>
              <a:ext uri="{FF2B5EF4-FFF2-40B4-BE49-F238E27FC236}">
                <a16:creationId xmlns:a16="http://schemas.microsoft.com/office/drawing/2014/main" id="{AAF78952-8DD3-B1C8-85F6-2B5D845EDA16}"/>
              </a:ext>
            </a:extLst>
          </p:cNvPr>
          <p:cNvSpPr txBox="1"/>
          <p:nvPr/>
        </p:nvSpPr>
        <p:spPr>
          <a:xfrm>
            <a:off x="365759" y="3151216"/>
            <a:ext cx="8222059" cy="369332"/>
          </a:xfrm>
          <a:prstGeom prst="rect">
            <a:avLst/>
          </a:prstGeom>
          <a:noFill/>
        </p:spPr>
        <p:txBody>
          <a:bodyPr wrap="none" rtlCol="0">
            <a:spAutoFit/>
          </a:bodyPr>
          <a:lstStyle/>
          <a:p>
            <a:r>
              <a:rPr lang="en-CA" dirty="0"/>
              <a:t>4. Delete the demo code Expo gives you so you can start from a clean blank screen</a:t>
            </a:r>
          </a:p>
        </p:txBody>
      </p:sp>
      <p:sp>
        <p:nvSpPr>
          <p:cNvPr id="27" name="TextBox 26">
            <a:extLst>
              <a:ext uri="{FF2B5EF4-FFF2-40B4-BE49-F238E27FC236}">
                <a16:creationId xmlns:a16="http://schemas.microsoft.com/office/drawing/2014/main" id="{12BBE402-20F0-A544-0E0E-2B43425065C9}"/>
              </a:ext>
            </a:extLst>
          </p:cNvPr>
          <p:cNvSpPr txBox="1"/>
          <p:nvPr/>
        </p:nvSpPr>
        <p:spPr>
          <a:xfrm>
            <a:off x="326239" y="4254512"/>
            <a:ext cx="4648452" cy="369332"/>
          </a:xfrm>
          <a:prstGeom prst="rect">
            <a:avLst/>
          </a:prstGeom>
          <a:noFill/>
        </p:spPr>
        <p:txBody>
          <a:bodyPr wrap="none" rtlCol="0">
            <a:spAutoFit/>
          </a:bodyPr>
          <a:lstStyle/>
          <a:p>
            <a:r>
              <a:rPr lang="en-CA" dirty="0"/>
              <a:t>5. Open the project folder in Visual Studio Code</a:t>
            </a:r>
          </a:p>
        </p:txBody>
      </p:sp>
    </p:spTree>
    <p:extLst>
      <p:ext uri="{BB962C8B-B14F-4D97-AF65-F5344CB8AC3E}">
        <p14:creationId xmlns:p14="http://schemas.microsoft.com/office/powerpoint/2010/main" val="3849725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is react-native-maps?</a:t>
            </a:r>
            <a:endParaRPr lang="en-US" sz="2200" dirty="0"/>
          </a:p>
        </p:txBody>
      </p:sp>
      <p:sp>
        <p:nvSpPr>
          <p:cNvPr id="4" name="Shape 2"/>
          <p:cNvSpPr/>
          <p:nvPr/>
        </p:nvSpPr>
        <p:spPr>
          <a:xfrm>
            <a:off x="365760" y="1005840"/>
            <a:ext cx="4023360" cy="1115568"/>
          </a:xfrm>
          <a:prstGeom prst="roundRect">
            <a:avLst>
              <a:gd name="adj" fmla="val 8197"/>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5" name="Image 0" descr="preencoded.png"/>
          <p:cNvPicPr>
            <a:picLocks noChangeAspect="1"/>
          </p:cNvPicPr>
          <p:nvPr/>
        </p:nvPicPr>
        <p:blipFill>
          <a:blip r:embed="rId3"/>
          <a:stretch>
            <a:fillRect/>
          </a:stretch>
        </p:blipFill>
        <p:spPr>
          <a:xfrm>
            <a:off x="548640" y="1316736"/>
            <a:ext cx="384048" cy="384048"/>
          </a:xfrm>
          <a:prstGeom prst="rect">
            <a:avLst/>
          </a:prstGeom>
        </p:spPr>
      </p:pic>
      <p:sp>
        <p:nvSpPr>
          <p:cNvPr id="6" name="Text 3"/>
          <p:cNvSpPr/>
          <p:nvPr/>
        </p:nvSpPr>
        <p:spPr>
          <a:xfrm>
            <a:off x="1024128" y="1078992"/>
            <a:ext cx="3291840" cy="36576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Third-party library</a:t>
            </a:r>
            <a:endParaRPr lang="en-US" sz="1200" dirty="0"/>
          </a:p>
        </p:txBody>
      </p:sp>
      <p:sp>
        <p:nvSpPr>
          <p:cNvPr id="7" name="Text 4"/>
          <p:cNvSpPr/>
          <p:nvPr/>
        </p:nvSpPr>
        <p:spPr>
          <a:xfrm>
            <a:off x="1024128" y="1444752"/>
            <a:ext cx="3291840" cy="56692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Not built into React Native — must be installed separately.</a:t>
            </a:r>
            <a:endParaRPr lang="en-US" sz="1100" dirty="0"/>
          </a:p>
        </p:txBody>
      </p:sp>
      <p:sp>
        <p:nvSpPr>
          <p:cNvPr id="8" name="Shape 5"/>
          <p:cNvSpPr/>
          <p:nvPr/>
        </p:nvSpPr>
        <p:spPr>
          <a:xfrm>
            <a:off x="365760" y="2304288"/>
            <a:ext cx="4023360" cy="1115568"/>
          </a:xfrm>
          <a:prstGeom prst="roundRect">
            <a:avLst>
              <a:gd name="adj" fmla="val 8197"/>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9" name="Image 1" descr="preencoded.png"/>
          <p:cNvPicPr>
            <a:picLocks noChangeAspect="1"/>
          </p:cNvPicPr>
          <p:nvPr/>
        </p:nvPicPr>
        <p:blipFill>
          <a:blip r:embed="rId4"/>
          <a:stretch>
            <a:fillRect/>
          </a:stretch>
        </p:blipFill>
        <p:spPr>
          <a:xfrm>
            <a:off x="548640" y="2615184"/>
            <a:ext cx="384048" cy="384048"/>
          </a:xfrm>
          <a:prstGeom prst="rect">
            <a:avLst/>
          </a:prstGeom>
        </p:spPr>
      </p:pic>
      <p:sp>
        <p:nvSpPr>
          <p:cNvPr id="10" name="Text 6"/>
          <p:cNvSpPr/>
          <p:nvPr/>
        </p:nvSpPr>
        <p:spPr>
          <a:xfrm>
            <a:off x="1024128" y="2377440"/>
            <a:ext cx="3291840" cy="36576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Google Maps (Android) /</a:t>
            </a:r>
            <a:endParaRPr lang="en-US" sz="1200" dirty="0"/>
          </a:p>
          <a:p>
            <a:pPr marL="0" indent="0">
              <a:buNone/>
            </a:pPr>
            <a:r>
              <a:rPr lang="en-US" sz="1200" b="1" dirty="0">
                <a:solidFill>
                  <a:srgbClr val="0D1B2A"/>
                </a:solidFill>
                <a:latin typeface="Cambria" pitchFamily="34" charset="0"/>
                <a:ea typeface="Cambria" pitchFamily="34" charset="-122"/>
                <a:cs typeface="Cambria" pitchFamily="34" charset="-120"/>
              </a:rPr>
              <a:t>Apple Maps or Google Maps (iOS)</a:t>
            </a:r>
            <a:endParaRPr lang="en-US" sz="1200" dirty="0"/>
          </a:p>
        </p:txBody>
      </p:sp>
      <p:sp>
        <p:nvSpPr>
          <p:cNvPr id="11" name="Text 7"/>
          <p:cNvSpPr/>
          <p:nvPr/>
        </p:nvSpPr>
        <p:spPr>
          <a:xfrm>
            <a:off x="1024128" y="2743200"/>
            <a:ext cx="3291840" cy="56692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Uses native mapping SDKs under the hood — real performance.</a:t>
            </a:r>
            <a:endParaRPr lang="en-US" sz="1100" dirty="0"/>
          </a:p>
        </p:txBody>
      </p:sp>
      <p:sp>
        <p:nvSpPr>
          <p:cNvPr id="12" name="Shape 8"/>
          <p:cNvSpPr/>
          <p:nvPr/>
        </p:nvSpPr>
        <p:spPr>
          <a:xfrm>
            <a:off x="365760" y="3602736"/>
            <a:ext cx="4023360" cy="1115568"/>
          </a:xfrm>
          <a:prstGeom prst="roundRect">
            <a:avLst>
              <a:gd name="adj" fmla="val 8197"/>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3" name="Image 2" descr="preencoded.png"/>
          <p:cNvPicPr>
            <a:picLocks noChangeAspect="1"/>
          </p:cNvPicPr>
          <p:nvPr/>
        </p:nvPicPr>
        <p:blipFill>
          <a:blip r:embed="rId5"/>
          <a:stretch>
            <a:fillRect/>
          </a:stretch>
        </p:blipFill>
        <p:spPr>
          <a:xfrm>
            <a:off x="548640" y="3913632"/>
            <a:ext cx="384048" cy="384048"/>
          </a:xfrm>
          <a:prstGeom prst="rect">
            <a:avLst/>
          </a:prstGeom>
        </p:spPr>
      </p:pic>
      <p:sp>
        <p:nvSpPr>
          <p:cNvPr id="14" name="Text 9"/>
          <p:cNvSpPr/>
          <p:nvPr/>
        </p:nvSpPr>
        <p:spPr>
          <a:xfrm>
            <a:off x="1024128" y="3675888"/>
            <a:ext cx="3291840" cy="36576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Works with Expo Go</a:t>
            </a:r>
            <a:endParaRPr lang="en-US" sz="1200" dirty="0"/>
          </a:p>
        </p:txBody>
      </p:sp>
      <p:sp>
        <p:nvSpPr>
          <p:cNvPr id="15" name="Text 10"/>
          <p:cNvSpPr/>
          <p:nvPr/>
        </p:nvSpPr>
        <p:spPr>
          <a:xfrm>
            <a:off x="1024128" y="4041648"/>
            <a:ext cx="3291840" cy="56692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No extra native config needed for Expo managed workflow.</a:t>
            </a:r>
            <a:endParaRPr lang="en-US" sz="1100" dirty="0"/>
          </a:p>
        </p:txBody>
      </p:sp>
      <p:sp>
        <p:nvSpPr>
          <p:cNvPr id="16" name="Shape 11"/>
          <p:cNvSpPr/>
          <p:nvPr/>
        </p:nvSpPr>
        <p:spPr>
          <a:xfrm>
            <a:off x="4663440" y="960120"/>
            <a:ext cx="4114800" cy="658368"/>
          </a:xfrm>
          <a:prstGeom prst="roundRect">
            <a:avLst>
              <a:gd name="adj" fmla="val 13889"/>
            </a:avLst>
          </a:prstGeom>
          <a:solidFill>
            <a:srgbClr val="0A7E8C"/>
          </a:solidFill>
          <a:ln/>
        </p:spPr>
        <p:txBody>
          <a:bodyPr/>
          <a:lstStyle/>
          <a:p>
            <a:endParaRPr lang="en-CA"/>
          </a:p>
        </p:txBody>
      </p:sp>
      <p:sp>
        <p:nvSpPr>
          <p:cNvPr id="17" name="Text 12"/>
          <p:cNvSpPr/>
          <p:nvPr/>
        </p:nvSpPr>
        <p:spPr>
          <a:xfrm>
            <a:off x="4754880" y="978408"/>
            <a:ext cx="3931920" cy="621792"/>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Installation</a:t>
            </a:r>
            <a:endParaRPr lang="en-US" sz="1500" dirty="0"/>
          </a:p>
        </p:txBody>
      </p:sp>
      <p:sp>
        <p:nvSpPr>
          <p:cNvPr id="18" name="Shape 13"/>
          <p:cNvSpPr/>
          <p:nvPr/>
        </p:nvSpPr>
        <p:spPr>
          <a:xfrm>
            <a:off x="4663440" y="1664208"/>
            <a:ext cx="4114800" cy="457200"/>
          </a:xfrm>
          <a:prstGeom prst="roundRect">
            <a:avLst>
              <a:gd name="adj" fmla="val 20000"/>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9" name="Text 14"/>
          <p:cNvSpPr/>
          <p:nvPr/>
        </p:nvSpPr>
        <p:spPr>
          <a:xfrm>
            <a:off x="4800600" y="1773936"/>
            <a:ext cx="3840480" cy="237744"/>
          </a:xfrm>
          <a:prstGeom prst="rect">
            <a:avLst/>
          </a:prstGeom>
          <a:noFill/>
          <a:ln/>
        </p:spPr>
        <p:txBody>
          <a:bodyPr wrap="square" lIns="0" tIns="0" rIns="0" bIns="0" rtlCol="0" anchor="t"/>
          <a:lstStyle/>
          <a:p>
            <a:pPr marL="0" indent="0">
              <a:buNone/>
            </a:pPr>
            <a:r>
              <a:rPr lang="en-US" sz="1100" dirty="0">
                <a:solidFill>
                  <a:srgbClr val="A8D8D8"/>
                </a:solidFill>
                <a:latin typeface="Courier New" pitchFamily="34" charset="0"/>
                <a:ea typeface="Courier New" pitchFamily="34" charset="-122"/>
                <a:cs typeface="Courier New" pitchFamily="34" charset="-120"/>
              </a:rPr>
              <a:t>npm install react-native-maps</a:t>
            </a:r>
            <a:endParaRPr lang="en-US" sz="1100" dirty="0"/>
          </a:p>
        </p:txBody>
      </p:sp>
      <p:sp>
        <p:nvSpPr>
          <p:cNvPr id="20" name="Shape 15"/>
          <p:cNvSpPr/>
          <p:nvPr/>
        </p:nvSpPr>
        <p:spPr>
          <a:xfrm>
            <a:off x="4663440" y="2267712"/>
            <a:ext cx="4114800" cy="658368"/>
          </a:xfrm>
          <a:prstGeom prst="roundRect">
            <a:avLst>
              <a:gd name="adj" fmla="val 13889"/>
            </a:avLst>
          </a:prstGeom>
          <a:solidFill>
            <a:srgbClr val="0A7E8C"/>
          </a:solidFill>
          <a:ln/>
        </p:spPr>
        <p:txBody>
          <a:bodyPr/>
          <a:lstStyle/>
          <a:p>
            <a:endParaRPr lang="en-CA"/>
          </a:p>
        </p:txBody>
      </p:sp>
      <p:sp>
        <p:nvSpPr>
          <p:cNvPr id="21" name="Text 16"/>
          <p:cNvSpPr/>
          <p:nvPr/>
        </p:nvSpPr>
        <p:spPr>
          <a:xfrm>
            <a:off x="4754880" y="2286000"/>
            <a:ext cx="3931920" cy="621792"/>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Import in your component</a:t>
            </a:r>
            <a:endParaRPr lang="en-US" sz="1500" dirty="0"/>
          </a:p>
        </p:txBody>
      </p:sp>
      <p:sp>
        <p:nvSpPr>
          <p:cNvPr id="22" name="Shape 17"/>
          <p:cNvSpPr/>
          <p:nvPr/>
        </p:nvSpPr>
        <p:spPr>
          <a:xfrm>
            <a:off x="4663440" y="2971800"/>
            <a:ext cx="4114800" cy="621792"/>
          </a:xfrm>
          <a:prstGeom prst="roundRect">
            <a:avLst>
              <a:gd name="adj" fmla="val 14706"/>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23" name="Text 18"/>
          <p:cNvSpPr/>
          <p:nvPr/>
        </p:nvSpPr>
        <p:spPr>
          <a:xfrm>
            <a:off x="4800600" y="3081528"/>
            <a:ext cx="3840480" cy="402336"/>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import MapView, { Marker, Region }</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from 'react-native-maps';</a:t>
            </a:r>
            <a:endParaRPr lang="en-US" sz="1000" dirty="0"/>
          </a:p>
        </p:txBody>
      </p:sp>
      <p:sp>
        <p:nvSpPr>
          <p:cNvPr id="24" name="Text 19"/>
          <p:cNvSpPr/>
          <p:nvPr/>
        </p:nvSpPr>
        <p:spPr>
          <a:xfrm>
            <a:off x="4663440" y="3749040"/>
            <a:ext cx="411480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Docs: docs.expo.dev/versions/latest/sdk/map-view</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2924183E-55ED-E766-AB40-75349ECB58C2}"/>
              </a:ext>
            </a:extLst>
          </p:cNvPr>
          <p:cNvSpPr/>
          <p:nvPr/>
        </p:nvSpPr>
        <p:spPr>
          <a:xfrm>
            <a:off x="365760" y="164592"/>
            <a:ext cx="8412480" cy="566928"/>
          </a:xfrm>
          <a:prstGeom prst="roundRect">
            <a:avLst>
              <a:gd name="adj" fmla="val 12903"/>
            </a:avLst>
          </a:prstGeom>
          <a:solidFill>
            <a:srgbClr val="0D1B2A"/>
          </a:solidFill>
          <a:ln/>
        </p:spPr>
        <p:txBody>
          <a:bodyPr/>
          <a:lstStyle/>
          <a:p>
            <a:r>
              <a:rPr lang="en-US" sz="2200" b="1" dirty="0">
                <a:solidFill>
                  <a:srgbClr val="FFFFFF"/>
                </a:solidFill>
                <a:latin typeface="Cambria" pitchFamily="34" charset="0"/>
                <a:ea typeface="Cambria" pitchFamily="34" charset="-122"/>
              </a:rPr>
              <a:t>Step 2: Installations and Imports</a:t>
            </a:r>
          </a:p>
        </p:txBody>
      </p:sp>
      <p:pic>
        <p:nvPicPr>
          <p:cNvPr id="5" name="Picture 4">
            <a:extLst>
              <a:ext uri="{FF2B5EF4-FFF2-40B4-BE49-F238E27FC236}">
                <a16:creationId xmlns:a16="http://schemas.microsoft.com/office/drawing/2014/main" id="{AA35E09A-829A-1100-1E4D-2B8E442B3051}"/>
              </a:ext>
            </a:extLst>
          </p:cNvPr>
          <p:cNvPicPr>
            <a:picLocks noChangeAspect="1"/>
          </p:cNvPicPr>
          <p:nvPr/>
        </p:nvPicPr>
        <p:blipFill>
          <a:blip r:embed="rId4"/>
          <a:stretch>
            <a:fillRect/>
          </a:stretch>
        </p:blipFill>
        <p:spPr>
          <a:xfrm>
            <a:off x="467444" y="2206274"/>
            <a:ext cx="5479255" cy="788738"/>
          </a:xfrm>
          <a:prstGeom prst="rect">
            <a:avLst/>
          </a:prstGeom>
          <a:ln>
            <a:solidFill>
              <a:schemeClr val="accent1"/>
            </a:solidFill>
          </a:ln>
        </p:spPr>
      </p:pic>
      <p:pic>
        <p:nvPicPr>
          <p:cNvPr id="7" name="Picture 6">
            <a:extLst>
              <a:ext uri="{FF2B5EF4-FFF2-40B4-BE49-F238E27FC236}">
                <a16:creationId xmlns:a16="http://schemas.microsoft.com/office/drawing/2014/main" id="{F8F04029-9AEA-C14A-6A96-6A393B664E96}"/>
              </a:ext>
            </a:extLst>
          </p:cNvPr>
          <p:cNvPicPr>
            <a:picLocks noChangeAspect="1"/>
          </p:cNvPicPr>
          <p:nvPr/>
        </p:nvPicPr>
        <p:blipFill>
          <a:blip r:embed="rId5"/>
          <a:stretch>
            <a:fillRect/>
          </a:stretch>
        </p:blipFill>
        <p:spPr>
          <a:xfrm>
            <a:off x="467444" y="1376119"/>
            <a:ext cx="2160457" cy="236240"/>
          </a:xfrm>
          <a:prstGeom prst="rect">
            <a:avLst/>
          </a:prstGeom>
          <a:ln>
            <a:solidFill>
              <a:schemeClr val="accent1"/>
            </a:solidFill>
          </a:ln>
        </p:spPr>
      </p:pic>
      <p:sp>
        <p:nvSpPr>
          <p:cNvPr id="8" name="TextBox 7">
            <a:extLst>
              <a:ext uri="{FF2B5EF4-FFF2-40B4-BE49-F238E27FC236}">
                <a16:creationId xmlns:a16="http://schemas.microsoft.com/office/drawing/2014/main" id="{C7BA17E8-A7B1-7E34-FF3C-CC5C025E157C}"/>
              </a:ext>
            </a:extLst>
          </p:cNvPr>
          <p:cNvSpPr txBox="1"/>
          <p:nvPr/>
        </p:nvSpPr>
        <p:spPr>
          <a:xfrm>
            <a:off x="452113" y="994299"/>
            <a:ext cx="4925644" cy="369332"/>
          </a:xfrm>
          <a:prstGeom prst="rect">
            <a:avLst/>
          </a:prstGeom>
          <a:noFill/>
        </p:spPr>
        <p:txBody>
          <a:bodyPr wrap="none" rtlCol="0">
            <a:spAutoFit/>
          </a:bodyPr>
          <a:lstStyle/>
          <a:p>
            <a:r>
              <a:rPr lang="en-CA" dirty="0"/>
              <a:t>1. From the terminal, install the third-party library:</a:t>
            </a:r>
          </a:p>
        </p:txBody>
      </p:sp>
      <p:sp>
        <p:nvSpPr>
          <p:cNvPr id="10" name="TextBox 9">
            <a:extLst>
              <a:ext uri="{FF2B5EF4-FFF2-40B4-BE49-F238E27FC236}">
                <a16:creationId xmlns:a16="http://schemas.microsoft.com/office/drawing/2014/main" id="{D92D93B0-1647-85FC-90AA-273860C17250}"/>
              </a:ext>
            </a:extLst>
          </p:cNvPr>
          <p:cNvSpPr txBox="1"/>
          <p:nvPr/>
        </p:nvSpPr>
        <p:spPr>
          <a:xfrm>
            <a:off x="452113" y="1789792"/>
            <a:ext cx="2608727" cy="369332"/>
          </a:xfrm>
          <a:prstGeom prst="rect">
            <a:avLst/>
          </a:prstGeom>
          <a:noFill/>
        </p:spPr>
        <p:txBody>
          <a:bodyPr wrap="none" rtlCol="0">
            <a:spAutoFit/>
          </a:bodyPr>
          <a:lstStyle/>
          <a:p>
            <a:r>
              <a:rPr lang="en-CA" dirty="0"/>
              <a:t>2. Import under </a:t>
            </a:r>
            <a:r>
              <a:rPr lang="en-CA" dirty="0" err="1"/>
              <a:t>index.tsx</a:t>
            </a:r>
            <a:r>
              <a:rPr lang="en-CA" dirty="0"/>
              <a:t>:</a:t>
            </a:r>
          </a:p>
        </p:txBody>
      </p:sp>
      <p:sp>
        <p:nvSpPr>
          <p:cNvPr id="13" name="Text 8">
            <a:extLst>
              <a:ext uri="{FF2B5EF4-FFF2-40B4-BE49-F238E27FC236}">
                <a16:creationId xmlns:a16="http://schemas.microsoft.com/office/drawing/2014/main" id="{564857C7-9C9C-D43A-50B4-BFFD8F67B511}"/>
              </a:ext>
            </a:extLst>
          </p:cNvPr>
          <p:cNvSpPr/>
          <p:nvPr/>
        </p:nvSpPr>
        <p:spPr>
          <a:xfrm>
            <a:off x="467444" y="4088543"/>
            <a:ext cx="8229600" cy="514135"/>
          </a:xfrm>
          <a:prstGeom prst="rect">
            <a:avLst/>
          </a:prstGeom>
          <a:noFill/>
          <a:ln/>
        </p:spPr>
        <p:txBody>
          <a:bodyPr wrap="square" lIns="0" tIns="0" rIns="0" bIns="0" rtlCol="0" anchor="ctr"/>
          <a:lstStyle/>
          <a:p>
            <a:pPr marL="0" indent="0">
              <a:buNone/>
            </a:pPr>
            <a:endParaRPr lang="en-US" sz="1400" b="1" dirty="0">
              <a:solidFill>
                <a:srgbClr val="0A7E8C"/>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dirty="0"/>
              <a:t>What each import does</a:t>
            </a:r>
          </a:p>
          <a:p>
            <a:pPr marL="742950" lvl="1" indent="-285750">
              <a:buFont typeface="Arial" panose="020B0604020202020204" pitchFamily="34" charset="0"/>
              <a:buChar char="•"/>
            </a:pPr>
            <a:r>
              <a:rPr lang="en-US" dirty="0" err="1"/>
              <a:t>MapView</a:t>
            </a:r>
            <a:r>
              <a:rPr lang="en-US" dirty="0"/>
              <a:t>  </a:t>
            </a:r>
            <a:r>
              <a:rPr lang="en-US" dirty="0">
                <a:sym typeface="Wingdings" panose="05000000000000000000" pitchFamily="2" charset="2"/>
              </a:rPr>
              <a:t></a:t>
            </a:r>
            <a:r>
              <a:rPr lang="en-US" dirty="0"/>
              <a:t>  The main map component</a:t>
            </a:r>
          </a:p>
          <a:p>
            <a:pPr marL="742950" lvl="1" indent="-285750">
              <a:buFont typeface="Arial" panose="020B0604020202020204" pitchFamily="34" charset="0"/>
              <a:buChar char="•"/>
            </a:pPr>
            <a:r>
              <a:rPr lang="en-US" dirty="0"/>
              <a:t>Marker  </a:t>
            </a:r>
            <a:r>
              <a:rPr lang="en-US" dirty="0">
                <a:sym typeface="Wingdings" panose="05000000000000000000" pitchFamily="2" charset="2"/>
              </a:rPr>
              <a:t></a:t>
            </a:r>
            <a:r>
              <a:rPr lang="en-US" dirty="0"/>
              <a:t>  Individual pins placed on the map</a:t>
            </a:r>
          </a:p>
          <a:p>
            <a:pPr marL="742950" lvl="1" indent="-285750">
              <a:buFont typeface="Arial" panose="020B0604020202020204" pitchFamily="34" charset="0"/>
              <a:buChar char="•"/>
            </a:pPr>
            <a:r>
              <a:rPr lang="en-US" dirty="0"/>
              <a:t>Region  </a:t>
            </a:r>
            <a:r>
              <a:rPr lang="en-US" dirty="0">
                <a:sym typeface="Wingdings" panose="05000000000000000000" pitchFamily="2" charset="2"/>
              </a:rPr>
              <a:t></a:t>
            </a:r>
            <a:r>
              <a:rPr lang="en-US" dirty="0"/>
              <a:t>  TypeScript type for { latitude, longitude, </a:t>
            </a:r>
            <a:r>
              <a:rPr lang="en-US" dirty="0" err="1"/>
              <a:t>latitudeDelta</a:t>
            </a:r>
            <a:r>
              <a:rPr lang="en-US" dirty="0"/>
              <a:t>, </a:t>
            </a:r>
            <a:r>
              <a:rPr lang="en-US" dirty="0" err="1"/>
              <a:t>longitudeDelta</a:t>
            </a:r>
            <a:r>
              <a:rPr lang="en-US" dirty="0"/>
              <a:t> }</a:t>
            </a:r>
          </a:p>
          <a:p>
            <a:pPr marL="742950" lvl="1" indent="-285750">
              <a:buFont typeface="Arial" panose="020B0604020202020204" pitchFamily="34" charset="0"/>
              <a:buChar char="•"/>
            </a:pPr>
            <a:r>
              <a:rPr lang="en-US" dirty="0"/>
              <a:t>FontAwesome6  </a:t>
            </a:r>
            <a:r>
              <a:rPr lang="en-US" dirty="0">
                <a:sym typeface="Wingdings" panose="05000000000000000000" pitchFamily="2" charset="2"/>
              </a:rPr>
              <a:t></a:t>
            </a:r>
            <a:r>
              <a:rPr lang="en-US" dirty="0"/>
              <a:t>  Custom icon for our markers (from @expo/vector-icons)</a:t>
            </a:r>
          </a:p>
          <a:p>
            <a:pPr marL="1200150" lvl="2" indent="-285750">
              <a:buFont typeface="Arial" panose="020B0604020202020204" pitchFamily="34" charset="0"/>
              <a:buChar char="•"/>
            </a:pPr>
            <a:r>
              <a:rPr lang="en-CA" dirty="0"/>
              <a:t>Webpage for icons: </a:t>
            </a:r>
            <a:r>
              <a:rPr lang="en-CA" dirty="0">
                <a:hlinkClick r:id="rId6"/>
              </a:rPr>
              <a:t>https://icons.expo.fyi/Index</a:t>
            </a:r>
            <a:endParaRPr lang="en-US" dirty="0"/>
          </a:p>
          <a:p>
            <a:endParaRPr lang="en-US" sz="1400" dirty="0"/>
          </a:p>
          <a:p>
            <a:endParaRPr lang="en-US" sz="1400" dirty="0"/>
          </a:p>
          <a:p>
            <a:endParaRPr lang="en-US" sz="1400" dirty="0"/>
          </a:p>
          <a:p>
            <a:pPr marL="0" indent="0">
              <a:buNone/>
            </a:pPr>
            <a:endParaRPr lang="en-US" sz="1400" dirty="0"/>
          </a:p>
        </p:txBody>
      </p:sp>
      <p:sp>
        <p:nvSpPr>
          <p:cNvPr id="15" name="Text 9">
            <a:extLst>
              <a:ext uri="{FF2B5EF4-FFF2-40B4-BE49-F238E27FC236}">
                <a16:creationId xmlns:a16="http://schemas.microsoft.com/office/drawing/2014/main" id="{0BC9B5A5-29DB-FC84-BE1A-5525BEADA196}"/>
              </a:ext>
            </a:extLst>
          </p:cNvPr>
          <p:cNvSpPr/>
          <p:nvPr/>
        </p:nvSpPr>
        <p:spPr>
          <a:xfrm>
            <a:off x="548640" y="3456432"/>
            <a:ext cx="8229600" cy="310896"/>
          </a:xfrm>
          <a:prstGeom prst="rect">
            <a:avLst/>
          </a:prstGeom>
          <a:noFill/>
          <a:ln/>
        </p:spPr>
        <p:txBody>
          <a:bodyPr wrap="square" lIns="0" tIns="0" rIns="0" bIns="0" rtlCol="0" anchor="ctr"/>
          <a:lstStyle/>
          <a:p>
            <a:pPr marL="0" indent="0">
              <a:buNone/>
            </a:pPr>
            <a:endParaRPr lang="en-US" sz="1150" dirty="0"/>
          </a:p>
        </p:txBody>
      </p:sp>
      <p:sp>
        <p:nvSpPr>
          <p:cNvPr id="17" name="Text 10">
            <a:extLst>
              <a:ext uri="{FF2B5EF4-FFF2-40B4-BE49-F238E27FC236}">
                <a16:creationId xmlns:a16="http://schemas.microsoft.com/office/drawing/2014/main" id="{08D96956-D943-781C-B440-A02B66CCD541}"/>
              </a:ext>
            </a:extLst>
          </p:cNvPr>
          <p:cNvSpPr/>
          <p:nvPr/>
        </p:nvSpPr>
        <p:spPr>
          <a:xfrm>
            <a:off x="548640" y="3803904"/>
            <a:ext cx="8229600" cy="310896"/>
          </a:xfrm>
          <a:prstGeom prst="rect">
            <a:avLst/>
          </a:prstGeom>
          <a:noFill/>
          <a:ln/>
        </p:spPr>
        <p:txBody>
          <a:bodyPr wrap="square" lIns="0" tIns="0" rIns="0" bIns="0" rtlCol="0" anchor="ctr"/>
          <a:lstStyle/>
          <a:p>
            <a:pPr marL="0" indent="0">
              <a:buNone/>
            </a:pPr>
            <a:endParaRPr lang="en-US" sz="1150" dirty="0"/>
          </a:p>
        </p:txBody>
      </p:sp>
      <p:sp>
        <p:nvSpPr>
          <p:cNvPr id="19" name="Text 11">
            <a:extLst>
              <a:ext uri="{FF2B5EF4-FFF2-40B4-BE49-F238E27FC236}">
                <a16:creationId xmlns:a16="http://schemas.microsoft.com/office/drawing/2014/main" id="{E0739AFF-4405-F1D0-5511-1E3AD0D405C6}"/>
              </a:ext>
            </a:extLst>
          </p:cNvPr>
          <p:cNvSpPr/>
          <p:nvPr/>
        </p:nvSpPr>
        <p:spPr>
          <a:xfrm>
            <a:off x="548640" y="4151376"/>
            <a:ext cx="8229600" cy="310896"/>
          </a:xfrm>
          <a:prstGeom prst="rect">
            <a:avLst/>
          </a:prstGeom>
          <a:noFill/>
          <a:ln/>
        </p:spPr>
        <p:txBody>
          <a:bodyPr wrap="square" lIns="0" tIns="0" rIns="0" bIns="0" rtlCol="0" anchor="ctr"/>
          <a:lstStyle/>
          <a:p>
            <a:pPr marL="0" indent="0">
              <a:buNone/>
            </a:pPr>
            <a:endParaRPr lang="en-US" sz="1150" dirty="0"/>
          </a:p>
        </p:txBody>
      </p:sp>
      <p:sp>
        <p:nvSpPr>
          <p:cNvPr id="21" name="Text 12">
            <a:extLst>
              <a:ext uri="{FF2B5EF4-FFF2-40B4-BE49-F238E27FC236}">
                <a16:creationId xmlns:a16="http://schemas.microsoft.com/office/drawing/2014/main" id="{959FE6B3-20BA-9EA4-9F69-F7228B98706C}"/>
              </a:ext>
            </a:extLst>
          </p:cNvPr>
          <p:cNvSpPr/>
          <p:nvPr/>
        </p:nvSpPr>
        <p:spPr>
          <a:xfrm>
            <a:off x="548640" y="4498848"/>
            <a:ext cx="8229600" cy="310896"/>
          </a:xfrm>
          <a:prstGeom prst="rect">
            <a:avLst/>
          </a:prstGeom>
          <a:noFill/>
          <a:ln/>
        </p:spPr>
        <p:txBody>
          <a:bodyPr wrap="square" lIns="0" tIns="0" rIns="0" bIns="0" rtlCol="0" anchor="ctr"/>
          <a:lstStyle/>
          <a:p>
            <a:pPr marL="0" indent="0">
              <a:buNone/>
            </a:pPr>
            <a:endParaRPr lang="en-US" sz="1150" dirty="0"/>
          </a:p>
        </p:txBody>
      </p:sp>
    </p:spTree>
    <p:extLst>
      <p:ext uri="{BB962C8B-B14F-4D97-AF65-F5344CB8AC3E}">
        <p14:creationId xmlns:p14="http://schemas.microsoft.com/office/powerpoint/2010/main" val="278298741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E7080232-3C30-05E8-F3E4-4C01928EED0D}"/>
              </a:ext>
            </a:extLst>
          </p:cNvPr>
          <p:cNvSpPr/>
          <p:nvPr/>
        </p:nvSpPr>
        <p:spPr>
          <a:xfrm>
            <a:off x="365760" y="164592"/>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3: Define the Data- Custom Type and Attractions List</a:t>
            </a:r>
          </a:p>
        </p:txBody>
      </p:sp>
      <p:pic>
        <p:nvPicPr>
          <p:cNvPr id="7" name="Picture 6">
            <a:extLst>
              <a:ext uri="{FF2B5EF4-FFF2-40B4-BE49-F238E27FC236}">
                <a16:creationId xmlns:a16="http://schemas.microsoft.com/office/drawing/2014/main" id="{E48D10B6-1BE2-E32B-903D-C03FE7C9A902}"/>
              </a:ext>
            </a:extLst>
          </p:cNvPr>
          <p:cNvPicPr>
            <a:picLocks noChangeAspect="1"/>
          </p:cNvPicPr>
          <p:nvPr/>
        </p:nvPicPr>
        <p:blipFill>
          <a:blip r:embed="rId2"/>
          <a:stretch>
            <a:fillRect/>
          </a:stretch>
        </p:blipFill>
        <p:spPr>
          <a:xfrm>
            <a:off x="406970" y="984569"/>
            <a:ext cx="1600339" cy="964014"/>
          </a:xfrm>
          <a:prstGeom prst="rect">
            <a:avLst/>
          </a:prstGeom>
          <a:ln>
            <a:solidFill>
              <a:schemeClr val="accent1"/>
            </a:solidFill>
          </a:ln>
        </p:spPr>
      </p:pic>
      <p:pic>
        <p:nvPicPr>
          <p:cNvPr id="9" name="Picture 8">
            <a:extLst>
              <a:ext uri="{FF2B5EF4-FFF2-40B4-BE49-F238E27FC236}">
                <a16:creationId xmlns:a16="http://schemas.microsoft.com/office/drawing/2014/main" id="{9228F955-0D86-2278-E6D4-04FE52820F2F}"/>
              </a:ext>
            </a:extLst>
          </p:cNvPr>
          <p:cNvPicPr>
            <a:picLocks noChangeAspect="1"/>
          </p:cNvPicPr>
          <p:nvPr/>
        </p:nvPicPr>
        <p:blipFill>
          <a:blip r:embed="rId3"/>
          <a:stretch>
            <a:fillRect/>
          </a:stretch>
        </p:blipFill>
        <p:spPr>
          <a:xfrm>
            <a:off x="3080856" y="780005"/>
            <a:ext cx="2632499" cy="2291579"/>
          </a:xfrm>
          <a:prstGeom prst="rect">
            <a:avLst/>
          </a:prstGeom>
          <a:ln>
            <a:solidFill>
              <a:schemeClr val="accent1"/>
            </a:solidFill>
          </a:ln>
        </p:spPr>
      </p:pic>
      <p:pic>
        <p:nvPicPr>
          <p:cNvPr id="11" name="Picture 10">
            <a:extLst>
              <a:ext uri="{FF2B5EF4-FFF2-40B4-BE49-F238E27FC236}">
                <a16:creationId xmlns:a16="http://schemas.microsoft.com/office/drawing/2014/main" id="{F2844C89-B2FA-392F-963F-A30D80EC7E30}"/>
              </a:ext>
            </a:extLst>
          </p:cNvPr>
          <p:cNvPicPr>
            <a:picLocks noChangeAspect="1"/>
          </p:cNvPicPr>
          <p:nvPr/>
        </p:nvPicPr>
        <p:blipFill>
          <a:blip r:embed="rId4"/>
          <a:stretch>
            <a:fillRect/>
          </a:stretch>
        </p:blipFill>
        <p:spPr>
          <a:xfrm>
            <a:off x="3080856" y="3120069"/>
            <a:ext cx="2623645" cy="1810455"/>
          </a:xfrm>
          <a:prstGeom prst="rect">
            <a:avLst/>
          </a:prstGeom>
          <a:ln>
            <a:solidFill>
              <a:schemeClr val="accent1"/>
            </a:solidFill>
          </a:ln>
        </p:spPr>
      </p:pic>
    </p:spTree>
    <p:extLst>
      <p:ext uri="{BB962C8B-B14F-4D97-AF65-F5344CB8AC3E}">
        <p14:creationId xmlns:p14="http://schemas.microsoft.com/office/powerpoint/2010/main" val="1855551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638DDC-AE02-0C7E-E292-E6F9620321F7}"/>
              </a:ext>
            </a:extLst>
          </p:cNvPr>
          <p:cNvPicPr>
            <a:picLocks noChangeAspect="1"/>
          </p:cNvPicPr>
          <p:nvPr/>
        </p:nvPicPr>
        <p:blipFill>
          <a:blip r:embed="rId3"/>
          <a:stretch>
            <a:fillRect/>
          </a:stretch>
        </p:blipFill>
        <p:spPr>
          <a:xfrm>
            <a:off x="450859" y="1033452"/>
            <a:ext cx="4926757" cy="2918713"/>
          </a:xfrm>
          <a:prstGeom prst="rect">
            <a:avLst/>
          </a:prstGeom>
          <a:ln>
            <a:solidFill>
              <a:schemeClr val="accent1"/>
            </a:solidFill>
          </a:ln>
        </p:spPr>
      </p:pic>
      <p:sp>
        <p:nvSpPr>
          <p:cNvPr id="5" name="Shape 0">
            <a:extLst>
              <a:ext uri="{FF2B5EF4-FFF2-40B4-BE49-F238E27FC236}">
                <a16:creationId xmlns:a16="http://schemas.microsoft.com/office/drawing/2014/main" id="{37A12646-6055-5428-8602-5098D1F3C738}"/>
              </a:ext>
            </a:extLst>
          </p:cNvPr>
          <p:cNvSpPr/>
          <p:nvPr/>
        </p:nvSpPr>
        <p:spPr>
          <a:xfrm>
            <a:off x="365760" y="164592"/>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4: Component State, Ref and Initial Region</a:t>
            </a:r>
          </a:p>
        </p:txBody>
      </p:sp>
      <p:sp>
        <p:nvSpPr>
          <p:cNvPr id="7" name="Shape 4">
            <a:extLst>
              <a:ext uri="{FF2B5EF4-FFF2-40B4-BE49-F238E27FC236}">
                <a16:creationId xmlns:a16="http://schemas.microsoft.com/office/drawing/2014/main" id="{05536AA3-CE8A-962B-D114-4FA4C1A178EA}"/>
              </a:ext>
            </a:extLst>
          </p:cNvPr>
          <p:cNvSpPr/>
          <p:nvPr/>
        </p:nvSpPr>
        <p:spPr>
          <a:xfrm>
            <a:off x="5650861" y="868680"/>
            <a:ext cx="3236577" cy="987552"/>
          </a:xfrm>
          <a:prstGeom prst="roundRect">
            <a:avLst>
              <a:gd name="adj" fmla="val 9259"/>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9" name="Text 6">
            <a:extLst>
              <a:ext uri="{FF2B5EF4-FFF2-40B4-BE49-F238E27FC236}">
                <a16:creationId xmlns:a16="http://schemas.microsoft.com/office/drawing/2014/main" id="{AF3DCCEE-B8E5-71E8-2A12-4DD19B04E507}"/>
              </a:ext>
            </a:extLst>
          </p:cNvPr>
          <p:cNvSpPr/>
          <p:nvPr/>
        </p:nvSpPr>
        <p:spPr>
          <a:xfrm>
            <a:off x="5943600" y="886968"/>
            <a:ext cx="274320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displayRegion</a:t>
            </a:r>
            <a:endParaRPr lang="en-US" sz="1100" dirty="0"/>
          </a:p>
        </p:txBody>
      </p:sp>
      <p:sp>
        <p:nvSpPr>
          <p:cNvPr id="11" name="Shape 8">
            <a:extLst>
              <a:ext uri="{FF2B5EF4-FFF2-40B4-BE49-F238E27FC236}">
                <a16:creationId xmlns:a16="http://schemas.microsoft.com/office/drawing/2014/main" id="{0A95535C-A7A2-75DE-F835-97A0B0DA6871}"/>
              </a:ext>
            </a:extLst>
          </p:cNvPr>
          <p:cNvSpPr/>
          <p:nvPr/>
        </p:nvSpPr>
        <p:spPr>
          <a:xfrm>
            <a:off x="5617968" y="1933136"/>
            <a:ext cx="3269472" cy="1613100"/>
          </a:xfrm>
          <a:prstGeom prst="roundRect">
            <a:avLst>
              <a:gd name="adj" fmla="val 9259"/>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3" name="Shape 9">
            <a:extLst>
              <a:ext uri="{FF2B5EF4-FFF2-40B4-BE49-F238E27FC236}">
                <a16:creationId xmlns:a16="http://schemas.microsoft.com/office/drawing/2014/main" id="{35ECDFE5-BD62-0ADC-8D2F-22228842D707}"/>
              </a:ext>
            </a:extLst>
          </p:cNvPr>
          <p:cNvSpPr/>
          <p:nvPr/>
        </p:nvSpPr>
        <p:spPr>
          <a:xfrm>
            <a:off x="5650861" y="1858520"/>
            <a:ext cx="3236577" cy="329184"/>
          </a:xfrm>
          <a:prstGeom prst="roundRect">
            <a:avLst>
              <a:gd name="adj" fmla="val 27778"/>
            </a:avLst>
          </a:prstGeom>
          <a:solidFill>
            <a:srgbClr val="0A7E8C"/>
          </a:solidFill>
          <a:ln/>
        </p:spPr>
        <p:txBody>
          <a:bodyPr/>
          <a:lstStyle/>
          <a:p>
            <a:endParaRPr lang="en-CA"/>
          </a:p>
        </p:txBody>
      </p:sp>
      <p:sp>
        <p:nvSpPr>
          <p:cNvPr id="15" name="Shape 12">
            <a:extLst>
              <a:ext uri="{FF2B5EF4-FFF2-40B4-BE49-F238E27FC236}">
                <a16:creationId xmlns:a16="http://schemas.microsoft.com/office/drawing/2014/main" id="{2D23A34A-71F2-8BA6-CF62-0909DC1929B3}"/>
              </a:ext>
            </a:extLst>
          </p:cNvPr>
          <p:cNvSpPr/>
          <p:nvPr/>
        </p:nvSpPr>
        <p:spPr>
          <a:xfrm>
            <a:off x="5578498" y="3579126"/>
            <a:ext cx="3308943" cy="1501194"/>
          </a:xfrm>
          <a:prstGeom prst="roundRect">
            <a:avLst>
              <a:gd name="adj" fmla="val 9259"/>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7" name="Shape 13">
            <a:extLst>
              <a:ext uri="{FF2B5EF4-FFF2-40B4-BE49-F238E27FC236}">
                <a16:creationId xmlns:a16="http://schemas.microsoft.com/office/drawing/2014/main" id="{429FA9F1-BC2D-382D-F1B9-3DF8F81FF885}"/>
              </a:ext>
            </a:extLst>
          </p:cNvPr>
          <p:cNvSpPr/>
          <p:nvPr/>
        </p:nvSpPr>
        <p:spPr>
          <a:xfrm>
            <a:off x="5650861" y="3586306"/>
            <a:ext cx="3236580" cy="329184"/>
          </a:xfrm>
          <a:prstGeom prst="roundRect">
            <a:avLst>
              <a:gd name="adj" fmla="val 27778"/>
            </a:avLst>
          </a:prstGeom>
          <a:solidFill>
            <a:srgbClr val="FF6B35"/>
          </a:solidFill>
          <a:ln/>
        </p:spPr>
        <p:txBody>
          <a:bodyPr/>
          <a:lstStyle/>
          <a:p>
            <a:endParaRPr lang="en-CA"/>
          </a:p>
        </p:txBody>
      </p:sp>
      <p:sp>
        <p:nvSpPr>
          <p:cNvPr id="19" name="Text 7">
            <a:extLst>
              <a:ext uri="{FF2B5EF4-FFF2-40B4-BE49-F238E27FC236}">
                <a16:creationId xmlns:a16="http://schemas.microsoft.com/office/drawing/2014/main" id="{67AF302E-CCA4-7BFC-80B4-7E0D96E71B3F}"/>
              </a:ext>
            </a:extLst>
          </p:cNvPr>
          <p:cNvSpPr/>
          <p:nvPr/>
        </p:nvSpPr>
        <p:spPr>
          <a:xfrm>
            <a:off x="5690331" y="1234440"/>
            <a:ext cx="2996469"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Defined inside the component. A Region object that sets our initial camera position to the Pyramids of Giza.</a:t>
            </a:r>
            <a:endParaRPr lang="en-US" sz="1050" dirty="0"/>
          </a:p>
        </p:txBody>
      </p:sp>
      <p:sp>
        <p:nvSpPr>
          <p:cNvPr id="21" name="Text 11">
            <a:extLst>
              <a:ext uri="{FF2B5EF4-FFF2-40B4-BE49-F238E27FC236}">
                <a16:creationId xmlns:a16="http://schemas.microsoft.com/office/drawing/2014/main" id="{018BD568-86AA-2D64-3CB1-1FE603EAFFED}"/>
              </a:ext>
            </a:extLst>
          </p:cNvPr>
          <p:cNvSpPr/>
          <p:nvPr/>
        </p:nvSpPr>
        <p:spPr>
          <a:xfrm>
            <a:off x="5729801" y="2535570"/>
            <a:ext cx="2910950" cy="645343"/>
          </a:xfrm>
          <a:prstGeom prst="rect">
            <a:avLst/>
          </a:prstGeom>
          <a:noFill/>
          <a:ln/>
        </p:spPr>
        <p:txBody>
          <a:bodyPr wrap="square" lIns="0" tIns="0" rIns="0" bIns="0" rtlCol="0" anchor="ctr"/>
          <a:lstStyle/>
          <a:p>
            <a:r>
              <a:rPr lang="en-CA" sz="1050" dirty="0">
                <a:solidFill>
                  <a:srgbClr val="64748B"/>
                </a:solidFill>
                <a:latin typeface="Calibri" pitchFamily="34" charset="0"/>
                <a:ea typeface="Calibri" pitchFamily="34" charset="-122"/>
                <a:cs typeface="Calibri" pitchFamily="34" charset="-120"/>
              </a:rPr>
              <a:t>It starts empty. Every time you tap "Add Marker", one attraction gets written on that list. The map looks at that list and draws a pin for every item on it. When the list changes, the map automatically redraws. </a:t>
            </a:r>
          </a:p>
          <a:p>
            <a:pPr marL="171450" indent="-171450">
              <a:buFont typeface="Arial" panose="020B0604020202020204" pitchFamily="34" charset="0"/>
              <a:buChar char="•"/>
            </a:pPr>
            <a:r>
              <a:rPr lang="en-CA" sz="1050" dirty="0" err="1">
                <a:solidFill>
                  <a:srgbClr val="64748B"/>
                </a:solidFill>
                <a:latin typeface="Calibri" pitchFamily="34" charset="0"/>
                <a:ea typeface="Calibri" pitchFamily="34" charset="-122"/>
                <a:cs typeface="Calibri" pitchFamily="34" charset="-120"/>
              </a:rPr>
              <a:t>markerList</a:t>
            </a:r>
            <a:r>
              <a:rPr lang="en-CA" sz="1050" dirty="0">
                <a:solidFill>
                  <a:srgbClr val="64748B"/>
                </a:solidFill>
                <a:latin typeface="Calibri" pitchFamily="34" charset="0"/>
                <a:ea typeface="Calibri" pitchFamily="34" charset="-122"/>
                <a:cs typeface="Calibri" pitchFamily="34" charset="-120"/>
              </a:rPr>
              <a:t> → the current list </a:t>
            </a:r>
          </a:p>
          <a:p>
            <a:pPr marL="171450" indent="-171450">
              <a:buFont typeface="Arial" panose="020B0604020202020204" pitchFamily="34" charset="0"/>
              <a:buChar char="•"/>
            </a:pPr>
            <a:r>
              <a:rPr lang="en-CA" sz="1050" dirty="0" err="1">
                <a:solidFill>
                  <a:srgbClr val="64748B"/>
                </a:solidFill>
                <a:latin typeface="Calibri" pitchFamily="34" charset="0"/>
                <a:ea typeface="Calibri" pitchFamily="34" charset="-122"/>
                <a:cs typeface="Calibri" pitchFamily="34" charset="-120"/>
              </a:rPr>
              <a:t>setMarkerList</a:t>
            </a:r>
            <a:r>
              <a:rPr lang="en-CA" sz="1050" dirty="0">
                <a:solidFill>
                  <a:srgbClr val="64748B"/>
                </a:solidFill>
                <a:latin typeface="Calibri" pitchFamily="34" charset="0"/>
                <a:ea typeface="Calibri" pitchFamily="34" charset="-122"/>
                <a:cs typeface="Calibri" pitchFamily="34" charset="-120"/>
              </a:rPr>
              <a:t> → the only way to update the list </a:t>
            </a:r>
          </a:p>
          <a:p>
            <a:pPr marL="171450" indent="-171450">
              <a:buFont typeface="Arial" panose="020B0604020202020204" pitchFamily="34" charset="0"/>
              <a:buChar char="•"/>
            </a:pPr>
            <a:r>
              <a:rPr lang="en-CA" sz="1050" dirty="0">
                <a:solidFill>
                  <a:srgbClr val="64748B"/>
                </a:solidFill>
                <a:latin typeface="Calibri" pitchFamily="34" charset="0"/>
                <a:ea typeface="Calibri" pitchFamily="34" charset="-122"/>
                <a:cs typeface="Calibri" pitchFamily="34" charset="-120"/>
              </a:rPr>
              <a:t>[] → starts empty</a:t>
            </a:r>
            <a:endParaRPr lang="en-US" sz="1050" dirty="0">
              <a:solidFill>
                <a:srgbClr val="64748B"/>
              </a:solidFill>
              <a:latin typeface="Calibri" pitchFamily="34" charset="0"/>
              <a:ea typeface="Calibri" pitchFamily="34" charset="-122"/>
              <a:cs typeface="Calibri" pitchFamily="34" charset="-120"/>
            </a:endParaRPr>
          </a:p>
        </p:txBody>
      </p:sp>
      <p:sp>
        <p:nvSpPr>
          <p:cNvPr id="23" name="Text 15">
            <a:extLst>
              <a:ext uri="{FF2B5EF4-FFF2-40B4-BE49-F238E27FC236}">
                <a16:creationId xmlns:a16="http://schemas.microsoft.com/office/drawing/2014/main" id="{06F7971D-FE88-71D2-D71C-C5EE7FE56496}"/>
              </a:ext>
            </a:extLst>
          </p:cNvPr>
          <p:cNvSpPr/>
          <p:nvPr/>
        </p:nvSpPr>
        <p:spPr>
          <a:xfrm>
            <a:off x="5650860" y="3948380"/>
            <a:ext cx="3259606" cy="1079820"/>
          </a:xfrm>
          <a:prstGeom prst="rect">
            <a:avLst/>
          </a:prstGeom>
          <a:noFill/>
          <a:ln/>
        </p:spPr>
        <p:txBody>
          <a:bodyPr wrap="square" lIns="0" tIns="0" rIns="0" bIns="0" rtlCol="0" anchor="ctr"/>
          <a:lstStyle/>
          <a:p>
            <a:r>
              <a:rPr lang="en-CA" sz="1050" dirty="0">
                <a:solidFill>
                  <a:srgbClr val="64748B"/>
                </a:solidFill>
                <a:latin typeface="Calibri" pitchFamily="34" charset="0"/>
                <a:ea typeface="Calibri" pitchFamily="34" charset="-122"/>
                <a:cs typeface="Calibri" pitchFamily="34" charset="-120"/>
              </a:rPr>
              <a:t>We need to CALL A METHOD on the map (</a:t>
            </a:r>
            <a:r>
              <a:rPr lang="en-CA" sz="1050" dirty="0" err="1">
                <a:solidFill>
                  <a:srgbClr val="64748B"/>
                </a:solidFill>
                <a:latin typeface="Calibri" pitchFamily="34" charset="0"/>
                <a:ea typeface="Calibri" pitchFamily="34" charset="-122"/>
                <a:cs typeface="Calibri" pitchFamily="34" charset="-120"/>
              </a:rPr>
              <a:t>animateToRegion</a:t>
            </a:r>
            <a:r>
              <a:rPr lang="en-CA" sz="1050" dirty="0">
                <a:solidFill>
                  <a:srgbClr val="64748B"/>
                </a:solidFill>
                <a:latin typeface="Calibri" pitchFamily="34" charset="0"/>
                <a:ea typeface="Calibri" pitchFamily="34" charset="-122"/>
                <a:cs typeface="Calibri" pitchFamily="34" charset="-120"/>
              </a:rPr>
              <a:t>). </a:t>
            </a:r>
            <a:r>
              <a:rPr lang="en-CA" sz="1050" dirty="0" err="1">
                <a:solidFill>
                  <a:srgbClr val="64748B"/>
                </a:solidFill>
                <a:latin typeface="Calibri" pitchFamily="34" charset="0"/>
                <a:ea typeface="Calibri" pitchFamily="34" charset="-122"/>
                <a:cs typeface="Calibri" pitchFamily="34" charset="-120"/>
              </a:rPr>
              <a:t>useRef</a:t>
            </a:r>
            <a:r>
              <a:rPr lang="en-CA" sz="1050" dirty="0">
                <a:solidFill>
                  <a:srgbClr val="64748B"/>
                </a:solidFill>
                <a:latin typeface="Calibri" pitchFamily="34" charset="0"/>
                <a:ea typeface="Calibri" pitchFamily="34" charset="-122"/>
                <a:cs typeface="Calibri" pitchFamily="34" charset="-120"/>
              </a:rPr>
              <a:t> gives you a direct handle to the </a:t>
            </a:r>
            <a:r>
              <a:rPr lang="en-CA" sz="1050" dirty="0" err="1">
                <a:solidFill>
                  <a:srgbClr val="64748B"/>
                </a:solidFill>
                <a:latin typeface="Calibri" pitchFamily="34" charset="0"/>
                <a:ea typeface="Calibri" pitchFamily="34" charset="-122"/>
                <a:cs typeface="Calibri" pitchFamily="34" charset="-120"/>
              </a:rPr>
              <a:t>MapView</a:t>
            </a:r>
            <a:r>
              <a:rPr lang="en-CA" sz="1050" dirty="0">
                <a:solidFill>
                  <a:srgbClr val="64748B"/>
                </a:solidFill>
                <a:latin typeface="Calibri" pitchFamily="34" charset="0"/>
                <a:ea typeface="Calibri" pitchFamily="34" charset="-122"/>
                <a:cs typeface="Calibri" pitchFamily="34" charset="-120"/>
              </a:rPr>
              <a:t> component. Once you have that handle, you can call </a:t>
            </a:r>
            <a:r>
              <a:rPr lang="en-CA" sz="1050" dirty="0" err="1">
                <a:solidFill>
                  <a:srgbClr val="64748B"/>
                </a:solidFill>
                <a:latin typeface="Calibri" pitchFamily="34" charset="0"/>
                <a:ea typeface="Calibri" pitchFamily="34" charset="-122"/>
                <a:cs typeface="Calibri" pitchFamily="34" charset="-120"/>
              </a:rPr>
              <a:t>animateToRegion</a:t>
            </a:r>
            <a:r>
              <a:rPr lang="en-CA" sz="1050" dirty="0">
                <a:solidFill>
                  <a:srgbClr val="64748B"/>
                </a:solidFill>
                <a:latin typeface="Calibri" pitchFamily="34" charset="0"/>
                <a:ea typeface="Calibri" pitchFamily="34" charset="-122"/>
                <a:cs typeface="Calibri" pitchFamily="34" charset="-120"/>
              </a:rPr>
              <a:t>() on it to move the camera.</a:t>
            </a:r>
          </a:p>
          <a:p>
            <a:pPr marL="171450" indent="-171450">
              <a:buFont typeface="Arial" panose="020B0604020202020204" pitchFamily="34" charset="0"/>
              <a:buChar char="•"/>
            </a:pPr>
            <a:r>
              <a:rPr lang="en-CA" sz="1050" dirty="0" err="1">
                <a:solidFill>
                  <a:srgbClr val="64748B"/>
                </a:solidFill>
                <a:latin typeface="Calibri" pitchFamily="34" charset="0"/>
                <a:ea typeface="Calibri" pitchFamily="34" charset="-122"/>
                <a:cs typeface="Calibri" pitchFamily="34" charset="-120"/>
              </a:rPr>
              <a:t>mapRef.current</a:t>
            </a:r>
            <a:r>
              <a:rPr lang="en-CA" sz="1050" dirty="0">
                <a:solidFill>
                  <a:srgbClr val="64748B"/>
                </a:solidFill>
                <a:latin typeface="Calibri" pitchFamily="34" charset="0"/>
                <a:ea typeface="Calibri" pitchFamily="34" charset="-122"/>
                <a:cs typeface="Calibri" pitchFamily="34" charset="-120"/>
              </a:rPr>
              <a:t> → the actual </a:t>
            </a:r>
            <a:r>
              <a:rPr lang="en-CA" sz="1050" dirty="0" err="1">
                <a:solidFill>
                  <a:srgbClr val="64748B"/>
                </a:solidFill>
                <a:latin typeface="Calibri" pitchFamily="34" charset="0"/>
                <a:ea typeface="Calibri" pitchFamily="34" charset="-122"/>
                <a:cs typeface="Calibri" pitchFamily="34" charset="-120"/>
              </a:rPr>
              <a:t>MapView</a:t>
            </a:r>
            <a:r>
              <a:rPr lang="en-CA" sz="1050" dirty="0">
                <a:solidFill>
                  <a:srgbClr val="64748B"/>
                </a:solidFill>
                <a:latin typeface="Calibri" pitchFamily="34" charset="0"/>
                <a:ea typeface="Calibri" pitchFamily="34" charset="-122"/>
                <a:cs typeface="Calibri" pitchFamily="34" charset="-120"/>
              </a:rPr>
              <a:t> component </a:t>
            </a:r>
          </a:p>
          <a:p>
            <a:pPr marL="171450" indent="-171450">
              <a:buFont typeface="Arial" panose="020B0604020202020204" pitchFamily="34" charset="0"/>
              <a:buChar char="•"/>
            </a:pPr>
            <a:r>
              <a:rPr lang="en-CA" sz="1050" dirty="0">
                <a:solidFill>
                  <a:srgbClr val="64748B"/>
                </a:solidFill>
                <a:latin typeface="Calibri" pitchFamily="34" charset="0"/>
                <a:ea typeface="Calibri" pitchFamily="34" charset="-122"/>
                <a:cs typeface="Calibri" pitchFamily="34" charset="-120"/>
              </a:rPr>
              <a:t>.</a:t>
            </a:r>
            <a:r>
              <a:rPr lang="en-CA" sz="1050" dirty="0" err="1">
                <a:solidFill>
                  <a:srgbClr val="64748B"/>
                </a:solidFill>
                <a:latin typeface="Calibri" pitchFamily="34" charset="0"/>
                <a:ea typeface="Calibri" pitchFamily="34" charset="-122"/>
                <a:cs typeface="Calibri" pitchFamily="34" charset="-120"/>
              </a:rPr>
              <a:t>animateToRegion</a:t>
            </a:r>
            <a:r>
              <a:rPr lang="en-CA" sz="1050" dirty="0">
                <a:solidFill>
                  <a:srgbClr val="64748B"/>
                </a:solidFill>
                <a:latin typeface="Calibri" pitchFamily="34" charset="0"/>
                <a:ea typeface="Calibri" pitchFamily="34" charset="-122"/>
                <a:cs typeface="Calibri" pitchFamily="34" charset="-120"/>
              </a:rPr>
              <a:t>() → the method we call on it to fly the camera</a:t>
            </a:r>
            <a:endParaRPr lang="en-US" sz="1050" dirty="0">
              <a:solidFill>
                <a:srgbClr val="64748B"/>
              </a:solidFill>
              <a:latin typeface="Calibri" pitchFamily="34" charset="0"/>
              <a:ea typeface="Calibri" pitchFamily="34" charset="-122"/>
              <a:cs typeface="Calibri" pitchFamily="34" charset="-120"/>
            </a:endParaRPr>
          </a:p>
        </p:txBody>
      </p:sp>
      <p:sp>
        <p:nvSpPr>
          <p:cNvPr id="25" name="Text 6">
            <a:extLst>
              <a:ext uri="{FF2B5EF4-FFF2-40B4-BE49-F238E27FC236}">
                <a16:creationId xmlns:a16="http://schemas.microsoft.com/office/drawing/2014/main" id="{A1B21704-2BDB-3B16-F72D-00CFAD26A73A}"/>
              </a:ext>
            </a:extLst>
          </p:cNvPr>
          <p:cNvSpPr/>
          <p:nvPr/>
        </p:nvSpPr>
        <p:spPr>
          <a:xfrm>
            <a:off x="5943600" y="886968"/>
            <a:ext cx="274320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displayRegion</a:t>
            </a:r>
            <a:endParaRPr lang="en-US" sz="1100" dirty="0"/>
          </a:p>
        </p:txBody>
      </p:sp>
      <p:sp>
        <p:nvSpPr>
          <p:cNvPr id="29" name="Text 14">
            <a:extLst>
              <a:ext uri="{FF2B5EF4-FFF2-40B4-BE49-F238E27FC236}">
                <a16:creationId xmlns:a16="http://schemas.microsoft.com/office/drawing/2014/main" id="{61C30F14-A691-2A1D-B9EF-8BCD1BB23DCE}"/>
              </a:ext>
            </a:extLst>
          </p:cNvPr>
          <p:cNvSpPr/>
          <p:nvPr/>
        </p:nvSpPr>
        <p:spPr>
          <a:xfrm>
            <a:off x="5759407" y="3558032"/>
            <a:ext cx="274320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mapRef</a:t>
            </a:r>
            <a:endParaRPr lang="en-US" sz="1100" dirty="0"/>
          </a:p>
        </p:txBody>
      </p:sp>
      <p:sp>
        <p:nvSpPr>
          <p:cNvPr id="31" name="Shape 5">
            <a:extLst>
              <a:ext uri="{FF2B5EF4-FFF2-40B4-BE49-F238E27FC236}">
                <a16:creationId xmlns:a16="http://schemas.microsoft.com/office/drawing/2014/main" id="{0F500668-4AF7-14FC-DC32-7DDA5C76B4C2}"/>
              </a:ext>
            </a:extLst>
          </p:cNvPr>
          <p:cNvSpPr/>
          <p:nvPr/>
        </p:nvSpPr>
        <p:spPr>
          <a:xfrm>
            <a:off x="5690331" y="897077"/>
            <a:ext cx="3197109" cy="329184"/>
          </a:xfrm>
          <a:prstGeom prst="roundRect">
            <a:avLst>
              <a:gd name="adj" fmla="val 27778"/>
            </a:avLst>
          </a:prstGeom>
          <a:solidFill>
            <a:srgbClr val="0A7E8C"/>
          </a:solidFill>
          <a:ln/>
        </p:spPr>
        <p:txBody>
          <a:bodyPr/>
          <a:lstStyle/>
          <a:p>
            <a:endParaRPr lang="en-CA"/>
          </a:p>
        </p:txBody>
      </p:sp>
      <p:sp>
        <p:nvSpPr>
          <p:cNvPr id="33" name="Text 6">
            <a:extLst>
              <a:ext uri="{FF2B5EF4-FFF2-40B4-BE49-F238E27FC236}">
                <a16:creationId xmlns:a16="http://schemas.microsoft.com/office/drawing/2014/main" id="{3689C59F-0166-476A-628D-F8E558192698}"/>
              </a:ext>
            </a:extLst>
          </p:cNvPr>
          <p:cNvSpPr/>
          <p:nvPr/>
        </p:nvSpPr>
        <p:spPr>
          <a:xfrm>
            <a:off x="5759407" y="915365"/>
            <a:ext cx="2927393"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displayRegion</a:t>
            </a:r>
            <a:endParaRPr lang="en-US" sz="1100" dirty="0"/>
          </a:p>
        </p:txBody>
      </p:sp>
      <p:sp>
        <p:nvSpPr>
          <p:cNvPr id="37" name="Text 10">
            <a:extLst>
              <a:ext uri="{FF2B5EF4-FFF2-40B4-BE49-F238E27FC236}">
                <a16:creationId xmlns:a16="http://schemas.microsoft.com/office/drawing/2014/main" id="{11407632-49B7-C901-A78E-D726CADA6330}"/>
              </a:ext>
            </a:extLst>
          </p:cNvPr>
          <p:cNvSpPr/>
          <p:nvPr/>
        </p:nvSpPr>
        <p:spPr>
          <a:xfrm>
            <a:off x="5759407" y="1881016"/>
            <a:ext cx="2927393"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markerList state</a:t>
            </a:r>
            <a:endParaRPr lang="en-US" sz="1100" dirty="0"/>
          </a:p>
        </p:txBody>
      </p:sp>
    </p:spTree>
    <p:extLst>
      <p:ext uri="{BB962C8B-B14F-4D97-AF65-F5344CB8AC3E}">
        <p14:creationId xmlns:p14="http://schemas.microsoft.com/office/powerpoint/2010/main" val="138203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Core Concept: Region</a:t>
            </a:r>
            <a:endParaRPr lang="en-US" sz="2200" dirty="0"/>
          </a:p>
        </p:txBody>
      </p:sp>
      <p:pic>
        <p:nvPicPr>
          <p:cNvPr id="4" name="Image 0" descr="preencoded.png"/>
          <p:cNvPicPr>
            <a:picLocks noChangeAspect="1"/>
          </p:cNvPicPr>
          <p:nvPr/>
        </p:nvPicPr>
        <p:blipFill>
          <a:blip r:embed="rId3"/>
          <a:stretch>
            <a:fillRect/>
          </a:stretch>
        </p:blipFill>
        <p:spPr>
          <a:xfrm>
            <a:off x="365760" y="914400"/>
            <a:ext cx="457200" cy="457200"/>
          </a:xfrm>
          <a:prstGeom prst="rect">
            <a:avLst/>
          </a:prstGeom>
        </p:spPr>
      </p:pic>
      <p:sp>
        <p:nvSpPr>
          <p:cNvPr id="5" name="Text 2"/>
          <p:cNvSpPr/>
          <p:nvPr/>
        </p:nvSpPr>
        <p:spPr>
          <a:xfrm>
            <a:off x="914400" y="960120"/>
            <a:ext cx="7772400" cy="3657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A Region describes WHAT the map shows — center + zoom level.</a:t>
            </a:r>
            <a:endParaRPr lang="en-US" sz="1400" dirty="0"/>
          </a:p>
        </p:txBody>
      </p:sp>
      <p:sp>
        <p:nvSpPr>
          <p:cNvPr id="6" name="Shape 3"/>
          <p:cNvSpPr/>
          <p:nvPr/>
        </p:nvSpPr>
        <p:spPr>
          <a:xfrm>
            <a:off x="365760" y="1444752"/>
            <a:ext cx="5303520" cy="1261872"/>
          </a:xfrm>
          <a:prstGeom prst="roundRect">
            <a:avLst>
              <a:gd name="adj" fmla="val 7246"/>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7" name="Text 4"/>
          <p:cNvSpPr/>
          <p:nvPr/>
        </p:nvSpPr>
        <p:spPr>
          <a:xfrm>
            <a:off x="502920" y="1554480"/>
            <a:ext cx="5029200" cy="1042416"/>
          </a:xfrm>
          <a:prstGeom prst="rect">
            <a:avLst/>
          </a:prstGeom>
          <a:noFill/>
          <a:ln/>
        </p:spPr>
        <p:txBody>
          <a:bodyPr wrap="square" lIns="0" tIns="0" rIns="0" bIns="0" rtlCol="0" anchor="t"/>
          <a:lstStyle/>
          <a:p>
            <a:pPr marL="0" indent="0">
              <a:buNone/>
            </a:pPr>
            <a:r>
              <a:rPr lang="en-US" sz="1050" dirty="0">
                <a:solidFill>
                  <a:srgbClr val="A8D8D8"/>
                </a:solidFill>
                <a:latin typeface="Courier New" pitchFamily="34" charset="0"/>
                <a:ea typeface="Courier New" pitchFamily="34" charset="-122"/>
                <a:cs typeface="Courier New" pitchFamily="34" charset="-120"/>
              </a:rPr>
              <a:t>const displayRegion: Region = {</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  latitude:  29.97936,    // center lat  (Great Pyramids)</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  longitude: 31.13482,    // center lng</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  latitudeDelta:  0.0045, // zoom: smaller = more zoomed IN</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  longitudeDelta: 0.0065, // zoom: larger  = more zoomed OUT</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a:t>
            </a:r>
            <a:endParaRPr lang="en-US" sz="1050" dirty="0"/>
          </a:p>
        </p:txBody>
      </p:sp>
      <p:sp>
        <p:nvSpPr>
          <p:cNvPr id="8" name="Shape 5"/>
          <p:cNvSpPr/>
          <p:nvPr/>
        </p:nvSpPr>
        <p:spPr>
          <a:xfrm>
            <a:off x="5852160" y="1444752"/>
            <a:ext cx="2926080" cy="347472"/>
          </a:xfrm>
          <a:prstGeom prst="roundRect">
            <a:avLst>
              <a:gd name="adj" fmla="val 18421"/>
            </a:avLst>
          </a:prstGeom>
          <a:solidFill>
            <a:srgbClr val="0A7E8C"/>
          </a:solidFill>
          <a:ln/>
          <a:effectLst>
            <a:outerShdw blurRad="101600" dist="38100" dir="2700000" algn="bl" rotWithShape="0">
              <a:srgbClr val="000000">
                <a:alpha val="18000"/>
              </a:srgbClr>
            </a:outerShdw>
          </a:effectLst>
        </p:spPr>
        <p:txBody>
          <a:bodyPr/>
          <a:lstStyle/>
          <a:p>
            <a:endParaRPr lang="en-CA"/>
          </a:p>
        </p:txBody>
      </p:sp>
      <p:sp>
        <p:nvSpPr>
          <p:cNvPr id="9" name="Text 6"/>
          <p:cNvSpPr/>
          <p:nvPr/>
        </p:nvSpPr>
        <p:spPr>
          <a:xfrm>
            <a:off x="5943600" y="1463040"/>
            <a:ext cx="2743200"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0.005  →  ~Street level zoom</a:t>
            </a:r>
            <a:endParaRPr lang="en-US" sz="1100" dirty="0"/>
          </a:p>
        </p:txBody>
      </p:sp>
      <p:sp>
        <p:nvSpPr>
          <p:cNvPr id="10" name="Shape 7"/>
          <p:cNvSpPr/>
          <p:nvPr/>
        </p:nvSpPr>
        <p:spPr>
          <a:xfrm>
            <a:off x="5852160" y="1865376"/>
            <a:ext cx="2926080" cy="347472"/>
          </a:xfrm>
          <a:prstGeom prst="roundRect">
            <a:avLst>
              <a:gd name="adj" fmla="val 1842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1" name="Text 8"/>
          <p:cNvSpPr/>
          <p:nvPr/>
        </p:nvSpPr>
        <p:spPr>
          <a:xfrm>
            <a:off x="5943600" y="1883664"/>
            <a:ext cx="2743200" cy="310896"/>
          </a:xfrm>
          <a:prstGeom prst="rect">
            <a:avLst/>
          </a:prstGeom>
          <a:noFill/>
          <a:ln/>
        </p:spPr>
        <p:txBody>
          <a:bodyPr wrap="square" lIns="0" tIns="0" rIns="0" bIns="0" rtlCol="0" anchor="ctr"/>
          <a:lstStyle/>
          <a:p>
            <a:pPr marL="0" indent="0">
              <a:buNone/>
            </a:pPr>
            <a:r>
              <a:rPr lang="en-US" sz="1100" dirty="0">
                <a:solidFill>
                  <a:srgbClr val="0D1B2A"/>
                </a:solidFill>
                <a:latin typeface="Courier New" pitchFamily="34" charset="0"/>
                <a:ea typeface="Courier New" pitchFamily="34" charset="-122"/>
                <a:cs typeface="Courier New" pitchFamily="34" charset="-120"/>
              </a:rPr>
              <a:t>1.0  →  ~City/region zoom</a:t>
            </a:r>
            <a:endParaRPr lang="en-US" sz="1100" dirty="0"/>
          </a:p>
        </p:txBody>
      </p:sp>
      <p:sp>
        <p:nvSpPr>
          <p:cNvPr id="12" name="Shape 9"/>
          <p:cNvSpPr/>
          <p:nvPr/>
        </p:nvSpPr>
        <p:spPr>
          <a:xfrm>
            <a:off x="5852160" y="2286000"/>
            <a:ext cx="2926080" cy="347472"/>
          </a:xfrm>
          <a:prstGeom prst="roundRect">
            <a:avLst>
              <a:gd name="adj" fmla="val 1842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3" name="Text 10"/>
          <p:cNvSpPr/>
          <p:nvPr/>
        </p:nvSpPr>
        <p:spPr>
          <a:xfrm>
            <a:off x="5943600" y="2304288"/>
            <a:ext cx="2743200" cy="310896"/>
          </a:xfrm>
          <a:prstGeom prst="rect">
            <a:avLst/>
          </a:prstGeom>
          <a:noFill/>
          <a:ln/>
        </p:spPr>
        <p:txBody>
          <a:bodyPr wrap="square" lIns="0" tIns="0" rIns="0" bIns="0" rtlCol="0" anchor="ctr"/>
          <a:lstStyle/>
          <a:p>
            <a:pPr marL="0" indent="0">
              <a:buNone/>
            </a:pPr>
            <a:r>
              <a:rPr lang="en-US" sz="1100" dirty="0">
                <a:solidFill>
                  <a:srgbClr val="0D1B2A"/>
                </a:solidFill>
                <a:latin typeface="Courier New" pitchFamily="34" charset="0"/>
                <a:ea typeface="Courier New" pitchFamily="34" charset="-122"/>
                <a:cs typeface="Courier New" pitchFamily="34" charset="-120"/>
              </a:rPr>
              <a:t>10.0  →  ~Country zoom</a:t>
            </a:r>
            <a:endParaRPr lang="en-US" sz="1100" dirty="0"/>
          </a:p>
        </p:txBody>
      </p:sp>
      <p:sp>
        <p:nvSpPr>
          <p:cNvPr id="14" name="Shape 11"/>
          <p:cNvSpPr/>
          <p:nvPr/>
        </p:nvSpPr>
        <p:spPr>
          <a:xfrm>
            <a:off x="365760" y="2816352"/>
            <a:ext cx="8412480" cy="1444752"/>
          </a:xfrm>
          <a:prstGeom prst="roundRect">
            <a:avLst>
              <a:gd name="adj" fmla="val 6329"/>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5" name="Text 12"/>
          <p:cNvSpPr/>
          <p:nvPr/>
        </p:nvSpPr>
        <p:spPr>
          <a:xfrm>
            <a:off x="548640" y="2880360"/>
            <a:ext cx="8046720" cy="292608"/>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Two ways to control the map view:</a:t>
            </a:r>
            <a:endParaRPr lang="en-US" sz="1300" dirty="0"/>
          </a:p>
        </p:txBody>
      </p:sp>
      <p:sp>
        <p:nvSpPr>
          <p:cNvPr id="16" name="Text 13"/>
          <p:cNvSpPr/>
          <p:nvPr/>
        </p:nvSpPr>
        <p:spPr>
          <a:xfrm>
            <a:off x="548640" y="3200400"/>
            <a:ext cx="8046720" cy="274320"/>
          </a:xfrm>
          <a:prstGeom prst="rect">
            <a:avLst/>
          </a:prstGeom>
          <a:noFill/>
          <a:ln/>
        </p:spPr>
        <p:txBody>
          <a:bodyPr wrap="square" lIns="0" tIns="0" rIns="0" bIns="0"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initialRegion</a:t>
            </a:r>
            <a:r>
              <a:rPr lang="en-US" sz="1200" dirty="0">
                <a:solidFill>
                  <a:srgbClr val="0D1B2A"/>
                </a:solidFill>
                <a:latin typeface="Calibri" pitchFamily="34" charset="0"/>
                <a:ea typeface="Calibri" pitchFamily="34" charset="-122"/>
                <a:cs typeface="Calibri" pitchFamily="34" charset="-120"/>
              </a:rPr>
              <a:t>  — sets the starting view once, does NOT react to state changes</a:t>
            </a:r>
            <a:endParaRPr lang="en-US" sz="1200" dirty="0"/>
          </a:p>
        </p:txBody>
      </p:sp>
      <p:sp>
        <p:nvSpPr>
          <p:cNvPr id="18" name="Text 15"/>
          <p:cNvSpPr/>
          <p:nvPr/>
        </p:nvSpPr>
        <p:spPr>
          <a:xfrm>
            <a:off x="548640" y="3840480"/>
            <a:ext cx="804672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We use initialRegion + animateToRegion() for programmatic movement in this project.</a:t>
            </a:r>
            <a:endParaRPr lang="en-US" sz="1100" dirty="0"/>
          </a:p>
        </p:txBody>
      </p:sp>
      <p:pic>
        <p:nvPicPr>
          <p:cNvPr id="24" name="Picture 23">
            <a:extLst>
              <a:ext uri="{FF2B5EF4-FFF2-40B4-BE49-F238E27FC236}">
                <a16:creationId xmlns:a16="http://schemas.microsoft.com/office/drawing/2014/main" id="{A0C21FC5-7A3A-1B52-44E0-588C19BCF13C}"/>
              </a:ext>
            </a:extLst>
          </p:cNvPr>
          <p:cNvPicPr>
            <a:picLocks noChangeAspect="1"/>
          </p:cNvPicPr>
          <p:nvPr/>
        </p:nvPicPr>
        <p:blipFill>
          <a:blip r:embed="rId4"/>
          <a:stretch>
            <a:fillRect/>
          </a:stretch>
        </p:blipFill>
        <p:spPr>
          <a:xfrm>
            <a:off x="5674105" y="3038841"/>
            <a:ext cx="2835588" cy="435880"/>
          </a:xfrm>
          <a:prstGeom prst="rect">
            <a:avLst/>
          </a:prstGeom>
          <a:ln>
            <a:solidFill>
              <a:schemeClr val="accent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10B854-AC34-17E2-EA06-364DE85D4394}"/>
              </a:ext>
            </a:extLst>
          </p:cNvPr>
          <p:cNvSpPr txBox="1"/>
          <p:nvPr/>
        </p:nvSpPr>
        <p:spPr>
          <a:xfrm>
            <a:off x="463778" y="1059123"/>
            <a:ext cx="8338144" cy="2308324"/>
          </a:xfrm>
          <a:prstGeom prst="rect">
            <a:avLst/>
          </a:prstGeom>
          <a:noFill/>
        </p:spPr>
        <p:txBody>
          <a:bodyPr wrap="square">
            <a:spAutoFit/>
          </a:bodyPr>
          <a:lstStyle/>
          <a:p>
            <a:pPr marL="285750" indent="-285750">
              <a:buFont typeface="Arial" panose="020B0604020202020204" pitchFamily="34" charset="0"/>
              <a:buChar char="•"/>
            </a:pPr>
            <a:r>
              <a:rPr lang="en-CA" b="1" dirty="0"/>
              <a:t>What is a Marker?</a:t>
            </a:r>
            <a:endParaRPr lang="en-CA" dirty="0"/>
          </a:p>
          <a:p>
            <a:r>
              <a:rPr lang="en-CA" dirty="0"/>
              <a:t>A Marker is a pin that appears on the map at a specific location.</a:t>
            </a:r>
          </a:p>
          <a:p>
            <a:endParaRPr lang="en-CA" dirty="0"/>
          </a:p>
          <a:p>
            <a:pPr marL="285750" indent="-285750">
              <a:buFont typeface="Arial" panose="020B0604020202020204" pitchFamily="34" charset="0"/>
              <a:buChar char="•"/>
            </a:pPr>
            <a:r>
              <a:rPr lang="en-CA" dirty="0"/>
              <a:t>It needs two things:</a:t>
            </a:r>
          </a:p>
          <a:p>
            <a:pPr marL="285750" indent="-285750">
              <a:buFont typeface="Arial" panose="020B0604020202020204" pitchFamily="34" charset="0"/>
              <a:buChar char="•"/>
            </a:pPr>
            <a:endParaRPr lang="en-CA" dirty="0"/>
          </a:p>
          <a:p>
            <a:pPr marL="342900" indent="-342900">
              <a:buAutoNum type="arabicPeriod"/>
            </a:pPr>
            <a:r>
              <a:rPr lang="en-CA" b="1" dirty="0"/>
              <a:t>WHERE to appear</a:t>
            </a:r>
            <a:r>
              <a:rPr lang="en-CA" dirty="0"/>
              <a:t> — the coordinate prop</a:t>
            </a:r>
          </a:p>
          <a:p>
            <a:endParaRPr lang="en-CA" dirty="0"/>
          </a:p>
          <a:p>
            <a:pPr marL="342900" indent="-342900">
              <a:buAutoNum type="arabicPeriod"/>
            </a:pPr>
            <a:r>
              <a:rPr lang="en-CA" b="1" dirty="0"/>
              <a:t>WHAT it looks like</a:t>
            </a:r>
            <a:r>
              <a:rPr lang="en-CA" dirty="0"/>
              <a:t> — whatever you put inside it</a:t>
            </a:r>
          </a:p>
        </p:txBody>
      </p:sp>
      <p:sp>
        <p:nvSpPr>
          <p:cNvPr id="5" name="Shape 0">
            <a:extLst>
              <a:ext uri="{FF2B5EF4-FFF2-40B4-BE49-F238E27FC236}">
                <a16:creationId xmlns:a16="http://schemas.microsoft.com/office/drawing/2014/main" id="{436A68CE-0916-35A8-5D5C-92FE7D0A9157}"/>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a:solidFill>
                  <a:srgbClr val="FFFFFF"/>
                </a:solidFill>
                <a:latin typeface="Cambria" pitchFamily="34" charset="0"/>
                <a:ea typeface="Cambria" pitchFamily="34" charset="-122"/>
                <a:cs typeface="Cambria" pitchFamily="34" charset="-120"/>
              </a:rPr>
              <a:t>Core Concept: Markers</a:t>
            </a:r>
            <a:endParaRPr lang="en-US" dirty="0"/>
          </a:p>
        </p:txBody>
      </p:sp>
    </p:spTree>
    <p:extLst>
      <p:ext uri="{BB962C8B-B14F-4D97-AF65-F5344CB8AC3E}">
        <p14:creationId xmlns:p14="http://schemas.microsoft.com/office/powerpoint/2010/main" val="1568745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767148-68BE-3283-6515-E955166EF529}"/>
              </a:ext>
            </a:extLst>
          </p:cNvPr>
          <p:cNvPicPr>
            <a:picLocks noChangeAspect="1"/>
          </p:cNvPicPr>
          <p:nvPr/>
        </p:nvPicPr>
        <p:blipFill>
          <a:blip r:embed="rId3"/>
          <a:stretch>
            <a:fillRect/>
          </a:stretch>
        </p:blipFill>
        <p:spPr>
          <a:xfrm>
            <a:off x="53881" y="740548"/>
            <a:ext cx="1821479" cy="3916180"/>
          </a:xfrm>
          <a:prstGeom prst="rect">
            <a:avLst/>
          </a:prstGeom>
        </p:spPr>
      </p:pic>
      <p:sp>
        <p:nvSpPr>
          <p:cNvPr id="4" name="TextBox 3">
            <a:extLst>
              <a:ext uri="{FF2B5EF4-FFF2-40B4-BE49-F238E27FC236}">
                <a16:creationId xmlns:a16="http://schemas.microsoft.com/office/drawing/2014/main" id="{21165A0E-5AE6-0D8E-21A0-A5A9C2F226A9}"/>
              </a:ext>
            </a:extLst>
          </p:cNvPr>
          <p:cNvSpPr txBox="1"/>
          <p:nvPr/>
        </p:nvSpPr>
        <p:spPr>
          <a:xfrm>
            <a:off x="1884718" y="4009751"/>
            <a:ext cx="4285842" cy="1077218"/>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600" dirty="0"/>
              <a:t>Picks a random attraction from </a:t>
            </a:r>
            <a:r>
              <a:rPr lang="en-CA" sz="1600" dirty="0" err="1"/>
              <a:t>attractionsList</a:t>
            </a:r>
            <a:r>
              <a:rPr lang="en-CA" sz="1600" dirty="0"/>
              <a:t>, adds it to </a:t>
            </a:r>
            <a:r>
              <a:rPr lang="en-CA" sz="1600" dirty="0" err="1"/>
              <a:t>markerList</a:t>
            </a:r>
            <a:r>
              <a:rPr lang="en-CA" sz="1600" dirty="0"/>
              <a:t> state (which puts a pin on the map), then flies the camera to that location.</a:t>
            </a:r>
          </a:p>
        </p:txBody>
      </p:sp>
      <p:cxnSp>
        <p:nvCxnSpPr>
          <p:cNvPr id="8" name="Straight Arrow Connector 7">
            <a:extLst>
              <a:ext uri="{FF2B5EF4-FFF2-40B4-BE49-F238E27FC236}">
                <a16:creationId xmlns:a16="http://schemas.microsoft.com/office/drawing/2014/main" id="{57407FA9-9982-44A8-32D1-C3C86E590773}"/>
              </a:ext>
            </a:extLst>
          </p:cNvPr>
          <p:cNvCxnSpPr>
            <a:cxnSpLocks/>
          </p:cNvCxnSpPr>
          <p:nvPr/>
        </p:nvCxnSpPr>
        <p:spPr>
          <a:xfrm>
            <a:off x="1687515" y="1417320"/>
            <a:ext cx="29916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Shape 0">
            <a:extLst>
              <a:ext uri="{FF2B5EF4-FFF2-40B4-BE49-F238E27FC236}">
                <a16:creationId xmlns:a16="http://schemas.microsoft.com/office/drawing/2014/main" id="{EA4E2425-4C9C-6FC3-42C2-331482497CC9}"/>
              </a:ext>
            </a:extLst>
          </p:cNvPr>
          <p:cNvSpPr/>
          <p:nvPr/>
        </p:nvSpPr>
        <p:spPr>
          <a:xfrm>
            <a:off x="110663" y="100584"/>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5: Add Marker</a:t>
            </a:r>
          </a:p>
        </p:txBody>
      </p:sp>
      <p:sp>
        <p:nvSpPr>
          <p:cNvPr id="23" name="Shape 4">
            <a:extLst>
              <a:ext uri="{FF2B5EF4-FFF2-40B4-BE49-F238E27FC236}">
                <a16:creationId xmlns:a16="http://schemas.microsoft.com/office/drawing/2014/main" id="{B3A9B3F1-0C14-77F2-17DD-4831211F6680}"/>
              </a:ext>
            </a:extLst>
          </p:cNvPr>
          <p:cNvSpPr/>
          <p:nvPr/>
        </p:nvSpPr>
        <p:spPr>
          <a:xfrm>
            <a:off x="6446849" y="868680"/>
            <a:ext cx="265373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5" name="Shape 5">
            <a:extLst>
              <a:ext uri="{FF2B5EF4-FFF2-40B4-BE49-F238E27FC236}">
                <a16:creationId xmlns:a16="http://schemas.microsoft.com/office/drawing/2014/main" id="{C4DDEE6D-F421-0D85-4A0C-72756472F8F6}"/>
              </a:ext>
            </a:extLst>
          </p:cNvPr>
          <p:cNvSpPr/>
          <p:nvPr/>
        </p:nvSpPr>
        <p:spPr>
          <a:xfrm>
            <a:off x="6434740" y="862234"/>
            <a:ext cx="384048" cy="384048"/>
          </a:xfrm>
          <a:prstGeom prst="ellipse">
            <a:avLst/>
          </a:prstGeom>
          <a:solidFill>
            <a:srgbClr val="0A7E8C"/>
          </a:solidFill>
          <a:ln/>
        </p:spPr>
        <p:txBody>
          <a:bodyPr/>
          <a:lstStyle/>
          <a:p>
            <a:endParaRPr lang="en-CA"/>
          </a:p>
        </p:txBody>
      </p:sp>
      <p:sp>
        <p:nvSpPr>
          <p:cNvPr id="27" name="Text 6">
            <a:extLst>
              <a:ext uri="{FF2B5EF4-FFF2-40B4-BE49-F238E27FC236}">
                <a16:creationId xmlns:a16="http://schemas.microsoft.com/office/drawing/2014/main" id="{47B7505D-7634-838B-51E1-DC6FCB6960AC}"/>
              </a:ext>
            </a:extLst>
          </p:cNvPr>
          <p:cNvSpPr/>
          <p:nvPr/>
        </p:nvSpPr>
        <p:spPr>
          <a:xfrm>
            <a:off x="6434740" y="880522"/>
            <a:ext cx="384048"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9" name="Text 7">
            <a:extLst>
              <a:ext uri="{FF2B5EF4-FFF2-40B4-BE49-F238E27FC236}">
                <a16:creationId xmlns:a16="http://schemas.microsoft.com/office/drawing/2014/main" id="{69C7719B-C701-C04E-8394-EB142723278B}"/>
              </a:ext>
            </a:extLst>
          </p:cNvPr>
          <p:cNvSpPr/>
          <p:nvPr/>
        </p:nvSpPr>
        <p:spPr>
          <a:xfrm>
            <a:off x="6816289" y="945121"/>
            <a:ext cx="1285031" cy="256032"/>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Guard clause</a:t>
            </a:r>
            <a:endParaRPr lang="en-US" sz="1200" dirty="0"/>
          </a:p>
        </p:txBody>
      </p:sp>
      <p:sp>
        <p:nvSpPr>
          <p:cNvPr id="31" name="Text 8">
            <a:extLst>
              <a:ext uri="{FF2B5EF4-FFF2-40B4-BE49-F238E27FC236}">
                <a16:creationId xmlns:a16="http://schemas.microsoft.com/office/drawing/2014/main" id="{393B6214-8E90-0649-C965-D0A186C6B318}"/>
              </a:ext>
            </a:extLst>
          </p:cNvPr>
          <p:cNvSpPr/>
          <p:nvPr/>
        </p:nvSpPr>
        <p:spPr>
          <a:xfrm>
            <a:off x="6668275" y="1216152"/>
            <a:ext cx="2377440" cy="4754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Check mapRef.current === null first. Prevents errors before map mounts.</a:t>
            </a:r>
            <a:endParaRPr lang="en-US" sz="1050" dirty="0"/>
          </a:p>
        </p:txBody>
      </p:sp>
      <p:sp>
        <p:nvSpPr>
          <p:cNvPr id="33" name="Shape 9">
            <a:extLst>
              <a:ext uri="{FF2B5EF4-FFF2-40B4-BE49-F238E27FC236}">
                <a16:creationId xmlns:a16="http://schemas.microsoft.com/office/drawing/2014/main" id="{83084F0B-A57E-2C75-A920-95F4AE98E1F3}"/>
              </a:ext>
            </a:extLst>
          </p:cNvPr>
          <p:cNvSpPr/>
          <p:nvPr/>
        </p:nvSpPr>
        <p:spPr>
          <a:xfrm>
            <a:off x="6446849" y="1920240"/>
            <a:ext cx="2653729"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35" name="Shape 10">
            <a:extLst>
              <a:ext uri="{FF2B5EF4-FFF2-40B4-BE49-F238E27FC236}">
                <a16:creationId xmlns:a16="http://schemas.microsoft.com/office/drawing/2014/main" id="{B3A2AA21-F6F8-D6F6-95D9-D38D98C96714}"/>
              </a:ext>
            </a:extLst>
          </p:cNvPr>
          <p:cNvSpPr/>
          <p:nvPr/>
        </p:nvSpPr>
        <p:spPr>
          <a:xfrm>
            <a:off x="6467627" y="1890773"/>
            <a:ext cx="384048" cy="384048"/>
          </a:xfrm>
          <a:prstGeom prst="ellipse">
            <a:avLst/>
          </a:prstGeom>
          <a:solidFill>
            <a:srgbClr val="0A7E8C"/>
          </a:solidFill>
          <a:ln/>
        </p:spPr>
        <p:txBody>
          <a:bodyPr/>
          <a:lstStyle/>
          <a:p>
            <a:endParaRPr lang="en-CA"/>
          </a:p>
        </p:txBody>
      </p:sp>
      <p:sp>
        <p:nvSpPr>
          <p:cNvPr id="37" name="Text 11">
            <a:extLst>
              <a:ext uri="{FF2B5EF4-FFF2-40B4-BE49-F238E27FC236}">
                <a16:creationId xmlns:a16="http://schemas.microsoft.com/office/drawing/2014/main" id="{57C4C5C1-7ACF-11DA-527B-1B32895CF43F}"/>
              </a:ext>
            </a:extLst>
          </p:cNvPr>
          <p:cNvSpPr/>
          <p:nvPr/>
        </p:nvSpPr>
        <p:spPr>
          <a:xfrm>
            <a:off x="6467627" y="1909061"/>
            <a:ext cx="384048"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9" name="Text 12">
            <a:extLst>
              <a:ext uri="{FF2B5EF4-FFF2-40B4-BE49-F238E27FC236}">
                <a16:creationId xmlns:a16="http://schemas.microsoft.com/office/drawing/2014/main" id="{4BD0C87E-A9DD-7AF1-FDA0-EFB3DAC5A517}"/>
              </a:ext>
            </a:extLst>
          </p:cNvPr>
          <p:cNvSpPr/>
          <p:nvPr/>
        </p:nvSpPr>
        <p:spPr>
          <a:xfrm>
            <a:off x="6898516" y="1993392"/>
            <a:ext cx="1275164" cy="256032"/>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Random pick</a:t>
            </a:r>
            <a:endParaRPr lang="en-US" sz="1200" dirty="0"/>
          </a:p>
        </p:txBody>
      </p:sp>
      <p:sp>
        <p:nvSpPr>
          <p:cNvPr id="41" name="Text 13">
            <a:extLst>
              <a:ext uri="{FF2B5EF4-FFF2-40B4-BE49-F238E27FC236}">
                <a16:creationId xmlns:a16="http://schemas.microsoft.com/office/drawing/2014/main" id="{9E6840BA-2FF4-A137-53F3-F561EC2DFD9F}"/>
              </a:ext>
            </a:extLst>
          </p:cNvPr>
          <p:cNvSpPr/>
          <p:nvPr/>
        </p:nvSpPr>
        <p:spPr>
          <a:xfrm>
            <a:off x="6670708" y="2256002"/>
            <a:ext cx="2206010" cy="4754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Math.random() * array.length gives a random index. Math.floor drops the decimal.</a:t>
            </a:r>
            <a:endParaRPr lang="en-US" sz="1050" dirty="0"/>
          </a:p>
        </p:txBody>
      </p:sp>
      <p:sp>
        <p:nvSpPr>
          <p:cNvPr id="43" name="Shape 14">
            <a:extLst>
              <a:ext uri="{FF2B5EF4-FFF2-40B4-BE49-F238E27FC236}">
                <a16:creationId xmlns:a16="http://schemas.microsoft.com/office/drawing/2014/main" id="{740D6C4C-11A9-0523-EC6D-C9B9E93986EB}"/>
              </a:ext>
            </a:extLst>
          </p:cNvPr>
          <p:cNvSpPr/>
          <p:nvPr/>
        </p:nvSpPr>
        <p:spPr>
          <a:xfrm>
            <a:off x="6446849" y="2971800"/>
            <a:ext cx="265373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45" name="Shape 15">
            <a:extLst>
              <a:ext uri="{FF2B5EF4-FFF2-40B4-BE49-F238E27FC236}">
                <a16:creationId xmlns:a16="http://schemas.microsoft.com/office/drawing/2014/main" id="{BF11BC0B-7901-B516-09DD-178DD29D0690}"/>
              </a:ext>
            </a:extLst>
          </p:cNvPr>
          <p:cNvSpPr/>
          <p:nvPr/>
        </p:nvSpPr>
        <p:spPr>
          <a:xfrm>
            <a:off x="6444604" y="2952199"/>
            <a:ext cx="384048" cy="384048"/>
          </a:xfrm>
          <a:prstGeom prst="ellipse">
            <a:avLst/>
          </a:prstGeom>
          <a:solidFill>
            <a:srgbClr val="0A7E8C"/>
          </a:solidFill>
          <a:ln/>
        </p:spPr>
        <p:txBody>
          <a:bodyPr/>
          <a:lstStyle/>
          <a:p>
            <a:endParaRPr lang="en-CA"/>
          </a:p>
        </p:txBody>
      </p:sp>
      <p:sp>
        <p:nvSpPr>
          <p:cNvPr id="47" name="Text 16">
            <a:extLst>
              <a:ext uri="{FF2B5EF4-FFF2-40B4-BE49-F238E27FC236}">
                <a16:creationId xmlns:a16="http://schemas.microsoft.com/office/drawing/2014/main" id="{DE417633-7DDD-B6CA-3263-B12FD539B456}"/>
              </a:ext>
            </a:extLst>
          </p:cNvPr>
          <p:cNvSpPr/>
          <p:nvPr/>
        </p:nvSpPr>
        <p:spPr>
          <a:xfrm>
            <a:off x="6444604" y="2970487"/>
            <a:ext cx="384048"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9" name="Text 17">
            <a:extLst>
              <a:ext uri="{FF2B5EF4-FFF2-40B4-BE49-F238E27FC236}">
                <a16:creationId xmlns:a16="http://schemas.microsoft.com/office/drawing/2014/main" id="{3F6B65A0-C26E-73D8-43E2-B874F26486F8}"/>
              </a:ext>
            </a:extLst>
          </p:cNvPr>
          <p:cNvSpPr/>
          <p:nvPr/>
        </p:nvSpPr>
        <p:spPr>
          <a:xfrm>
            <a:off x="6868917" y="3044952"/>
            <a:ext cx="1669869" cy="256032"/>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Push + spread</a:t>
            </a:r>
            <a:endParaRPr lang="en-US" sz="1200" dirty="0"/>
          </a:p>
        </p:txBody>
      </p:sp>
      <p:sp>
        <p:nvSpPr>
          <p:cNvPr id="51" name="Text 18">
            <a:extLst>
              <a:ext uri="{FF2B5EF4-FFF2-40B4-BE49-F238E27FC236}">
                <a16:creationId xmlns:a16="http://schemas.microsoft.com/office/drawing/2014/main" id="{F5374725-102F-A8E9-0064-CAC385FCB9E4}"/>
              </a:ext>
            </a:extLst>
          </p:cNvPr>
          <p:cNvSpPr/>
          <p:nvPr/>
        </p:nvSpPr>
        <p:spPr>
          <a:xfrm>
            <a:off x="6668275" y="3319272"/>
            <a:ext cx="2377440" cy="4754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push() mutates the array. </a:t>
            </a:r>
          </a:p>
          <a:p>
            <a:pPr marL="0" indent="0">
              <a:buNone/>
            </a:pPr>
            <a:r>
              <a:rPr lang="en-US" sz="1050" dirty="0">
                <a:solidFill>
                  <a:srgbClr val="64748B"/>
                </a:solidFill>
                <a:latin typeface="Calibri" pitchFamily="34" charset="0"/>
                <a:ea typeface="Calibri" pitchFamily="34" charset="-122"/>
                <a:cs typeface="Calibri" pitchFamily="34" charset="-120"/>
              </a:rPr>
              <a:t>Spread [...markerList] creates a new reference so React detects the change.</a:t>
            </a:r>
            <a:endParaRPr lang="en-US" sz="1050" dirty="0"/>
          </a:p>
        </p:txBody>
      </p:sp>
      <p:sp>
        <p:nvSpPr>
          <p:cNvPr id="53" name="Shape 19">
            <a:extLst>
              <a:ext uri="{FF2B5EF4-FFF2-40B4-BE49-F238E27FC236}">
                <a16:creationId xmlns:a16="http://schemas.microsoft.com/office/drawing/2014/main" id="{7618D62A-A3FE-0715-D1E7-F9190C851CC5}"/>
              </a:ext>
            </a:extLst>
          </p:cNvPr>
          <p:cNvSpPr/>
          <p:nvPr/>
        </p:nvSpPr>
        <p:spPr>
          <a:xfrm>
            <a:off x="6399153" y="4023360"/>
            <a:ext cx="2701425"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55" name="Shape 20">
            <a:extLst>
              <a:ext uri="{FF2B5EF4-FFF2-40B4-BE49-F238E27FC236}">
                <a16:creationId xmlns:a16="http://schemas.microsoft.com/office/drawing/2014/main" id="{F18904E4-883C-85C3-EF93-9938D1385D78}"/>
              </a:ext>
            </a:extLst>
          </p:cNvPr>
          <p:cNvSpPr/>
          <p:nvPr/>
        </p:nvSpPr>
        <p:spPr>
          <a:xfrm>
            <a:off x="6461054" y="4036649"/>
            <a:ext cx="384048" cy="384048"/>
          </a:xfrm>
          <a:prstGeom prst="ellipse">
            <a:avLst/>
          </a:prstGeom>
          <a:solidFill>
            <a:srgbClr val="0A7E8C"/>
          </a:solidFill>
          <a:ln/>
        </p:spPr>
        <p:txBody>
          <a:bodyPr/>
          <a:lstStyle/>
          <a:p>
            <a:endParaRPr lang="en-CA"/>
          </a:p>
        </p:txBody>
      </p:sp>
      <p:sp>
        <p:nvSpPr>
          <p:cNvPr id="57" name="Text 21">
            <a:extLst>
              <a:ext uri="{FF2B5EF4-FFF2-40B4-BE49-F238E27FC236}">
                <a16:creationId xmlns:a16="http://schemas.microsoft.com/office/drawing/2014/main" id="{4D766A46-A57E-EFDD-3C31-B9FCA86C4A33}"/>
              </a:ext>
            </a:extLst>
          </p:cNvPr>
          <p:cNvSpPr/>
          <p:nvPr/>
        </p:nvSpPr>
        <p:spPr>
          <a:xfrm>
            <a:off x="6461054" y="4054937"/>
            <a:ext cx="384048"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59" name="Text 22">
            <a:extLst>
              <a:ext uri="{FF2B5EF4-FFF2-40B4-BE49-F238E27FC236}">
                <a16:creationId xmlns:a16="http://schemas.microsoft.com/office/drawing/2014/main" id="{2407B706-664E-F76A-A5DC-5E36E0C87EE8}"/>
              </a:ext>
            </a:extLst>
          </p:cNvPr>
          <p:cNvSpPr/>
          <p:nvPr/>
        </p:nvSpPr>
        <p:spPr>
          <a:xfrm>
            <a:off x="6878780" y="4096512"/>
            <a:ext cx="1817883" cy="256032"/>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animateToRegion</a:t>
            </a:r>
            <a:endParaRPr lang="en-US" sz="1200" dirty="0"/>
          </a:p>
        </p:txBody>
      </p:sp>
      <p:sp>
        <p:nvSpPr>
          <p:cNvPr id="61" name="Text 23">
            <a:extLst>
              <a:ext uri="{FF2B5EF4-FFF2-40B4-BE49-F238E27FC236}">
                <a16:creationId xmlns:a16="http://schemas.microsoft.com/office/drawing/2014/main" id="{DD5A02EE-2404-EEC1-F9CC-88F06DDC114B}"/>
              </a:ext>
            </a:extLst>
          </p:cNvPr>
          <p:cNvSpPr/>
          <p:nvPr/>
        </p:nvSpPr>
        <p:spPr>
          <a:xfrm>
            <a:off x="6668275" y="4423457"/>
            <a:ext cx="2377440" cy="47548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Smoothly flies the camera. </a:t>
            </a:r>
          </a:p>
          <a:p>
            <a:pPr marL="0" indent="0">
              <a:buNone/>
            </a:pPr>
            <a:r>
              <a:rPr lang="en-US" sz="1050" dirty="0" err="1">
                <a:solidFill>
                  <a:srgbClr val="64748B"/>
                </a:solidFill>
                <a:latin typeface="Calibri" pitchFamily="34" charset="0"/>
                <a:ea typeface="Calibri" pitchFamily="34" charset="-122"/>
                <a:cs typeface="Calibri" pitchFamily="34" charset="-120"/>
              </a:rPr>
              <a:t>latitudeDelta</a:t>
            </a:r>
            <a:r>
              <a:rPr lang="en-US" sz="1050" dirty="0">
                <a:solidFill>
                  <a:srgbClr val="64748B"/>
                </a:solidFill>
                <a:latin typeface="Calibri" pitchFamily="34" charset="0"/>
                <a:ea typeface="Calibri" pitchFamily="34" charset="-122"/>
                <a:cs typeface="Calibri" pitchFamily="34" charset="-120"/>
              </a:rPr>
              <a:t>: 1 = country-level zoom so we can see where the attraction is.</a:t>
            </a:r>
            <a:endParaRPr lang="en-US" sz="1050" dirty="0"/>
          </a:p>
        </p:txBody>
      </p:sp>
      <p:pic>
        <p:nvPicPr>
          <p:cNvPr id="64" name="Picture 63">
            <a:extLst>
              <a:ext uri="{FF2B5EF4-FFF2-40B4-BE49-F238E27FC236}">
                <a16:creationId xmlns:a16="http://schemas.microsoft.com/office/drawing/2014/main" id="{E56ADB7F-A02B-C8E7-8F7E-35305ADEC249}"/>
              </a:ext>
            </a:extLst>
          </p:cNvPr>
          <p:cNvPicPr>
            <a:picLocks noChangeAspect="1"/>
          </p:cNvPicPr>
          <p:nvPr/>
        </p:nvPicPr>
        <p:blipFill>
          <a:blip r:embed="rId4"/>
          <a:stretch>
            <a:fillRect/>
          </a:stretch>
        </p:blipFill>
        <p:spPr>
          <a:xfrm>
            <a:off x="1998788" y="778469"/>
            <a:ext cx="4291522" cy="2992704"/>
          </a:xfrm>
          <a:prstGeom prst="rect">
            <a:avLst/>
          </a:prstGeom>
          <a:ln>
            <a:solidFill>
              <a:schemeClr val="accent1"/>
            </a:solidFill>
          </a:ln>
        </p:spPr>
      </p:pic>
    </p:spTree>
    <p:extLst>
      <p:ext uri="{BB962C8B-B14F-4D97-AF65-F5344CB8AC3E}">
        <p14:creationId xmlns:p14="http://schemas.microsoft.com/office/powerpoint/2010/main" val="2145694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5E5D-F462-D17E-9544-9E52E5C794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7108DD-D497-ED6E-5B2B-1F0B02125F22}"/>
              </a:ext>
            </a:extLst>
          </p:cNvPr>
          <p:cNvPicPr>
            <a:picLocks noChangeAspect="1"/>
          </p:cNvPicPr>
          <p:nvPr/>
        </p:nvPicPr>
        <p:blipFill>
          <a:blip r:embed="rId2"/>
          <a:stretch>
            <a:fillRect/>
          </a:stretch>
        </p:blipFill>
        <p:spPr>
          <a:xfrm>
            <a:off x="402371" y="930300"/>
            <a:ext cx="1821479" cy="3916180"/>
          </a:xfrm>
          <a:prstGeom prst="rect">
            <a:avLst/>
          </a:prstGeom>
        </p:spPr>
      </p:pic>
      <p:sp>
        <p:nvSpPr>
          <p:cNvPr id="4" name="TextBox 3">
            <a:extLst>
              <a:ext uri="{FF2B5EF4-FFF2-40B4-BE49-F238E27FC236}">
                <a16:creationId xmlns:a16="http://schemas.microsoft.com/office/drawing/2014/main" id="{709DC615-BA27-34E9-23E2-6CE1BE9ADF8F}"/>
              </a:ext>
            </a:extLst>
          </p:cNvPr>
          <p:cNvSpPr txBox="1"/>
          <p:nvPr/>
        </p:nvSpPr>
        <p:spPr>
          <a:xfrm>
            <a:off x="2454780" y="3567803"/>
            <a:ext cx="6286849" cy="646331"/>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dirty="0"/>
              <a:t>Sets </a:t>
            </a:r>
            <a:r>
              <a:rPr lang="en-CA" dirty="0" err="1"/>
              <a:t>markerList</a:t>
            </a:r>
            <a:r>
              <a:rPr lang="en-CA" dirty="0"/>
              <a:t> back to an empty array — removes all pins — then flies the camera back to CN Tower in Toronto.</a:t>
            </a:r>
          </a:p>
        </p:txBody>
      </p:sp>
      <p:sp>
        <p:nvSpPr>
          <p:cNvPr id="11" name="Shape 0">
            <a:extLst>
              <a:ext uri="{FF2B5EF4-FFF2-40B4-BE49-F238E27FC236}">
                <a16:creationId xmlns:a16="http://schemas.microsoft.com/office/drawing/2014/main" id="{EB084685-6809-AA11-4F45-4DE28081E8C6}"/>
              </a:ext>
            </a:extLst>
          </p:cNvPr>
          <p:cNvSpPr/>
          <p:nvPr/>
        </p:nvSpPr>
        <p:spPr>
          <a:xfrm>
            <a:off x="365760" y="226461"/>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6: Clear Marker</a:t>
            </a:r>
          </a:p>
        </p:txBody>
      </p:sp>
      <p:cxnSp>
        <p:nvCxnSpPr>
          <p:cNvPr id="12" name="Straight Arrow Connector 11">
            <a:extLst>
              <a:ext uri="{FF2B5EF4-FFF2-40B4-BE49-F238E27FC236}">
                <a16:creationId xmlns:a16="http://schemas.microsoft.com/office/drawing/2014/main" id="{0026592B-9E57-3CE2-2ACB-10653F65510A}"/>
              </a:ext>
            </a:extLst>
          </p:cNvPr>
          <p:cNvCxnSpPr>
            <a:cxnSpLocks/>
          </p:cNvCxnSpPr>
          <p:nvPr/>
        </p:nvCxnSpPr>
        <p:spPr>
          <a:xfrm>
            <a:off x="2027944" y="1896862"/>
            <a:ext cx="463447" cy="2103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8" name="Picture 17">
            <a:extLst>
              <a:ext uri="{FF2B5EF4-FFF2-40B4-BE49-F238E27FC236}">
                <a16:creationId xmlns:a16="http://schemas.microsoft.com/office/drawing/2014/main" id="{28BEDD80-51E1-8AAA-511A-0D343177C7B1}"/>
              </a:ext>
            </a:extLst>
          </p:cNvPr>
          <p:cNvPicPr>
            <a:picLocks noChangeAspect="1"/>
          </p:cNvPicPr>
          <p:nvPr/>
        </p:nvPicPr>
        <p:blipFill>
          <a:blip r:embed="rId3"/>
          <a:stretch>
            <a:fillRect/>
          </a:stretch>
        </p:blipFill>
        <p:spPr>
          <a:xfrm>
            <a:off x="2491391" y="1180245"/>
            <a:ext cx="2490868" cy="2245249"/>
          </a:xfrm>
          <a:prstGeom prst="rect">
            <a:avLst/>
          </a:prstGeom>
          <a:ln>
            <a:solidFill>
              <a:schemeClr val="accent1"/>
            </a:solidFill>
          </a:ln>
        </p:spPr>
      </p:pic>
      <p:sp>
        <p:nvSpPr>
          <p:cNvPr id="19" name="TextBox 18">
            <a:extLst>
              <a:ext uri="{FF2B5EF4-FFF2-40B4-BE49-F238E27FC236}">
                <a16:creationId xmlns:a16="http://schemas.microsoft.com/office/drawing/2014/main" id="{908C735A-A649-C798-20BA-941D9C128713}"/>
              </a:ext>
            </a:extLst>
          </p:cNvPr>
          <p:cNvSpPr txBox="1"/>
          <p:nvPr/>
        </p:nvSpPr>
        <p:spPr>
          <a:xfrm>
            <a:off x="5598204" y="1158198"/>
            <a:ext cx="2653734" cy="1477328"/>
          </a:xfrm>
          <a:prstGeom prst="rect">
            <a:avLst/>
          </a:prstGeom>
          <a:noFill/>
        </p:spPr>
        <p:txBody>
          <a:bodyPr wrap="square" rtlCol="0">
            <a:spAutoFit/>
          </a:bodyPr>
          <a:lstStyle/>
          <a:p>
            <a:r>
              <a:rPr lang="en-US" b="1" dirty="0" err="1">
                <a:solidFill>
                  <a:srgbClr val="0D1B2A"/>
                </a:solidFill>
                <a:latin typeface="Calibri" pitchFamily="34" charset="0"/>
                <a:ea typeface="Calibri" pitchFamily="34" charset="-122"/>
                <a:cs typeface="Calibri" pitchFamily="34" charset="-120"/>
              </a:rPr>
              <a:t>clearMarkers</a:t>
            </a:r>
            <a:r>
              <a:rPr lang="en-US" b="1" dirty="0">
                <a:solidFill>
                  <a:srgbClr val="0D1B2A"/>
                </a:solidFill>
                <a:latin typeface="Calibri" pitchFamily="34" charset="0"/>
                <a:ea typeface="Calibri" pitchFamily="34" charset="-122"/>
                <a:cs typeface="Calibri" pitchFamily="34" charset="-120"/>
              </a:rPr>
              <a:t>: </a:t>
            </a:r>
            <a:r>
              <a:rPr lang="en-US" dirty="0" err="1">
                <a:solidFill>
                  <a:srgbClr val="0D1B2A"/>
                </a:solidFill>
                <a:latin typeface="Calibri" pitchFamily="34" charset="0"/>
                <a:ea typeface="Calibri" pitchFamily="34" charset="-122"/>
                <a:cs typeface="Calibri" pitchFamily="34" charset="-120"/>
              </a:rPr>
              <a:t>setMarkerList</a:t>
            </a:r>
            <a:r>
              <a:rPr lang="en-US" dirty="0">
                <a:solidFill>
                  <a:srgbClr val="0D1B2A"/>
                </a:solidFill>
                <a:latin typeface="Calibri" pitchFamily="34" charset="0"/>
                <a:ea typeface="Calibri" pitchFamily="34" charset="-122"/>
                <a:cs typeface="Calibri" pitchFamily="34" charset="-120"/>
              </a:rPr>
              <a:t>([]) clears state — React re-renders, removing all Marker children from </a:t>
            </a:r>
            <a:r>
              <a:rPr lang="en-US" dirty="0" err="1">
                <a:solidFill>
                  <a:srgbClr val="0D1B2A"/>
                </a:solidFill>
                <a:latin typeface="Calibri" pitchFamily="34" charset="0"/>
                <a:ea typeface="Calibri" pitchFamily="34" charset="-122"/>
                <a:cs typeface="Calibri" pitchFamily="34" charset="-120"/>
              </a:rPr>
              <a:t>MapView</a:t>
            </a:r>
            <a:r>
              <a:rPr lang="en-US" dirty="0">
                <a:solidFill>
                  <a:srgbClr val="0D1B2A"/>
                </a:solidFill>
                <a:latin typeface="Calibri" pitchFamily="34" charset="0"/>
                <a:ea typeface="Calibri" pitchFamily="34" charset="-122"/>
                <a:cs typeface="Calibri" pitchFamily="34" charset="-120"/>
              </a:rPr>
              <a:t>.</a:t>
            </a:r>
            <a:endParaRPr lang="en-CA" dirty="0"/>
          </a:p>
        </p:txBody>
      </p:sp>
    </p:spTree>
    <p:extLst>
      <p:ext uri="{BB962C8B-B14F-4D97-AF65-F5344CB8AC3E}">
        <p14:creationId xmlns:p14="http://schemas.microsoft.com/office/powerpoint/2010/main" val="1465410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F8326-44A5-940F-2814-54535D745C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37E199-B959-F1AB-FA01-F3133C67FB8D}"/>
              </a:ext>
            </a:extLst>
          </p:cNvPr>
          <p:cNvPicPr>
            <a:picLocks noChangeAspect="1"/>
          </p:cNvPicPr>
          <p:nvPr/>
        </p:nvPicPr>
        <p:blipFill>
          <a:blip r:embed="rId3"/>
          <a:stretch>
            <a:fillRect/>
          </a:stretch>
        </p:blipFill>
        <p:spPr>
          <a:xfrm>
            <a:off x="402371" y="930300"/>
            <a:ext cx="1821479" cy="3916180"/>
          </a:xfrm>
          <a:prstGeom prst="rect">
            <a:avLst/>
          </a:prstGeom>
        </p:spPr>
      </p:pic>
      <p:sp>
        <p:nvSpPr>
          <p:cNvPr id="4" name="TextBox 3">
            <a:extLst>
              <a:ext uri="{FF2B5EF4-FFF2-40B4-BE49-F238E27FC236}">
                <a16:creationId xmlns:a16="http://schemas.microsoft.com/office/drawing/2014/main" id="{E5F9249F-A16C-18E8-C9A8-8C547756A7B8}"/>
              </a:ext>
            </a:extLst>
          </p:cNvPr>
          <p:cNvSpPr txBox="1"/>
          <p:nvPr/>
        </p:nvSpPr>
        <p:spPr>
          <a:xfrm>
            <a:off x="2491391" y="2907062"/>
            <a:ext cx="6286849" cy="923330"/>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dirty="0"/>
              <a:t>Just moves the camera — no markers added or removed. It flies to Monaco. This demonstrates that </a:t>
            </a:r>
            <a:r>
              <a:rPr lang="en-CA" dirty="0" err="1"/>
              <a:t>animateToRegion</a:t>
            </a:r>
            <a:r>
              <a:rPr lang="en-CA" dirty="0"/>
              <a:t> works independently of markers.</a:t>
            </a:r>
          </a:p>
        </p:txBody>
      </p:sp>
      <p:sp>
        <p:nvSpPr>
          <p:cNvPr id="11" name="Shape 0">
            <a:extLst>
              <a:ext uri="{FF2B5EF4-FFF2-40B4-BE49-F238E27FC236}">
                <a16:creationId xmlns:a16="http://schemas.microsoft.com/office/drawing/2014/main" id="{76777BAC-E76F-5063-CCF5-42D6A273D209}"/>
              </a:ext>
            </a:extLst>
          </p:cNvPr>
          <p:cNvSpPr/>
          <p:nvPr/>
        </p:nvSpPr>
        <p:spPr>
          <a:xfrm>
            <a:off x="365760" y="226461"/>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7: Zoom To Location</a:t>
            </a:r>
          </a:p>
        </p:txBody>
      </p:sp>
      <p:cxnSp>
        <p:nvCxnSpPr>
          <p:cNvPr id="12" name="Straight Arrow Connector 11">
            <a:extLst>
              <a:ext uri="{FF2B5EF4-FFF2-40B4-BE49-F238E27FC236}">
                <a16:creationId xmlns:a16="http://schemas.microsoft.com/office/drawing/2014/main" id="{3E4C4C55-3708-C62B-7BAB-DD1BBE562D9C}"/>
              </a:ext>
            </a:extLst>
          </p:cNvPr>
          <p:cNvCxnSpPr>
            <a:cxnSpLocks/>
          </p:cNvCxnSpPr>
          <p:nvPr/>
        </p:nvCxnSpPr>
        <p:spPr>
          <a:xfrm flipV="1">
            <a:off x="2027944" y="2107248"/>
            <a:ext cx="463447" cy="3523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3" name="Picture 12">
            <a:extLst>
              <a:ext uri="{FF2B5EF4-FFF2-40B4-BE49-F238E27FC236}">
                <a16:creationId xmlns:a16="http://schemas.microsoft.com/office/drawing/2014/main" id="{BFCDB34D-C95D-265D-EB9B-2847271230B5}"/>
              </a:ext>
            </a:extLst>
          </p:cNvPr>
          <p:cNvPicPr>
            <a:picLocks noChangeAspect="1"/>
          </p:cNvPicPr>
          <p:nvPr/>
        </p:nvPicPr>
        <p:blipFill>
          <a:blip r:embed="rId4"/>
          <a:stretch>
            <a:fillRect/>
          </a:stretch>
        </p:blipFill>
        <p:spPr>
          <a:xfrm>
            <a:off x="2531529" y="1032870"/>
            <a:ext cx="1964819" cy="1742284"/>
          </a:xfrm>
          <a:prstGeom prst="rect">
            <a:avLst/>
          </a:prstGeom>
          <a:ln>
            <a:solidFill>
              <a:schemeClr val="accent1"/>
            </a:solidFill>
          </a:ln>
        </p:spPr>
      </p:pic>
      <p:sp>
        <p:nvSpPr>
          <p:cNvPr id="14" name="TextBox 13">
            <a:extLst>
              <a:ext uri="{FF2B5EF4-FFF2-40B4-BE49-F238E27FC236}">
                <a16:creationId xmlns:a16="http://schemas.microsoft.com/office/drawing/2014/main" id="{4D633546-2633-0E31-764E-96F25F484119}"/>
              </a:ext>
            </a:extLst>
          </p:cNvPr>
          <p:cNvSpPr txBox="1"/>
          <p:nvPr/>
        </p:nvSpPr>
        <p:spPr>
          <a:xfrm>
            <a:off x="5364699" y="1047442"/>
            <a:ext cx="3116255"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err="1">
                <a:solidFill>
                  <a:srgbClr val="0D1B2A"/>
                </a:solidFill>
                <a:latin typeface="Calibri" pitchFamily="34" charset="0"/>
                <a:ea typeface="Calibri" pitchFamily="34" charset="-122"/>
                <a:cs typeface="Calibri" pitchFamily="34" charset="-120"/>
              </a:rPr>
              <a:t>zoomToLocation</a:t>
            </a:r>
            <a:r>
              <a:rPr lang="en-US" b="1" dirty="0">
                <a:solidFill>
                  <a:srgbClr val="0D1B2A"/>
                </a:solidFill>
                <a:latin typeface="Calibri" pitchFamily="34" charset="0"/>
                <a:ea typeface="Calibri" pitchFamily="34" charset="-122"/>
                <a:cs typeface="Calibri" pitchFamily="34" charset="-120"/>
              </a:rPr>
              <a:t>: </a:t>
            </a:r>
            <a:r>
              <a:rPr lang="en-US" dirty="0">
                <a:solidFill>
                  <a:srgbClr val="0D1B2A"/>
                </a:solidFill>
                <a:latin typeface="Calibri" pitchFamily="34" charset="0"/>
                <a:ea typeface="Calibri" pitchFamily="34" charset="-122"/>
                <a:cs typeface="Calibri" pitchFamily="34" charset="-120"/>
              </a:rPr>
              <a:t>Shows that </a:t>
            </a:r>
            <a:r>
              <a:rPr lang="en-US" dirty="0" err="1">
                <a:solidFill>
                  <a:srgbClr val="0D1B2A"/>
                </a:solidFill>
                <a:latin typeface="Calibri" pitchFamily="34" charset="0"/>
                <a:ea typeface="Calibri" pitchFamily="34" charset="-122"/>
                <a:cs typeface="Calibri" pitchFamily="34" charset="-120"/>
              </a:rPr>
              <a:t>animateToRegion</a:t>
            </a:r>
            <a:r>
              <a:rPr lang="en-US" dirty="0">
                <a:solidFill>
                  <a:srgbClr val="0D1B2A"/>
                </a:solidFill>
                <a:latin typeface="Calibri" pitchFamily="34" charset="0"/>
                <a:ea typeface="Calibri" pitchFamily="34" charset="-122"/>
                <a:cs typeface="Calibri" pitchFamily="34" charset="-120"/>
              </a:rPr>
              <a:t> works independently of markers — useful for 'go to my location' features.</a:t>
            </a:r>
            <a:endParaRPr lang="en-CA" dirty="0"/>
          </a:p>
        </p:txBody>
      </p:sp>
    </p:spTree>
    <p:extLst>
      <p:ext uri="{BB962C8B-B14F-4D97-AF65-F5344CB8AC3E}">
        <p14:creationId xmlns:p14="http://schemas.microsoft.com/office/powerpoint/2010/main" val="1729907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305965A-C493-8041-6560-FD556EC53FC4}"/>
              </a:ext>
            </a:extLst>
          </p:cNvPr>
          <p:cNvSpPr/>
          <p:nvPr/>
        </p:nvSpPr>
        <p:spPr>
          <a:xfrm>
            <a:off x="365760" y="226461"/>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8: Layout and </a:t>
            </a:r>
            <a:r>
              <a:rPr lang="en-CA" sz="2200" b="1" dirty="0" err="1">
                <a:solidFill>
                  <a:srgbClr val="FFFFFF"/>
                </a:solidFill>
                <a:latin typeface="Cambria" pitchFamily="34" charset="0"/>
                <a:ea typeface="Cambria" pitchFamily="34" charset="-122"/>
              </a:rPr>
              <a:t>MapView</a:t>
            </a:r>
            <a:endParaRPr lang="en-CA" sz="2200" b="1" dirty="0">
              <a:solidFill>
                <a:srgbClr val="FFFFFF"/>
              </a:solidFill>
              <a:latin typeface="Cambria" pitchFamily="34" charset="0"/>
              <a:ea typeface="Cambria" pitchFamily="34" charset="-122"/>
            </a:endParaRPr>
          </a:p>
        </p:txBody>
      </p:sp>
      <p:pic>
        <p:nvPicPr>
          <p:cNvPr id="5" name="Picture 4">
            <a:extLst>
              <a:ext uri="{FF2B5EF4-FFF2-40B4-BE49-F238E27FC236}">
                <a16:creationId xmlns:a16="http://schemas.microsoft.com/office/drawing/2014/main" id="{785655F5-18BB-0FC5-1227-554C5A87E54D}"/>
              </a:ext>
            </a:extLst>
          </p:cNvPr>
          <p:cNvPicPr>
            <a:picLocks noChangeAspect="1"/>
          </p:cNvPicPr>
          <p:nvPr/>
        </p:nvPicPr>
        <p:blipFill>
          <a:blip r:embed="rId2"/>
          <a:stretch>
            <a:fillRect/>
          </a:stretch>
        </p:blipFill>
        <p:spPr>
          <a:xfrm>
            <a:off x="319010" y="921893"/>
            <a:ext cx="3823479" cy="4094189"/>
          </a:xfrm>
          <a:prstGeom prst="rect">
            <a:avLst/>
          </a:prstGeom>
          <a:ln>
            <a:solidFill>
              <a:schemeClr val="accent1"/>
            </a:solidFill>
          </a:ln>
        </p:spPr>
      </p:pic>
      <p:sp>
        <p:nvSpPr>
          <p:cNvPr id="6" name="TextBox 5">
            <a:extLst>
              <a:ext uri="{FF2B5EF4-FFF2-40B4-BE49-F238E27FC236}">
                <a16:creationId xmlns:a16="http://schemas.microsoft.com/office/drawing/2014/main" id="{011BD8B5-E5A8-1A2D-B7A2-60EBD57CBB3D}"/>
              </a:ext>
            </a:extLst>
          </p:cNvPr>
          <p:cNvSpPr txBox="1"/>
          <p:nvPr/>
        </p:nvSpPr>
        <p:spPr>
          <a:xfrm>
            <a:off x="4259794" y="793389"/>
            <a:ext cx="4400034" cy="3693319"/>
          </a:xfrm>
          <a:prstGeom prst="rect">
            <a:avLst/>
          </a:prstGeom>
          <a:noFill/>
        </p:spPr>
        <p:txBody>
          <a:bodyPr wrap="square" rtlCol="0">
            <a:spAutoFit/>
          </a:bodyPr>
          <a:lstStyle/>
          <a:p>
            <a:r>
              <a:rPr lang="en-US" dirty="0"/>
              <a:t>Key points: </a:t>
            </a:r>
          </a:p>
          <a:p>
            <a:pPr marL="342900" indent="-342900">
              <a:buFont typeface="+mj-lt"/>
              <a:buAutoNum type="arabicPeriod"/>
            </a:pPr>
            <a:r>
              <a:rPr lang="en-US" dirty="0"/>
              <a:t>container View with flex:1 handles the full screen. </a:t>
            </a:r>
          </a:p>
          <a:p>
            <a:pPr marL="342900" indent="-342900">
              <a:buFont typeface="+mj-lt"/>
              <a:buAutoNum type="arabicPeriod"/>
            </a:pPr>
            <a:r>
              <a:rPr lang="en-US" dirty="0"/>
              <a:t>Buttons on top using </a:t>
            </a:r>
            <a:r>
              <a:rPr lang="en-US" dirty="0" err="1"/>
              <a:t>TouchableOpacity</a:t>
            </a:r>
            <a:r>
              <a:rPr lang="en-US" dirty="0"/>
              <a:t>. </a:t>
            </a:r>
          </a:p>
          <a:p>
            <a:pPr marL="342900" indent="-342900">
              <a:buFont typeface="+mj-lt"/>
              <a:buAutoNum type="arabicPeriod"/>
            </a:pPr>
            <a:r>
              <a:rPr lang="en-US" dirty="0" err="1"/>
              <a:t>MapView</a:t>
            </a:r>
            <a:r>
              <a:rPr lang="en-US" dirty="0"/>
              <a:t> with flex:1 fills the rest. </a:t>
            </a:r>
          </a:p>
          <a:p>
            <a:pPr marL="342900" indent="-342900">
              <a:buFont typeface="+mj-lt"/>
              <a:buAutoNum type="arabicPeriod"/>
            </a:pPr>
            <a:r>
              <a:rPr lang="en-US" dirty="0"/>
              <a:t>Markers go INSIDE the </a:t>
            </a:r>
            <a:r>
              <a:rPr lang="en-US" dirty="0" err="1"/>
              <a:t>MapView</a:t>
            </a:r>
            <a:r>
              <a:rPr lang="en-US" dirty="0"/>
              <a:t> as children — that's how the library knows to place them on the map. </a:t>
            </a:r>
          </a:p>
          <a:p>
            <a:pPr marL="342900" indent="-342900">
              <a:buFont typeface="+mj-lt"/>
              <a:buAutoNum type="arabicPeriod"/>
            </a:pPr>
            <a:r>
              <a:rPr lang="en-US" dirty="0"/>
              <a:t>Note the rename: our data has .</a:t>
            </a:r>
            <a:r>
              <a:rPr lang="en-US" dirty="0" err="1"/>
              <a:t>lat</a:t>
            </a:r>
            <a:r>
              <a:rPr lang="en-US" dirty="0"/>
              <a:t>/.</a:t>
            </a:r>
            <a:r>
              <a:rPr lang="en-US" dirty="0" err="1"/>
              <a:t>lng</a:t>
            </a:r>
            <a:r>
              <a:rPr lang="en-US" dirty="0"/>
              <a:t> but coordinate expects .latitude/.longitude. Map it from our Attraction type.</a:t>
            </a:r>
          </a:p>
          <a:p>
            <a:endParaRPr lang="en-CA" dirty="0"/>
          </a:p>
        </p:txBody>
      </p:sp>
      <p:pic>
        <p:nvPicPr>
          <p:cNvPr id="8" name="Picture 7">
            <a:extLst>
              <a:ext uri="{FF2B5EF4-FFF2-40B4-BE49-F238E27FC236}">
                <a16:creationId xmlns:a16="http://schemas.microsoft.com/office/drawing/2014/main" id="{5DCA8CC4-FE1B-DE6E-CFDC-5155787B1476}"/>
              </a:ext>
            </a:extLst>
          </p:cNvPr>
          <p:cNvPicPr>
            <a:picLocks noChangeAspect="1"/>
          </p:cNvPicPr>
          <p:nvPr/>
        </p:nvPicPr>
        <p:blipFill>
          <a:blip r:embed="rId3"/>
          <a:stretch>
            <a:fillRect/>
          </a:stretch>
        </p:blipFill>
        <p:spPr>
          <a:xfrm>
            <a:off x="6308219" y="3903779"/>
            <a:ext cx="1335902" cy="1188896"/>
          </a:xfrm>
          <a:prstGeom prst="rect">
            <a:avLst/>
          </a:prstGeom>
          <a:ln>
            <a:solidFill>
              <a:schemeClr val="accent2"/>
            </a:solidFill>
          </a:ln>
        </p:spPr>
      </p:pic>
      <p:cxnSp>
        <p:nvCxnSpPr>
          <p:cNvPr id="10" name="Straight Arrow Connector 9">
            <a:extLst>
              <a:ext uri="{FF2B5EF4-FFF2-40B4-BE49-F238E27FC236}">
                <a16:creationId xmlns:a16="http://schemas.microsoft.com/office/drawing/2014/main" id="{D1DE89B2-1C4A-34AC-8130-87D146CFD1E6}"/>
              </a:ext>
            </a:extLst>
          </p:cNvPr>
          <p:cNvCxnSpPr>
            <a:cxnSpLocks/>
            <a:endCxn id="8" idx="1"/>
          </p:cNvCxnSpPr>
          <p:nvPr/>
        </p:nvCxnSpPr>
        <p:spPr>
          <a:xfrm>
            <a:off x="2697151" y="4213476"/>
            <a:ext cx="3611068" cy="28475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3" name="Rectangle 12">
            <a:extLst>
              <a:ext uri="{FF2B5EF4-FFF2-40B4-BE49-F238E27FC236}">
                <a16:creationId xmlns:a16="http://schemas.microsoft.com/office/drawing/2014/main" id="{F0EA9DD0-A94F-2AA8-0DD6-3C75398B204A}"/>
              </a:ext>
            </a:extLst>
          </p:cNvPr>
          <p:cNvSpPr/>
          <p:nvPr/>
        </p:nvSpPr>
        <p:spPr>
          <a:xfrm>
            <a:off x="990052" y="4088486"/>
            <a:ext cx="2953709" cy="13312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12936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3224BD9-0085-2D9F-DA79-547B5EEEE1B8}"/>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cs typeface="Cambria" pitchFamily="34" charset="-120"/>
              </a:rPr>
              <a:t>Core Concept: Markers (continued)</a:t>
            </a:r>
            <a:endParaRPr lang="en-US" dirty="0"/>
          </a:p>
        </p:txBody>
      </p:sp>
      <p:sp>
        <p:nvSpPr>
          <p:cNvPr id="6" name="TextBox 5">
            <a:extLst>
              <a:ext uri="{FF2B5EF4-FFF2-40B4-BE49-F238E27FC236}">
                <a16:creationId xmlns:a16="http://schemas.microsoft.com/office/drawing/2014/main" id="{753299D2-0A91-F99C-5174-CD2770346C90}"/>
              </a:ext>
            </a:extLst>
          </p:cNvPr>
          <p:cNvSpPr txBox="1"/>
          <p:nvPr/>
        </p:nvSpPr>
        <p:spPr>
          <a:xfrm>
            <a:off x="417729" y="822302"/>
            <a:ext cx="8275649" cy="2862322"/>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D1B2A"/>
                </a:solidFill>
                <a:latin typeface="Calibri" pitchFamily="34" charset="0"/>
                <a:ea typeface="Calibri" pitchFamily="34" charset="-122"/>
                <a:cs typeface="Calibri" pitchFamily="34" charset="-120"/>
              </a:rPr>
              <a:t>Markers are child components of </a:t>
            </a:r>
            <a:r>
              <a:rPr lang="en-US" dirty="0" err="1">
                <a:solidFill>
                  <a:srgbClr val="0D1B2A"/>
                </a:solidFill>
                <a:latin typeface="Calibri" pitchFamily="34" charset="0"/>
                <a:ea typeface="Calibri" pitchFamily="34" charset="-122"/>
                <a:cs typeface="Calibri" pitchFamily="34" charset="-120"/>
              </a:rPr>
              <a:t>MapView</a:t>
            </a:r>
            <a:r>
              <a:rPr lang="en-US" dirty="0">
                <a:solidFill>
                  <a:srgbClr val="0D1B2A"/>
                </a:solidFill>
                <a:latin typeface="Calibri" pitchFamily="34" charset="0"/>
                <a:ea typeface="Calibri" pitchFamily="34" charset="-122"/>
                <a:cs typeface="Calibri" pitchFamily="34" charset="-120"/>
              </a:rPr>
              <a:t> placed at a coordinate.</a:t>
            </a:r>
          </a:p>
          <a:p>
            <a:endParaRPr lang="en-US" dirty="0">
              <a:solidFill>
                <a:srgbClr val="0D1B2A"/>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CA" b="1" dirty="0"/>
              <a:t>What is a Marker?</a:t>
            </a:r>
            <a:endParaRPr lang="en-CA" dirty="0"/>
          </a:p>
          <a:p>
            <a:r>
              <a:rPr lang="en-CA" dirty="0"/>
              <a:t>A Marker is a pin that appears on the map at a specific location.</a:t>
            </a:r>
          </a:p>
          <a:p>
            <a:r>
              <a:rPr lang="en-CA" dirty="0"/>
              <a:t>It needs two things:</a:t>
            </a:r>
          </a:p>
          <a:p>
            <a:pPr marL="342900" indent="-342900">
              <a:buAutoNum type="arabicPeriod"/>
            </a:pPr>
            <a:r>
              <a:rPr lang="en-CA" b="1" dirty="0"/>
              <a:t>WHERE to appear</a:t>
            </a:r>
            <a:r>
              <a:rPr lang="en-CA" dirty="0"/>
              <a:t> — the coordinate prop:</a:t>
            </a:r>
          </a:p>
          <a:p>
            <a:pPr marL="342900" indent="-342900">
              <a:buAutoNum type="arabicPeriod"/>
            </a:pPr>
            <a:endParaRPr lang="en-CA" dirty="0"/>
          </a:p>
          <a:p>
            <a:pPr marL="342900" indent="-342900">
              <a:buAutoNum type="arabicPeriod"/>
            </a:pPr>
            <a:endParaRPr lang="en-CA" dirty="0"/>
          </a:p>
          <a:p>
            <a:pPr marL="342900" indent="-342900">
              <a:buAutoNum type="arabicPeriod"/>
            </a:pPr>
            <a:r>
              <a:rPr lang="en-CA" b="1" dirty="0"/>
              <a:t>WHAT it looks like</a:t>
            </a:r>
            <a:r>
              <a:rPr lang="en-CA" dirty="0"/>
              <a:t> — whatever you put inside it:</a:t>
            </a:r>
          </a:p>
          <a:p>
            <a:endParaRPr lang="en-CA" dirty="0"/>
          </a:p>
        </p:txBody>
      </p:sp>
      <p:pic>
        <p:nvPicPr>
          <p:cNvPr id="8" name="Picture 7">
            <a:extLst>
              <a:ext uri="{FF2B5EF4-FFF2-40B4-BE49-F238E27FC236}">
                <a16:creationId xmlns:a16="http://schemas.microsoft.com/office/drawing/2014/main" id="{1CDC24A5-55D9-0338-FC99-FA1C6FC97F6E}"/>
              </a:ext>
            </a:extLst>
          </p:cNvPr>
          <p:cNvPicPr>
            <a:picLocks noChangeAspect="1"/>
          </p:cNvPicPr>
          <p:nvPr/>
        </p:nvPicPr>
        <p:blipFill>
          <a:blip r:embed="rId2"/>
          <a:stretch>
            <a:fillRect/>
          </a:stretch>
        </p:blipFill>
        <p:spPr>
          <a:xfrm>
            <a:off x="180906" y="2627284"/>
            <a:ext cx="5521168" cy="281964"/>
          </a:xfrm>
          <a:prstGeom prst="rect">
            <a:avLst/>
          </a:prstGeom>
          <a:ln>
            <a:solidFill>
              <a:schemeClr val="accent1"/>
            </a:solidFill>
          </a:ln>
        </p:spPr>
      </p:pic>
      <p:pic>
        <p:nvPicPr>
          <p:cNvPr id="10" name="Picture 9">
            <a:extLst>
              <a:ext uri="{FF2B5EF4-FFF2-40B4-BE49-F238E27FC236}">
                <a16:creationId xmlns:a16="http://schemas.microsoft.com/office/drawing/2014/main" id="{206A6A4B-BDF0-717F-482E-CEDCE212F465}"/>
              </a:ext>
            </a:extLst>
          </p:cNvPr>
          <p:cNvPicPr>
            <a:picLocks noChangeAspect="1"/>
          </p:cNvPicPr>
          <p:nvPr/>
        </p:nvPicPr>
        <p:blipFill>
          <a:blip r:embed="rId3"/>
          <a:stretch>
            <a:fillRect/>
          </a:stretch>
        </p:blipFill>
        <p:spPr>
          <a:xfrm>
            <a:off x="180906" y="3415810"/>
            <a:ext cx="5654530" cy="1627011"/>
          </a:xfrm>
          <a:prstGeom prst="rect">
            <a:avLst/>
          </a:prstGeom>
          <a:ln>
            <a:solidFill>
              <a:schemeClr val="accent1"/>
            </a:solidFill>
          </a:ln>
        </p:spPr>
      </p:pic>
      <p:sp>
        <p:nvSpPr>
          <p:cNvPr id="12" name="TextBox 11">
            <a:extLst>
              <a:ext uri="{FF2B5EF4-FFF2-40B4-BE49-F238E27FC236}">
                <a16:creationId xmlns:a16="http://schemas.microsoft.com/office/drawing/2014/main" id="{0F493CFD-77EA-4BC4-28A0-895B0AADDEE7}"/>
              </a:ext>
            </a:extLst>
          </p:cNvPr>
          <p:cNvSpPr txBox="1"/>
          <p:nvPr/>
        </p:nvSpPr>
        <p:spPr>
          <a:xfrm>
            <a:off x="5940311" y="3410843"/>
            <a:ext cx="3111592" cy="1077218"/>
          </a:xfrm>
          <a:prstGeom prst="rect">
            <a:avLst/>
          </a:prstGeom>
          <a:noFill/>
          <a:ln>
            <a:solidFill>
              <a:srgbClr val="FF0000"/>
            </a:solidFill>
          </a:ln>
        </p:spPr>
        <p:txBody>
          <a:bodyPr wrap="square">
            <a:spAutoFit/>
          </a:bodyPr>
          <a:lstStyle/>
          <a:p>
            <a:pPr>
              <a:buNone/>
            </a:pPr>
            <a:r>
              <a:rPr lang="en-CA" sz="1600" b="1" dirty="0">
                <a:effectLst/>
              </a:rPr>
              <a:t>One rule</a:t>
            </a:r>
            <a:r>
              <a:rPr lang="en-CA" sz="1600" dirty="0">
                <a:effectLst/>
              </a:rPr>
              <a:t> — Markers must always go INSIDE </a:t>
            </a:r>
            <a:r>
              <a:rPr lang="en-CA" sz="1600" dirty="0">
                <a:effectLst/>
                <a:latin typeface="Courier New" panose="02070309020205020404" pitchFamily="49" charset="0"/>
              </a:rPr>
              <a:t>&lt;</a:t>
            </a:r>
            <a:r>
              <a:rPr lang="en-CA" sz="1600" dirty="0" err="1">
                <a:effectLst/>
                <a:latin typeface="Courier New" panose="02070309020205020404" pitchFamily="49" charset="0"/>
              </a:rPr>
              <a:t>MapView</a:t>
            </a:r>
            <a:r>
              <a:rPr lang="en-CA" sz="1600" dirty="0">
                <a:effectLst/>
                <a:latin typeface="Courier New" panose="02070309020205020404" pitchFamily="49" charset="0"/>
              </a:rPr>
              <a:t>&gt;</a:t>
            </a:r>
            <a:r>
              <a:rPr lang="en-CA" sz="1600" dirty="0">
                <a:effectLst/>
              </a:rPr>
              <a:t> so the library knows to place them on the map.</a:t>
            </a:r>
          </a:p>
        </p:txBody>
      </p:sp>
      <p:pic>
        <p:nvPicPr>
          <p:cNvPr id="4" name="Picture 3">
            <a:extLst>
              <a:ext uri="{FF2B5EF4-FFF2-40B4-BE49-F238E27FC236}">
                <a16:creationId xmlns:a16="http://schemas.microsoft.com/office/drawing/2014/main" id="{F25D43E1-E624-1FD1-8A0A-577607F464C3}"/>
              </a:ext>
            </a:extLst>
          </p:cNvPr>
          <p:cNvPicPr>
            <a:picLocks noChangeAspect="1"/>
          </p:cNvPicPr>
          <p:nvPr/>
        </p:nvPicPr>
        <p:blipFill>
          <a:blip r:embed="rId4"/>
          <a:stretch>
            <a:fillRect/>
          </a:stretch>
        </p:blipFill>
        <p:spPr>
          <a:xfrm>
            <a:off x="3461524" y="3495087"/>
            <a:ext cx="549656" cy="379073"/>
          </a:xfrm>
          <a:prstGeom prst="rect">
            <a:avLst/>
          </a:prstGeom>
        </p:spPr>
      </p:pic>
      <p:pic>
        <p:nvPicPr>
          <p:cNvPr id="7" name="Picture 6">
            <a:extLst>
              <a:ext uri="{FF2B5EF4-FFF2-40B4-BE49-F238E27FC236}">
                <a16:creationId xmlns:a16="http://schemas.microsoft.com/office/drawing/2014/main" id="{66F58197-1355-B840-721A-7A671AD7ED3B}"/>
              </a:ext>
            </a:extLst>
          </p:cNvPr>
          <p:cNvPicPr>
            <a:picLocks noChangeAspect="1"/>
          </p:cNvPicPr>
          <p:nvPr/>
        </p:nvPicPr>
        <p:blipFill>
          <a:blip r:embed="rId5"/>
          <a:stretch>
            <a:fillRect/>
          </a:stretch>
        </p:blipFill>
        <p:spPr>
          <a:xfrm>
            <a:off x="3461524" y="4048548"/>
            <a:ext cx="469676" cy="439513"/>
          </a:xfrm>
          <a:prstGeom prst="rect">
            <a:avLst/>
          </a:prstGeom>
        </p:spPr>
      </p:pic>
    </p:spTree>
    <p:extLst>
      <p:ext uri="{BB962C8B-B14F-4D97-AF65-F5344CB8AC3E}">
        <p14:creationId xmlns:p14="http://schemas.microsoft.com/office/powerpoint/2010/main" val="3693374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6B00B108-5C8F-0546-EAE9-04F76B56DAF2}"/>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F5DE76EF-7EA5-F3F7-2AC8-FB5AC99AD183}"/>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cs typeface="Cambria" pitchFamily="34" charset="-120"/>
              </a:rPr>
              <a:t>Core Concept: Markers (continued)</a:t>
            </a:r>
            <a:endParaRPr lang="en-US" dirty="0"/>
          </a:p>
        </p:txBody>
      </p:sp>
      <p:sp>
        <p:nvSpPr>
          <p:cNvPr id="2" name="TextBox 1">
            <a:extLst>
              <a:ext uri="{FF2B5EF4-FFF2-40B4-BE49-F238E27FC236}">
                <a16:creationId xmlns:a16="http://schemas.microsoft.com/office/drawing/2014/main" id="{038AE173-7C48-F752-0DDE-24296FA7C9E6}"/>
              </a:ext>
            </a:extLst>
          </p:cNvPr>
          <p:cNvSpPr txBox="1"/>
          <p:nvPr/>
        </p:nvSpPr>
        <p:spPr>
          <a:xfrm>
            <a:off x="430200" y="2668434"/>
            <a:ext cx="8283600" cy="646331"/>
          </a:xfrm>
          <a:prstGeom prst="rect">
            <a:avLst/>
          </a:prstGeom>
          <a:noFill/>
        </p:spPr>
        <p:txBody>
          <a:bodyPr wrap="square" rtlCol="0">
            <a:spAutoFit/>
          </a:bodyPr>
          <a:lstStyle/>
          <a:p>
            <a:r>
              <a:rPr lang="en-CA" b="1" dirty="0"/>
              <a:t>In our project</a:t>
            </a:r>
            <a:r>
              <a:rPr lang="en-CA" dirty="0"/>
              <a:t> — markers come from state. Every attraction in </a:t>
            </a:r>
            <a:r>
              <a:rPr lang="en-CA" dirty="0" err="1"/>
              <a:t>markerList</a:t>
            </a:r>
            <a:r>
              <a:rPr lang="en-CA" dirty="0"/>
              <a:t> gets its own pin.</a:t>
            </a:r>
          </a:p>
        </p:txBody>
      </p:sp>
      <p:pic>
        <p:nvPicPr>
          <p:cNvPr id="5" name="Picture 4">
            <a:extLst>
              <a:ext uri="{FF2B5EF4-FFF2-40B4-BE49-F238E27FC236}">
                <a16:creationId xmlns:a16="http://schemas.microsoft.com/office/drawing/2014/main" id="{CE91B3F1-D771-3F4A-C27A-B43855943524}"/>
              </a:ext>
            </a:extLst>
          </p:cNvPr>
          <p:cNvPicPr>
            <a:picLocks noChangeAspect="1"/>
          </p:cNvPicPr>
          <p:nvPr/>
        </p:nvPicPr>
        <p:blipFill>
          <a:blip r:embed="rId2"/>
          <a:stretch>
            <a:fillRect/>
          </a:stretch>
        </p:blipFill>
        <p:spPr>
          <a:xfrm>
            <a:off x="66876" y="3470357"/>
            <a:ext cx="5403048" cy="1466977"/>
          </a:xfrm>
          <a:prstGeom prst="rect">
            <a:avLst/>
          </a:prstGeom>
          <a:ln>
            <a:solidFill>
              <a:schemeClr val="accent1"/>
            </a:solidFill>
          </a:ln>
        </p:spPr>
      </p:pic>
      <p:pic>
        <p:nvPicPr>
          <p:cNvPr id="9" name="Picture 8">
            <a:extLst>
              <a:ext uri="{FF2B5EF4-FFF2-40B4-BE49-F238E27FC236}">
                <a16:creationId xmlns:a16="http://schemas.microsoft.com/office/drawing/2014/main" id="{9762B53F-737C-E645-F42D-9AC1894B9E08}"/>
              </a:ext>
            </a:extLst>
          </p:cNvPr>
          <p:cNvPicPr>
            <a:picLocks noChangeAspect="1"/>
          </p:cNvPicPr>
          <p:nvPr/>
        </p:nvPicPr>
        <p:blipFill>
          <a:blip r:embed="rId3"/>
          <a:stretch>
            <a:fillRect/>
          </a:stretch>
        </p:blipFill>
        <p:spPr>
          <a:xfrm>
            <a:off x="118800" y="1422367"/>
            <a:ext cx="5056308" cy="1276461"/>
          </a:xfrm>
          <a:prstGeom prst="rect">
            <a:avLst/>
          </a:prstGeom>
          <a:ln>
            <a:solidFill>
              <a:schemeClr val="accent1"/>
            </a:solidFill>
          </a:ln>
        </p:spPr>
      </p:pic>
      <p:sp>
        <p:nvSpPr>
          <p:cNvPr id="13" name="TextBox 12">
            <a:extLst>
              <a:ext uri="{FF2B5EF4-FFF2-40B4-BE49-F238E27FC236}">
                <a16:creationId xmlns:a16="http://schemas.microsoft.com/office/drawing/2014/main" id="{508D96E7-096D-28DE-7ED4-437C6E8CA038}"/>
              </a:ext>
            </a:extLst>
          </p:cNvPr>
          <p:cNvSpPr txBox="1"/>
          <p:nvPr/>
        </p:nvSpPr>
        <p:spPr>
          <a:xfrm>
            <a:off x="484476" y="775988"/>
            <a:ext cx="8283600" cy="646331"/>
          </a:xfrm>
          <a:prstGeom prst="rect">
            <a:avLst/>
          </a:prstGeom>
          <a:noFill/>
        </p:spPr>
        <p:txBody>
          <a:bodyPr wrap="square" rtlCol="0">
            <a:spAutoFit/>
          </a:bodyPr>
          <a:lstStyle/>
          <a:p>
            <a:r>
              <a:rPr lang="en-CA" b="1" dirty="0"/>
              <a:t>Basic Marker- </a:t>
            </a:r>
            <a:r>
              <a:rPr lang="en-CA" dirty="0"/>
              <a:t>This is the simplest way to use a marker — default red pin, with a title and description popup when tapped. </a:t>
            </a:r>
          </a:p>
        </p:txBody>
      </p:sp>
    </p:spTree>
    <p:extLst>
      <p:ext uri="{BB962C8B-B14F-4D97-AF65-F5344CB8AC3E}">
        <p14:creationId xmlns:p14="http://schemas.microsoft.com/office/powerpoint/2010/main" val="334174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FCC93DF1-4B91-22EC-CD4B-CD94C16E8C60}"/>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E465CFDA-BDD0-9714-A5DB-07FB3EB8791E}"/>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cs typeface="Cambria" pitchFamily="34" charset="-120"/>
              </a:rPr>
              <a:t>Core Concept: Markers (continued)</a:t>
            </a:r>
            <a:endParaRPr lang="en-US" dirty="0"/>
          </a:p>
        </p:txBody>
      </p:sp>
      <p:pic>
        <p:nvPicPr>
          <p:cNvPr id="5" name="Picture 4">
            <a:extLst>
              <a:ext uri="{FF2B5EF4-FFF2-40B4-BE49-F238E27FC236}">
                <a16:creationId xmlns:a16="http://schemas.microsoft.com/office/drawing/2014/main" id="{032C4805-E916-530F-8923-03A115A0BD16}"/>
              </a:ext>
            </a:extLst>
          </p:cNvPr>
          <p:cNvPicPr>
            <a:picLocks noChangeAspect="1"/>
          </p:cNvPicPr>
          <p:nvPr/>
        </p:nvPicPr>
        <p:blipFill>
          <a:blip r:embed="rId2"/>
          <a:stretch>
            <a:fillRect/>
          </a:stretch>
        </p:blipFill>
        <p:spPr>
          <a:xfrm>
            <a:off x="336876" y="834962"/>
            <a:ext cx="4353924" cy="1182130"/>
          </a:xfrm>
          <a:prstGeom prst="rect">
            <a:avLst/>
          </a:prstGeom>
          <a:ln>
            <a:solidFill>
              <a:schemeClr val="accent1"/>
            </a:solidFill>
          </a:ln>
        </p:spPr>
      </p:pic>
      <p:sp>
        <p:nvSpPr>
          <p:cNvPr id="14" name="TextBox 13">
            <a:extLst>
              <a:ext uri="{FF2B5EF4-FFF2-40B4-BE49-F238E27FC236}">
                <a16:creationId xmlns:a16="http://schemas.microsoft.com/office/drawing/2014/main" id="{BE3ECFF4-C67E-338F-D59C-A72F4D2650DF}"/>
              </a:ext>
            </a:extLst>
          </p:cNvPr>
          <p:cNvSpPr txBox="1"/>
          <p:nvPr/>
        </p:nvSpPr>
        <p:spPr>
          <a:xfrm>
            <a:off x="4780800" y="841251"/>
            <a:ext cx="3997440" cy="1169551"/>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400" dirty="0" err="1"/>
              <a:t>markerList</a:t>
            </a:r>
            <a:r>
              <a:rPr lang="en-CA" sz="1400" dirty="0"/>
              <a:t> is our state array.</a:t>
            </a:r>
          </a:p>
          <a:p>
            <a:pPr marL="285750" indent="-285750">
              <a:buFont typeface="Arial" panose="020B0604020202020204" pitchFamily="34" charset="0"/>
              <a:buChar char="•"/>
            </a:pPr>
            <a:r>
              <a:rPr lang="en-CA" sz="1400" dirty="0"/>
              <a:t>Every time you tap Add Marker, a new attraction gets added to it. </a:t>
            </a:r>
          </a:p>
          <a:p>
            <a:pPr marL="285750" indent="-285750">
              <a:buFont typeface="Arial" panose="020B0604020202020204" pitchFamily="34" charset="0"/>
              <a:buChar char="•"/>
            </a:pPr>
            <a:r>
              <a:rPr lang="en-CA" sz="1400" dirty="0"/>
              <a:t>This .map() loops through that array and creates one &lt;Marker&gt; for each item.</a:t>
            </a:r>
          </a:p>
        </p:txBody>
      </p:sp>
      <p:pic>
        <p:nvPicPr>
          <p:cNvPr id="6" name="Picture 5">
            <a:extLst>
              <a:ext uri="{FF2B5EF4-FFF2-40B4-BE49-F238E27FC236}">
                <a16:creationId xmlns:a16="http://schemas.microsoft.com/office/drawing/2014/main" id="{391D425B-9AF2-F81D-2CA9-6C847D21FD60}"/>
              </a:ext>
            </a:extLst>
          </p:cNvPr>
          <p:cNvPicPr>
            <a:picLocks noChangeAspect="1"/>
          </p:cNvPicPr>
          <p:nvPr/>
        </p:nvPicPr>
        <p:blipFill>
          <a:blip r:embed="rId3"/>
          <a:stretch>
            <a:fillRect/>
          </a:stretch>
        </p:blipFill>
        <p:spPr>
          <a:xfrm>
            <a:off x="336876" y="2156963"/>
            <a:ext cx="3250212" cy="323878"/>
          </a:xfrm>
          <a:prstGeom prst="rect">
            <a:avLst/>
          </a:prstGeom>
          <a:ln>
            <a:solidFill>
              <a:schemeClr val="accent1"/>
            </a:solidFill>
          </a:ln>
        </p:spPr>
      </p:pic>
      <p:sp>
        <p:nvSpPr>
          <p:cNvPr id="7" name="TextBox 6">
            <a:extLst>
              <a:ext uri="{FF2B5EF4-FFF2-40B4-BE49-F238E27FC236}">
                <a16:creationId xmlns:a16="http://schemas.microsoft.com/office/drawing/2014/main" id="{4E217A47-01CC-BF9D-CAFB-8236AAFD29A3}"/>
              </a:ext>
            </a:extLst>
          </p:cNvPr>
          <p:cNvSpPr txBox="1"/>
          <p:nvPr/>
        </p:nvSpPr>
        <p:spPr>
          <a:xfrm>
            <a:off x="3648372" y="2144967"/>
            <a:ext cx="5191152" cy="954107"/>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400" dirty="0"/>
              <a:t>location → represents </a:t>
            </a:r>
            <a:r>
              <a:rPr lang="en-CA" sz="1400" b="1" dirty="0"/>
              <a:t>one attraction</a:t>
            </a:r>
            <a:r>
              <a:rPr lang="en-CA" sz="1400" dirty="0"/>
              <a:t> from the list on each loop. It's a custom name we chose — we could have called it anything like item or attraction </a:t>
            </a:r>
          </a:p>
          <a:p>
            <a:pPr marL="285750" indent="-285750">
              <a:buFont typeface="Arial" panose="020B0604020202020204" pitchFamily="34" charset="0"/>
              <a:buChar char="•"/>
            </a:pPr>
            <a:r>
              <a:rPr lang="en-CA" sz="1400" dirty="0"/>
              <a:t>index → the position number (0, 1, 2...) used for the key</a:t>
            </a:r>
          </a:p>
        </p:txBody>
      </p:sp>
      <p:pic>
        <p:nvPicPr>
          <p:cNvPr id="10" name="Picture 9">
            <a:extLst>
              <a:ext uri="{FF2B5EF4-FFF2-40B4-BE49-F238E27FC236}">
                <a16:creationId xmlns:a16="http://schemas.microsoft.com/office/drawing/2014/main" id="{D530829F-9E68-540D-BBF9-E7C13D8EEFEC}"/>
              </a:ext>
            </a:extLst>
          </p:cNvPr>
          <p:cNvPicPr>
            <a:picLocks noChangeAspect="1"/>
          </p:cNvPicPr>
          <p:nvPr/>
        </p:nvPicPr>
        <p:blipFill>
          <a:blip r:embed="rId4"/>
          <a:stretch>
            <a:fillRect/>
          </a:stretch>
        </p:blipFill>
        <p:spPr>
          <a:xfrm>
            <a:off x="81360" y="3424249"/>
            <a:ext cx="5220152" cy="285775"/>
          </a:xfrm>
          <a:prstGeom prst="rect">
            <a:avLst/>
          </a:prstGeom>
          <a:ln>
            <a:solidFill>
              <a:schemeClr val="accent1"/>
            </a:solidFill>
          </a:ln>
        </p:spPr>
      </p:pic>
      <p:sp>
        <p:nvSpPr>
          <p:cNvPr id="11" name="TextBox 10">
            <a:extLst>
              <a:ext uri="{FF2B5EF4-FFF2-40B4-BE49-F238E27FC236}">
                <a16:creationId xmlns:a16="http://schemas.microsoft.com/office/drawing/2014/main" id="{2FB331E5-9CFD-A950-6207-A586B07D0A09}"/>
              </a:ext>
            </a:extLst>
          </p:cNvPr>
          <p:cNvSpPr txBox="1"/>
          <p:nvPr/>
        </p:nvSpPr>
        <p:spPr>
          <a:xfrm>
            <a:off x="24528" y="3832102"/>
            <a:ext cx="8753712" cy="1169551"/>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400" dirty="0" err="1"/>
              <a:t>location.lat</a:t>
            </a:r>
            <a:r>
              <a:rPr lang="en-CA" sz="1400" dirty="0"/>
              <a:t> → the </a:t>
            </a:r>
            <a:r>
              <a:rPr lang="en-CA" sz="1400" dirty="0" err="1"/>
              <a:t>lat</a:t>
            </a:r>
            <a:r>
              <a:rPr lang="en-CA" sz="1400" dirty="0"/>
              <a:t> field from our Attraction type</a:t>
            </a:r>
          </a:p>
          <a:p>
            <a:pPr marL="285750" indent="-285750">
              <a:buFont typeface="Arial" panose="020B0604020202020204" pitchFamily="34" charset="0"/>
              <a:buChar char="•"/>
            </a:pPr>
            <a:r>
              <a:rPr lang="en-CA" sz="1400" dirty="0" err="1"/>
              <a:t>location.lng</a:t>
            </a:r>
            <a:r>
              <a:rPr lang="en-CA" sz="1400" dirty="0"/>
              <a:t> → the </a:t>
            </a:r>
            <a:r>
              <a:rPr lang="en-CA" sz="1400" dirty="0" err="1"/>
              <a:t>lng</a:t>
            </a:r>
            <a:r>
              <a:rPr lang="en-CA" sz="1400" dirty="0"/>
              <a:t> field from our Attraction type</a:t>
            </a:r>
          </a:p>
          <a:p>
            <a:pPr marL="285750" indent="-285750">
              <a:buFont typeface="Arial" panose="020B0604020202020204" pitchFamily="34" charset="0"/>
              <a:buChar char="•"/>
            </a:pPr>
            <a:r>
              <a:rPr lang="en-CA" sz="1400" dirty="0"/>
              <a:t>But coordinate expects latitude and longitude — so we have to rename them here</a:t>
            </a:r>
          </a:p>
          <a:p>
            <a:pPr marL="285750" indent="-285750">
              <a:buFont typeface="Arial" panose="020B0604020202020204" pitchFamily="34" charset="0"/>
              <a:buChar char="•"/>
            </a:pPr>
            <a:r>
              <a:rPr lang="en-CA" sz="1400" dirty="0"/>
              <a:t>This is why we write latitude: </a:t>
            </a:r>
            <a:r>
              <a:rPr lang="en-CA" sz="1400" dirty="0" err="1"/>
              <a:t>location.lat</a:t>
            </a:r>
            <a:r>
              <a:rPr lang="en-CA" sz="1400" dirty="0"/>
              <a:t> — we're taking our .</a:t>
            </a:r>
            <a:r>
              <a:rPr lang="en-CA" sz="1400" dirty="0" err="1"/>
              <a:t>lat</a:t>
            </a:r>
            <a:r>
              <a:rPr lang="en-CA" sz="1400" dirty="0"/>
              <a:t> value and passing it as latitude which is what Marker requires.</a:t>
            </a:r>
          </a:p>
        </p:txBody>
      </p:sp>
    </p:spTree>
    <p:extLst>
      <p:ext uri="{BB962C8B-B14F-4D97-AF65-F5344CB8AC3E}">
        <p14:creationId xmlns:p14="http://schemas.microsoft.com/office/powerpoint/2010/main" val="7027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848ED76-9480-7425-3470-3EF64A49169D}"/>
              </a:ext>
            </a:extLst>
          </p:cNvPr>
          <p:cNvSpPr/>
          <p:nvPr/>
        </p:nvSpPr>
        <p:spPr>
          <a:xfrm>
            <a:off x="365760" y="226461"/>
            <a:ext cx="8412480" cy="566928"/>
          </a:xfrm>
          <a:prstGeom prst="roundRect">
            <a:avLst>
              <a:gd name="adj" fmla="val 12903"/>
            </a:avLst>
          </a:prstGeom>
          <a:solidFill>
            <a:srgbClr val="0D1B2A"/>
          </a:solidFill>
          <a:ln/>
        </p:spPr>
        <p:txBody>
          <a:bodyPr/>
          <a:lstStyle/>
          <a:p>
            <a:r>
              <a:rPr lang="en-CA" sz="2200" b="1" dirty="0">
                <a:solidFill>
                  <a:srgbClr val="FFFFFF"/>
                </a:solidFill>
                <a:latin typeface="Cambria" pitchFamily="34" charset="0"/>
                <a:ea typeface="Cambria" pitchFamily="34" charset="-122"/>
              </a:rPr>
              <a:t>Step 9: </a:t>
            </a:r>
            <a:r>
              <a:rPr lang="en-CA" sz="2200" b="1" dirty="0" err="1">
                <a:solidFill>
                  <a:srgbClr val="FFFFFF"/>
                </a:solidFill>
                <a:latin typeface="Cambria" pitchFamily="34" charset="0"/>
                <a:ea typeface="Cambria" pitchFamily="34" charset="-122"/>
              </a:rPr>
              <a:t>StyleSheet</a:t>
            </a:r>
            <a:endParaRPr lang="en-CA" sz="2200" b="1" dirty="0">
              <a:solidFill>
                <a:srgbClr val="FFFFFF"/>
              </a:solidFill>
              <a:latin typeface="Cambria" pitchFamily="34" charset="0"/>
              <a:ea typeface="Cambria" pitchFamily="34" charset="-122"/>
            </a:endParaRPr>
          </a:p>
        </p:txBody>
      </p:sp>
      <p:pic>
        <p:nvPicPr>
          <p:cNvPr id="5" name="Picture 4">
            <a:extLst>
              <a:ext uri="{FF2B5EF4-FFF2-40B4-BE49-F238E27FC236}">
                <a16:creationId xmlns:a16="http://schemas.microsoft.com/office/drawing/2014/main" id="{BC87B76C-49B3-E7B1-57C9-42B6E2BC273F}"/>
              </a:ext>
            </a:extLst>
          </p:cNvPr>
          <p:cNvPicPr>
            <a:picLocks noChangeAspect="1"/>
          </p:cNvPicPr>
          <p:nvPr/>
        </p:nvPicPr>
        <p:blipFill>
          <a:blip r:embed="rId3"/>
          <a:stretch>
            <a:fillRect/>
          </a:stretch>
        </p:blipFill>
        <p:spPr>
          <a:xfrm>
            <a:off x="267992" y="913045"/>
            <a:ext cx="3680779" cy="4054191"/>
          </a:xfrm>
          <a:prstGeom prst="rect">
            <a:avLst/>
          </a:prstGeom>
          <a:ln>
            <a:solidFill>
              <a:schemeClr val="accent1"/>
            </a:solidFill>
          </a:ln>
        </p:spPr>
      </p:pic>
      <p:sp>
        <p:nvSpPr>
          <p:cNvPr id="13" name="Shape 4">
            <a:extLst>
              <a:ext uri="{FF2B5EF4-FFF2-40B4-BE49-F238E27FC236}">
                <a16:creationId xmlns:a16="http://schemas.microsoft.com/office/drawing/2014/main" id="{CC9626DB-D666-9432-A3F3-B34234709E72}"/>
              </a:ext>
            </a:extLst>
          </p:cNvPr>
          <p:cNvSpPr/>
          <p:nvPr/>
        </p:nvSpPr>
        <p:spPr>
          <a:xfrm>
            <a:off x="4900265" y="868680"/>
            <a:ext cx="3200400" cy="1261872"/>
          </a:xfrm>
          <a:prstGeom prst="roundRect">
            <a:avLst>
              <a:gd name="adj" fmla="val 724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5" name="Text 5">
            <a:extLst>
              <a:ext uri="{FF2B5EF4-FFF2-40B4-BE49-F238E27FC236}">
                <a16:creationId xmlns:a16="http://schemas.microsoft.com/office/drawing/2014/main" id="{2FCF2E41-EDEA-2020-C1BD-C80F4201D220}"/>
              </a:ext>
            </a:extLst>
          </p:cNvPr>
          <p:cNvSpPr/>
          <p:nvPr/>
        </p:nvSpPr>
        <p:spPr>
          <a:xfrm>
            <a:off x="5009993" y="960120"/>
            <a:ext cx="2926080" cy="310896"/>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container: flex 1</a:t>
            </a:r>
            <a:endParaRPr lang="en-US" sz="1100" dirty="0"/>
          </a:p>
        </p:txBody>
      </p:sp>
      <p:sp>
        <p:nvSpPr>
          <p:cNvPr id="17" name="Text 6">
            <a:extLst>
              <a:ext uri="{FF2B5EF4-FFF2-40B4-BE49-F238E27FC236}">
                <a16:creationId xmlns:a16="http://schemas.microsoft.com/office/drawing/2014/main" id="{48326C8D-3263-C652-76D2-D4B994125822}"/>
              </a:ext>
            </a:extLst>
          </p:cNvPr>
          <p:cNvSpPr/>
          <p:nvPr/>
        </p:nvSpPr>
        <p:spPr>
          <a:xfrm>
            <a:off x="5009993" y="1325880"/>
            <a:ext cx="2944368" cy="7132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Makes the screen fill the full height. </a:t>
            </a:r>
          </a:p>
          <a:p>
            <a:pPr marL="0" indent="0">
              <a:buNone/>
            </a:pPr>
            <a:r>
              <a:rPr lang="en-US" sz="1100" dirty="0">
                <a:solidFill>
                  <a:srgbClr val="64748B"/>
                </a:solidFill>
                <a:latin typeface="Calibri" pitchFamily="34" charset="0"/>
                <a:ea typeface="Calibri" pitchFamily="34" charset="-122"/>
                <a:cs typeface="Calibri" pitchFamily="34" charset="-120"/>
              </a:rPr>
              <a:t>padding: 20 gives breathing room around buttons.</a:t>
            </a:r>
            <a:endParaRPr lang="en-US" sz="1100" dirty="0"/>
          </a:p>
        </p:txBody>
      </p:sp>
      <p:sp>
        <p:nvSpPr>
          <p:cNvPr id="19" name="Shape 7">
            <a:extLst>
              <a:ext uri="{FF2B5EF4-FFF2-40B4-BE49-F238E27FC236}">
                <a16:creationId xmlns:a16="http://schemas.microsoft.com/office/drawing/2014/main" id="{ABB32613-903B-3EA5-8524-8C324836280B}"/>
              </a:ext>
            </a:extLst>
          </p:cNvPr>
          <p:cNvSpPr/>
          <p:nvPr/>
        </p:nvSpPr>
        <p:spPr>
          <a:xfrm>
            <a:off x="4900265" y="2313432"/>
            <a:ext cx="3200400" cy="1261872"/>
          </a:xfrm>
          <a:prstGeom prst="roundRect">
            <a:avLst>
              <a:gd name="adj" fmla="val 724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1" name="Text 8">
            <a:extLst>
              <a:ext uri="{FF2B5EF4-FFF2-40B4-BE49-F238E27FC236}">
                <a16:creationId xmlns:a16="http://schemas.microsoft.com/office/drawing/2014/main" id="{0104C217-E11C-E58A-7796-8F6C2AC3E530}"/>
              </a:ext>
            </a:extLst>
          </p:cNvPr>
          <p:cNvSpPr/>
          <p:nvPr/>
        </p:nvSpPr>
        <p:spPr>
          <a:xfrm>
            <a:off x="5009993" y="2404872"/>
            <a:ext cx="2926080" cy="310896"/>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buttonStyle</a:t>
            </a:r>
            <a:endParaRPr lang="en-US" sz="1100" dirty="0"/>
          </a:p>
        </p:txBody>
      </p:sp>
      <p:sp>
        <p:nvSpPr>
          <p:cNvPr id="23" name="Text 9">
            <a:extLst>
              <a:ext uri="{FF2B5EF4-FFF2-40B4-BE49-F238E27FC236}">
                <a16:creationId xmlns:a16="http://schemas.microsoft.com/office/drawing/2014/main" id="{BC2D97CC-5F37-F2C6-DFD1-1BC5D7590A19}"/>
              </a:ext>
            </a:extLst>
          </p:cNvPr>
          <p:cNvSpPr/>
          <p:nvPr/>
        </p:nvSpPr>
        <p:spPr>
          <a:xfrm>
            <a:off x="5009993" y="2770632"/>
            <a:ext cx="2944368" cy="7132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marginVertical spaces buttons apart. </a:t>
            </a:r>
          </a:p>
          <a:p>
            <a:pPr marL="0" indent="0">
              <a:buNone/>
            </a:pPr>
            <a:r>
              <a:rPr lang="en-US" sz="1100" dirty="0" err="1">
                <a:solidFill>
                  <a:srgbClr val="64748B"/>
                </a:solidFill>
                <a:latin typeface="Calibri" pitchFamily="34" charset="0"/>
                <a:ea typeface="Calibri" pitchFamily="34" charset="-122"/>
                <a:cs typeface="Calibri" pitchFamily="34" charset="-120"/>
              </a:rPr>
              <a:t>rgba</a:t>
            </a:r>
            <a:r>
              <a:rPr lang="en-US" sz="1100" dirty="0">
                <a:solidFill>
                  <a:srgbClr val="64748B"/>
                </a:solidFill>
                <a:latin typeface="Calibri" pitchFamily="34" charset="0"/>
                <a:ea typeface="Calibri" pitchFamily="34" charset="-122"/>
                <a:cs typeface="Calibri" pitchFamily="34" charset="-120"/>
              </a:rPr>
              <a:t>() for a semi-transparent red background.</a:t>
            </a:r>
            <a:endParaRPr lang="en-US" sz="1100" dirty="0"/>
          </a:p>
        </p:txBody>
      </p:sp>
      <p:sp>
        <p:nvSpPr>
          <p:cNvPr id="25" name="Shape 10">
            <a:extLst>
              <a:ext uri="{FF2B5EF4-FFF2-40B4-BE49-F238E27FC236}">
                <a16:creationId xmlns:a16="http://schemas.microsoft.com/office/drawing/2014/main" id="{7B9F372B-A83C-5CEC-212B-B6A221608362}"/>
              </a:ext>
            </a:extLst>
          </p:cNvPr>
          <p:cNvSpPr/>
          <p:nvPr/>
        </p:nvSpPr>
        <p:spPr>
          <a:xfrm>
            <a:off x="4900265" y="3758184"/>
            <a:ext cx="3200400" cy="1261872"/>
          </a:xfrm>
          <a:prstGeom prst="roundRect">
            <a:avLst>
              <a:gd name="adj" fmla="val 724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7" name="Text 11">
            <a:extLst>
              <a:ext uri="{FF2B5EF4-FFF2-40B4-BE49-F238E27FC236}">
                <a16:creationId xmlns:a16="http://schemas.microsoft.com/office/drawing/2014/main" id="{050F2779-FCBA-481E-2691-29866605F655}"/>
              </a:ext>
            </a:extLst>
          </p:cNvPr>
          <p:cNvSpPr/>
          <p:nvPr/>
        </p:nvSpPr>
        <p:spPr>
          <a:xfrm>
            <a:off x="5009993" y="3849624"/>
            <a:ext cx="2926080" cy="310896"/>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buttonText</a:t>
            </a:r>
            <a:endParaRPr lang="en-US" sz="1100" dirty="0"/>
          </a:p>
        </p:txBody>
      </p:sp>
      <p:sp>
        <p:nvSpPr>
          <p:cNvPr id="29" name="Text 12">
            <a:extLst>
              <a:ext uri="{FF2B5EF4-FFF2-40B4-BE49-F238E27FC236}">
                <a16:creationId xmlns:a16="http://schemas.microsoft.com/office/drawing/2014/main" id="{6433D41C-4E82-B309-598C-56EB4ACEF3BC}"/>
              </a:ext>
            </a:extLst>
          </p:cNvPr>
          <p:cNvSpPr/>
          <p:nvPr/>
        </p:nvSpPr>
        <p:spPr>
          <a:xfrm>
            <a:off x="5009993" y="4215384"/>
            <a:ext cx="2944368" cy="7132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fontWeight '700' = bold. </a:t>
            </a:r>
          </a:p>
          <a:p>
            <a:pPr marL="0" indent="0">
              <a:buNone/>
            </a:pPr>
            <a:r>
              <a:rPr lang="en-US" sz="1100" dirty="0">
                <a:solidFill>
                  <a:srgbClr val="64748B"/>
                </a:solidFill>
                <a:latin typeface="Calibri" pitchFamily="34" charset="0"/>
                <a:ea typeface="Calibri" pitchFamily="34" charset="-122"/>
                <a:cs typeface="Calibri" pitchFamily="34" charset="-120"/>
              </a:rPr>
              <a:t>White text on red background for visibility.</a:t>
            </a:r>
            <a:endParaRPr lang="en-US" sz="1100" dirty="0"/>
          </a:p>
        </p:txBody>
      </p:sp>
    </p:spTree>
    <p:extLst>
      <p:ext uri="{BB962C8B-B14F-4D97-AF65-F5344CB8AC3E}">
        <p14:creationId xmlns:p14="http://schemas.microsoft.com/office/powerpoint/2010/main" val="251845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Complete File Structure at a Glance</a:t>
            </a:r>
            <a:endParaRPr lang="en-US" sz="2200" dirty="0"/>
          </a:p>
        </p:txBody>
      </p:sp>
      <p:sp>
        <p:nvSpPr>
          <p:cNvPr id="4" name="Shape 2"/>
          <p:cNvSpPr/>
          <p:nvPr/>
        </p:nvSpPr>
        <p:spPr>
          <a:xfrm>
            <a:off x="365760" y="978408"/>
            <a:ext cx="347472" cy="347472"/>
          </a:xfrm>
          <a:prstGeom prst="ellipse">
            <a:avLst/>
          </a:prstGeom>
          <a:solidFill>
            <a:srgbClr val="0A7E8C"/>
          </a:solidFill>
          <a:ln/>
        </p:spPr>
        <p:txBody>
          <a:bodyPr/>
          <a:lstStyle/>
          <a:p>
            <a:endParaRPr lang="en-CA"/>
          </a:p>
        </p:txBody>
      </p:sp>
      <p:sp>
        <p:nvSpPr>
          <p:cNvPr id="5" name="Text 3"/>
          <p:cNvSpPr/>
          <p:nvPr/>
        </p:nvSpPr>
        <p:spPr>
          <a:xfrm>
            <a:off x="365760" y="99669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804672" y="94183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Imports</a:t>
            </a:r>
            <a:endParaRPr lang="en-US" sz="1200" dirty="0"/>
          </a:p>
        </p:txBody>
      </p:sp>
      <p:sp>
        <p:nvSpPr>
          <p:cNvPr id="7" name="Text 5"/>
          <p:cNvSpPr/>
          <p:nvPr/>
        </p:nvSpPr>
        <p:spPr>
          <a:xfrm>
            <a:off x="804672" y="118872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react, react-native, react-native-maps, expo-icons</a:t>
            </a:r>
            <a:endParaRPr lang="en-US" sz="1000" dirty="0"/>
          </a:p>
        </p:txBody>
      </p:sp>
      <p:sp>
        <p:nvSpPr>
          <p:cNvPr id="8" name="Shape 6"/>
          <p:cNvSpPr/>
          <p:nvPr/>
        </p:nvSpPr>
        <p:spPr>
          <a:xfrm>
            <a:off x="365760" y="1572768"/>
            <a:ext cx="347472" cy="347472"/>
          </a:xfrm>
          <a:prstGeom prst="ellipse">
            <a:avLst/>
          </a:prstGeom>
          <a:solidFill>
            <a:srgbClr val="0A7E8C"/>
          </a:solidFill>
          <a:ln/>
        </p:spPr>
        <p:txBody>
          <a:bodyPr/>
          <a:lstStyle/>
          <a:p>
            <a:endParaRPr lang="en-CA"/>
          </a:p>
        </p:txBody>
      </p:sp>
      <p:sp>
        <p:nvSpPr>
          <p:cNvPr id="9" name="Text 7"/>
          <p:cNvSpPr/>
          <p:nvPr/>
        </p:nvSpPr>
        <p:spPr>
          <a:xfrm>
            <a:off x="365760" y="159105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804672" y="153619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Type definition</a:t>
            </a:r>
            <a:endParaRPr lang="en-US" sz="1200" dirty="0"/>
          </a:p>
        </p:txBody>
      </p:sp>
      <p:sp>
        <p:nvSpPr>
          <p:cNvPr id="11" name="Text 9"/>
          <p:cNvSpPr/>
          <p:nvPr/>
        </p:nvSpPr>
        <p:spPr>
          <a:xfrm>
            <a:off x="804672" y="178308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type Attraction = { name, lat, lng }</a:t>
            </a:r>
            <a:endParaRPr lang="en-US" sz="1000" dirty="0"/>
          </a:p>
        </p:txBody>
      </p:sp>
      <p:sp>
        <p:nvSpPr>
          <p:cNvPr id="12" name="Shape 10"/>
          <p:cNvSpPr/>
          <p:nvPr/>
        </p:nvSpPr>
        <p:spPr>
          <a:xfrm>
            <a:off x="365760" y="2167128"/>
            <a:ext cx="347472" cy="347472"/>
          </a:xfrm>
          <a:prstGeom prst="ellipse">
            <a:avLst/>
          </a:prstGeom>
          <a:solidFill>
            <a:srgbClr val="0A7E8C"/>
          </a:solidFill>
          <a:ln/>
        </p:spPr>
        <p:txBody>
          <a:bodyPr/>
          <a:lstStyle/>
          <a:p>
            <a:endParaRPr lang="en-CA"/>
          </a:p>
        </p:txBody>
      </p:sp>
      <p:sp>
        <p:nvSpPr>
          <p:cNvPr id="13" name="Text 11"/>
          <p:cNvSpPr/>
          <p:nvPr/>
        </p:nvSpPr>
        <p:spPr>
          <a:xfrm>
            <a:off x="365760" y="218541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p:nvPr/>
        </p:nvSpPr>
        <p:spPr>
          <a:xfrm>
            <a:off x="804672" y="213055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Data array</a:t>
            </a:r>
            <a:endParaRPr lang="en-US" sz="1200" dirty="0"/>
          </a:p>
        </p:txBody>
      </p:sp>
      <p:sp>
        <p:nvSpPr>
          <p:cNvPr id="15" name="Text 13"/>
          <p:cNvSpPr/>
          <p:nvPr/>
        </p:nvSpPr>
        <p:spPr>
          <a:xfrm>
            <a:off x="804672" y="237744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const attractionsList: Attraction[] = [...]</a:t>
            </a:r>
            <a:endParaRPr lang="en-US" sz="1000" dirty="0"/>
          </a:p>
        </p:txBody>
      </p:sp>
      <p:sp>
        <p:nvSpPr>
          <p:cNvPr id="16" name="Shape 14"/>
          <p:cNvSpPr/>
          <p:nvPr/>
        </p:nvSpPr>
        <p:spPr>
          <a:xfrm>
            <a:off x="365760" y="2761488"/>
            <a:ext cx="347472" cy="347472"/>
          </a:xfrm>
          <a:prstGeom prst="ellipse">
            <a:avLst/>
          </a:prstGeom>
          <a:solidFill>
            <a:srgbClr val="0A7E8C"/>
          </a:solidFill>
          <a:ln/>
        </p:spPr>
        <p:txBody>
          <a:bodyPr/>
          <a:lstStyle/>
          <a:p>
            <a:endParaRPr lang="en-CA"/>
          </a:p>
        </p:txBody>
      </p:sp>
      <p:sp>
        <p:nvSpPr>
          <p:cNvPr id="17" name="Text 15"/>
          <p:cNvSpPr/>
          <p:nvPr/>
        </p:nvSpPr>
        <p:spPr>
          <a:xfrm>
            <a:off x="365760" y="277977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p:nvPr/>
        </p:nvSpPr>
        <p:spPr>
          <a:xfrm>
            <a:off x="804672" y="272491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Component: State &amp; Ref</a:t>
            </a:r>
            <a:endParaRPr lang="en-US" sz="1200" dirty="0"/>
          </a:p>
        </p:txBody>
      </p:sp>
      <p:sp>
        <p:nvSpPr>
          <p:cNvPr id="19" name="Text 17"/>
          <p:cNvSpPr/>
          <p:nvPr/>
        </p:nvSpPr>
        <p:spPr>
          <a:xfrm>
            <a:off x="804672" y="297180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displayRegion, useState, useRef</a:t>
            </a:r>
            <a:endParaRPr lang="en-US" sz="1000" dirty="0"/>
          </a:p>
        </p:txBody>
      </p:sp>
      <p:sp>
        <p:nvSpPr>
          <p:cNvPr id="20" name="Shape 18"/>
          <p:cNvSpPr/>
          <p:nvPr/>
        </p:nvSpPr>
        <p:spPr>
          <a:xfrm>
            <a:off x="365760" y="3355848"/>
            <a:ext cx="347472" cy="347472"/>
          </a:xfrm>
          <a:prstGeom prst="ellipse">
            <a:avLst/>
          </a:prstGeom>
          <a:solidFill>
            <a:srgbClr val="0A7E8C"/>
          </a:solidFill>
          <a:ln/>
        </p:spPr>
        <p:txBody>
          <a:bodyPr/>
          <a:lstStyle/>
          <a:p>
            <a:endParaRPr lang="en-CA"/>
          </a:p>
        </p:txBody>
      </p:sp>
      <p:sp>
        <p:nvSpPr>
          <p:cNvPr id="21" name="Text 19"/>
          <p:cNvSpPr/>
          <p:nvPr/>
        </p:nvSpPr>
        <p:spPr>
          <a:xfrm>
            <a:off x="365760" y="337413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p:nvPr/>
        </p:nvSpPr>
        <p:spPr>
          <a:xfrm>
            <a:off x="804672" y="331927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Component: Event handlers</a:t>
            </a:r>
            <a:endParaRPr lang="en-US" sz="1200" dirty="0"/>
          </a:p>
        </p:txBody>
      </p:sp>
      <p:sp>
        <p:nvSpPr>
          <p:cNvPr id="23" name="Text 21"/>
          <p:cNvSpPr/>
          <p:nvPr/>
        </p:nvSpPr>
        <p:spPr>
          <a:xfrm>
            <a:off x="804672" y="356616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addMarker, clearMarkers, zoomToLocation</a:t>
            </a:r>
            <a:endParaRPr lang="en-US" sz="1000" dirty="0"/>
          </a:p>
        </p:txBody>
      </p:sp>
      <p:sp>
        <p:nvSpPr>
          <p:cNvPr id="24" name="Shape 22"/>
          <p:cNvSpPr/>
          <p:nvPr/>
        </p:nvSpPr>
        <p:spPr>
          <a:xfrm>
            <a:off x="365760" y="3950208"/>
            <a:ext cx="347472" cy="347472"/>
          </a:xfrm>
          <a:prstGeom prst="ellipse">
            <a:avLst/>
          </a:prstGeom>
          <a:solidFill>
            <a:srgbClr val="0A7E8C"/>
          </a:solidFill>
          <a:ln/>
        </p:spPr>
        <p:txBody>
          <a:bodyPr/>
          <a:lstStyle/>
          <a:p>
            <a:endParaRPr lang="en-CA"/>
          </a:p>
        </p:txBody>
      </p:sp>
      <p:sp>
        <p:nvSpPr>
          <p:cNvPr id="25" name="Text 23"/>
          <p:cNvSpPr/>
          <p:nvPr/>
        </p:nvSpPr>
        <p:spPr>
          <a:xfrm>
            <a:off x="365760" y="396849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6" name="Text 24"/>
          <p:cNvSpPr/>
          <p:nvPr/>
        </p:nvSpPr>
        <p:spPr>
          <a:xfrm>
            <a:off x="804672" y="391363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Component: JSX return</a:t>
            </a:r>
            <a:endParaRPr lang="en-US" sz="1200" dirty="0"/>
          </a:p>
        </p:txBody>
      </p:sp>
      <p:sp>
        <p:nvSpPr>
          <p:cNvPr id="27" name="Text 25"/>
          <p:cNvSpPr/>
          <p:nvPr/>
        </p:nvSpPr>
        <p:spPr>
          <a:xfrm>
            <a:off x="804672" y="416052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Buttons + MapView + Markers</a:t>
            </a:r>
            <a:endParaRPr lang="en-US" sz="1000" dirty="0"/>
          </a:p>
        </p:txBody>
      </p:sp>
      <p:sp>
        <p:nvSpPr>
          <p:cNvPr id="28" name="Shape 26"/>
          <p:cNvSpPr/>
          <p:nvPr/>
        </p:nvSpPr>
        <p:spPr>
          <a:xfrm>
            <a:off x="365760" y="4544568"/>
            <a:ext cx="347472" cy="347472"/>
          </a:xfrm>
          <a:prstGeom prst="ellipse">
            <a:avLst/>
          </a:prstGeom>
          <a:solidFill>
            <a:srgbClr val="0A7E8C"/>
          </a:solidFill>
          <a:ln/>
        </p:spPr>
        <p:txBody>
          <a:bodyPr/>
          <a:lstStyle/>
          <a:p>
            <a:endParaRPr lang="en-CA"/>
          </a:p>
        </p:txBody>
      </p:sp>
      <p:sp>
        <p:nvSpPr>
          <p:cNvPr id="29" name="Text 27"/>
          <p:cNvSpPr/>
          <p:nvPr/>
        </p:nvSpPr>
        <p:spPr>
          <a:xfrm>
            <a:off x="365760" y="456285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0" name="Text 28"/>
          <p:cNvSpPr/>
          <p:nvPr/>
        </p:nvSpPr>
        <p:spPr>
          <a:xfrm>
            <a:off x="804672" y="450799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StyleSheet</a:t>
            </a:r>
            <a:endParaRPr lang="en-US" sz="1200" dirty="0"/>
          </a:p>
        </p:txBody>
      </p:sp>
      <p:sp>
        <p:nvSpPr>
          <p:cNvPr id="31" name="Text 29"/>
          <p:cNvSpPr/>
          <p:nvPr/>
        </p:nvSpPr>
        <p:spPr>
          <a:xfrm>
            <a:off x="804672" y="4754880"/>
            <a:ext cx="32004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container, buttonStyle, buttonText</a:t>
            </a:r>
            <a:endParaRPr lang="en-US" sz="1000" dirty="0"/>
          </a:p>
        </p:txBody>
      </p:sp>
      <p:sp>
        <p:nvSpPr>
          <p:cNvPr id="32" name="Shape 30"/>
          <p:cNvSpPr/>
          <p:nvPr/>
        </p:nvSpPr>
        <p:spPr>
          <a:xfrm>
            <a:off x="4114800" y="868680"/>
            <a:ext cx="4663440" cy="4114800"/>
          </a:xfrm>
          <a:prstGeom prst="roundRect">
            <a:avLst>
              <a:gd name="adj" fmla="val 2222"/>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33" name="Text 31"/>
          <p:cNvSpPr/>
          <p:nvPr/>
        </p:nvSpPr>
        <p:spPr>
          <a:xfrm>
            <a:off x="4251960" y="978408"/>
            <a:ext cx="4389120" cy="3895344"/>
          </a:xfrm>
          <a:prstGeom prst="rect">
            <a:avLst/>
          </a:prstGeom>
          <a:noFill/>
          <a:ln/>
        </p:spPr>
        <p:txBody>
          <a:bodyPr wrap="square" lIns="0" tIns="0" rIns="0" bIns="0" rtlCol="0" anchor="t"/>
          <a:lstStyle/>
          <a:p>
            <a:pPr marL="0" indent="0">
              <a:buNone/>
            </a:pPr>
            <a:r>
              <a:rPr lang="en-US" sz="900" dirty="0">
                <a:solidFill>
                  <a:srgbClr val="A8D8D8"/>
                </a:solidFill>
                <a:latin typeface="Courier New" pitchFamily="34" charset="0"/>
                <a:ea typeface="Courier New" pitchFamily="34" charset="-122"/>
                <a:cs typeface="Courier New" pitchFamily="34" charset="-120"/>
              </a:rPr>
              <a:t>// 1. Imports</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import MapView, { Marker, Region } ...</a:t>
            </a:r>
            <a:endParaRPr lang="en-US" sz="900" dirty="0"/>
          </a:p>
          <a:p>
            <a:pPr marL="0" indent="0">
              <a:buNone/>
            </a:pP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2-3. Type + Data (above component)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type Attraction = { name, lat, lng }</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attractionsList: Attraction[] = [...]</a:t>
            </a:r>
            <a:endParaRPr lang="en-US" sz="900" dirty="0"/>
          </a:p>
          <a:p>
            <a:pPr marL="0" indent="0">
              <a:buNone/>
            </a:pP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4. Inside component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displayRegion: Region = {...}</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[markerList, setMarkerList] = useState&lt;Attraction[]&gt;([])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mapRef = useRef&lt;MapView&gt;(null)</a:t>
            </a:r>
            <a:endParaRPr lang="en-US" sz="900" dirty="0"/>
          </a:p>
          <a:p>
            <a:pPr marL="0" indent="0">
              <a:buNone/>
            </a:pP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5. Handlers</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addMarker = () =&gt; { ... }</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clearMarkers = () =&gt; { ... }</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const zoomToLocation = () =&gt; { ... }</a:t>
            </a:r>
            <a:endParaRPr lang="en-US" sz="900" dirty="0"/>
          </a:p>
          <a:p>
            <a:pPr marL="0" indent="0">
              <a:buNone/>
            </a:pP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6. JSX</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return (</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&lt;View&gt;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&lt;TouchableOpacity onPress={addMarker}&gt;...&lt;/TouchableOpacity&gt;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&lt;MapView ref={mapRef} initialRegion={displayRegion}&gt;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{markerList.map(...)}</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&lt;/MapView&gt;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&lt;/View&gt;</a:t>
            </a: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A8D8D8"/>
                </a:solidFill>
                <a:latin typeface="Courier New" pitchFamily="34" charset="0"/>
                <a:ea typeface="Courier New" pitchFamily="34" charset="-122"/>
                <a:cs typeface="Courier New" pitchFamily="34" charset="-120"/>
              </a:rPr>
              <a:t>// 7. StyleSheet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Common Mistakes &amp; Debug Tips</a:t>
            </a:r>
            <a:endParaRPr lang="en-US" sz="2200" dirty="0"/>
          </a:p>
        </p:txBody>
      </p:sp>
      <p:sp>
        <p:nvSpPr>
          <p:cNvPr id="4" name="Shape 2"/>
          <p:cNvSpPr/>
          <p:nvPr/>
        </p:nvSpPr>
        <p:spPr>
          <a:xfrm>
            <a:off x="365760" y="868680"/>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5" name="Shape 3"/>
          <p:cNvSpPr/>
          <p:nvPr/>
        </p:nvSpPr>
        <p:spPr>
          <a:xfrm>
            <a:off x="402336" y="1143000"/>
            <a:ext cx="329184" cy="329184"/>
          </a:xfrm>
          <a:prstGeom prst="ellipse">
            <a:avLst/>
          </a:prstGeom>
          <a:solidFill>
            <a:srgbClr val="FF6B35"/>
          </a:solidFill>
          <a:ln/>
        </p:spPr>
        <p:txBody>
          <a:bodyPr/>
          <a:lstStyle/>
          <a:p>
            <a:endParaRPr lang="en-CA"/>
          </a:p>
        </p:txBody>
      </p:sp>
      <p:sp>
        <p:nvSpPr>
          <p:cNvPr id="6" name="Text 4"/>
          <p:cNvSpPr/>
          <p:nvPr/>
        </p:nvSpPr>
        <p:spPr>
          <a:xfrm>
            <a:off x="402336" y="1161288"/>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7" name="Text 5"/>
          <p:cNvSpPr/>
          <p:nvPr/>
        </p:nvSpPr>
        <p:spPr>
          <a:xfrm>
            <a:off x="804672" y="923544"/>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Map not visible</a:t>
            </a:r>
            <a:endParaRPr lang="en-US" sz="1300" dirty="0"/>
          </a:p>
        </p:txBody>
      </p:sp>
      <p:sp>
        <p:nvSpPr>
          <p:cNvPr id="8" name="Text 6"/>
          <p:cNvSpPr/>
          <p:nvPr/>
        </p:nvSpPr>
        <p:spPr>
          <a:xfrm>
            <a:off x="804672" y="1216152"/>
            <a:ext cx="411480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Ensure MapView has style={{ flex: 1 }} and parent View also has flex: 1</a:t>
            </a:r>
            <a:endParaRPr lang="en-US" sz="1100" dirty="0"/>
          </a:p>
        </p:txBody>
      </p:sp>
      <p:sp>
        <p:nvSpPr>
          <p:cNvPr id="9" name="Text 7"/>
          <p:cNvSpPr/>
          <p:nvPr/>
        </p:nvSpPr>
        <p:spPr>
          <a:xfrm>
            <a:off x="4937760" y="1051560"/>
            <a:ext cx="3749040" cy="457200"/>
          </a:xfrm>
          <a:prstGeom prst="rect">
            <a:avLst/>
          </a:prstGeom>
          <a:noFill/>
          <a:ln/>
        </p:spPr>
        <p:txBody>
          <a:bodyPr wrap="square" lIns="0" tIns="0" rIns="0" bIns="0" rtlCol="0" anchor="ctr"/>
          <a:lstStyle/>
          <a:p>
            <a:pPr marL="0" indent="0">
              <a:buNone/>
            </a:pPr>
            <a:r>
              <a:rPr lang="en-US" sz="950" dirty="0">
                <a:solidFill>
                  <a:srgbClr val="1E293B"/>
                </a:solidFill>
                <a:latin typeface="Courier New" pitchFamily="34" charset="0"/>
                <a:ea typeface="Courier New" pitchFamily="34" charset="-122"/>
                <a:cs typeface="Courier New" pitchFamily="34" charset="-120"/>
              </a:rPr>
              <a:t>❌  &lt;</a:t>
            </a:r>
            <a:r>
              <a:rPr lang="en-US" sz="950" dirty="0" err="1">
                <a:solidFill>
                  <a:srgbClr val="1E293B"/>
                </a:solidFill>
                <a:latin typeface="Courier New" pitchFamily="34" charset="0"/>
                <a:ea typeface="Courier New" pitchFamily="34" charset="-122"/>
                <a:cs typeface="Courier New" pitchFamily="34" charset="-120"/>
              </a:rPr>
              <a:t>MapView</a:t>
            </a:r>
            <a:r>
              <a:rPr lang="en-US" sz="950" dirty="0">
                <a:solidFill>
                  <a:srgbClr val="1E293B"/>
                </a:solidFill>
                <a:latin typeface="Courier New" pitchFamily="34" charset="0"/>
                <a:ea typeface="Courier New" pitchFamily="34" charset="-122"/>
                <a:cs typeface="Courier New" pitchFamily="34" charset="-120"/>
              </a:rPr>
              <a:t> /&gt;</a:t>
            </a:r>
          </a:p>
          <a:p>
            <a:pPr marL="0" indent="0">
              <a:buNone/>
            </a:pPr>
            <a:r>
              <a:rPr lang="en-US" sz="950" dirty="0">
                <a:solidFill>
                  <a:srgbClr val="1E293B"/>
                </a:solidFill>
                <a:latin typeface="Courier New" pitchFamily="34" charset="0"/>
                <a:ea typeface="Courier New" pitchFamily="34" charset="-122"/>
                <a:cs typeface="Courier New" pitchFamily="34" charset="-120"/>
              </a:rPr>
              <a:t>✅  &lt;MapView style={{ flex: 1 }} /&gt;</a:t>
            </a:r>
            <a:endParaRPr lang="en-US" sz="950" dirty="0"/>
          </a:p>
        </p:txBody>
      </p:sp>
      <p:sp>
        <p:nvSpPr>
          <p:cNvPr id="10" name="Shape 8"/>
          <p:cNvSpPr/>
          <p:nvPr/>
        </p:nvSpPr>
        <p:spPr>
          <a:xfrm>
            <a:off x="365760" y="1911096"/>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1" name="Shape 9"/>
          <p:cNvSpPr/>
          <p:nvPr/>
        </p:nvSpPr>
        <p:spPr>
          <a:xfrm>
            <a:off x="402336" y="2185416"/>
            <a:ext cx="329184" cy="329184"/>
          </a:xfrm>
          <a:prstGeom prst="ellipse">
            <a:avLst/>
          </a:prstGeom>
          <a:solidFill>
            <a:srgbClr val="FF6B35"/>
          </a:solidFill>
          <a:ln/>
        </p:spPr>
        <p:txBody>
          <a:bodyPr/>
          <a:lstStyle/>
          <a:p>
            <a:endParaRPr lang="en-CA"/>
          </a:p>
        </p:txBody>
      </p:sp>
      <p:sp>
        <p:nvSpPr>
          <p:cNvPr id="12" name="Text 10"/>
          <p:cNvSpPr/>
          <p:nvPr/>
        </p:nvSpPr>
        <p:spPr>
          <a:xfrm>
            <a:off x="402336" y="2203704"/>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3" name="Text 11"/>
          <p:cNvSpPr/>
          <p:nvPr/>
        </p:nvSpPr>
        <p:spPr>
          <a:xfrm>
            <a:off x="804672" y="1965960"/>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Markers don't appear after push()</a:t>
            </a:r>
            <a:endParaRPr lang="en-US" sz="1300" dirty="0"/>
          </a:p>
        </p:txBody>
      </p:sp>
      <p:sp>
        <p:nvSpPr>
          <p:cNvPr id="14" name="Text 12"/>
          <p:cNvSpPr/>
          <p:nvPr/>
        </p:nvSpPr>
        <p:spPr>
          <a:xfrm>
            <a:off x="804672" y="2258568"/>
            <a:ext cx="411480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Use spread to create a new array reference: setMarkerList([...markerList])</a:t>
            </a:r>
            <a:endParaRPr lang="en-US" sz="1100" dirty="0"/>
          </a:p>
        </p:txBody>
      </p:sp>
      <p:sp>
        <p:nvSpPr>
          <p:cNvPr id="15" name="Text 13"/>
          <p:cNvSpPr/>
          <p:nvPr/>
        </p:nvSpPr>
        <p:spPr>
          <a:xfrm>
            <a:off x="4937760" y="2093976"/>
            <a:ext cx="3749040" cy="457200"/>
          </a:xfrm>
          <a:prstGeom prst="rect">
            <a:avLst/>
          </a:prstGeom>
          <a:noFill/>
          <a:ln/>
        </p:spPr>
        <p:txBody>
          <a:bodyPr wrap="square" lIns="0" tIns="0" rIns="0" bIns="0" rtlCol="0" anchor="ctr"/>
          <a:lstStyle/>
          <a:p>
            <a:pPr marL="0" indent="0">
              <a:buNone/>
            </a:pPr>
            <a:r>
              <a:rPr lang="en-US" sz="950" dirty="0">
                <a:solidFill>
                  <a:srgbClr val="1E293B"/>
                </a:solidFill>
                <a:latin typeface="Courier New" pitchFamily="34" charset="0"/>
                <a:ea typeface="Courier New" pitchFamily="34" charset="-122"/>
                <a:cs typeface="Courier New" pitchFamily="34" charset="-120"/>
              </a:rPr>
              <a:t>❌  setMarkerList(markerList)    </a:t>
            </a:r>
          </a:p>
          <a:p>
            <a:pPr marL="0" indent="0">
              <a:buNone/>
            </a:pPr>
            <a:r>
              <a:rPr lang="en-US" sz="950" dirty="0">
                <a:solidFill>
                  <a:srgbClr val="1E293B"/>
                </a:solidFill>
                <a:latin typeface="Courier New" pitchFamily="34" charset="0"/>
                <a:ea typeface="Courier New" pitchFamily="34" charset="-122"/>
                <a:cs typeface="Courier New" pitchFamily="34" charset="-120"/>
              </a:rPr>
              <a:t>✅  setMarkerList([...markerList])</a:t>
            </a:r>
            <a:endParaRPr lang="en-US" sz="950" dirty="0"/>
          </a:p>
        </p:txBody>
      </p:sp>
      <p:sp>
        <p:nvSpPr>
          <p:cNvPr id="16" name="Shape 14"/>
          <p:cNvSpPr/>
          <p:nvPr/>
        </p:nvSpPr>
        <p:spPr>
          <a:xfrm>
            <a:off x="365760" y="2953512"/>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7" name="Shape 15"/>
          <p:cNvSpPr/>
          <p:nvPr/>
        </p:nvSpPr>
        <p:spPr>
          <a:xfrm>
            <a:off x="402336" y="3227832"/>
            <a:ext cx="329184" cy="329184"/>
          </a:xfrm>
          <a:prstGeom prst="ellipse">
            <a:avLst/>
          </a:prstGeom>
          <a:solidFill>
            <a:srgbClr val="FF6B35"/>
          </a:solidFill>
          <a:ln/>
        </p:spPr>
        <p:txBody>
          <a:bodyPr/>
          <a:lstStyle/>
          <a:p>
            <a:endParaRPr lang="en-CA"/>
          </a:p>
        </p:txBody>
      </p:sp>
      <p:sp>
        <p:nvSpPr>
          <p:cNvPr id="18" name="Text 16"/>
          <p:cNvSpPr/>
          <p:nvPr/>
        </p:nvSpPr>
        <p:spPr>
          <a:xfrm>
            <a:off x="402336" y="3246120"/>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9" name="Text 17"/>
          <p:cNvSpPr/>
          <p:nvPr/>
        </p:nvSpPr>
        <p:spPr>
          <a:xfrm>
            <a:off x="804672" y="3008376"/>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animateToRegion crash / undefined</a:t>
            </a:r>
            <a:endParaRPr lang="en-US" sz="1300" dirty="0"/>
          </a:p>
        </p:txBody>
      </p:sp>
      <p:sp>
        <p:nvSpPr>
          <p:cNvPr id="20" name="Text 18"/>
          <p:cNvSpPr/>
          <p:nvPr/>
        </p:nvSpPr>
        <p:spPr>
          <a:xfrm>
            <a:off x="804672" y="3300984"/>
            <a:ext cx="411480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Always null-check mapRef.current before calling methods</a:t>
            </a:r>
            <a:endParaRPr lang="en-US" sz="1100" dirty="0"/>
          </a:p>
        </p:txBody>
      </p:sp>
      <p:sp>
        <p:nvSpPr>
          <p:cNvPr id="21" name="Text 19"/>
          <p:cNvSpPr/>
          <p:nvPr/>
        </p:nvSpPr>
        <p:spPr>
          <a:xfrm>
            <a:off x="4937760" y="3136392"/>
            <a:ext cx="3749040" cy="457200"/>
          </a:xfrm>
          <a:prstGeom prst="rect">
            <a:avLst/>
          </a:prstGeom>
          <a:noFill/>
          <a:ln/>
        </p:spPr>
        <p:txBody>
          <a:bodyPr wrap="square" lIns="0" tIns="0" rIns="0" bIns="0" rtlCol="0" anchor="ctr"/>
          <a:lstStyle/>
          <a:p>
            <a:pPr marL="0" indent="0">
              <a:buNone/>
            </a:pPr>
            <a:r>
              <a:rPr lang="en-US" sz="950" dirty="0">
                <a:solidFill>
                  <a:srgbClr val="1E293B"/>
                </a:solidFill>
                <a:latin typeface="Courier New" pitchFamily="34" charset="0"/>
                <a:ea typeface="Courier New" pitchFamily="34" charset="-122"/>
                <a:cs typeface="Courier New" pitchFamily="34" charset="-120"/>
              </a:rPr>
              <a:t>✅  if (mapRef.current === null) return</a:t>
            </a:r>
            <a:endParaRPr lang="en-US" sz="950" dirty="0"/>
          </a:p>
        </p:txBody>
      </p:sp>
      <p:sp>
        <p:nvSpPr>
          <p:cNvPr id="22" name="Shape 20"/>
          <p:cNvSpPr/>
          <p:nvPr/>
        </p:nvSpPr>
        <p:spPr>
          <a:xfrm>
            <a:off x="365760" y="3995928"/>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3" name="Shape 21"/>
          <p:cNvSpPr/>
          <p:nvPr/>
        </p:nvSpPr>
        <p:spPr>
          <a:xfrm>
            <a:off x="402336" y="4270248"/>
            <a:ext cx="329184" cy="329184"/>
          </a:xfrm>
          <a:prstGeom prst="ellipse">
            <a:avLst/>
          </a:prstGeom>
          <a:solidFill>
            <a:srgbClr val="FF6B35"/>
          </a:solidFill>
          <a:ln/>
        </p:spPr>
        <p:txBody>
          <a:bodyPr/>
          <a:lstStyle/>
          <a:p>
            <a:endParaRPr lang="en-CA"/>
          </a:p>
        </p:txBody>
      </p:sp>
      <p:sp>
        <p:nvSpPr>
          <p:cNvPr id="24" name="Text 22"/>
          <p:cNvSpPr/>
          <p:nvPr/>
        </p:nvSpPr>
        <p:spPr>
          <a:xfrm>
            <a:off x="402336" y="4288536"/>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5" name="Text 23"/>
          <p:cNvSpPr/>
          <p:nvPr/>
        </p:nvSpPr>
        <p:spPr>
          <a:xfrm>
            <a:off x="804672" y="4050792"/>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latitude vs lat mismatch</a:t>
            </a:r>
            <a:endParaRPr lang="en-US" sz="1300" dirty="0"/>
          </a:p>
        </p:txBody>
      </p:sp>
      <p:sp>
        <p:nvSpPr>
          <p:cNvPr id="26" name="Text 24"/>
          <p:cNvSpPr/>
          <p:nvPr/>
        </p:nvSpPr>
        <p:spPr>
          <a:xfrm>
            <a:off x="804672" y="4343400"/>
            <a:ext cx="411480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Marker coordinate prop uses 'latitude'/'longitude', our type uses 'lat'/'lng'</a:t>
            </a:r>
            <a:endParaRPr lang="en-US" sz="1100" dirty="0"/>
          </a:p>
        </p:txBody>
      </p:sp>
      <p:sp>
        <p:nvSpPr>
          <p:cNvPr id="27" name="Text 25"/>
          <p:cNvSpPr/>
          <p:nvPr/>
        </p:nvSpPr>
        <p:spPr>
          <a:xfrm>
            <a:off x="4937760" y="4178808"/>
            <a:ext cx="3749040" cy="457200"/>
          </a:xfrm>
          <a:prstGeom prst="rect">
            <a:avLst/>
          </a:prstGeom>
          <a:noFill/>
          <a:ln/>
        </p:spPr>
        <p:txBody>
          <a:bodyPr wrap="square" lIns="0" tIns="0" rIns="0" bIns="0" rtlCol="0" anchor="ctr"/>
          <a:lstStyle/>
          <a:p>
            <a:pPr marL="0" indent="0">
              <a:buNone/>
            </a:pPr>
            <a:r>
              <a:rPr lang="en-US" sz="950" dirty="0">
                <a:solidFill>
                  <a:srgbClr val="1E293B"/>
                </a:solidFill>
                <a:latin typeface="Courier New" pitchFamily="34" charset="0"/>
                <a:ea typeface="Courier New" pitchFamily="34" charset="-122"/>
                <a:cs typeface="Courier New" pitchFamily="34" charset="-120"/>
              </a:rPr>
              <a:t>coordinate={{ latitude: loc.lat, longitude: loc.lng }}</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Quick Reference — react-native-maps API</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868680"/>
          <a:ext cx="8412480" cy="186944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latin typeface="Cambria" pitchFamily="34" charset="0"/>
                          <a:ea typeface="Cambria" pitchFamily="34" charset="-122"/>
                          <a:cs typeface="Cambria" pitchFamily="34" charset="-120"/>
                        </a:rPr>
                        <a:t>Component / Prop / Method</a:t>
                      </a:r>
                      <a:endParaRPr lang="en-US" sz="1000" dirty="0">
                        <a:latin typeface="Cambria" charset="0"/>
                        <a:ea typeface="Cambria" charset="0"/>
                        <a:cs typeface="Cambria"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000" b="1" dirty="0">
                          <a:solidFill>
                            <a:srgbClr val="FFFFFF"/>
                          </a:solidFill>
                          <a:latin typeface="Cambria" pitchFamily="34" charset="0"/>
                          <a:ea typeface="Cambria" pitchFamily="34" charset="-122"/>
                          <a:cs typeface="Cambria" pitchFamily="34" charset="-120"/>
                        </a:rPr>
                        <a:t>What it does</a:t>
                      </a:r>
                      <a:endParaRPr lang="en-US" sz="1000" dirty="0">
                        <a:latin typeface="Cambria" charset="0"/>
                        <a:ea typeface="Cambria" charset="0"/>
                        <a:cs typeface="Cambria"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000" b="1" dirty="0">
                          <a:solidFill>
                            <a:srgbClr val="FFFFFF"/>
                          </a:solidFill>
                          <a:latin typeface="Courier New" pitchFamily="34" charset="0"/>
                          <a:ea typeface="Courier New" pitchFamily="34" charset="-122"/>
                          <a:cs typeface="Courier New" pitchFamily="34" charset="-120"/>
                        </a:rPr>
                        <a:t>Example</a:t>
                      </a:r>
                      <a:endParaRPr lang="en-US" sz="100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&lt;MapView&gt;</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The map container</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&lt;MapView style={{flex:1}} initialRegion={r} ref={mapRef}&gt;</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1"/>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initialRegion</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Starting camera view (one-time)</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initialRegion={{ latitude, longitude, latitudeDelta, longitudeDelta }}</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zoomControlEnabled</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Show +/- buttons (Android)</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zoomControlEnabled={true}</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3"/>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ref={mapRef}</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Wire up the ref for method calls</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const mapRef = useRef&lt;MapView&gt;(null)</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&lt;Marker&gt;</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A pin on the map</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&lt;Marker coordinate={{ latitude, longitude }}&gt;</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5"/>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coordinate</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Where to place the marker</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coordinate={{ latitude: 43.6, longitude: -79.4 }}</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l">
                        <a:buNone/>
                      </a:pPr>
                      <a:r>
                        <a:rPr lang="en-US" sz="950" dirty="0">
                          <a:solidFill>
                            <a:srgbClr val="0A7E8C"/>
                          </a:solidFill>
                          <a:latin typeface="Calibri" pitchFamily="34" charset="0"/>
                          <a:ea typeface="Calibri" pitchFamily="34" charset="-122"/>
                          <a:cs typeface="Calibri" pitchFamily="34" charset="-120"/>
                        </a:rPr>
                        <a:t>animateToRegion()</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alibri" pitchFamily="34" charset="0"/>
                          <a:ea typeface="Calibri" pitchFamily="34" charset="-122"/>
                          <a:cs typeface="Calibri" pitchFamily="34" charset="-120"/>
                        </a:rPr>
                        <a:t>Programmatically move the camera</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0D1B2A"/>
                          </a:solidFill>
                          <a:latin typeface="Courier New" pitchFamily="34" charset="0"/>
                          <a:ea typeface="Courier New" pitchFamily="34" charset="-122"/>
                          <a:cs typeface="Courier New" pitchFamily="34" charset="-120"/>
                        </a:rPr>
                        <a:t>mapRef.current.animateToRegion({ lat, lng, deltas })</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7"/>
                  </a:ext>
                </a:extLst>
              </a:tr>
            </a:tbl>
          </a:graphicData>
        </a:graphic>
      </p:graphicFrame>
      <p:sp>
        <p:nvSpPr>
          <p:cNvPr id="5" name="Text 2"/>
          <p:cNvSpPr/>
          <p:nvPr/>
        </p:nvSpPr>
        <p:spPr>
          <a:xfrm>
            <a:off x="365760" y="4754880"/>
            <a:ext cx="8412480" cy="27432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  Full docs: https://github.com/react-native-maps/react-native-maps  |  https://docs.expo.dev/versions/latest/sdk/map-view/</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3200400"/>
            <a:ext cx="2743200" cy="2743200"/>
          </a:xfrm>
          <a:prstGeom prst="ellipse">
            <a:avLst/>
          </a:prstGeom>
          <a:solidFill>
            <a:srgbClr val="0A7E8C">
              <a:alpha val="15000"/>
            </a:srgbClr>
          </a:solidFill>
          <a:ln/>
        </p:spPr>
        <p:txBody>
          <a:bodyPr/>
          <a:lstStyle/>
          <a:p>
            <a:endParaRPr lang="en-CA"/>
          </a:p>
        </p:txBody>
      </p:sp>
      <p:sp>
        <p:nvSpPr>
          <p:cNvPr id="3" name="Shape 1"/>
          <p:cNvSpPr/>
          <p:nvPr/>
        </p:nvSpPr>
        <p:spPr>
          <a:xfrm>
            <a:off x="7132320" y="-457200"/>
            <a:ext cx="2286000" cy="2286000"/>
          </a:xfrm>
          <a:prstGeom prst="ellipse">
            <a:avLst/>
          </a:prstGeom>
          <a:solidFill>
            <a:srgbClr val="1AB8C4">
              <a:alpha val="18000"/>
            </a:srgbClr>
          </a:solidFill>
          <a:ln/>
        </p:spPr>
        <p:txBody>
          <a:bodyPr/>
          <a:lstStyle/>
          <a:p>
            <a:endParaRPr lang="en-CA"/>
          </a:p>
        </p:txBody>
      </p:sp>
      <p:pic>
        <p:nvPicPr>
          <p:cNvPr id="4" name="Image 0" descr="preencoded.png"/>
          <p:cNvPicPr>
            <a:picLocks noChangeAspect="1"/>
          </p:cNvPicPr>
          <p:nvPr/>
        </p:nvPicPr>
        <p:blipFill>
          <a:blip r:embed="rId3"/>
          <a:stretch>
            <a:fillRect/>
          </a:stretch>
        </p:blipFill>
        <p:spPr>
          <a:xfrm>
            <a:off x="457200" y="548640"/>
            <a:ext cx="640080" cy="640080"/>
          </a:xfrm>
          <a:prstGeom prst="rect">
            <a:avLst/>
          </a:prstGeom>
        </p:spPr>
      </p:pic>
      <p:sp>
        <p:nvSpPr>
          <p:cNvPr id="5" name="Text 2"/>
          <p:cNvSpPr/>
          <p:nvPr/>
        </p:nvSpPr>
        <p:spPr>
          <a:xfrm>
            <a:off x="1188720" y="594360"/>
            <a:ext cx="73152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What We Covered Today</a:t>
            </a:r>
            <a:endParaRPr lang="en-US" sz="2400" dirty="0"/>
          </a:p>
        </p:txBody>
      </p:sp>
      <p:sp>
        <p:nvSpPr>
          <p:cNvPr id="6" name="Text 3"/>
          <p:cNvSpPr/>
          <p:nvPr/>
        </p:nvSpPr>
        <p:spPr>
          <a:xfrm>
            <a:off x="457200" y="1325880"/>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react-native-maps — installation &amp; imports</a:t>
            </a:r>
            <a:endParaRPr lang="en-US" sz="1300" dirty="0"/>
          </a:p>
        </p:txBody>
      </p:sp>
      <p:sp>
        <p:nvSpPr>
          <p:cNvPr id="7" name="Text 4"/>
          <p:cNvSpPr/>
          <p:nvPr/>
        </p:nvSpPr>
        <p:spPr>
          <a:xfrm>
            <a:off x="457200" y="1746504"/>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Region: latitude, longitude, latitudeDelta, longitudeDelta</a:t>
            </a:r>
            <a:endParaRPr lang="en-US" sz="1300" dirty="0"/>
          </a:p>
        </p:txBody>
      </p:sp>
      <p:sp>
        <p:nvSpPr>
          <p:cNvPr id="8" name="Text 5"/>
          <p:cNvSpPr/>
          <p:nvPr/>
        </p:nvSpPr>
        <p:spPr>
          <a:xfrm>
            <a:off x="457200" y="2167128"/>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MapView — initialRegion, ref, zoomControlEnabled</a:t>
            </a:r>
            <a:endParaRPr lang="en-US" sz="1300" dirty="0"/>
          </a:p>
        </p:txBody>
      </p:sp>
      <p:sp>
        <p:nvSpPr>
          <p:cNvPr id="9" name="Text 6"/>
          <p:cNvSpPr/>
          <p:nvPr/>
        </p:nvSpPr>
        <p:spPr>
          <a:xfrm>
            <a:off x="457200" y="2587752"/>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useRef&lt;MapView&gt; — calling animateToRegion()</a:t>
            </a:r>
            <a:endParaRPr lang="en-US" sz="1300" dirty="0"/>
          </a:p>
        </p:txBody>
      </p:sp>
      <p:sp>
        <p:nvSpPr>
          <p:cNvPr id="10" name="Text 7"/>
          <p:cNvSpPr/>
          <p:nvPr/>
        </p:nvSpPr>
        <p:spPr>
          <a:xfrm>
            <a:off x="457200" y="3008376"/>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Marker — coordinate prop, custom icon children</a:t>
            </a:r>
            <a:endParaRPr lang="en-US" sz="1300" dirty="0"/>
          </a:p>
        </p:txBody>
      </p:sp>
      <p:sp>
        <p:nvSpPr>
          <p:cNvPr id="11" name="Text 8"/>
          <p:cNvSpPr/>
          <p:nvPr/>
        </p:nvSpPr>
        <p:spPr>
          <a:xfrm>
            <a:off x="457200" y="3429000"/>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State management with arrays + spread pattern</a:t>
            </a:r>
            <a:endParaRPr lang="en-US" sz="1300" dirty="0"/>
          </a:p>
        </p:txBody>
      </p:sp>
      <p:sp>
        <p:nvSpPr>
          <p:cNvPr id="12" name="Text 9"/>
          <p:cNvSpPr/>
          <p:nvPr/>
        </p:nvSpPr>
        <p:spPr>
          <a:xfrm>
            <a:off x="457200" y="3849624"/>
            <a:ext cx="5029200" cy="365760"/>
          </a:xfrm>
          <a:prstGeom prst="rect">
            <a:avLst/>
          </a:prstGeom>
          <a:noFill/>
          <a:ln/>
        </p:spPr>
        <p:txBody>
          <a:bodyPr wrap="square" lIns="0" tIns="0" rIns="0" bIns="0" rtlCol="0" anchor="ctr"/>
          <a:lstStyle/>
          <a:p>
            <a:pPr marL="0" indent="0">
              <a:buNone/>
            </a:pPr>
            <a:r>
              <a:rPr lang="en-US" sz="1300" b="1" dirty="0">
                <a:solidFill>
                  <a:srgbClr val="1AB8C4"/>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Three event handlers: addMarker, clearMarkers, zoomToLocation</a:t>
            </a:r>
            <a:endParaRPr lang="en-US" sz="1300" dirty="0"/>
          </a:p>
        </p:txBody>
      </p:sp>
      <p:sp>
        <p:nvSpPr>
          <p:cNvPr id="20" name="Text 17"/>
          <p:cNvSpPr/>
          <p:nvPr/>
        </p:nvSpPr>
        <p:spPr>
          <a:xfrm>
            <a:off x="457200" y="4736592"/>
            <a:ext cx="822960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BTP610 – Week 8 Complete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495</TotalTime>
  <Words>2717</Words>
  <Application>Microsoft Office PowerPoint</Application>
  <PresentationFormat>On-screen Show (16:9)</PresentationFormat>
  <Paragraphs>312</Paragraphs>
  <Slides>25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 React Native Maps</dc:title>
  <dc:subject>PptxGenJS Presentation</dc:subject>
  <dc:creator>BTP610</dc:creator>
  <cp:lastModifiedBy>Yasemin Fanaeian</cp:lastModifiedBy>
  <cp:revision>54</cp:revision>
  <dcterms:created xsi:type="dcterms:W3CDTF">2026-06-29T13:52:53Z</dcterms:created>
  <dcterms:modified xsi:type="dcterms:W3CDTF">2026-06-30T19:25:07Z</dcterms:modified>
</cp:coreProperties>
</file>