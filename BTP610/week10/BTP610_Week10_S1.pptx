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71" r:id="rId6"/>
    <p:sldId id="272" r:id="rId7"/>
    <p:sldId id="278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9" r:id="rId18"/>
    <p:sldId id="270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5851" autoAdjust="0"/>
  </p:normalViewPr>
  <p:slideViewPr>
    <p:cSldViewPr snapToGrid="0" snapToObjects="1">
      <p:cViewPr varScale="1">
        <p:scale>
          <a:sx n="110" d="100"/>
          <a:sy n="110" d="100"/>
        </p:scale>
        <p:origin x="662" y="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013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Firebase is Google's all-in-one backend. Key selling point: no server to write. We use Auth for login and Firestore for data.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important concept before writing any code. Two collections: BookDB and userProfile. BookDB uses auto ID, userProfile uses the Firebase Auth UID as the document ID — this is the key link between Auth and </a:t>
            </a:r>
            <a:r>
              <a:rPr lang="en-US" dirty="0" err="1"/>
              <a:t>Firestore</a:t>
            </a:r>
            <a:r>
              <a:rPr lang="en-US" dirty="0"/>
              <a:t>.</a:t>
            </a:r>
          </a:p>
          <a:p>
            <a:r>
              <a:rPr lang="en-CA" b="1" dirty="0"/>
              <a:t>Books</a:t>
            </a:r>
            <a:r>
              <a:rPr lang="en-CA" dirty="0"/>
              <a:t> → each book just needs to be unique, we don't need to look up a specific book by a known ID, so we let </a:t>
            </a:r>
            <a:r>
              <a:rPr lang="en-CA" dirty="0" err="1"/>
              <a:t>Firestore</a:t>
            </a:r>
            <a:r>
              <a:rPr lang="en-CA" dirty="0"/>
              <a:t> generate a random ID automatically.</a:t>
            </a:r>
          </a:p>
          <a:p>
            <a:r>
              <a:rPr lang="en-CA" b="1" dirty="0"/>
              <a:t>User profile</a:t>
            </a:r>
            <a:r>
              <a:rPr lang="en-CA" dirty="0"/>
              <a:t> → we always need to find the profile of whoever is logged in, so we use their Firebase Auth UID as the document ID so we can look it up instantly.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mode for Firestore means open access — fine for development. NEVER commit the firebaseConfig keys to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the Expo project first, reset it, then install Firebase. Create the types/ folder and Book.tsx. Create CustomStyle.ts — all screens import from here so no copy-pasting styles. The @/ alias — it points to the project root (configured in tsconfig).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placeholder strings with the actual values from the Firebase Console. The three init lines connect to Firebase — one for the app, one for Auth, one for Firestore. We export both so any screen can import them.</a:t>
            </a:r>
          </a:p>
          <a:p>
            <a:endParaRPr lang="en-US" dirty="0"/>
          </a:p>
          <a:p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en-CA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gitignore</a:t>
            </a:r>
            <a:r>
              <a:rPr lang="en-CA" dirty="0"/>
              <a:t> is just a text file that lists files you want Git to ignore.</a:t>
            </a:r>
          </a:p>
          <a:p>
            <a:r>
              <a:rPr lang="en-CA" dirty="0"/>
              <a:t>Each line is a file or folder name. Git sees that list and skips those files when uploading to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 hook — starts with lowercase 'user' not 'use’. </a:t>
            </a:r>
            <a:r>
              <a:rPr lang="en-US" dirty="0" err="1"/>
              <a:t>onAuthStateChanged</a:t>
            </a:r>
            <a:r>
              <a:rPr lang="en-US" dirty="0"/>
              <a:t> fires immediately with current state AND again on any login/logout. User | null drives the whole routing system. The cleanup return unsubscribe is important — without it you get memory leaks.</a:t>
            </a:r>
          </a:p>
          <a:p>
            <a:endParaRPr lang="en-US" dirty="0"/>
          </a:p>
          <a:p>
            <a:r>
              <a:rPr lang="en-CA" dirty="0"/>
              <a:t>the component unmounts" means "that screen is no longer showing on the device.“</a:t>
            </a:r>
          </a:p>
          <a:p>
            <a:r>
              <a:rPr lang="en-CA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userAuthentication</a:t>
            </a:r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CA" dirty="0"/>
              <a:t> is the custom hook </a:t>
            </a:r>
          </a:p>
          <a:p>
            <a:endParaRPr lang="en-CA" dirty="0"/>
          </a:p>
          <a:p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 unsubscribe</a:t>
            </a:r>
            <a:r>
              <a:rPr lang="en-CA" dirty="0"/>
              <a:t> — cleanup when screen closes</a:t>
            </a:r>
          </a:p>
          <a:p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 user</a:t>
            </a:r>
            <a:r>
              <a:rPr lang="en-CA" dirty="0"/>
              <a:t> — the answer to "who is logged in right now?"</a:t>
            </a:r>
          </a:p>
          <a:p>
            <a:r>
              <a:rPr lang="en-CA" dirty="0"/>
              <a:t>They never run at the same time. The first is cleanup, the second is the actual result of the hook.</a:t>
            </a:r>
          </a:p>
          <a:p>
            <a:endParaRPr lang="en-CA" dirty="0"/>
          </a:p>
          <a:p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 unsubscribe</a:t>
            </a:r>
            <a:r>
              <a:rPr lang="en-CA" dirty="0"/>
              <a:t> is inside the </a:t>
            </a:r>
            <a:r>
              <a:rPr lang="en-CA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useEffect</a:t>
            </a:r>
            <a:r>
              <a:rPr lang="en-CA" dirty="0"/>
              <a:t> callback — it doesn't run immediately after </a:t>
            </a:r>
            <a:r>
              <a:rPr lang="en-CA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onAuthStateChanged</a:t>
            </a:r>
            <a:r>
              <a:rPr lang="en-CA" dirty="0"/>
              <a:t>. React holds onto it and only calls it later when the component unmounts.</a:t>
            </a:r>
          </a:p>
          <a:p>
            <a:r>
              <a:rPr lang="en-CA" dirty="0"/>
              <a:t>Think of it like leaving instructions</a:t>
            </a:r>
          </a:p>
          <a:p>
            <a:r>
              <a:rPr lang="en-C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onAuthStateChanged</a:t>
            </a:r>
            <a:r>
              <a:rPr lang="en-CA" dirty="0">
                <a:effectLst/>
              </a:rPr>
              <a:t> → runs </a:t>
            </a:r>
            <a:r>
              <a:rPr lang="en-CA" b="1" dirty="0">
                <a:effectLst/>
              </a:rPr>
              <a:t>right now</a:t>
            </a:r>
            <a:r>
              <a:rPr lang="en-CA" dirty="0">
                <a:effectLst/>
              </a:rPr>
              <a:t> when screen loads</a:t>
            </a:r>
          </a:p>
          <a:p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 unsubscribe</a:t>
            </a:r>
            <a:r>
              <a:rPr lang="en-CA" dirty="0">
                <a:effectLst/>
              </a:rPr>
              <a:t> → React saves it and runs it </a:t>
            </a:r>
            <a:r>
              <a:rPr lang="en-CA" b="1" dirty="0">
                <a:effectLst/>
              </a:rPr>
              <a:t>later</a:t>
            </a:r>
            <a:r>
              <a:rPr lang="en-CA" dirty="0">
                <a:effectLst/>
              </a:rPr>
              <a:t> when screen closes</a:t>
            </a:r>
          </a:p>
          <a:p>
            <a:r>
              <a:rPr lang="en-CA" dirty="0">
                <a:effectLst/>
              </a:rPr>
              <a:t>So even though it's the next line in the code, it doesn't execute next. React sees it as "here's what to do when you're done with this component" — not "run this now."</a:t>
            </a:r>
          </a:p>
          <a:p>
            <a:endParaRPr lang="en-CA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_layout.tsx first — headerShown false removes the default Expo header. index.tsx is the gatekeeper. Three states: undefined (loading), null (not logged in), User (logged in). Create the (auth) folder with brackets — brackets are Expo Router group syntax.</a:t>
            </a:r>
          </a:p>
          <a:p>
            <a:endParaRPr lang="en-US" dirty="0"/>
          </a:p>
          <a:p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 === undefined</a:t>
            </a:r>
            <a:r>
              <a:rPr lang="en-CA" dirty="0"/>
              <a:t> — Firebase is still loading, we don't know yet </a:t>
            </a:r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!user</a:t>
            </a:r>
            <a:r>
              <a:rPr lang="en-CA" dirty="0"/>
              <a:t> (user is null) — Firebase checked and nobody is logged in → go to Sign In user exists — someone is logged in → go to </a:t>
            </a:r>
            <a:r>
              <a:rPr lang="en-CA" dirty="0" err="1"/>
              <a:t>BookList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the auth layout with the dark blue header. Both signIn and signUp get this header automatically via screenOptions. Create a placeholder signIn.tsx so the app doesn't crash when index.tsx redirects to it. We'll build the real signIn next session.</a:t>
            </a:r>
          </a:p>
          <a:p>
            <a:endParaRPr lang="en-US" dirty="0"/>
          </a:p>
          <a:p>
            <a:r>
              <a:rPr lang="en-CA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headerTintColor</a:t>
            </a:r>
            <a:r>
              <a:rPr lang="en-CA" dirty="0"/>
              <a:t> only works inside navigation </a:t>
            </a:r>
            <a:r>
              <a:rPr lang="en-CA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screenOptions</a:t>
            </a:r>
            <a:r>
              <a:rPr lang="en-CA" dirty="0"/>
              <a:t> — you can't use it on regular components.</a:t>
            </a:r>
          </a:p>
          <a:p>
            <a:r>
              <a:rPr lang="en-CA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headerTintColor</a:t>
            </a:r>
            <a:r>
              <a:rPr lang="en-CA" dirty="0"/>
              <a:t> is specific to the navigation header. It controls:</a:t>
            </a:r>
          </a:p>
          <a:p>
            <a:r>
              <a:rPr lang="en-CA" dirty="0"/>
              <a:t>The back arrow colour</a:t>
            </a:r>
          </a:p>
          <a:p>
            <a:r>
              <a:rPr lang="en-CA" dirty="0"/>
              <a:t>The title text colour in the header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 state pattern. Instead of 7 separate useStates, one object holds everything. Spread update: ...userObject copies all existing fields, then we override just the one that changed. Without the spread, setting email would wipe out password, name,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Key: createUserWithEmailAndPassword returns userCredential — userCredential.user.uid is the unique ID Firebase generates. We immediately use that UID as the Firestore document ID so we can find the profile later. router.replace vs navigate: replace removes signUp from the back stack.</a:t>
            </a:r>
          </a:p>
          <a:p>
            <a:endParaRPr lang="en-US" dirty="0"/>
          </a:p>
          <a:p>
            <a:r>
              <a:rPr lang="en-CA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{...</a:t>
            </a:r>
            <a:r>
              <a:rPr lang="en-CA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userObject</a:t>
            </a:r>
            <a:r>
              <a:rPr lang="en-CA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error: 'Email and Password cannot be empty!'}</a:t>
            </a:r>
            <a:br>
              <a:rPr lang="en-CA" dirty="0"/>
            </a:br>
            <a:r>
              <a:rPr lang="en-CA" dirty="0"/>
              <a:t>Spread pattern — copies all existing fields from </a:t>
            </a:r>
            <a:r>
              <a:rPr lang="en-CA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userObject</a:t>
            </a:r>
            <a:r>
              <a:rPr lang="en-CA" dirty="0"/>
              <a:t> and only changes the </a:t>
            </a:r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error</a:t>
            </a:r>
            <a:r>
              <a:rPr lang="en-CA" dirty="0"/>
              <a:t> field.</a:t>
            </a:r>
          </a:p>
          <a:p>
            <a:endParaRPr lang="en-CA" dirty="0"/>
          </a:p>
          <a:p>
            <a:r>
              <a:rPr lang="en-CA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 </a:t>
            </a:r>
            <a:r>
              <a:rPr lang="en-CA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createUserWithEmailAndPassword</a:t>
            </a:r>
            <a:r>
              <a:rPr lang="en-CA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CA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firebaseAuth</a:t>
            </a:r>
            <a:r>
              <a:rPr lang="en-CA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CA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userObject.email</a:t>
            </a:r>
            <a:r>
              <a:rPr lang="en-CA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CA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userObject.password</a:t>
            </a:r>
            <a:r>
              <a:rPr lang="en-CA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br>
              <a:rPr lang="en-CA" dirty="0"/>
            </a:br>
            <a:r>
              <a:rPr lang="en-CA" dirty="0"/>
              <a:t>Creates the Firebase Auth account. Takes three arguments:</a:t>
            </a:r>
          </a:p>
          <a:p>
            <a:r>
              <a:rPr lang="en-CA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firebaseAuth</a:t>
            </a:r>
            <a:r>
              <a:rPr lang="en-CA" dirty="0"/>
              <a:t> — which Firebase project to use</a:t>
            </a:r>
          </a:p>
          <a:p>
            <a:r>
              <a:rPr lang="en-CA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userObject.email</a:t>
            </a:r>
            <a:r>
              <a:rPr lang="en-CA" dirty="0"/>
              <a:t> — the email the user typed</a:t>
            </a:r>
          </a:p>
          <a:p>
            <a:r>
              <a:rPr lang="en-CA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userObject.password</a:t>
            </a:r>
            <a:r>
              <a:rPr lang="en-CA" dirty="0"/>
              <a:t> — the password the user typed</a:t>
            </a:r>
          </a:p>
          <a:p>
            <a:r>
              <a:rPr lang="en-CA" dirty="0"/>
              <a:t>Returns </a:t>
            </a:r>
            <a:r>
              <a:rPr lang="en-CA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userCredential</a:t>
            </a:r>
            <a:r>
              <a:rPr lang="en-CA" dirty="0"/>
              <a:t> which contains the new user's UID.</a:t>
            </a:r>
          </a:p>
          <a:p>
            <a:br>
              <a:rPr lang="en-CA" dirty="0"/>
            </a:br>
            <a:endParaRPr lang="en-CA" dirty="0"/>
          </a:p>
          <a:p>
            <a:r>
              <a:rPr lang="en-CA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 </a:t>
            </a:r>
            <a:r>
              <a:rPr lang="en-CA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newUser</a:t>
            </a:r>
            <a:r>
              <a:rPr lang="en-CA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{ name, email, contact, location }</a:t>
            </a:r>
            <a:br>
              <a:rPr lang="en-CA" dirty="0"/>
            </a:br>
            <a:r>
              <a:rPr lang="en-CA" dirty="0"/>
              <a:t>Building a plain object from the form fields — this is what gets saved to </a:t>
            </a:r>
            <a:r>
              <a:rPr lang="en-CA" dirty="0" err="1"/>
              <a:t>Firestore</a:t>
            </a:r>
            <a:r>
              <a:rPr lang="en-CA" dirty="0"/>
              <a:t>. Notice </a:t>
            </a:r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password</a:t>
            </a:r>
            <a:r>
              <a:rPr lang="en-CA" dirty="0"/>
              <a:t> is NOT included — we never store passwords ourselves, Firebase handles that.</a:t>
            </a:r>
          </a:p>
          <a:p>
            <a:endParaRPr lang="en-US" dirty="0"/>
          </a:p>
          <a:p>
            <a:r>
              <a:rPr lang="en-CA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setDoc</a:t>
            </a:r>
            <a:r>
              <a:rPr lang="en-CA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(doc(</a:t>
            </a:r>
            <a:r>
              <a:rPr lang="en-CA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fireDB</a:t>
            </a:r>
            <a:r>
              <a:rPr lang="en-CA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'</a:t>
            </a:r>
            <a:r>
              <a:rPr lang="en-CA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userProfile</a:t>
            </a:r>
            <a:r>
              <a:rPr lang="en-CA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', </a:t>
            </a:r>
            <a:r>
              <a:rPr lang="en-CA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userCredential.user.uid</a:t>
            </a:r>
            <a:r>
              <a:rPr lang="en-CA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</a:t>
            </a:r>
            <a:r>
              <a:rPr lang="en-CA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newUser</a:t>
            </a:r>
            <a:r>
              <a:rPr lang="en-CA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br>
              <a:rPr lang="en-CA" dirty="0"/>
            </a:br>
            <a:r>
              <a:rPr lang="en-CA" dirty="0"/>
              <a:t>Two things happening here:</a:t>
            </a:r>
          </a:p>
          <a:p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doc(</a:t>
            </a:r>
            <a:r>
              <a:rPr lang="en-CA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fireDB</a:t>
            </a:r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'</a:t>
            </a:r>
            <a:r>
              <a:rPr lang="en-CA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userProfile</a:t>
            </a:r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', </a:t>
            </a:r>
            <a:r>
              <a:rPr lang="en-CA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userCredential.user.uid</a:t>
            </a:r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en-CA" dirty="0"/>
              <a:t> — creates the path: database </a:t>
            </a:r>
            <a:r>
              <a:rPr lang="en-CA" dirty="0">
                <a:sym typeface="Wingdings" panose="05000000000000000000" pitchFamily="2" charset="2"/>
              </a:rPr>
              <a:t></a:t>
            </a:r>
            <a:r>
              <a:rPr lang="en-CA" dirty="0"/>
              <a:t> </a:t>
            </a:r>
            <a:r>
              <a:rPr lang="en-CA" dirty="0" err="1"/>
              <a:t>userProfile</a:t>
            </a:r>
            <a:r>
              <a:rPr lang="en-CA" dirty="0"/>
              <a:t> collection </a:t>
            </a:r>
            <a:r>
              <a:rPr lang="en-CA" dirty="0">
                <a:sym typeface="Wingdings" panose="05000000000000000000" pitchFamily="2" charset="2"/>
              </a:rPr>
              <a:t></a:t>
            </a:r>
            <a:r>
              <a:rPr lang="en-CA" dirty="0"/>
              <a:t> document with UID as ID</a:t>
            </a:r>
          </a:p>
          <a:p>
            <a:r>
              <a:rPr lang="en-CA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setDoc</a:t>
            </a:r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(..., </a:t>
            </a:r>
            <a:r>
              <a:rPr lang="en-CA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newUser</a:t>
            </a:r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en-CA" dirty="0"/>
              <a:t> — writes the </a:t>
            </a:r>
            <a:r>
              <a:rPr lang="en-CA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newUser</a:t>
            </a:r>
            <a:r>
              <a:rPr lang="en-CA" dirty="0"/>
              <a:t> object to that path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building JSX, run the app and create an account. Then open Firebase Console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Authentication to ensure the new account appeared. Open </a:t>
            </a:r>
            <a:r>
              <a:rPr lang="en-US" dirty="0" err="1"/>
              <a:t>Firestore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userProfile collection to show the document was created with the UID as document ID.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Npx</a:t>
            </a:r>
            <a:r>
              <a:rPr lang="en-US" dirty="0"/>
              <a:t> expo start</a:t>
            </a:r>
          </a:p>
          <a:p>
            <a:r>
              <a:rPr lang="en-US" dirty="0"/>
              <a:t>The /BookList crash is expected and normal —that's what we build in Week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 Router uses the file system for routing — the folder name IS the route. Parentheses in folder names are Expo Router 'groups' — they organise files but don't add to the URL. (auth)/signIn.tsx → navigated to as /signIn.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0A7E8C">
              <a:alpha val="22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7132320" y="-274320"/>
            <a:ext cx="2011680" cy="2011680"/>
          </a:xfrm>
          <a:prstGeom prst="ellipse">
            <a:avLst/>
          </a:prstGeom>
          <a:solidFill>
            <a:srgbClr val="1AB8C4">
              <a:alpha val="18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BTP610 – Mobile Applications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B8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10 — Session 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Firebase Setup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Sign Up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2816352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4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Console, firebaseConfig.ts, userAuthentication hook,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4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routing, CustomStyle, Book type, signUp screen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2120" y="4664275"/>
            <a:ext cx="9144000" cy="461772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CA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48640" cy="676656"/>
          </a:xfrm>
          <a:prstGeom prst="roundRect">
            <a:avLst>
              <a:gd name="adj" fmla="val 13333"/>
            </a:avLst>
          </a:prstGeom>
          <a:solidFill>
            <a:srgbClr val="0A7E8C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548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0149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Firebase?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3075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overview, Auth, Firestore, why we use 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764792"/>
            <a:ext cx="84124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365760" y="1764792"/>
            <a:ext cx="548640" cy="676656"/>
          </a:xfrm>
          <a:prstGeom prst="roundRect">
            <a:avLst>
              <a:gd name="adj" fmla="val 13333"/>
            </a:avLst>
          </a:prstGeom>
          <a:solidFill>
            <a:srgbClr val="0A7E8C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365760" y="1764792"/>
            <a:ext cx="548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18196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Firebase Console Setup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11226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project, enable Auth &amp; Firestore, get config keys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69464"/>
            <a:ext cx="84124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365760" y="2569464"/>
            <a:ext cx="548640" cy="676656"/>
          </a:xfrm>
          <a:prstGeom prst="roundRect">
            <a:avLst>
              <a:gd name="adj" fmla="val 13333"/>
            </a:avLst>
          </a:prstGeom>
          <a:solidFill>
            <a:srgbClr val="0A7E8C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365760" y="2569464"/>
            <a:ext cx="548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2624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setup &amp; shared files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291693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Expo app, firebaseConfig.ts, CustomStyle.ts, Book type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374136"/>
            <a:ext cx="84124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365760" y="3374136"/>
            <a:ext cx="548640" cy="676656"/>
          </a:xfrm>
          <a:prstGeom prst="roundRect">
            <a:avLst>
              <a:gd name="adj" fmla="val 13333"/>
            </a:avLst>
          </a:prstGeom>
          <a:solidFill>
            <a:srgbClr val="0A7E8C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365760" y="3374136"/>
            <a:ext cx="548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3429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userAuthentication hook + routing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372160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onAuthStateChanged, index.tsx redirect logic, _layout.tsx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178808"/>
            <a:ext cx="84124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365760" y="4178808"/>
            <a:ext cx="548640" cy="676656"/>
          </a:xfrm>
          <a:prstGeom prst="roundRect">
            <a:avLst>
              <a:gd name="adj" fmla="val 13333"/>
            </a:avLst>
          </a:prstGeom>
          <a:solidFill>
            <a:srgbClr val="0A7E8C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365760" y="4178808"/>
            <a:ext cx="548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" y="42336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Up screen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1560" y="45262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createUserWithEmailAndPassword, setDoc, object state pattern, JSX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Firebase?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is a backend platform by Google — gives your app a database, user login, and more without writing server code.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Firebase Auth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19072"/>
            <a:ext cx="3703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sign up / sign in with email &amp; password. Handles passwords securely — we never store them ourselves.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0" y="1298448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4754880" y="13898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Firestore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719072"/>
            <a:ext cx="3703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NoSQL database. Data stored as Documents inside Collections. Real-time updates built in.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65176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use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072384"/>
            <a:ext cx="3703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— for Sign Up and Sign In.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— for storing books and user profiles.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265176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4754880" y="27432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Firebase?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3072384"/>
            <a:ext cx="3703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to write or maintain. Free tier (Spark plan) covers everything we need. Works directly from Expo.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4133088"/>
            <a:ext cx="8412480" cy="420624"/>
          </a:xfrm>
          <a:prstGeom prst="roundRect">
            <a:avLst>
              <a:gd name="adj" fmla="val 21739"/>
            </a:avLst>
          </a:prstGeom>
          <a:solidFill>
            <a:srgbClr val="0F202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502920" y="4242816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firebase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Firestore Data Model: Collections &amp; Documents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stores data as Documents inside Collections — think of it like folders and files.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5120640" cy="3566160"/>
          </a:xfrm>
          <a:prstGeom prst="roundRect">
            <a:avLst>
              <a:gd name="adj" fmla="val 2564"/>
            </a:avLst>
          </a:prstGeom>
          <a:solidFill>
            <a:srgbClr val="0F202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502920" y="1344168"/>
            <a:ext cx="4846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 Database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BookDB  (Collection — stores all books)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abc123  (Document — one book, auto-generated ID)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title:  "The Alchemist"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author: "Paulo Coelho"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genre:  "Fiction"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uid:    "user456"   ← who added this book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def456  (Document — another book)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userProfile  (Collection — stores user profiles)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user456  (Document ID = Firebase Auth UID)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name:     "John Doe"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email:    "john@myseneca.ca"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contact:  "416-555-0000"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└── location: "Toronto"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760720" y="1234440"/>
            <a:ext cx="3017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5943600" y="1325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1655064"/>
            <a:ext cx="2697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of related documents. Like a table in SQL. We have BookDB and userProfile.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60720" y="2532888"/>
            <a:ext cx="3017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5943600" y="26243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2953512"/>
            <a:ext cx="2697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 with an ID. BookDB → auto-generated ID. userProfile → we use the Firebase Auth UID.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60720" y="3831336"/>
            <a:ext cx="3017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5943600" y="39227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UID as doc ID?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4251960"/>
            <a:ext cx="2697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the user profile with the UID as document ID so we can look it up easily later using that same UID.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Firebase Console Setup — Step by Step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402336" y="1078992"/>
            <a:ext cx="384048" cy="384048"/>
          </a:xfrm>
          <a:prstGeom prst="ellipse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402336" y="10972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9875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to console.firebase.google.com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26187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your Google account. Follow the steps to create a new project. Name it e.g. GoodReadClub.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755648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402336" y="1920240"/>
            <a:ext cx="384048" cy="384048"/>
          </a:xfrm>
          <a:prstGeom prst="ellipse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402336" y="19385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1828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 Authentication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10312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“Search for products” bar type “Authentication” → Get started → Email/Password → Enable → Save.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96896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402336" y="2761488"/>
            <a:ext cx="384048" cy="384048"/>
          </a:xfrm>
          <a:prstGeom prst="ellipse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402336" y="27797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2670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 Firestore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294436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&amp; Storage →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Create database → Standard edition → Choose location (Toronto) → Start in test mode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 Create.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438144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402336" y="3602736"/>
            <a:ext cx="384048" cy="384048"/>
          </a:xfrm>
          <a:prstGeom prst="ellipse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402336" y="362102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35112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Your config keys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378561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(gear icon) → General → Web (&lt;/&gt;) → Register (</a:t>
            </a:r>
            <a:r>
              <a:rPr lang="en-CA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</a:t>
            </a:r>
            <a:r>
              <a:rPr lang="en-CA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GoodReadClub</a:t>
            </a:r>
            <a:r>
              <a:rPr lang="en-CA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the nickname)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Copy the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firebaseConfig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object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 Click Continue to Console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279392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402336" y="4443984"/>
            <a:ext cx="384048" cy="384048"/>
          </a:xfrm>
          <a:prstGeom prst="ellipse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402336" y="44622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430649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Collections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4590685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→ + Start collection → Type "BookDB" as the Collection ID→ Click Auto ID for the Document ID→ add any field (e.g. title: “test”)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 click Save. Click + Start collection again Type “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userProfile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” as the Collection ID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Click Auto ID for the Document ID→ add any field (e.g. title: “test”)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 click Save. 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514BDA-0B98-735E-AEF8-71E22EFC0E85}"/>
              </a:ext>
            </a:extLst>
          </p:cNvPr>
          <p:cNvSpPr txBox="1"/>
          <p:nvPr/>
        </p:nvSpPr>
        <p:spPr>
          <a:xfrm>
            <a:off x="674287" y="1605133"/>
            <a:ext cx="472674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CA" dirty="0">
                <a:latin typeface="Cambria" panose="02040503050406030204" pitchFamily="18" charset="0"/>
                <a:ea typeface="Cambria" panose="02040503050406030204" pitchFamily="18" charset="0"/>
              </a:rPr>
              <a:t>Firebase project created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CA" dirty="0">
                <a:latin typeface="Cambria" panose="02040503050406030204" pitchFamily="18" charset="0"/>
                <a:ea typeface="Cambria" panose="02040503050406030204" pitchFamily="18" charset="0"/>
              </a:rPr>
              <a:t>Authentication enabled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CA" dirty="0" err="1">
                <a:latin typeface="Cambria" panose="02040503050406030204" pitchFamily="18" charset="0"/>
                <a:ea typeface="Cambria" panose="02040503050406030204" pitchFamily="18" charset="0"/>
              </a:rPr>
              <a:t>Firestore</a:t>
            </a:r>
            <a:r>
              <a:rPr lang="en-CA" dirty="0">
                <a:latin typeface="Cambria" panose="02040503050406030204" pitchFamily="18" charset="0"/>
                <a:ea typeface="Cambria" panose="02040503050406030204" pitchFamily="18" charset="0"/>
              </a:rPr>
              <a:t> database created in test mode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CA" dirty="0">
                <a:latin typeface="Cambria" panose="02040503050406030204" pitchFamily="18" charset="0"/>
                <a:ea typeface="Cambria" panose="02040503050406030204" pitchFamily="18" charset="0"/>
              </a:rPr>
              <a:t>Web app registered and config keys copied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CA" dirty="0" err="1">
                <a:latin typeface="Cambria" panose="02040503050406030204" pitchFamily="18" charset="0"/>
                <a:ea typeface="Cambria" panose="02040503050406030204" pitchFamily="18" charset="0"/>
              </a:rPr>
              <a:t>BookDB</a:t>
            </a:r>
            <a:r>
              <a:rPr lang="en-CA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CA" dirty="0" err="1">
                <a:latin typeface="Cambria" panose="02040503050406030204" pitchFamily="18" charset="0"/>
                <a:ea typeface="Cambria" panose="02040503050406030204" pitchFamily="18" charset="0"/>
              </a:rPr>
              <a:t>userProfile</a:t>
            </a:r>
            <a:r>
              <a:rPr lang="en-CA" dirty="0">
                <a:latin typeface="Cambria" panose="02040503050406030204" pitchFamily="18" charset="0"/>
                <a:ea typeface="Cambria" panose="02040503050406030204" pitchFamily="18" charset="0"/>
              </a:rPr>
              <a:t> collections created</a:t>
            </a:r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A4FD8D39-B6FB-D0B7-DC3D-70DCEC4BF052}"/>
              </a:ext>
            </a:extLst>
          </p:cNvPr>
          <p:cNvSpPr/>
          <p:nvPr/>
        </p:nvSpPr>
        <p:spPr>
          <a:xfrm>
            <a:off x="365760" y="164592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E82CEF97-C2CE-04E8-A310-858AF29DF05C}"/>
              </a:ext>
            </a:extLst>
          </p:cNvPr>
          <p:cNvSpPr/>
          <p:nvPr/>
        </p:nvSpPr>
        <p:spPr>
          <a:xfrm>
            <a:off x="502920" y="1828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Firebase Console Setup — Step by Step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963103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66E32DF7-66E3-0E9E-A3A4-8162C59482C9}"/>
              </a:ext>
            </a:extLst>
          </p:cNvPr>
          <p:cNvSpPr/>
          <p:nvPr/>
        </p:nvSpPr>
        <p:spPr>
          <a:xfrm>
            <a:off x="365760" y="164592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0D1B2A"/>
          </a:solidFill>
          <a:ln/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Step 0: Setting Up a New Project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CB4C15-B6F4-6A76-9FCE-D107684E7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992" y="2062427"/>
            <a:ext cx="6843353" cy="21718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1E4D2B7-1FD7-472E-59FE-63843CFB7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543" y="3577131"/>
            <a:ext cx="1581287" cy="21718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3FDE873-6509-48CE-4765-852E7FB72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543" y="3933119"/>
            <a:ext cx="6466130" cy="27815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CBC073E-0F0E-902B-2BA1-324B1828CAA1}"/>
              </a:ext>
            </a:extLst>
          </p:cNvPr>
          <p:cNvSpPr txBox="1"/>
          <p:nvPr/>
        </p:nvSpPr>
        <p:spPr>
          <a:xfrm>
            <a:off x="365760" y="771472"/>
            <a:ext cx="2361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1. Create a new project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097851-ECD3-594A-61C1-ED78BE28751C}"/>
              </a:ext>
            </a:extLst>
          </p:cNvPr>
          <p:cNvSpPr txBox="1"/>
          <p:nvPr/>
        </p:nvSpPr>
        <p:spPr>
          <a:xfrm>
            <a:off x="365759" y="1606812"/>
            <a:ext cx="2148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2. Select SDK Version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9718B8-8F9F-9178-3804-76E3C06A8292}"/>
              </a:ext>
            </a:extLst>
          </p:cNvPr>
          <p:cNvSpPr txBox="1"/>
          <p:nvPr/>
        </p:nvSpPr>
        <p:spPr>
          <a:xfrm>
            <a:off x="343986" y="2365899"/>
            <a:ext cx="3346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3. Change directory to the project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F78952-8DD3-B1C8-85F6-2B5D845EDA16}"/>
              </a:ext>
            </a:extLst>
          </p:cNvPr>
          <p:cNvSpPr txBox="1"/>
          <p:nvPr/>
        </p:nvSpPr>
        <p:spPr>
          <a:xfrm>
            <a:off x="365759" y="3151216"/>
            <a:ext cx="8222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4. Delete the demo code Expo gives you so you can start from a clean blank screen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BBE402-20F0-A544-0E0E-2B43425065C9}"/>
              </a:ext>
            </a:extLst>
          </p:cNvPr>
          <p:cNvSpPr txBox="1"/>
          <p:nvPr/>
        </p:nvSpPr>
        <p:spPr>
          <a:xfrm>
            <a:off x="326239" y="4254512"/>
            <a:ext cx="4648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5. Open the project folder in Visual Studio Code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BA4BE60-665A-D34F-DF40-27F7B8F9F5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138" y="1332986"/>
            <a:ext cx="8432261" cy="17908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2E2B4A-E9FF-F2EA-1D69-ABC6AD0851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992" y="2901960"/>
            <a:ext cx="7151990" cy="20194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57C7E53-0D05-49B0-0BAD-6CD011C9F1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992" y="4715901"/>
            <a:ext cx="7548264" cy="19432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849725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Create Shared Files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Firebase: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05679" y="993511"/>
            <a:ext cx="5303520" cy="395132"/>
          </a:xfrm>
          <a:prstGeom prst="roundRect">
            <a:avLst>
              <a:gd name="adj" fmla="val 9091"/>
            </a:avLst>
          </a:prstGeom>
          <a:solidFill>
            <a:srgbClr val="0F202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468283" y="1073245"/>
            <a:ext cx="5029200" cy="231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 err="1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</a:t>
            </a:r>
            <a:r>
              <a:rPr lang="en-US" sz="110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install firebase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715" y="1429593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types/</a:t>
            </a:r>
            <a:r>
              <a:rPr lang="en-US" sz="1300" b="1" dirty="0" err="1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Book.tsx</a:t>
            </a: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— TypeScript type shared across all screens</a:t>
            </a:r>
          </a:p>
        </p:txBody>
      </p:sp>
      <p:sp>
        <p:nvSpPr>
          <p:cNvPr id="10" name="Text 8"/>
          <p:cNvSpPr/>
          <p:nvPr/>
        </p:nvSpPr>
        <p:spPr>
          <a:xfrm>
            <a:off x="5125181" y="1851185"/>
            <a:ext cx="34701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CustomStyle.ts — shared styles imported by all screens (under root of project)</a:t>
            </a:r>
            <a:endParaRPr lang="en-US" sz="13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9C81384-EB46-2EC7-1E4F-8B5DC9F40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15" y="1740210"/>
            <a:ext cx="3439007" cy="93569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C65276-B672-E145-04B8-E460215613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8483" y="2247128"/>
            <a:ext cx="5424974" cy="265542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8" name="Shape 8">
            <a:extLst>
              <a:ext uri="{FF2B5EF4-FFF2-40B4-BE49-F238E27FC236}">
                <a16:creationId xmlns:a16="http://schemas.microsoft.com/office/drawing/2014/main" id="{68170DE1-9BBD-0926-A190-ABC4F07554B2}"/>
              </a:ext>
            </a:extLst>
          </p:cNvPr>
          <p:cNvSpPr/>
          <p:nvPr/>
        </p:nvSpPr>
        <p:spPr>
          <a:xfrm>
            <a:off x="112968" y="3003472"/>
            <a:ext cx="2926080" cy="94183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0DF89623-38E3-F4AD-EA09-8D231A8CD0CB}"/>
              </a:ext>
            </a:extLst>
          </p:cNvPr>
          <p:cNvSpPr/>
          <p:nvPr/>
        </p:nvSpPr>
        <p:spPr>
          <a:xfrm>
            <a:off x="250128" y="3069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uid field on Book</a:t>
            </a:r>
            <a:endParaRPr lang="en-US" sz="1200" dirty="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3F189903-1A66-08C8-FFE5-6E22ACA05C8F}"/>
              </a:ext>
            </a:extLst>
          </p:cNvPr>
          <p:cNvSpPr/>
          <p:nvPr/>
        </p:nvSpPr>
        <p:spPr>
          <a:xfrm>
            <a:off x="250128" y="3103923"/>
            <a:ext cx="26060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Firebase Auth UID of who added this book — used for permission-based features.</a:t>
            </a:r>
            <a:endParaRPr lang="en-US" sz="1050" dirty="0"/>
          </a:p>
        </p:txBody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565A3EE0-7BA2-15E3-F505-7FED7BAC7EFA}"/>
              </a:ext>
            </a:extLst>
          </p:cNvPr>
          <p:cNvSpPr/>
          <p:nvPr/>
        </p:nvSpPr>
        <p:spPr>
          <a:xfrm>
            <a:off x="146351" y="4070255"/>
            <a:ext cx="2926080" cy="94183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 dirty="0"/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C6C195FD-A6CE-0F54-79F8-F0D29FAB9657}"/>
              </a:ext>
            </a:extLst>
          </p:cNvPr>
          <p:cNvSpPr/>
          <p:nvPr/>
        </p:nvSpPr>
        <p:spPr>
          <a:xfrm>
            <a:off x="187316" y="4255939"/>
            <a:ext cx="2606040" cy="722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copy-pasting styles into every screen, we define them once and import them: import { styles } from '@/CustomStyle'</a:t>
            </a:r>
            <a:endParaRPr lang="en-US" sz="1050" dirty="0"/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14C6D752-D2AC-92CF-91A0-FD540D72EC14}"/>
              </a:ext>
            </a:extLst>
          </p:cNvPr>
          <p:cNvSpPr/>
          <p:nvPr/>
        </p:nvSpPr>
        <p:spPr>
          <a:xfrm>
            <a:off x="250128" y="406297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styles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firebaseConfig.ts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this file in the project root. Paste your config keys from the Firebase Console.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0" y="1234440"/>
            <a:ext cx="29260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6035040" y="13258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initializeApp()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35040" y="165506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your app to your Firebase project using the config keys from the Console.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852160" y="2075688"/>
            <a:ext cx="29260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035040" y="21671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getAuth(app)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249631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Auth service — used for sign up, sign in, sign out.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52160" y="2916936"/>
            <a:ext cx="29260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6035040" y="300837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getFirestore(app)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0" y="33375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Firestore database — used for reading and writing data.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52160" y="3758184"/>
            <a:ext cx="29260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6035040" y="384962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{ firebaseAuth, fireDB }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35040" y="417880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screen can import these two and use Firebase directly.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92331" y="4517136"/>
            <a:ext cx="8037022" cy="603504"/>
          </a:xfrm>
          <a:prstGeom prst="roundRect">
            <a:avLst>
              <a:gd name="adj" fmla="val 10000"/>
            </a:avLst>
          </a:prstGeom>
          <a:solidFill>
            <a:srgbClr val="FFE0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292331" y="4261104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4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Never share your config keys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15883" y="4605806"/>
            <a:ext cx="49557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post firebaseConfig.ts on GitHub or Discord. In a real project add it to .gitignore.</a:t>
            </a:r>
            <a:endParaRPr lang="en-US" sz="11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986339F-38E8-E886-F01B-261F61717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655" y="1280159"/>
            <a:ext cx="3477490" cy="289335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userAuthentication.ts (Custom Hook)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hook that listens for auth state changes and returns the current user.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0" y="1234440"/>
            <a:ext cx="29260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6035040" y="13258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hook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35040" y="165506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that uses React hooks. Any component calls userAuthentication() to get the current user.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852160" y="2221992"/>
            <a:ext cx="29260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035040" y="23134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onAuthStateChanged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264261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function that fires every time the user logs in or out. We pass it a callback that updates state.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52160" y="3209544"/>
            <a:ext cx="29260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6035040" y="330098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| null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0" y="363016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union type. User = logged in. null = not logged in. Drives the routing in index.tsx.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52160" y="4197096"/>
            <a:ext cx="29260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6035040" y="428853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unsubscribe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35040" y="461772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 — stops listening when component unmounts. Prevents memory leaks.</a:t>
            </a:r>
            <a:endParaRPr lang="en-US" sz="10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61B05CA-7A67-D427-C258-5812D3C51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31313"/>
            <a:ext cx="4589385" cy="371249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— Routing: index.tsx, _layout.tsx &amp; Folder Structure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9842" y="800100"/>
            <a:ext cx="40919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app/_layout.tsx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Root layout, hides all default headers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9842" y="204818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app/index.tsx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Entry point: redirect based on auth state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2855" y="3134105"/>
            <a:ext cx="30944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Folder structure — create these now: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58590" y="3467792"/>
            <a:ext cx="4395356" cy="1467751"/>
          </a:xfrm>
          <a:prstGeom prst="roundRect">
            <a:avLst>
              <a:gd name="adj" fmla="val 10204"/>
            </a:avLst>
          </a:prstGeom>
          <a:solidFill>
            <a:srgbClr val="0F202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4842855" y="3576895"/>
            <a:ext cx="393538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_layout.tsx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index.tsx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(auth)/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_layout.tsx    ← create now, code next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signIn.tsx     ← placeholder for now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signUp.tsx     ← build this session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14851" y="790956"/>
            <a:ext cx="2926080" cy="1020526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5311140" y="8412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states of user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74871" y="946404"/>
            <a:ext cx="26060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 = auth loading (show nothing)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= not logged in → signIn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object = logged in → BookList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214851" y="1944328"/>
            <a:ext cx="2926080" cy="922316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5350625" y="19613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groups (auth)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73485" y="1993392"/>
            <a:ext cx="26060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name with brackets = Expo Router group. Organises files but doesn't appear in the URL path.</a:t>
            </a:r>
            <a:endParaRPr lang="en-US" sz="10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C5EF877-FD32-55E9-2EB4-7C2EF97A5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48" y="1161288"/>
            <a:ext cx="3498096" cy="89985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1758911-2494-7002-94C3-F74AD13647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981" y="2395867"/>
            <a:ext cx="4209101" cy="266613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 — (auth)/_layout.tsx: Styled Header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44780" y="4192524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281940" y="423519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screenOptions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1940" y="4469892"/>
            <a:ext cx="26060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the dark header style to ALL screens inside this Stack — both signIn and signUp get the same header.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8020" y="4145280"/>
            <a:ext cx="2926080" cy="9128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3322320" y="423294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Stack.Screen name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14700" y="4427220"/>
            <a:ext cx="26060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filename. name='signIn' → signIn.tsx. Sets the title text shown in the header bar.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9820" y="41452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6316980" y="423519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headerTintColor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1740" y="4428744"/>
            <a:ext cx="26060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of the back arrow and title text. White so it's visible on the dark navy background.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65835" y="892234"/>
            <a:ext cx="4625340" cy="2775272"/>
          </a:xfrm>
          <a:prstGeom prst="roundRect">
            <a:avLst>
              <a:gd name="adj" fmla="val 6579"/>
            </a:avLst>
          </a:prstGeom>
          <a:solidFill>
            <a:srgbClr val="D4F5F5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4541520" y="934974"/>
            <a:ext cx="44272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Also create a placeholder signIn.tsx for now:</a:t>
            </a:r>
            <a:endParaRPr lang="en-US" sz="1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C9885EB-72B1-5E65-CCDB-4F53A050A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" y="962864"/>
            <a:ext cx="4364418" cy="255804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8D91880-306B-54CE-1A4C-998B8A1A04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0171" y="1228809"/>
            <a:ext cx="4456669" cy="231097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 — signUp.tsx: Imports &amp; State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852160" y="841248"/>
            <a:ext cx="292608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6035040" y="9326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createUserWithEmailAndPassword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0" y="126187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function. Creates a new login account. Returns userCredential — contains the new user's UID.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852160" y="1920240"/>
            <a:ext cx="292608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6035040" y="20116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setDoc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0" y="2340864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 document to Firestore at a specific path we provide. We use the UID as the document ID.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52160" y="2999232"/>
            <a:ext cx="292608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6035040" y="30906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state pattern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35040" y="3419856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useState holds ALL form fields. Update one field with spread: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setUserObject({ ...userObject, email: text })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52160" y="4078224"/>
            <a:ext cx="292608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6035040" y="416966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field in state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5040" y="449884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 lives in the same object. Empty string = hidden. Any text = shown in red on screen.</a:t>
            </a:r>
            <a:endParaRPr lang="en-US" sz="10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B936F72-2F55-AAE2-52F1-D9D3B358F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06" y="829057"/>
            <a:ext cx="5585277" cy="409041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" y="32004"/>
            <a:ext cx="8412480" cy="461772"/>
          </a:xfrm>
          <a:prstGeom prst="roundRect">
            <a:avLst>
              <a:gd name="adj" fmla="val 12903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144780" y="-3200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 — onSignUp() Function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852160" y="841248"/>
            <a:ext cx="29260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5888736" y="1005840"/>
            <a:ext cx="384048" cy="384048"/>
          </a:xfrm>
          <a:prstGeom prst="ellipse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5888736" y="10241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45936" y="9144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first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45936" y="11887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required fields before any Firebase call.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52160" y="1892808"/>
            <a:ext cx="29260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5888736" y="2057400"/>
            <a:ext cx="384048" cy="384048"/>
          </a:xfrm>
          <a:prstGeom prst="ellipse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5888736" y="207568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45936" y="19659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createUserWithEmailAndPassword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45936" y="22402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userCredential. userCredential.user.uid = the new user's unique ID generated by Firebase.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52160" y="2944368"/>
            <a:ext cx="29260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5888736" y="3108960"/>
            <a:ext cx="384048" cy="384048"/>
          </a:xfrm>
          <a:prstGeom prst="ellipse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5888736" y="31272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45936" y="3017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setDoc to Firestore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45936" y="32918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doc(fireDB, 'userProfile', uid) creates the path. setDoc writes newUser to that document.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52160" y="3995928"/>
            <a:ext cx="29260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5888736" y="4160520"/>
            <a:ext cx="384048" cy="384048"/>
          </a:xfrm>
          <a:prstGeom prst="ellipse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5888736" y="417880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45936" y="40690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then navigate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45936" y="43434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router.replace('/BookList') — replace so user can't go back to sign up.</a:t>
            </a:r>
            <a:endParaRPr lang="en-US" sz="10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A9781CC-D114-A095-FD2C-EB152F85F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" y="551946"/>
            <a:ext cx="4266192" cy="315416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1036C1B-C672-E2F2-8001-40613854F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" y="3767327"/>
            <a:ext cx="4266192" cy="133035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" y="51816"/>
            <a:ext cx="8412480" cy="455298"/>
          </a:xfrm>
          <a:prstGeom prst="roundRect">
            <a:avLst>
              <a:gd name="adj" fmla="val 12903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197849" y="-106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 — signUp.tsx: JSX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" y="4440936"/>
            <a:ext cx="2301240" cy="65989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140971" y="44241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secureTextEntry={true}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3831" y="46908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characters — shows dots. Used for password fields.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13634" y="4379976"/>
            <a:ext cx="1823086" cy="75895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2465071" y="437997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keyboardType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5071" y="46908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"email-address" → shows @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"phone-pad" → numbers only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"default" → standard keyboard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94197" y="4361688"/>
            <a:ext cx="2204083" cy="75895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7000877" y="437464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autoCapitalize='none'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62777" y="4714494"/>
            <a:ext cx="20535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email — prevents iOS capitalising the first letter.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88157" y="4379976"/>
            <a:ext cx="2606040" cy="740664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4343400" y="44241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7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!!userObject.error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0" y="46725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bang converts string to boolean. Empty string = false (hidden). Any text = true (shown).</a:t>
            </a:r>
            <a:endParaRPr lang="en-US" sz="1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72E6998-A33D-A2CD-8979-713B480C4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" y="676656"/>
            <a:ext cx="4582492" cy="350672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215B09F-D45C-0835-7421-9529B79EDF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4271" y="810006"/>
            <a:ext cx="4299852" cy="180866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It — Verify in Firebase Console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app, create an account, then show students what appeared in Firebase.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402336" y="1371600"/>
            <a:ext cx="347472" cy="347472"/>
          </a:xfrm>
          <a:prstGeom prst="ellipse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402336" y="138988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2893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shows Sign Up screen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156362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index.tsx → user is null → Redirect to /signIn → placeholder shows. Tap Sign Up button → navigate to signUp.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02536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402336" y="2139696"/>
            <a:ext cx="347472" cy="347472"/>
          </a:xfrm>
          <a:prstGeom prst="ellipse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402336" y="215798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" y="20574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 in the form and tap Sign Up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" y="23317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email, password, name, phone, location. Tap Sign Up.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770632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402336" y="2907792"/>
            <a:ext cx="347472" cy="347472"/>
          </a:xfrm>
          <a:prstGeom prst="ellipse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402336" y="292608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" y="28254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Firebase Authentication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" y="309981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Console → Authentication → Users tab. You should see the new account with the email address.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538728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402336" y="3675888"/>
            <a:ext cx="347472" cy="347472"/>
          </a:xfrm>
          <a:prstGeom prst="ellipse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402336" y="369417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" y="359359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Firestore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" y="386791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Console → Firestore → userProfile collection. You should see a document with the UID as the ID and the name, email, contact, location fields.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306824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6" name="Shape 24"/>
          <p:cNvSpPr/>
          <p:nvPr/>
        </p:nvSpPr>
        <p:spPr>
          <a:xfrm>
            <a:off x="402336" y="4443984"/>
            <a:ext cx="347472" cy="347472"/>
          </a:xfrm>
          <a:prstGeom prst="ellipse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402336" y="446227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" y="43616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navigates to /BookList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1248" y="46360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sign up the Alert shows, tap Okay. App tries to go to /BookList — it will crash or show blank because that screen doesn't exist yet. That's expected — we build it in Week 12.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Folder 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69983"/>
            <a:ext cx="8412480" cy="4114800"/>
          </a:xfrm>
          <a:prstGeom prst="roundRect">
            <a:avLst>
              <a:gd name="adj" fmla="val 2222"/>
            </a:avLst>
          </a:prstGeom>
          <a:solidFill>
            <a:srgbClr val="0F202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02920" y="857649"/>
            <a:ext cx="813816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GoodReadClub/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_layout.tsx            ← Root layout (headerShown: false)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index.tsx              ← Entry point: redirect based on auth state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(auth)/                ← Auth group: screens for login/signup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_layout.tsx        ← Auth header (dark blue style)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signIn.tsx         ← Sign In screen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signUp.tsx         ← Sign Up screen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(welcome)/             ← Logged-in group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_layout.tsx        ← Welcome layout (hides header for tabs)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(tabs)/            ← Tab navigation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├── _layout.tsx    ← Defines 3 tabs: Books, Add Book, Profile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├── BookList.tsx   ← Tab 1: Read/Delete/Update books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├── NewBook.tsx    ← Tab 2: Add a new book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└── UserProfile.tsx ← Tab 3: Show user profile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firebaseConfig.ts          ← Firebase init + exports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userAuthentication.ts      ← Custom auth hook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CustomStyle.ts             ← Shared StyleSheet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types/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Book.tsx               ← Book TypeScript type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9583" y="4901982"/>
            <a:ext cx="8412480" cy="201168"/>
          </a:xfrm>
          <a:prstGeom prst="roundRect">
            <a:avLst>
              <a:gd name="adj" fmla="val 27273"/>
            </a:avLst>
          </a:prstGeom>
          <a:solidFill>
            <a:srgbClr val="0A7E8C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457200" y="491112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groups (auth) and (welcome) are Expo Router folder groups — they organize routes but don't appear in the URL path.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0A7E8C">
              <a:alpha val="15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7132320" y="-457200"/>
            <a:ext cx="2286000" cy="2286000"/>
          </a:xfrm>
          <a:prstGeom prst="ellipse">
            <a:avLst/>
          </a:prstGeom>
          <a:solidFill>
            <a:srgbClr val="1AB8C4">
              <a:alpha val="18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1188720" y="5943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Covered Today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Console — Auth + Firestore setup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172821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firebaseConfig.ts — connects app to Firebase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21305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userAuthentication() custom hook — onAuthStateChanged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53288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index.tsx — redirects based on auth state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293522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(auth)/_layout.tsx — dark blue header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33375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type + CustomStyle.ts — shared files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373989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signUp.tsx — createUserWithEmailAndPassword + setDoc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414223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and profile visible in Firebase Console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0" y="1234440"/>
            <a:ext cx="3108960" cy="3657600"/>
          </a:xfrm>
          <a:prstGeom prst="roundRect">
            <a:avLst>
              <a:gd name="adj" fmla="val 3529"/>
            </a:avLst>
          </a:prstGeom>
          <a:solidFill>
            <a:srgbClr val="0A7E8C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5806440" y="13533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Next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06440" y="181051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 S1: signIn.tsx + auth layouts + tab navigation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806440" y="237744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 S2: NewBook + BookList (add + read)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806440" y="294436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S1: BookList (update/delete) + UserProfile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BTP610 – Firebase Series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3213</Words>
  <Application>Microsoft Office PowerPoint</Application>
  <PresentationFormat>On-screen Show (16:9)</PresentationFormat>
  <Paragraphs>302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Yasemin Fanaeian</cp:lastModifiedBy>
  <cp:revision>30</cp:revision>
  <dcterms:created xsi:type="dcterms:W3CDTF">2026-07-07T04:51:29Z</dcterms:created>
  <dcterms:modified xsi:type="dcterms:W3CDTF">2026-07-09T03:25:56Z</dcterms:modified>
</cp:coreProperties>
</file>