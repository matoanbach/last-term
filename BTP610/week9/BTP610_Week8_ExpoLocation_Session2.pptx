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sldIdLst>
    <p:sldId id="256" r:id="rId2"/>
    <p:sldId id="257" r:id="rId3"/>
    <p:sldId id="258" r:id="rId4"/>
    <p:sldId id="284" r:id="rId5"/>
    <p:sldId id="279" r:id="rId6"/>
    <p:sldId id="280" r:id="rId7"/>
    <p:sldId id="281" r:id="rId8"/>
    <p:sldId id="282" r:id="rId9"/>
    <p:sldId id="283" r:id="rId10"/>
    <p:sldId id="285" r:id="rId11"/>
    <p:sldId id="259" r:id="rId12"/>
    <p:sldId id="260" r:id="rId13"/>
    <p:sldId id="287" r:id="rId14"/>
    <p:sldId id="261" r:id="rId15"/>
    <p:sldId id="262" r:id="rId16"/>
    <p:sldId id="278" r:id="rId17"/>
    <p:sldId id="263" r:id="rId18"/>
    <p:sldId id="264" r:id="rId19"/>
    <p:sldId id="265" r:id="rId20"/>
    <p:sldId id="266" r:id="rId21"/>
    <p:sldId id="267" r:id="rId22"/>
    <p:sldId id="268" r:id="rId23"/>
    <p:sldId id="269" r:id="rId24"/>
    <p:sldId id="286" r:id="rId25"/>
    <p:sldId id="270" r:id="rId26"/>
    <p:sldId id="271" r:id="rId27"/>
    <p:sldId id="272" r:id="rId28"/>
    <p:sldId id="27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361" autoAdjust="0"/>
  </p:normalViewPr>
  <p:slideViewPr>
    <p:cSldViewPr snapToGrid="0" snapToObjects="1">
      <p:cViewPr varScale="1">
        <p:scale>
          <a:sx n="99" d="100"/>
          <a:sy n="99" d="100"/>
        </p:scale>
        <p:origin x="98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4221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9! Building on last week's maps knowledge. Today: expo-location for GPS + two geocoding features.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agenda. This session builds on Week 8 - </a:t>
            </a:r>
            <a:r>
              <a:rPr lang="en-US" dirty="0" err="1"/>
              <a:t>MapView</a:t>
            </a:r>
            <a:r>
              <a:rPr lang="en-US" dirty="0"/>
              <a:t>, markers, and animateToRegion. Today we add real device GPS and address lookup.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expo-location is the official Expo library for GPS access. Use npx expo install (not npm install) so Expo picks the correct version. The * as Location import syntax gives access to ALL the functions under one namespace. last week we hardcoded coordinates — today we get them from the real device.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CA" dirty="0"/>
              <a:t>On an emulator the GPS is simulated — it doesn't know your real location. The emulator has a default fake location set.</a:t>
            </a:r>
          </a:p>
          <a:p>
            <a:r>
              <a:rPr lang="en-CA" dirty="0"/>
              <a:t>To set a custom location on the Android emulator:</a:t>
            </a:r>
          </a:p>
          <a:p>
            <a:r>
              <a:rPr lang="en-CA" b="1" dirty="0"/>
              <a:t>Step 1 — Open the emulator settings</a:t>
            </a:r>
            <a:br>
              <a:rPr lang="en-CA" dirty="0"/>
            </a:br>
            <a:r>
              <a:rPr lang="en-CA" dirty="0"/>
              <a:t>Click the </a:t>
            </a:r>
            <a:r>
              <a:rPr lang="en-CA" b="1" dirty="0"/>
              <a:t>three dots </a:t>
            </a:r>
            <a:r>
              <a:rPr lang="en-CA" sz="1200" b="1" kern="1200" dirty="0">
                <a:solidFill>
                  <a:schemeClr val="tx1"/>
                </a:solidFill>
                <a:latin typeface="+mn-lt"/>
                <a:ea typeface="+mn-ea"/>
                <a:cs typeface="+mn-cs"/>
              </a:rPr>
              <a:t>...</a:t>
            </a:r>
            <a:r>
              <a:rPr lang="en-CA" dirty="0"/>
              <a:t> on the emulator sidebar (Extended Controls)</a:t>
            </a:r>
          </a:p>
          <a:p>
            <a:r>
              <a:rPr lang="en-CA" b="1" dirty="0"/>
              <a:t>Step 2 — Go to Location</a:t>
            </a:r>
            <a:br>
              <a:rPr lang="en-CA" dirty="0"/>
            </a:br>
            <a:r>
              <a:rPr lang="en-CA" dirty="0"/>
              <a:t>Click </a:t>
            </a:r>
            <a:r>
              <a:rPr lang="en-CA" b="1" dirty="0"/>
              <a:t>Location</a:t>
            </a:r>
            <a:r>
              <a:rPr lang="en-CA" dirty="0"/>
              <a:t> in the left menu</a:t>
            </a:r>
          </a:p>
          <a:p>
            <a:r>
              <a:rPr lang="en-CA" b="1" dirty="0"/>
              <a:t>Step 3 — Set your location</a:t>
            </a:r>
            <a:endParaRPr lang="en-CA" dirty="0"/>
          </a:p>
          <a:p>
            <a:r>
              <a:rPr lang="en-CA" dirty="0"/>
              <a:t>Type your latitude and longitude manually, OR</a:t>
            </a:r>
          </a:p>
          <a:p>
            <a:r>
              <a:rPr lang="en-CA" dirty="0"/>
              <a:t>Search for an address in the search box</a:t>
            </a:r>
          </a:p>
          <a:p>
            <a:r>
              <a:rPr lang="en-CA" dirty="0"/>
              <a:t>Click </a:t>
            </a:r>
            <a:r>
              <a:rPr lang="en-CA" b="1" dirty="0"/>
              <a:t>Set Location</a:t>
            </a:r>
            <a:endParaRPr lang="en-CA" dirty="0"/>
          </a:p>
          <a:p>
            <a:r>
              <a:rPr lang="en-CA" b="1" dirty="0"/>
              <a:t>Step 4 — Tap Get Current Location again</a:t>
            </a:r>
            <a:br>
              <a:rPr lang="en-CA" dirty="0"/>
            </a:br>
            <a:r>
              <a:rPr lang="en-CA" dirty="0"/>
              <a:t>The app will now return the coordinates you just set.</a:t>
            </a:r>
          </a:p>
          <a:p>
            <a:endParaRPr lang="en-CA" dirty="0"/>
          </a:p>
        </p:txBody>
      </p:sp>
    </p:spTree>
    <p:extLst>
      <p:ext uri="{BB962C8B-B14F-4D97-AF65-F5344CB8AC3E}">
        <p14:creationId xmlns:p14="http://schemas.microsoft.com/office/powerpoint/2010/main" val="2203497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 are the most important new concept. Without asking first = crash. requestForegroundPermissionsAsync() shows the system dialog. We destructure { status } from the result. If status !== 'granted' we show an Alert and return early. Only AFTER the check do we call getCurrentPositionAsync. async/await is also new concept.</a:t>
            </a:r>
          </a:p>
          <a:p>
            <a:endParaRPr lang="en-US" dirty="0"/>
          </a:p>
          <a:p>
            <a:r>
              <a:rPr lang="en-US" b="1" dirty="0"/>
              <a:t>We wait for permission and wait for GPS location. </a:t>
            </a:r>
            <a:r>
              <a:rPr lang="en-CA" b="1" dirty="0"/>
              <a:t>Both take time — that's why both need </a:t>
            </a:r>
            <a:r>
              <a:rPr lang="en-CA" sz="1200" b="1" kern="1200" dirty="0">
                <a:solidFill>
                  <a:schemeClr val="tx1"/>
                </a:solidFill>
                <a:latin typeface="+mn-lt"/>
                <a:ea typeface="+mn-ea"/>
                <a:cs typeface="+mn-cs"/>
              </a:rPr>
              <a:t>await</a:t>
            </a:r>
            <a:r>
              <a:rPr lang="en-CA" b="1" dirty="0"/>
              <a:t>. The code stops and waits at each one before moving to the next line.</a:t>
            </a:r>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async/await is essential for this project — every Location call is async. Simple analogy: ordering food. You don't get the burger instantly — you WAIT (await) for it. async on the function means 'this function contains waiting'. await on the call means 'wait here until done'. The project uses Accuracy.Highest for best precision.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geocoding directions. Forward = text to coordinates (user types address → we find lat/lng → move map). Reverse = coordinates to text (we have GPS lat/lng → convert to readable address). Both return arrays — always use [0]. Note: result can be empty if address not found — always check result.length &gt; 0 or result.length === 0.</a:t>
            </a:r>
          </a:p>
          <a:p>
            <a:endParaRPr lang="en-US" dirty="0"/>
          </a:p>
          <a:p>
            <a:r>
              <a:rPr lang="en-CA" sz="1200" b="1" kern="1200" dirty="0" err="1">
                <a:solidFill>
                  <a:schemeClr val="tx1"/>
                </a:solidFill>
                <a:latin typeface="+mn-lt"/>
                <a:ea typeface="+mn-ea"/>
                <a:cs typeface="+mn-cs"/>
              </a:rPr>
              <a:t>geocodeAsync</a:t>
            </a:r>
            <a:r>
              <a:rPr lang="en-CA" b="1" dirty="0"/>
              <a:t> is a built-in </a:t>
            </a:r>
            <a:r>
              <a:rPr lang="en-CA" b="0" dirty="0"/>
              <a:t>function that comes with the </a:t>
            </a:r>
            <a:r>
              <a:rPr lang="en-CA" sz="1200" b="0" kern="1200" dirty="0">
                <a:solidFill>
                  <a:schemeClr val="tx1"/>
                </a:solidFill>
                <a:latin typeface="+mn-lt"/>
                <a:ea typeface="+mn-ea"/>
                <a:cs typeface="+mn-cs"/>
              </a:rPr>
              <a:t>expo-location</a:t>
            </a:r>
            <a:r>
              <a:rPr lang="en-CA" b="0" dirty="0"/>
              <a:t> library. You don't write it yourself, you just call it:</a:t>
            </a:r>
          </a:p>
          <a:p>
            <a:r>
              <a:rPr lang="en-CA" sz="1200" b="0" kern="1200" dirty="0">
                <a:solidFill>
                  <a:schemeClr val="tx1"/>
                </a:solidFill>
                <a:effectLst/>
                <a:latin typeface="+mn-lt"/>
                <a:ea typeface="+mn-ea"/>
                <a:cs typeface="+mn-cs"/>
              </a:rPr>
              <a:t>(import * as Location from 'expo-location’;)</a:t>
            </a:r>
          </a:p>
          <a:p>
            <a:r>
              <a:rPr lang="en-CA" sz="1200" b="0" kern="1200" dirty="0">
                <a:solidFill>
                  <a:schemeClr val="tx1"/>
                </a:solidFill>
                <a:effectLst/>
                <a:latin typeface="+mn-lt"/>
                <a:ea typeface="+mn-ea"/>
                <a:cs typeface="+mn-cs"/>
              </a:rPr>
              <a:t>(const result = await </a:t>
            </a:r>
            <a:r>
              <a:rPr lang="en-CA" sz="1200" b="0" kern="1200" dirty="0" err="1">
                <a:solidFill>
                  <a:schemeClr val="tx1"/>
                </a:solidFill>
                <a:effectLst/>
                <a:latin typeface="+mn-lt"/>
                <a:ea typeface="+mn-ea"/>
                <a:cs typeface="+mn-cs"/>
              </a:rPr>
              <a:t>Location.geocodeAsync</a:t>
            </a:r>
            <a:r>
              <a:rPr lang="en-CA" sz="1200" b="0" kern="1200" dirty="0">
                <a:solidFill>
                  <a:schemeClr val="tx1"/>
                </a:solidFill>
                <a:effectLst/>
                <a:latin typeface="+mn-lt"/>
                <a:ea typeface="+mn-ea"/>
                <a:cs typeface="+mn-cs"/>
              </a:rPr>
              <a:t>(address);)</a:t>
            </a:r>
          </a:p>
          <a:p>
            <a:r>
              <a:rPr lang="en-CA" b="1" dirty="0"/>
              <a:t>Same for </a:t>
            </a:r>
            <a:r>
              <a:rPr lang="en-CA" sz="1200" b="1" kern="1200" dirty="0" err="1">
                <a:solidFill>
                  <a:schemeClr val="tx1"/>
                </a:solidFill>
                <a:latin typeface="+mn-lt"/>
                <a:ea typeface="+mn-ea"/>
                <a:cs typeface="+mn-cs"/>
              </a:rPr>
              <a:t>reverseGeocodeAsync</a:t>
            </a:r>
            <a:r>
              <a:rPr lang="en-CA" b="1" dirty="0"/>
              <a:t> — both are built into </a:t>
            </a:r>
            <a:r>
              <a:rPr lang="en-CA" sz="1200" b="1" kern="1200" dirty="0">
                <a:solidFill>
                  <a:schemeClr val="tx1"/>
                </a:solidFill>
                <a:latin typeface="+mn-lt"/>
                <a:ea typeface="+mn-ea"/>
                <a:cs typeface="+mn-cs"/>
              </a:rPr>
              <a:t>expo-location</a:t>
            </a:r>
            <a:r>
              <a:rPr lang="en-CA" b="1" dirty="0"/>
              <a:t>. </a:t>
            </a:r>
            <a:r>
              <a:rPr lang="en-CA" b="0" dirty="0"/>
              <a:t>Expo handles all the complex work of talking to the mapping service behind the scenes.</a:t>
            </a:r>
            <a:r>
              <a:rPr lang="en-CA" b="1" dirty="0"/>
              <a:t> You just pass in the address or coordinates and it returns the result.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overview. Key difference from Week 8: the map uses region (controlled) instead of initialRegion because it needs to update every time. Also new: TextInput, async functions, conditional rendering.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npx expo install not npm install for both libraries. Highlight what's new vs Week 8. Alert is from React Native — shows a native dialog box. TextInput is the text field. Location import uses * as to get all functions.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When Forward Geocoding is tapped:</a:t>
            </a:r>
            <a:endParaRPr lang="en-CA" dirty="0"/>
          </a:p>
          <a:p>
            <a:r>
              <a:rPr lang="en-CA" sz="1200" kern="1200" dirty="0">
                <a:solidFill>
                  <a:schemeClr val="tx1"/>
                </a:solidFill>
                <a:latin typeface="+mn-lt"/>
                <a:ea typeface="+mn-ea"/>
                <a:cs typeface="+mn-cs"/>
              </a:rPr>
              <a:t>address</a:t>
            </a:r>
            <a:r>
              <a:rPr lang="en-CA" dirty="0"/>
              <a:t> = text the user typed → </a:t>
            </a:r>
            <a:r>
              <a:rPr lang="en-CA" sz="1200" kern="1200" dirty="0">
                <a:solidFill>
                  <a:schemeClr val="tx1"/>
                </a:solidFill>
                <a:latin typeface="+mn-lt"/>
                <a:ea typeface="+mn-ea"/>
                <a:cs typeface="+mn-cs"/>
              </a:rPr>
              <a:t>"CN Tower Toronto"</a:t>
            </a:r>
            <a:endParaRPr lang="en-CA" dirty="0"/>
          </a:p>
          <a:p>
            <a:r>
              <a:rPr lang="en-CA" sz="1200" kern="1200" dirty="0" err="1">
                <a:solidFill>
                  <a:schemeClr val="tx1"/>
                </a:solidFill>
                <a:latin typeface="+mn-lt"/>
                <a:ea typeface="+mn-ea"/>
                <a:cs typeface="+mn-cs"/>
              </a:rPr>
              <a:t>currentAddress</a:t>
            </a:r>
            <a:r>
              <a:rPr lang="en-CA" dirty="0"/>
              <a:t> = coordinates that came back → </a:t>
            </a:r>
            <a:r>
              <a:rPr lang="en-CA" sz="1200" kern="1200" dirty="0">
                <a:solidFill>
                  <a:schemeClr val="tx1"/>
                </a:solidFill>
                <a:latin typeface="+mn-lt"/>
                <a:ea typeface="+mn-ea"/>
                <a:cs typeface="+mn-cs"/>
              </a:rPr>
              <a:t>"43.64272 , -79.38705"</a:t>
            </a:r>
            <a:endParaRPr lang="en-CA" dirty="0"/>
          </a:p>
          <a:p>
            <a:r>
              <a:rPr lang="en-CA" b="1" dirty="0"/>
              <a:t>When Get Current Location is tapped:</a:t>
            </a:r>
            <a:endParaRPr lang="en-CA" dirty="0"/>
          </a:p>
          <a:p>
            <a:r>
              <a:rPr lang="en-CA" sz="1200" kern="1200" dirty="0">
                <a:solidFill>
                  <a:schemeClr val="tx1"/>
                </a:solidFill>
                <a:latin typeface="+mn-lt"/>
                <a:ea typeface="+mn-ea"/>
                <a:cs typeface="+mn-cs"/>
              </a:rPr>
              <a:t>address</a:t>
            </a:r>
            <a:r>
              <a:rPr lang="en-CA" dirty="0"/>
              <a:t> = whatever is in the text box (doesn't matter, not used)</a:t>
            </a:r>
          </a:p>
          <a:p>
            <a:r>
              <a:rPr lang="en-CA" sz="1200" kern="1200" dirty="0" err="1">
                <a:solidFill>
                  <a:schemeClr val="tx1"/>
                </a:solidFill>
                <a:latin typeface="+mn-lt"/>
                <a:ea typeface="+mn-ea"/>
                <a:cs typeface="+mn-cs"/>
              </a:rPr>
              <a:t>currentAddress</a:t>
            </a:r>
            <a:r>
              <a:rPr lang="en-CA" dirty="0"/>
              <a:t> = street address that came back → </a:t>
            </a:r>
            <a:r>
              <a:rPr lang="en-CA" sz="1200" kern="1200" dirty="0">
                <a:solidFill>
                  <a:schemeClr val="tx1"/>
                </a:solidFill>
                <a:latin typeface="+mn-lt"/>
                <a:ea typeface="+mn-ea"/>
                <a:cs typeface="+mn-cs"/>
              </a:rPr>
              <a:t>"290 Bremner Blvd, Toronto, ON“</a:t>
            </a:r>
          </a:p>
          <a:p>
            <a:endParaRPr lang="en-CA" sz="1200" kern="1200" dirty="0">
              <a:solidFill>
                <a:schemeClr val="tx1"/>
              </a:solidFill>
              <a:latin typeface="+mn-lt"/>
              <a:ea typeface="+mn-ea"/>
              <a:cs typeface="+mn-cs"/>
            </a:endParaRPr>
          </a:p>
          <a:p>
            <a:r>
              <a:rPr lang="en-CA" sz="1200" kern="1200" dirty="0">
                <a:solidFill>
                  <a:schemeClr val="tx1"/>
                </a:solidFill>
                <a:latin typeface="+mn-lt"/>
                <a:ea typeface="+mn-ea"/>
                <a:cs typeface="+mn-cs"/>
              </a:rPr>
              <a:t>region &amp;&amp;</a:t>
            </a:r>
            <a:r>
              <a:rPr lang="en-CA" dirty="0"/>
              <a:t> means — only render the </a:t>
            </a:r>
            <a:r>
              <a:rPr lang="en-CA" dirty="0" err="1"/>
              <a:t>MapView</a:t>
            </a:r>
            <a:r>
              <a:rPr lang="en-CA" dirty="0"/>
              <a:t> if region is not null. So if region is null, the map is completely hidden until the user taps one of the buttons. In our project, we start with the Pyramids so the map is shown immediately.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every step carefully. The async keyword on the function is required because we use await inside. Destructuring { status } from the permission result. </a:t>
            </a:r>
            <a:r>
              <a:rPr lang="en-US" dirty="0" err="1"/>
              <a:t>Location.Accuracy.Highest</a:t>
            </a:r>
            <a:r>
              <a:rPr lang="en-US" dirty="0"/>
              <a:t> is an enum value from expo-location. The reverseGeocode call at the end is a separate function we'll write next.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reverseGeocode is a separate function because we call it from two places — getCurrentLocation and potentially elsewhere. It takes lat and lng as typed parameters (: number). The result array can have multiple matches — we always take [0].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geocoding is the opposite direction to reverse. User types 'Eiffel Tower Paris' → we get lat/lng → move the map. Note we display the raw coordinates as the address text. Template literal `${lat} , ${</a:t>
            </a:r>
            <a:r>
              <a:rPr lang="en-US" dirty="0" err="1"/>
              <a:t>lng</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JSX key points: (1) TextInput — value and onChangeText work together, two-way binding.</a:t>
            </a:r>
          </a:p>
          <a:p>
            <a:r>
              <a:rPr lang="en-CA" dirty="0"/>
              <a:t>Every keystroke updates the </a:t>
            </a:r>
            <a:r>
              <a:rPr lang="en-CA" sz="1200" kern="1200" dirty="0">
                <a:solidFill>
                  <a:schemeClr val="tx1"/>
                </a:solidFill>
                <a:latin typeface="+mn-lt"/>
                <a:ea typeface="+mn-ea"/>
                <a:cs typeface="+mn-cs"/>
              </a:rPr>
              <a:t>address</a:t>
            </a:r>
            <a:r>
              <a:rPr lang="en-CA" dirty="0"/>
              <a:t> state variable.</a:t>
            </a:r>
            <a:r>
              <a:rPr lang="en-US" dirty="0"/>
              <a:t> </a:t>
            </a:r>
          </a:p>
          <a:p>
            <a:r>
              <a:rPr lang="en-US" dirty="0"/>
              <a:t>(2) Conditional rendering with &amp;&amp; — very common React pattern</a:t>
            </a:r>
          </a:p>
          <a:p>
            <a:r>
              <a:rPr lang="en-US" dirty="0"/>
              <a:t>(3) region={region} is controlled mode — map updates whenever state changes. </a:t>
            </a:r>
          </a:p>
          <a:p>
            <a:r>
              <a:rPr lang="en-US" dirty="0"/>
              <a:t>(4) Marker has description prop that shows on tap</a:t>
            </a:r>
          </a:p>
          <a:p>
            <a:endParaRPr lang="en-US" dirty="0"/>
          </a:p>
          <a:p>
            <a:r>
              <a:rPr lang="en-CA" sz="1200" kern="1200" dirty="0">
                <a:solidFill>
                  <a:schemeClr val="tx1"/>
                </a:solidFill>
                <a:latin typeface="+mn-lt"/>
                <a:ea typeface="+mn-ea"/>
                <a:cs typeface="+mn-cs"/>
              </a:rPr>
              <a:t>region &amp;&amp;</a:t>
            </a:r>
            <a:r>
              <a:rPr lang="en-CA" dirty="0"/>
              <a:t> means — only render the </a:t>
            </a:r>
            <a:r>
              <a:rPr lang="en-CA" dirty="0" err="1"/>
              <a:t>MapView</a:t>
            </a:r>
            <a:r>
              <a:rPr lang="en-CA" dirty="0"/>
              <a:t> if region is not null. So if region is null, the map is completely hidden until the user taps one of the buttons.</a:t>
            </a:r>
          </a:p>
          <a:p>
            <a:r>
              <a:rPr lang="en-CA" dirty="0"/>
              <a:t>Read it as: </a:t>
            </a:r>
            <a:r>
              <a:rPr lang="en-CA" dirty="0" err="1"/>
              <a:t>currentAddress</a:t>
            </a:r>
            <a:r>
              <a:rPr lang="en-CA" dirty="0"/>
              <a:t> </a:t>
            </a:r>
            <a:r>
              <a:rPr lang="en-CA" sz="1200" kern="1200" dirty="0">
                <a:solidFill>
                  <a:schemeClr val="tx1"/>
                </a:solidFill>
                <a:effectLst/>
                <a:latin typeface="+mn-lt"/>
                <a:ea typeface="+mn-ea"/>
                <a:cs typeface="+mn-cs"/>
              </a:rPr>
              <a:t>!==</a:t>
            </a:r>
            <a:r>
              <a:rPr lang="en-CA" dirty="0"/>
              <a:t> </a:t>
            </a:r>
            <a:r>
              <a:rPr lang="en-CA" sz="1200" kern="1200" dirty="0">
                <a:solidFill>
                  <a:schemeClr val="tx1"/>
                </a:solidFill>
                <a:effectLst/>
                <a:latin typeface="+mn-lt"/>
                <a:ea typeface="+mn-ea"/>
                <a:cs typeface="+mn-cs"/>
              </a:rPr>
              <a:t>""</a:t>
            </a:r>
            <a:r>
              <a:rPr lang="en-CA" dirty="0"/>
              <a:t> </a:t>
            </a:r>
            <a:r>
              <a:rPr lang="en-CA" sz="1200" kern="1200" dirty="0">
                <a:solidFill>
                  <a:schemeClr val="tx1"/>
                </a:solidFill>
                <a:effectLst/>
                <a:latin typeface="+mn-lt"/>
                <a:ea typeface="+mn-ea"/>
                <a:cs typeface="+mn-cs"/>
              </a:rPr>
              <a:t>&amp;&amp;</a:t>
            </a:r>
            <a:r>
              <a:rPr lang="en-CA" dirty="0"/>
              <a:t> </a:t>
            </a:r>
            <a:r>
              <a:rPr lang="en-CA" sz="1200" kern="1200" dirty="0">
                <a:solidFill>
                  <a:schemeClr val="tx1"/>
                </a:solidFill>
                <a:effectLst/>
                <a:latin typeface="+mn-lt"/>
                <a:ea typeface="+mn-ea"/>
                <a:cs typeface="+mn-cs"/>
              </a:rPr>
              <a:t>(</a:t>
            </a:r>
            <a:r>
              <a:rPr lang="en-CA" dirty="0"/>
              <a:t> </a:t>
            </a:r>
            <a:r>
              <a:rPr lang="en-CA" b="1" dirty="0"/>
              <a:t>"IF </a:t>
            </a:r>
            <a:r>
              <a:rPr lang="en-CA" b="1" dirty="0" err="1"/>
              <a:t>currentAddress</a:t>
            </a:r>
            <a:r>
              <a:rPr lang="en-CA" b="1" dirty="0"/>
              <a:t> is not empty, THEN show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Styles are cleaner and more polished than Week 8. dodgerblue theme throughout. Key new styles: input with border, pill-shaped buttons (borderRadius 25), map with flex + percentage sizes. textAddress only visible when conditional rendering shows it.</a:t>
            </a:r>
          </a:p>
          <a:p>
            <a:endParaRPr lang="en-US" dirty="0"/>
          </a:p>
          <a:p>
            <a:r>
              <a:rPr lang="en-US" dirty="0" err="1"/>
              <a:t>npx</a:t>
            </a:r>
            <a:r>
              <a:rPr lang="en-US" dirty="0"/>
              <a:t> expo start --clear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functions are async. The data flows: user action </a:t>
            </a:r>
            <a:r>
              <a:rPr lang="en-US" dirty="0">
                <a:sym typeface="Wingdings" panose="05000000000000000000" pitchFamily="2" charset="2"/>
              </a:rPr>
              <a:t></a:t>
            </a:r>
            <a:r>
              <a:rPr lang="en-US" dirty="0"/>
              <a:t> async function </a:t>
            </a:r>
            <a:r>
              <a:rPr lang="en-US" dirty="0">
                <a:sym typeface="Wingdings" panose="05000000000000000000" pitchFamily="2" charset="2"/>
              </a:rPr>
              <a:t></a:t>
            </a:r>
            <a:r>
              <a:rPr lang="en-US" dirty="0"/>
              <a:t> update state </a:t>
            </a:r>
            <a:r>
              <a:rPr lang="en-US" dirty="0">
                <a:sym typeface="Wingdings" panose="05000000000000000000" pitchFamily="2" charset="2"/>
              </a:rPr>
              <a:t></a:t>
            </a:r>
            <a:r>
              <a:rPr lang="en-US" dirty="0"/>
              <a:t> UI re-renders. This is the core React pattern.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types: !== '' checks a string, &amp;&amp; null check for an object. Both are common React patterns.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real app would you build with GPS + geocoding?' — food delivery, parking finder, friend tracker. Enable location on their emulator (Android: Settings &gt; Location) to test.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7.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731520"/>
            <a:ext cx="3200400" cy="3200400"/>
          </a:xfrm>
          <a:prstGeom prst="ellipse">
            <a:avLst/>
          </a:prstGeom>
          <a:solidFill>
            <a:srgbClr val="0A7E8C">
              <a:alpha val="22000"/>
            </a:srgbClr>
          </a:solidFill>
          <a:ln/>
        </p:spPr>
        <p:txBody>
          <a:bodyPr/>
          <a:lstStyle/>
          <a:p>
            <a:endParaRPr lang="en-CA"/>
          </a:p>
        </p:txBody>
      </p:sp>
      <p:sp>
        <p:nvSpPr>
          <p:cNvPr id="3" name="Shape 1"/>
          <p:cNvSpPr/>
          <p:nvPr/>
        </p:nvSpPr>
        <p:spPr>
          <a:xfrm>
            <a:off x="7132320" y="-274320"/>
            <a:ext cx="2011680" cy="2011680"/>
          </a:xfrm>
          <a:prstGeom prst="ellipse">
            <a:avLst/>
          </a:prstGeom>
          <a:solidFill>
            <a:srgbClr val="1AB8C4">
              <a:alpha val="18000"/>
            </a:srgbClr>
          </a:solidFill>
          <a:ln/>
        </p:spPr>
        <p:txBody>
          <a:bodyPr/>
          <a:lstStyle/>
          <a:p>
            <a:endParaRPr lang="en-CA"/>
          </a:p>
        </p:txBody>
      </p:sp>
      <p:pic>
        <p:nvPicPr>
          <p:cNvPr id="4" name="Image 0" descr="preencoded.png"/>
          <p:cNvPicPr>
            <a:picLocks noChangeAspect="1"/>
          </p:cNvPicPr>
          <p:nvPr/>
        </p:nvPicPr>
        <p:blipFill>
          <a:blip r:embed="rId3"/>
          <a:stretch>
            <a:fillRect/>
          </a:stretch>
        </p:blipFill>
        <p:spPr>
          <a:xfrm>
            <a:off x="457200" y="822960"/>
            <a:ext cx="914400" cy="914400"/>
          </a:xfrm>
          <a:prstGeom prst="rect">
            <a:avLst/>
          </a:prstGeom>
        </p:spPr>
      </p:pic>
      <p:sp>
        <p:nvSpPr>
          <p:cNvPr id="5" name="Text 2"/>
          <p:cNvSpPr/>
          <p:nvPr/>
        </p:nvSpPr>
        <p:spPr>
          <a:xfrm>
            <a:off x="457200" y="713232"/>
            <a:ext cx="7772400" cy="365760"/>
          </a:xfrm>
          <a:prstGeom prst="rect">
            <a:avLst/>
          </a:prstGeom>
          <a:noFill/>
          <a:ln/>
        </p:spPr>
        <p:txBody>
          <a:bodyPr wrap="square" lIns="0" tIns="0" rIns="0" bIns="0" rtlCol="0" anchor="ctr"/>
          <a:lstStyle/>
          <a:p>
            <a:pPr marL="0" indent="0">
              <a:buNone/>
            </a:pPr>
            <a:r>
              <a:rPr lang="en-US" sz="1300" dirty="0">
                <a:solidFill>
                  <a:srgbClr val="1AB8C4"/>
                </a:solidFill>
                <a:latin typeface="Calibri" pitchFamily="34" charset="0"/>
                <a:ea typeface="Calibri" pitchFamily="34" charset="-122"/>
                <a:cs typeface="Calibri" pitchFamily="34" charset="-120"/>
              </a:rPr>
              <a:t>BTP610 – Mobile Applications</a:t>
            </a:r>
            <a:endParaRPr lang="en-US" sz="1300" dirty="0"/>
          </a:p>
        </p:txBody>
      </p:sp>
      <p:sp>
        <p:nvSpPr>
          <p:cNvPr id="6" name="Text 3"/>
          <p:cNvSpPr/>
          <p:nvPr/>
        </p:nvSpPr>
        <p:spPr>
          <a:xfrm>
            <a:off x="457200" y="1078992"/>
            <a:ext cx="7772400" cy="457200"/>
          </a:xfrm>
          <a:prstGeom prst="rect">
            <a:avLst/>
          </a:prstGeom>
          <a:noFill/>
          <a:ln/>
        </p:spPr>
        <p:txBody>
          <a:bodyPr wrap="square" lIns="0" tIns="0" rIns="0" bIns="0" rtlCol="0" anchor="ctr"/>
          <a:lstStyle/>
          <a:p>
            <a:pPr marL="0" indent="0">
              <a:buNone/>
            </a:pPr>
            <a:r>
              <a:rPr lang="en-US" sz="2000" b="1" dirty="0">
                <a:solidFill>
                  <a:srgbClr val="1AB8C4"/>
                </a:solidFill>
                <a:latin typeface="Cambria" pitchFamily="34" charset="0"/>
                <a:ea typeface="Cambria" pitchFamily="34" charset="-122"/>
                <a:cs typeface="Cambria" pitchFamily="34" charset="-120"/>
              </a:rPr>
              <a:t>Week 9</a:t>
            </a:r>
            <a:endParaRPr lang="en-US" sz="2000" dirty="0"/>
          </a:p>
        </p:txBody>
      </p:sp>
      <p:sp>
        <p:nvSpPr>
          <p:cNvPr id="7" name="Text 4"/>
          <p:cNvSpPr/>
          <p:nvPr/>
        </p:nvSpPr>
        <p:spPr>
          <a:xfrm>
            <a:off x="457200" y="1572768"/>
            <a:ext cx="8229600" cy="10972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Expo Location</a:t>
            </a:r>
            <a:endParaRPr lang="en-US" sz="5200" dirty="0"/>
          </a:p>
        </p:txBody>
      </p:sp>
      <p:sp>
        <p:nvSpPr>
          <p:cNvPr id="8" name="Text 5"/>
          <p:cNvSpPr/>
          <p:nvPr/>
        </p:nvSpPr>
        <p:spPr>
          <a:xfrm>
            <a:off x="457200" y="2816352"/>
            <a:ext cx="6858000" cy="822960"/>
          </a:xfrm>
          <a:prstGeom prst="rect">
            <a:avLst/>
          </a:prstGeom>
          <a:noFill/>
          <a:ln/>
        </p:spPr>
        <p:txBody>
          <a:bodyPr wrap="square" lIns="0" tIns="0" rIns="0" bIns="0" rtlCol="0" anchor="ctr"/>
          <a:lstStyle/>
          <a:p>
            <a:pPr marL="0" indent="0">
              <a:buNone/>
            </a:pPr>
            <a:r>
              <a:rPr lang="en-US" sz="1600" dirty="0">
                <a:solidFill>
                  <a:srgbClr val="D4F5F5"/>
                </a:solidFill>
                <a:latin typeface="Calibri" pitchFamily="34" charset="0"/>
                <a:ea typeface="Calibri" pitchFamily="34" charset="-122"/>
                <a:cs typeface="Calibri" pitchFamily="34" charset="-120"/>
              </a:rPr>
              <a:t>GPS coordinates, permissions, geocoding &amp; reverse geocoding</a:t>
            </a:r>
            <a:endParaRPr lang="en-US" sz="1600" dirty="0"/>
          </a:p>
          <a:p>
            <a:pPr marL="0" indent="0">
              <a:buNone/>
            </a:pPr>
            <a:r>
              <a:rPr lang="en-US" sz="1600" dirty="0">
                <a:solidFill>
                  <a:srgbClr val="D4F5F5"/>
                </a:solidFill>
                <a:latin typeface="Calibri" pitchFamily="34" charset="0"/>
                <a:ea typeface="Calibri" pitchFamily="34" charset="-122"/>
                <a:cs typeface="Calibri" pitchFamily="34" charset="-120"/>
              </a:rPr>
              <a:t>with expo-location + react-native-maps</a:t>
            </a:r>
            <a:endParaRPr lang="en-US" sz="1600" dirty="0"/>
          </a:p>
        </p:txBody>
      </p:sp>
      <p:sp>
        <p:nvSpPr>
          <p:cNvPr id="9" name="Shape 6"/>
          <p:cNvSpPr/>
          <p:nvPr/>
        </p:nvSpPr>
        <p:spPr>
          <a:xfrm>
            <a:off x="0" y="4681728"/>
            <a:ext cx="9144000" cy="461772"/>
          </a:xfrm>
          <a:prstGeom prst="rect">
            <a:avLst/>
          </a:prstGeom>
          <a:solidFill>
            <a:srgbClr val="0A7E8C"/>
          </a:solidFill>
          <a:ln/>
        </p:spPr>
        <p:txBody>
          <a:bodyPr/>
          <a:lstStyle/>
          <a:p>
            <a:endParaRPr lang="en-CA"/>
          </a:p>
        </p:txBody>
      </p:sp>
      <p:sp>
        <p:nvSpPr>
          <p:cNvPr id="10" name="Text 7"/>
          <p:cNvSpPr/>
          <p:nvPr/>
        </p:nvSpPr>
        <p:spPr>
          <a:xfrm>
            <a:off x="457200" y="4700016"/>
            <a:ext cx="8229600" cy="42062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Library: expo-location   |   Also uses: react-native-maps   |   TypeScript + Expo Router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Today's Agenda</a:t>
            </a:r>
            <a:endParaRPr lang="en-US" sz="2200" dirty="0"/>
          </a:p>
        </p:txBody>
      </p:sp>
      <p:sp>
        <p:nvSpPr>
          <p:cNvPr id="4" name="Shape 2"/>
          <p:cNvSpPr/>
          <p:nvPr/>
        </p:nvSpPr>
        <p:spPr>
          <a:xfrm>
            <a:off x="365760" y="960120"/>
            <a:ext cx="8412480" cy="676656"/>
          </a:xfrm>
          <a:prstGeom prst="roundRect">
            <a:avLst>
              <a:gd name="adj" fmla="val 108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5" name="Shape 3"/>
          <p:cNvSpPr/>
          <p:nvPr/>
        </p:nvSpPr>
        <p:spPr>
          <a:xfrm>
            <a:off x="365760" y="960120"/>
            <a:ext cx="548640" cy="676656"/>
          </a:xfrm>
          <a:prstGeom prst="roundRect">
            <a:avLst>
              <a:gd name="adj" fmla="val 13333"/>
            </a:avLst>
          </a:prstGeom>
          <a:solidFill>
            <a:srgbClr val="0A7E8C"/>
          </a:solidFill>
          <a:ln/>
        </p:spPr>
        <p:txBody>
          <a:bodyPr/>
          <a:lstStyle/>
          <a:p>
            <a:endParaRPr lang="en-CA"/>
          </a:p>
        </p:txBody>
      </p:sp>
      <p:sp>
        <p:nvSpPr>
          <p:cNvPr id="6" name="Text 4"/>
          <p:cNvSpPr/>
          <p:nvPr/>
        </p:nvSpPr>
        <p:spPr>
          <a:xfrm>
            <a:off x="365760" y="960120"/>
            <a:ext cx="548640" cy="67665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051560" y="1014984"/>
            <a:ext cx="5029200" cy="274320"/>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What is expo-location?</a:t>
            </a:r>
            <a:endParaRPr lang="en-US" sz="1400" dirty="0"/>
          </a:p>
        </p:txBody>
      </p:sp>
      <p:sp>
        <p:nvSpPr>
          <p:cNvPr id="8" name="Text 6"/>
          <p:cNvSpPr/>
          <p:nvPr/>
        </p:nvSpPr>
        <p:spPr>
          <a:xfrm>
            <a:off x="1051560" y="1307592"/>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Library overview, installation, how it connects to Week 8</a:t>
            </a:r>
            <a:endParaRPr lang="en-US" sz="1100" dirty="0"/>
          </a:p>
        </p:txBody>
      </p:sp>
      <p:sp>
        <p:nvSpPr>
          <p:cNvPr id="9" name="Shape 7"/>
          <p:cNvSpPr/>
          <p:nvPr/>
        </p:nvSpPr>
        <p:spPr>
          <a:xfrm>
            <a:off x="365760" y="1764792"/>
            <a:ext cx="8412480" cy="676656"/>
          </a:xfrm>
          <a:prstGeom prst="roundRect">
            <a:avLst>
              <a:gd name="adj" fmla="val 108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0" name="Shape 8"/>
          <p:cNvSpPr/>
          <p:nvPr/>
        </p:nvSpPr>
        <p:spPr>
          <a:xfrm>
            <a:off x="365760" y="1764792"/>
            <a:ext cx="548640" cy="676656"/>
          </a:xfrm>
          <a:prstGeom prst="roundRect">
            <a:avLst>
              <a:gd name="adj" fmla="val 13333"/>
            </a:avLst>
          </a:prstGeom>
          <a:solidFill>
            <a:srgbClr val="0A7E8C"/>
          </a:solidFill>
          <a:ln/>
        </p:spPr>
        <p:txBody>
          <a:bodyPr/>
          <a:lstStyle/>
          <a:p>
            <a:endParaRPr lang="en-CA"/>
          </a:p>
        </p:txBody>
      </p:sp>
      <p:sp>
        <p:nvSpPr>
          <p:cNvPr id="11" name="Text 9"/>
          <p:cNvSpPr/>
          <p:nvPr/>
        </p:nvSpPr>
        <p:spPr>
          <a:xfrm>
            <a:off x="365760" y="1764792"/>
            <a:ext cx="548640" cy="67665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2" name="Text 10"/>
          <p:cNvSpPr/>
          <p:nvPr/>
        </p:nvSpPr>
        <p:spPr>
          <a:xfrm>
            <a:off x="1051560" y="1819656"/>
            <a:ext cx="5029200" cy="274320"/>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Core concepts</a:t>
            </a:r>
            <a:endParaRPr lang="en-US" sz="1400" dirty="0"/>
          </a:p>
        </p:txBody>
      </p:sp>
      <p:sp>
        <p:nvSpPr>
          <p:cNvPr id="13" name="Text 11"/>
          <p:cNvSpPr/>
          <p:nvPr/>
        </p:nvSpPr>
        <p:spPr>
          <a:xfrm>
            <a:off x="1051560" y="2112264"/>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Permissions, async/await, getCurrentPosition, geocoding, reverse geocoding</a:t>
            </a:r>
            <a:endParaRPr lang="en-US" sz="1100" dirty="0"/>
          </a:p>
        </p:txBody>
      </p:sp>
      <p:sp>
        <p:nvSpPr>
          <p:cNvPr id="14" name="Shape 12"/>
          <p:cNvSpPr/>
          <p:nvPr/>
        </p:nvSpPr>
        <p:spPr>
          <a:xfrm>
            <a:off x="365760" y="2569464"/>
            <a:ext cx="8412480" cy="676656"/>
          </a:xfrm>
          <a:prstGeom prst="roundRect">
            <a:avLst>
              <a:gd name="adj" fmla="val 108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5" name="Shape 13"/>
          <p:cNvSpPr/>
          <p:nvPr/>
        </p:nvSpPr>
        <p:spPr>
          <a:xfrm>
            <a:off x="365760" y="2569464"/>
            <a:ext cx="548640" cy="676656"/>
          </a:xfrm>
          <a:prstGeom prst="roundRect">
            <a:avLst>
              <a:gd name="adj" fmla="val 13333"/>
            </a:avLst>
          </a:prstGeom>
          <a:solidFill>
            <a:srgbClr val="0A7E8C"/>
          </a:solidFill>
          <a:ln/>
        </p:spPr>
        <p:txBody>
          <a:bodyPr/>
          <a:lstStyle/>
          <a:p>
            <a:endParaRPr lang="en-CA"/>
          </a:p>
        </p:txBody>
      </p:sp>
      <p:sp>
        <p:nvSpPr>
          <p:cNvPr id="16" name="Text 14"/>
          <p:cNvSpPr/>
          <p:nvPr/>
        </p:nvSpPr>
        <p:spPr>
          <a:xfrm>
            <a:off x="365760" y="2569464"/>
            <a:ext cx="548640" cy="67665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5"/>
          <p:cNvSpPr/>
          <p:nvPr/>
        </p:nvSpPr>
        <p:spPr>
          <a:xfrm>
            <a:off x="1051560" y="2624328"/>
            <a:ext cx="5029200" cy="274320"/>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Project walkthrough – Step by step</a:t>
            </a:r>
            <a:endParaRPr lang="en-US" sz="1400" dirty="0"/>
          </a:p>
        </p:txBody>
      </p:sp>
      <p:sp>
        <p:nvSpPr>
          <p:cNvPr id="18" name="Text 16"/>
          <p:cNvSpPr/>
          <p:nvPr/>
        </p:nvSpPr>
        <p:spPr>
          <a:xfrm>
            <a:off x="1051560" y="2916936"/>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Live coding the Week 9 Location project</a:t>
            </a:r>
            <a:endParaRPr lang="en-US" sz="1100" dirty="0"/>
          </a:p>
        </p:txBody>
      </p:sp>
      <p:sp>
        <p:nvSpPr>
          <p:cNvPr id="19" name="Shape 17"/>
          <p:cNvSpPr/>
          <p:nvPr/>
        </p:nvSpPr>
        <p:spPr>
          <a:xfrm>
            <a:off x="365760" y="3374136"/>
            <a:ext cx="8412480" cy="676656"/>
          </a:xfrm>
          <a:prstGeom prst="roundRect">
            <a:avLst>
              <a:gd name="adj" fmla="val 108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0" name="Shape 18"/>
          <p:cNvSpPr/>
          <p:nvPr/>
        </p:nvSpPr>
        <p:spPr>
          <a:xfrm>
            <a:off x="365760" y="3374136"/>
            <a:ext cx="548640" cy="676656"/>
          </a:xfrm>
          <a:prstGeom prst="roundRect">
            <a:avLst>
              <a:gd name="adj" fmla="val 13333"/>
            </a:avLst>
          </a:prstGeom>
          <a:solidFill>
            <a:srgbClr val="0A7E8C"/>
          </a:solidFill>
          <a:ln/>
        </p:spPr>
        <p:txBody>
          <a:bodyPr/>
          <a:lstStyle/>
          <a:p>
            <a:endParaRPr lang="en-CA"/>
          </a:p>
        </p:txBody>
      </p:sp>
      <p:sp>
        <p:nvSpPr>
          <p:cNvPr id="21" name="Text 19"/>
          <p:cNvSpPr/>
          <p:nvPr/>
        </p:nvSpPr>
        <p:spPr>
          <a:xfrm>
            <a:off x="365760" y="3374136"/>
            <a:ext cx="548640" cy="67665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2" name="Text 20"/>
          <p:cNvSpPr/>
          <p:nvPr/>
        </p:nvSpPr>
        <p:spPr>
          <a:xfrm>
            <a:off x="1051560" y="3429000"/>
            <a:ext cx="5029200" cy="274320"/>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Key patterns</a:t>
            </a:r>
            <a:endParaRPr lang="en-US" sz="1400" dirty="0"/>
          </a:p>
        </p:txBody>
      </p:sp>
      <p:sp>
        <p:nvSpPr>
          <p:cNvPr id="23" name="Text 21"/>
          <p:cNvSpPr/>
          <p:nvPr/>
        </p:nvSpPr>
        <p:spPr>
          <a:xfrm>
            <a:off x="1051560" y="3721608"/>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async functions, useState with Region | null, conditional rendering</a:t>
            </a:r>
            <a:endParaRPr lang="en-US" sz="1100" dirty="0"/>
          </a:p>
        </p:txBody>
      </p:sp>
      <p:sp>
        <p:nvSpPr>
          <p:cNvPr id="24" name="Shape 22"/>
          <p:cNvSpPr/>
          <p:nvPr/>
        </p:nvSpPr>
        <p:spPr>
          <a:xfrm>
            <a:off x="365760" y="4178808"/>
            <a:ext cx="8412480" cy="676656"/>
          </a:xfrm>
          <a:prstGeom prst="roundRect">
            <a:avLst>
              <a:gd name="adj" fmla="val 1081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5" name="Shape 23"/>
          <p:cNvSpPr/>
          <p:nvPr/>
        </p:nvSpPr>
        <p:spPr>
          <a:xfrm>
            <a:off x="365760" y="4178808"/>
            <a:ext cx="548640" cy="676656"/>
          </a:xfrm>
          <a:prstGeom prst="roundRect">
            <a:avLst>
              <a:gd name="adj" fmla="val 13333"/>
            </a:avLst>
          </a:prstGeom>
          <a:solidFill>
            <a:srgbClr val="0A7E8C"/>
          </a:solidFill>
          <a:ln/>
        </p:spPr>
        <p:txBody>
          <a:bodyPr/>
          <a:lstStyle/>
          <a:p>
            <a:endParaRPr lang="en-CA"/>
          </a:p>
        </p:txBody>
      </p:sp>
      <p:sp>
        <p:nvSpPr>
          <p:cNvPr id="26" name="Text 24"/>
          <p:cNvSpPr/>
          <p:nvPr/>
        </p:nvSpPr>
        <p:spPr>
          <a:xfrm>
            <a:off x="365760" y="4178808"/>
            <a:ext cx="548640" cy="676656"/>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7" name="Text 25"/>
          <p:cNvSpPr/>
          <p:nvPr/>
        </p:nvSpPr>
        <p:spPr>
          <a:xfrm>
            <a:off x="1051560" y="4233672"/>
            <a:ext cx="5029200" cy="274320"/>
          </a:xfrm>
          <a:prstGeom prst="rect">
            <a:avLst/>
          </a:prstGeom>
          <a:noFill/>
          <a:ln/>
        </p:spPr>
        <p:txBody>
          <a:bodyPr wrap="square" lIns="0" tIns="0" rIns="0" bIns="0" rtlCol="0" anchor="ctr"/>
          <a:lstStyle/>
          <a:p>
            <a:pPr marL="0" indent="0">
              <a:buNone/>
            </a:pPr>
            <a:r>
              <a:rPr lang="en-US" sz="1400" b="1" dirty="0">
                <a:solidFill>
                  <a:srgbClr val="0D1B2A"/>
                </a:solidFill>
                <a:latin typeface="Cambria" pitchFamily="34" charset="0"/>
                <a:ea typeface="Cambria" pitchFamily="34" charset="-122"/>
                <a:cs typeface="Cambria" pitchFamily="34" charset="-120"/>
              </a:rPr>
              <a:t>Q &amp; A / Wrap-up</a:t>
            </a:r>
            <a:endParaRPr lang="en-US" sz="1400" dirty="0"/>
          </a:p>
        </p:txBody>
      </p:sp>
      <p:sp>
        <p:nvSpPr>
          <p:cNvPr id="28" name="Text 26"/>
          <p:cNvSpPr/>
          <p:nvPr/>
        </p:nvSpPr>
        <p:spPr>
          <a:xfrm>
            <a:off x="1051560" y="4526280"/>
            <a:ext cx="749808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Review, common mistakes, resources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is expo-location?</a:t>
            </a:r>
            <a:endParaRPr lang="en-US" sz="2200" dirty="0"/>
          </a:p>
        </p:txBody>
      </p:sp>
      <p:sp>
        <p:nvSpPr>
          <p:cNvPr id="4" name="Shape 2"/>
          <p:cNvSpPr/>
          <p:nvPr/>
        </p:nvSpPr>
        <p:spPr>
          <a:xfrm>
            <a:off x="365760" y="987552"/>
            <a:ext cx="4023360" cy="1170432"/>
          </a:xfrm>
          <a:prstGeom prst="roundRect">
            <a:avLst>
              <a:gd name="adj" fmla="val 781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5" name="Image 0" descr="preencoded.png"/>
          <p:cNvPicPr>
            <a:picLocks noChangeAspect="1"/>
          </p:cNvPicPr>
          <p:nvPr/>
        </p:nvPicPr>
        <p:blipFill>
          <a:blip r:embed="rId3"/>
          <a:stretch>
            <a:fillRect/>
          </a:stretch>
        </p:blipFill>
        <p:spPr>
          <a:xfrm>
            <a:off x="493776" y="1115568"/>
            <a:ext cx="347472" cy="347472"/>
          </a:xfrm>
          <a:prstGeom prst="rect">
            <a:avLst/>
          </a:prstGeom>
        </p:spPr>
      </p:pic>
      <p:sp>
        <p:nvSpPr>
          <p:cNvPr id="6" name="Text 3"/>
          <p:cNvSpPr/>
          <p:nvPr/>
        </p:nvSpPr>
        <p:spPr>
          <a:xfrm>
            <a:off x="914400" y="1097280"/>
            <a:ext cx="3383280" cy="32004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Expo SDK library</a:t>
            </a:r>
            <a:endParaRPr lang="en-US" sz="1200" dirty="0"/>
          </a:p>
        </p:txBody>
      </p:sp>
      <p:sp>
        <p:nvSpPr>
          <p:cNvPr id="7" name="Text 4"/>
          <p:cNvSpPr/>
          <p:nvPr/>
        </p:nvSpPr>
        <p:spPr>
          <a:xfrm>
            <a:off x="548640" y="1463040"/>
            <a:ext cx="3703320" cy="603504"/>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Official Expo library for accessing the device GPS. Included in Expo Go — no extra native config.</a:t>
            </a:r>
            <a:endParaRPr lang="en-US" sz="1050" dirty="0"/>
          </a:p>
        </p:txBody>
      </p:sp>
      <p:sp>
        <p:nvSpPr>
          <p:cNvPr id="8" name="Shape 5"/>
          <p:cNvSpPr/>
          <p:nvPr/>
        </p:nvSpPr>
        <p:spPr>
          <a:xfrm>
            <a:off x="365760" y="2304288"/>
            <a:ext cx="4023360" cy="1170432"/>
          </a:xfrm>
          <a:prstGeom prst="roundRect">
            <a:avLst>
              <a:gd name="adj" fmla="val 781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9" name="Image 1" descr="preencoded.png"/>
          <p:cNvPicPr>
            <a:picLocks noChangeAspect="1"/>
          </p:cNvPicPr>
          <p:nvPr/>
        </p:nvPicPr>
        <p:blipFill>
          <a:blip r:embed="rId4"/>
          <a:stretch>
            <a:fillRect/>
          </a:stretch>
        </p:blipFill>
        <p:spPr>
          <a:xfrm>
            <a:off x="493776" y="2432304"/>
            <a:ext cx="347472" cy="347472"/>
          </a:xfrm>
          <a:prstGeom prst="rect">
            <a:avLst/>
          </a:prstGeom>
        </p:spPr>
      </p:pic>
      <p:sp>
        <p:nvSpPr>
          <p:cNvPr id="10" name="Text 6"/>
          <p:cNvSpPr/>
          <p:nvPr/>
        </p:nvSpPr>
        <p:spPr>
          <a:xfrm>
            <a:off x="914400" y="2414016"/>
            <a:ext cx="3383280" cy="32004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Works alongside react-native-maps</a:t>
            </a:r>
            <a:endParaRPr lang="en-US" sz="1200" dirty="0"/>
          </a:p>
        </p:txBody>
      </p:sp>
      <p:sp>
        <p:nvSpPr>
          <p:cNvPr id="11" name="Text 7"/>
          <p:cNvSpPr/>
          <p:nvPr/>
        </p:nvSpPr>
        <p:spPr>
          <a:xfrm>
            <a:off x="548640" y="2779776"/>
            <a:ext cx="3703320" cy="603504"/>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expo-location gives you coordinates. react-native-maps displays them. They work together.</a:t>
            </a:r>
            <a:endParaRPr lang="en-US" sz="1050" dirty="0"/>
          </a:p>
        </p:txBody>
      </p:sp>
      <p:sp>
        <p:nvSpPr>
          <p:cNvPr id="12" name="Shape 8"/>
          <p:cNvSpPr/>
          <p:nvPr/>
        </p:nvSpPr>
        <p:spPr>
          <a:xfrm>
            <a:off x="365760" y="3621024"/>
            <a:ext cx="4023360" cy="1170432"/>
          </a:xfrm>
          <a:prstGeom prst="roundRect">
            <a:avLst>
              <a:gd name="adj" fmla="val 781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3" name="Image 2" descr="preencoded.png"/>
          <p:cNvPicPr>
            <a:picLocks noChangeAspect="1"/>
          </p:cNvPicPr>
          <p:nvPr/>
        </p:nvPicPr>
        <p:blipFill>
          <a:blip r:embed="rId5"/>
          <a:stretch>
            <a:fillRect/>
          </a:stretch>
        </p:blipFill>
        <p:spPr>
          <a:xfrm>
            <a:off x="493776" y="3749040"/>
            <a:ext cx="347472" cy="347472"/>
          </a:xfrm>
          <a:prstGeom prst="rect">
            <a:avLst/>
          </a:prstGeom>
        </p:spPr>
      </p:pic>
      <p:sp>
        <p:nvSpPr>
          <p:cNvPr id="14" name="Text 9"/>
          <p:cNvSpPr/>
          <p:nvPr/>
        </p:nvSpPr>
        <p:spPr>
          <a:xfrm>
            <a:off x="914400" y="3730752"/>
            <a:ext cx="3383280" cy="32004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Requires permission</a:t>
            </a:r>
            <a:endParaRPr lang="en-US" sz="1200" dirty="0"/>
          </a:p>
        </p:txBody>
      </p:sp>
      <p:sp>
        <p:nvSpPr>
          <p:cNvPr id="15" name="Text 10"/>
          <p:cNvSpPr/>
          <p:nvPr/>
        </p:nvSpPr>
        <p:spPr>
          <a:xfrm>
            <a:off x="548640" y="4096512"/>
            <a:ext cx="3703320" cy="603504"/>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The user MUST grant location permission before you can read GPS. We always ask first.</a:t>
            </a:r>
            <a:endParaRPr lang="en-US" sz="1050" dirty="0"/>
          </a:p>
        </p:txBody>
      </p:sp>
      <p:sp>
        <p:nvSpPr>
          <p:cNvPr id="16" name="Shape 11"/>
          <p:cNvSpPr/>
          <p:nvPr/>
        </p:nvSpPr>
        <p:spPr>
          <a:xfrm>
            <a:off x="4663440" y="987552"/>
            <a:ext cx="4114800" cy="640080"/>
          </a:xfrm>
          <a:prstGeom prst="roundRect">
            <a:avLst>
              <a:gd name="adj" fmla="val 14286"/>
            </a:avLst>
          </a:prstGeom>
          <a:solidFill>
            <a:srgbClr val="0A7E8C"/>
          </a:solidFill>
          <a:ln/>
        </p:spPr>
        <p:txBody>
          <a:bodyPr/>
          <a:lstStyle/>
          <a:p>
            <a:endParaRPr lang="en-CA"/>
          </a:p>
        </p:txBody>
      </p:sp>
      <p:sp>
        <p:nvSpPr>
          <p:cNvPr id="17" name="Text 12"/>
          <p:cNvSpPr/>
          <p:nvPr/>
        </p:nvSpPr>
        <p:spPr>
          <a:xfrm>
            <a:off x="4754880" y="1005840"/>
            <a:ext cx="3931920" cy="603504"/>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Installation</a:t>
            </a:r>
            <a:endParaRPr lang="en-US" sz="1500" dirty="0"/>
          </a:p>
        </p:txBody>
      </p:sp>
      <p:sp>
        <p:nvSpPr>
          <p:cNvPr id="18" name="Shape 13"/>
          <p:cNvSpPr/>
          <p:nvPr/>
        </p:nvSpPr>
        <p:spPr>
          <a:xfrm>
            <a:off x="4663440" y="1673352"/>
            <a:ext cx="4114800" cy="594360"/>
          </a:xfrm>
          <a:prstGeom prst="roundRect">
            <a:avLst>
              <a:gd name="adj" fmla="val 15385"/>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19" name="Text 14"/>
          <p:cNvSpPr/>
          <p:nvPr/>
        </p:nvSpPr>
        <p:spPr>
          <a:xfrm>
            <a:off x="4800600" y="1783080"/>
            <a:ext cx="3840480" cy="374904"/>
          </a:xfrm>
          <a:prstGeom prst="rect">
            <a:avLst/>
          </a:prstGeom>
          <a:noFill/>
          <a:ln/>
        </p:spPr>
        <p:txBody>
          <a:bodyPr wrap="square" lIns="0" tIns="0" rIns="0" bIns="0" rtlCol="0" anchor="t"/>
          <a:lstStyle/>
          <a:p>
            <a:pPr marL="0" indent="0">
              <a:buNone/>
            </a:pPr>
            <a:r>
              <a:rPr lang="en-US" sz="1050" dirty="0">
                <a:solidFill>
                  <a:srgbClr val="A8D8D8"/>
                </a:solidFill>
                <a:latin typeface="Courier New" pitchFamily="34" charset="0"/>
                <a:ea typeface="Courier New" pitchFamily="34" charset="-122"/>
                <a:cs typeface="Courier New" pitchFamily="34" charset="-120"/>
              </a:rPr>
              <a:t>npx expo install expo-location</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npx expo install react-native-maps</a:t>
            </a:r>
            <a:endParaRPr lang="en-US" sz="1050" dirty="0"/>
          </a:p>
        </p:txBody>
      </p:sp>
      <p:sp>
        <p:nvSpPr>
          <p:cNvPr id="20" name="Shape 15"/>
          <p:cNvSpPr/>
          <p:nvPr/>
        </p:nvSpPr>
        <p:spPr>
          <a:xfrm>
            <a:off x="4663440" y="2377440"/>
            <a:ext cx="4114800" cy="640080"/>
          </a:xfrm>
          <a:prstGeom prst="roundRect">
            <a:avLst>
              <a:gd name="adj" fmla="val 14286"/>
            </a:avLst>
          </a:prstGeom>
          <a:solidFill>
            <a:srgbClr val="0A7E8C"/>
          </a:solidFill>
          <a:ln/>
        </p:spPr>
        <p:txBody>
          <a:bodyPr/>
          <a:lstStyle/>
          <a:p>
            <a:endParaRPr lang="en-CA"/>
          </a:p>
        </p:txBody>
      </p:sp>
      <p:sp>
        <p:nvSpPr>
          <p:cNvPr id="21" name="Text 16"/>
          <p:cNvSpPr/>
          <p:nvPr/>
        </p:nvSpPr>
        <p:spPr>
          <a:xfrm>
            <a:off x="4754880" y="2395728"/>
            <a:ext cx="3931920" cy="603504"/>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Import</a:t>
            </a:r>
            <a:endParaRPr lang="en-US" sz="1500" dirty="0"/>
          </a:p>
        </p:txBody>
      </p:sp>
      <p:sp>
        <p:nvSpPr>
          <p:cNvPr id="22" name="Shape 17"/>
          <p:cNvSpPr/>
          <p:nvPr/>
        </p:nvSpPr>
        <p:spPr>
          <a:xfrm>
            <a:off x="4663440" y="3063240"/>
            <a:ext cx="4114800" cy="457200"/>
          </a:xfrm>
          <a:prstGeom prst="roundRect">
            <a:avLst>
              <a:gd name="adj" fmla="val 20000"/>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23" name="Text 18"/>
          <p:cNvSpPr/>
          <p:nvPr/>
        </p:nvSpPr>
        <p:spPr>
          <a:xfrm>
            <a:off x="4800600" y="3172968"/>
            <a:ext cx="3840480" cy="237744"/>
          </a:xfrm>
          <a:prstGeom prst="rect">
            <a:avLst/>
          </a:prstGeom>
          <a:noFill/>
          <a:ln/>
        </p:spPr>
        <p:txBody>
          <a:bodyPr wrap="square" lIns="0" tIns="0" rIns="0" bIns="0" rtlCol="0" anchor="t"/>
          <a:lstStyle/>
          <a:p>
            <a:pPr marL="0" indent="0">
              <a:buNone/>
            </a:pPr>
            <a:r>
              <a:rPr lang="en-US" sz="1050" dirty="0">
                <a:solidFill>
                  <a:srgbClr val="A8D8D8"/>
                </a:solidFill>
                <a:latin typeface="Courier New" pitchFamily="34" charset="0"/>
                <a:ea typeface="Courier New" pitchFamily="34" charset="-122"/>
                <a:cs typeface="Courier New" pitchFamily="34" charset="-120"/>
              </a:rPr>
              <a:t>import * as Location from 'expo-location';</a:t>
            </a:r>
            <a:endParaRPr lang="en-US" sz="1050" dirty="0"/>
          </a:p>
        </p:txBody>
      </p:sp>
      <p:sp>
        <p:nvSpPr>
          <p:cNvPr id="24" name="Shape 19"/>
          <p:cNvSpPr/>
          <p:nvPr/>
        </p:nvSpPr>
        <p:spPr>
          <a:xfrm>
            <a:off x="4663440" y="3611880"/>
            <a:ext cx="4114800" cy="1481328"/>
          </a:xfrm>
          <a:prstGeom prst="roundRect">
            <a:avLst>
              <a:gd name="adj" fmla="val 6173"/>
            </a:avLst>
          </a:prstGeom>
          <a:solidFill>
            <a:srgbClr val="D4F5F5"/>
          </a:solidFill>
          <a:ln/>
        </p:spPr>
        <p:txBody>
          <a:bodyPr/>
          <a:lstStyle/>
          <a:p>
            <a:endParaRPr lang="en-CA"/>
          </a:p>
        </p:txBody>
      </p:sp>
      <p:sp>
        <p:nvSpPr>
          <p:cNvPr id="25" name="Text 20"/>
          <p:cNvSpPr/>
          <p:nvPr/>
        </p:nvSpPr>
        <p:spPr>
          <a:xfrm>
            <a:off x="4773168" y="3694176"/>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Why import * as Location?</a:t>
            </a:r>
            <a:endParaRPr lang="en-US" sz="1200" dirty="0"/>
          </a:p>
        </p:txBody>
      </p:sp>
      <p:sp>
        <p:nvSpPr>
          <p:cNvPr id="26" name="Text 21"/>
          <p:cNvSpPr/>
          <p:nvPr/>
        </p:nvSpPr>
        <p:spPr>
          <a:xfrm>
            <a:off x="4773168" y="4023360"/>
            <a:ext cx="3840480" cy="100584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The library exports MANY functions (not just one default). Using * as Location puts them all under one name so you call Location.requestForegroundPermissionsAsync(), Location.getCurrentPositionAsync(), etc.</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3A0725-F678-D7BB-6A7A-CFA932379BE1}"/>
              </a:ext>
            </a:extLst>
          </p:cNvPr>
          <p:cNvSpPr txBox="1"/>
          <p:nvPr/>
        </p:nvSpPr>
        <p:spPr>
          <a:xfrm>
            <a:off x="2670628" y="1103086"/>
            <a:ext cx="6061891" cy="1754326"/>
          </a:xfrm>
          <a:prstGeom prst="rect">
            <a:avLst/>
          </a:prstGeom>
          <a:noFill/>
          <a:ln>
            <a:solidFill>
              <a:schemeClr val="accent1"/>
            </a:solidFill>
          </a:ln>
        </p:spPr>
        <p:txBody>
          <a:bodyPr wrap="square" rtlCol="0">
            <a:spAutoFit/>
          </a:bodyPr>
          <a:lstStyle/>
          <a:p>
            <a:r>
              <a:rPr lang="en-CA" dirty="0"/>
              <a:t>This app does three things: </a:t>
            </a:r>
          </a:p>
          <a:p>
            <a:pPr marL="342900" indent="-342900">
              <a:buFont typeface="+mj-lt"/>
              <a:buAutoNum type="arabicPeriod"/>
            </a:pPr>
            <a:r>
              <a:rPr lang="en-CA" dirty="0"/>
              <a:t>Gets your GPS location</a:t>
            </a:r>
          </a:p>
          <a:p>
            <a:pPr marL="342900" indent="-342900">
              <a:buFont typeface="+mj-lt"/>
              <a:buAutoNum type="arabicPeriod"/>
            </a:pPr>
            <a:r>
              <a:rPr lang="en-CA" dirty="0"/>
              <a:t>Converts coordinates to an address</a:t>
            </a:r>
          </a:p>
          <a:p>
            <a:pPr marL="342900" indent="-342900">
              <a:buFont typeface="+mj-lt"/>
              <a:buAutoNum type="arabicPeriod"/>
            </a:pPr>
            <a:r>
              <a:rPr lang="en-CA" dirty="0"/>
              <a:t>Converts an address to coordinates. </a:t>
            </a:r>
          </a:p>
          <a:p>
            <a:pPr marL="342900" indent="-342900">
              <a:buFont typeface="+mj-lt"/>
              <a:buAutoNum type="arabicPeriod"/>
            </a:pPr>
            <a:endParaRPr lang="en-CA" dirty="0"/>
          </a:p>
          <a:p>
            <a:r>
              <a:rPr lang="en-CA" dirty="0"/>
              <a:t>These are the three features we are going to build today.</a:t>
            </a:r>
          </a:p>
        </p:txBody>
      </p:sp>
      <p:pic>
        <p:nvPicPr>
          <p:cNvPr id="4" name="Picture 3">
            <a:extLst>
              <a:ext uri="{FF2B5EF4-FFF2-40B4-BE49-F238E27FC236}">
                <a16:creationId xmlns:a16="http://schemas.microsoft.com/office/drawing/2014/main" id="{7F327EEB-8898-0EBB-9C1D-FFA2DA6B0F48}"/>
              </a:ext>
            </a:extLst>
          </p:cNvPr>
          <p:cNvPicPr>
            <a:picLocks noChangeAspect="1"/>
          </p:cNvPicPr>
          <p:nvPr/>
        </p:nvPicPr>
        <p:blipFill>
          <a:blip r:embed="rId2"/>
          <a:stretch>
            <a:fillRect/>
          </a:stretch>
        </p:blipFill>
        <p:spPr>
          <a:xfrm>
            <a:off x="148682" y="955935"/>
            <a:ext cx="1897832" cy="4122601"/>
          </a:xfrm>
          <a:prstGeom prst="rect">
            <a:avLst/>
          </a:prstGeom>
        </p:spPr>
      </p:pic>
      <p:sp>
        <p:nvSpPr>
          <p:cNvPr id="6" name="Shape 0">
            <a:extLst>
              <a:ext uri="{FF2B5EF4-FFF2-40B4-BE49-F238E27FC236}">
                <a16:creationId xmlns:a16="http://schemas.microsoft.com/office/drawing/2014/main" id="{1CD76105-1193-C2BE-B0B3-3C68FFDC3521}"/>
              </a:ext>
            </a:extLst>
          </p:cNvPr>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8" name="Text 1">
            <a:extLst>
              <a:ext uri="{FF2B5EF4-FFF2-40B4-BE49-F238E27FC236}">
                <a16:creationId xmlns:a16="http://schemas.microsoft.com/office/drawing/2014/main" id="{5EB43E7C-0402-D83E-34E2-18D721DA2369}"/>
              </a:ext>
            </a:extLst>
          </p:cNvPr>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Tree>
    <p:extLst>
      <p:ext uri="{BB962C8B-B14F-4D97-AF65-F5344CB8AC3E}">
        <p14:creationId xmlns:p14="http://schemas.microsoft.com/office/powerpoint/2010/main" val="4035415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E54CB1-BC3B-E00D-8293-EFF88C2740E0}"/>
              </a:ext>
            </a:extLst>
          </p:cNvPr>
          <p:cNvPicPr>
            <a:picLocks noChangeAspect="1"/>
          </p:cNvPicPr>
          <p:nvPr/>
        </p:nvPicPr>
        <p:blipFill>
          <a:blip r:embed="rId2"/>
          <a:stretch>
            <a:fillRect/>
          </a:stretch>
        </p:blipFill>
        <p:spPr>
          <a:xfrm>
            <a:off x="254067" y="1074057"/>
            <a:ext cx="1844225" cy="4006151"/>
          </a:xfrm>
          <a:prstGeom prst="rect">
            <a:avLst/>
          </a:prstGeom>
        </p:spPr>
      </p:pic>
      <p:sp>
        <p:nvSpPr>
          <p:cNvPr id="4" name="TextBox 3">
            <a:extLst>
              <a:ext uri="{FF2B5EF4-FFF2-40B4-BE49-F238E27FC236}">
                <a16:creationId xmlns:a16="http://schemas.microsoft.com/office/drawing/2014/main" id="{18A88C3B-76DE-B5AC-B446-A1977497DE96}"/>
              </a:ext>
            </a:extLst>
          </p:cNvPr>
          <p:cNvSpPr txBox="1"/>
          <p:nvPr/>
        </p:nvSpPr>
        <p:spPr>
          <a:xfrm>
            <a:off x="2541873" y="1435659"/>
            <a:ext cx="5944559" cy="1477328"/>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b="1" dirty="0"/>
              <a:t>Opening screen</a:t>
            </a:r>
          </a:p>
          <a:p>
            <a:pPr marL="742950" lvl="1" indent="-285750">
              <a:buFont typeface="Arial" panose="020B0604020202020204" pitchFamily="34" charset="0"/>
              <a:buChar char="•"/>
            </a:pPr>
            <a:r>
              <a:rPr lang="en-CA" dirty="0"/>
              <a:t>When the app first opens you see a title, a text input, two buttons, and a map. </a:t>
            </a:r>
          </a:p>
          <a:p>
            <a:pPr marL="742950" lvl="1" indent="-285750">
              <a:buFont typeface="Arial" panose="020B0604020202020204" pitchFamily="34" charset="0"/>
              <a:buChar char="•"/>
            </a:pPr>
            <a:r>
              <a:rPr lang="en-CA" dirty="0"/>
              <a:t>The map is already showing - it's pointed at the Great Pyramids of Giza as a default starting position.</a:t>
            </a:r>
          </a:p>
        </p:txBody>
      </p:sp>
      <p:sp>
        <p:nvSpPr>
          <p:cNvPr id="6" name="Shape 0">
            <a:extLst>
              <a:ext uri="{FF2B5EF4-FFF2-40B4-BE49-F238E27FC236}">
                <a16:creationId xmlns:a16="http://schemas.microsoft.com/office/drawing/2014/main" id="{E68BC306-0A99-2A9F-D97F-8488EA1D52D2}"/>
              </a:ext>
            </a:extLst>
          </p:cNvPr>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8" name="Text 1">
            <a:extLst>
              <a:ext uri="{FF2B5EF4-FFF2-40B4-BE49-F238E27FC236}">
                <a16:creationId xmlns:a16="http://schemas.microsoft.com/office/drawing/2014/main" id="{20F9836C-4A73-7BEC-9120-544223C2DCD9}"/>
              </a:ext>
            </a:extLst>
          </p:cNvPr>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Tree>
    <p:extLst>
      <p:ext uri="{BB962C8B-B14F-4D97-AF65-F5344CB8AC3E}">
        <p14:creationId xmlns:p14="http://schemas.microsoft.com/office/powerpoint/2010/main" val="2169856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D92AB4-7EC7-42DC-AC6F-F03C84EF5AA5}"/>
              </a:ext>
            </a:extLst>
          </p:cNvPr>
          <p:cNvSpPr txBox="1"/>
          <p:nvPr/>
        </p:nvSpPr>
        <p:spPr>
          <a:xfrm>
            <a:off x="4221273" y="777785"/>
            <a:ext cx="3384213" cy="440120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400" b="1" dirty="0"/>
              <a:t>“Get Current Location” button</a:t>
            </a:r>
          </a:p>
          <a:p>
            <a:pPr marL="742950" lvl="1" indent="-285750">
              <a:buFont typeface="Arial" panose="020B0604020202020204" pitchFamily="34" charset="0"/>
              <a:buChar char="•"/>
            </a:pPr>
            <a:r>
              <a:rPr lang="en-CA" sz="1400" dirty="0"/>
              <a:t>The app asks the device for permission to access GPS.</a:t>
            </a:r>
          </a:p>
          <a:p>
            <a:pPr marL="742950" lvl="1" indent="-285750">
              <a:buFont typeface="Arial" panose="020B0604020202020204" pitchFamily="34" charset="0"/>
              <a:buChar char="•"/>
            </a:pPr>
            <a:r>
              <a:rPr lang="en-CA" sz="1400" dirty="0"/>
              <a:t>If you click Don’t Allow, an alert will pop up.</a:t>
            </a:r>
          </a:p>
          <a:p>
            <a:pPr marL="742950" lvl="1" indent="-285750">
              <a:buFont typeface="Arial" panose="020B0604020202020204" pitchFamily="34" charset="0"/>
              <a:buChar char="•"/>
            </a:pPr>
            <a:r>
              <a:rPr lang="en-CA" sz="1400" dirty="0"/>
              <a:t>If you Allow: </a:t>
            </a:r>
          </a:p>
          <a:p>
            <a:pPr marL="1200150" lvl="2" indent="-285750">
              <a:buFont typeface="Arial" panose="020B0604020202020204" pitchFamily="34" charset="0"/>
              <a:buChar char="•"/>
            </a:pPr>
            <a:r>
              <a:rPr lang="en-CA" sz="1400" dirty="0"/>
              <a:t>The map flies to your current location — whatever the emulator thinks your location is. </a:t>
            </a:r>
          </a:p>
          <a:p>
            <a:pPr marL="1200150" lvl="2" indent="-285750">
              <a:buFont typeface="Arial" panose="020B0604020202020204" pitchFamily="34" charset="0"/>
              <a:buChar char="•"/>
            </a:pPr>
            <a:r>
              <a:rPr lang="en-CA" sz="1400" dirty="0"/>
              <a:t>Below the buttons you can see the actual street address printed in orange.</a:t>
            </a:r>
          </a:p>
          <a:p>
            <a:pPr marL="1200150" lvl="2" indent="-285750">
              <a:buFont typeface="Arial" panose="020B0604020202020204" pitchFamily="34" charset="0"/>
              <a:buChar char="•"/>
            </a:pPr>
            <a:r>
              <a:rPr lang="en-CA" sz="1400" dirty="0"/>
              <a:t>That came from the GPS coordinates being converted to a readable address automatically.</a:t>
            </a:r>
          </a:p>
          <a:p>
            <a:pPr marL="1200150" lvl="2"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b="1" dirty="0"/>
              <a:t>Coordinates </a:t>
            </a:r>
            <a:r>
              <a:rPr lang="en-CA" sz="1400" b="1" dirty="0">
                <a:sym typeface="Wingdings" panose="05000000000000000000" pitchFamily="2" charset="2"/>
              </a:rPr>
              <a:t> Address (reverse Geocoding)</a:t>
            </a:r>
            <a:endParaRPr lang="en-CA" sz="1400" b="1" dirty="0"/>
          </a:p>
        </p:txBody>
      </p:sp>
      <p:pic>
        <p:nvPicPr>
          <p:cNvPr id="4" name="Picture 3">
            <a:extLst>
              <a:ext uri="{FF2B5EF4-FFF2-40B4-BE49-F238E27FC236}">
                <a16:creationId xmlns:a16="http://schemas.microsoft.com/office/drawing/2014/main" id="{F8D6B2B2-CEC4-B9EE-A955-BB0346D7FF35}"/>
              </a:ext>
            </a:extLst>
          </p:cNvPr>
          <p:cNvPicPr>
            <a:picLocks noChangeAspect="1"/>
          </p:cNvPicPr>
          <p:nvPr/>
        </p:nvPicPr>
        <p:blipFill>
          <a:blip r:embed="rId3"/>
          <a:stretch>
            <a:fillRect/>
          </a:stretch>
        </p:blipFill>
        <p:spPr>
          <a:xfrm>
            <a:off x="196010" y="796978"/>
            <a:ext cx="1730293" cy="3722914"/>
          </a:xfrm>
          <a:prstGeom prst="rect">
            <a:avLst/>
          </a:prstGeom>
        </p:spPr>
      </p:pic>
      <p:pic>
        <p:nvPicPr>
          <p:cNvPr id="6" name="Picture 5">
            <a:extLst>
              <a:ext uri="{FF2B5EF4-FFF2-40B4-BE49-F238E27FC236}">
                <a16:creationId xmlns:a16="http://schemas.microsoft.com/office/drawing/2014/main" id="{FC160404-13F8-9ABD-7435-E1552DD4C103}"/>
              </a:ext>
            </a:extLst>
          </p:cNvPr>
          <p:cNvPicPr>
            <a:picLocks noChangeAspect="1"/>
          </p:cNvPicPr>
          <p:nvPr/>
        </p:nvPicPr>
        <p:blipFill>
          <a:blip r:embed="rId4"/>
          <a:stretch>
            <a:fillRect/>
          </a:stretch>
        </p:blipFill>
        <p:spPr>
          <a:xfrm>
            <a:off x="7468892" y="1360204"/>
            <a:ext cx="1479098" cy="682367"/>
          </a:xfrm>
          <a:prstGeom prst="rect">
            <a:avLst/>
          </a:prstGeom>
          <a:ln>
            <a:solidFill>
              <a:schemeClr val="accent1"/>
            </a:solidFill>
          </a:ln>
        </p:spPr>
      </p:pic>
      <p:pic>
        <p:nvPicPr>
          <p:cNvPr id="8" name="Picture 7">
            <a:extLst>
              <a:ext uri="{FF2B5EF4-FFF2-40B4-BE49-F238E27FC236}">
                <a16:creationId xmlns:a16="http://schemas.microsoft.com/office/drawing/2014/main" id="{3060F196-F8B8-E042-4D42-F378B8BD6117}"/>
              </a:ext>
            </a:extLst>
          </p:cNvPr>
          <p:cNvPicPr>
            <a:picLocks noChangeAspect="1"/>
          </p:cNvPicPr>
          <p:nvPr/>
        </p:nvPicPr>
        <p:blipFill>
          <a:blip r:embed="rId5"/>
          <a:stretch>
            <a:fillRect/>
          </a:stretch>
        </p:blipFill>
        <p:spPr>
          <a:xfrm>
            <a:off x="2162707" y="839682"/>
            <a:ext cx="1730292" cy="3726782"/>
          </a:xfrm>
          <a:prstGeom prst="rect">
            <a:avLst/>
          </a:prstGeom>
        </p:spPr>
      </p:pic>
      <p:sp>
        <p:nvSpPr>
          <p:cNvPr id="10" name="Shape 0">
            <a:extLst>
              <a:ext uri="{FF2B5EF4-FFF2-40B4-BE49-F238E27FC236}">
                <a16:creationId xmlns:a16="http://schemas.microsoft.com/office/drawing/2014/main" id="{F12F80BC-6B78-FE2B-2946-220E51965D61}"/>
              </a:ext>
            </a:extLst>
          </p:cNvPr>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12" name="Text 1">
            <a:extLst>
              <a:ext uri="{FF2B5EF4-FFF2-40B4-BE49-F238E27FC236}">
                <a16:creationId xmlns:a16="http://schemas.microsoft.com/office/drawing/2014/main" id="{AE1DB55D-158D-8331-CF41-D585F879AC40}"/>
              </a:ext>
            </a:extLst>
          </p:cNvPr>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
        <p:nvSpPr>
          <p:cNvPr id="13" name="Rectangle 12">
            <a:extLst>
              <a:ext uri="{FF2B5EF4-FFF2-40B4-BE49-F238E27FC236}">
                <a16:creationId xmlns:a16="http://schemas.microsoft.com/office/drawing/2014/main" id="{4583F981-15A8-7856-D2CE-1BED28FC2260}"/>
              </a:ext>
            </a:extLst>
          </p:cNvPr>
          <p:cNvSpPr/>
          <p:nvPr/>
        </p:nvSpPr>
        <p:spPr>
          <a:xfrm>
            <a:off x="2459674" y="1937343"/>
            <a:ext cx="1270000" cy="21045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EED530A5-B854-D76B-E645-29B9B22647B7}"/>
              </a:ext>
            </a:extLst>
          </p:cNvPr>
          <p:cNvSpPr txBox="1"/>
          <p:nvPr/>
        </p:nvSpPr>
        <p:spPr>
          <a:xfrm>
            <a:off x="7695868" y="2456618"/>
            <a:ext cx="1252122" cy="2492990"/>
          </a:xfrm>
          <a:prstGeom prst="rect">
            <a:avLst/>
          </a:prstGeom>
          <a:noFill/>
          <a:ln>
            <a:solidFill>
              <a:schemeClr val="accent1"/>
            </a:solidFill>
          </a:ln>
        </p:spPr>
        <p:txBody>
          <a:bodyPr wrap="square" rtlCol="0">
            <a:spAutoFit/>
          </a:bodyPr>
          <a:lstStyle/>
          <a:p>
            <a:pPr marL="171450" indent="-171450">
              <a:buFont typeface="Arial" panose="020B0604020202020204" pitchFamily="34" charset="0"/>
              <a:buChar char="•"/>
            </a:pPr>
            <a:r>
              <a:rPr lang="en-CA" sz="1200" i="1" dirty="0"/>
              <a:t>The emulator has a </a:t>
            </a:r>
            <a:r>
              <a:rPr lang="en-CA" sz="1200" b="1" i="1" dirty="0"/>
              <a:t>default hardcoded location</a:t>
            </a:r>
            <a:r>
              <a:rPr lang="en-CA" sz="1200" i="1" dirty="0"/>
              <a:t> built in. For most Android emulators it defaults to: Mountain View, California (Google's headquarters)</a:t>
            </a:r>
          </a:p>
        </p:txBody>
      </p:sp>
    </p:spTree>
    <p:extLst>
      <p:ext uri="{BB962C8B-B14F-4D97-AF65-F5344CB8AC3E}">
        <p14:creationId xmlns:p14="http://schemas.microsoft.com/office/powerpoint/2010/main" val="336332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DF52D5-FB34-BD80-1C6E-455FC5128FBD}"/>
              </a:ext>
            </a:extLst>
          </p:cNvPr>
          <p:cNvSpPr txBox="1"/>
          <p:nvPr/>
        </p:nvSpPr>
        <p:spPr>
          <a:xfrm>
            <a:off x="2975428" y="2023265"/>
            <a:ext cx="5757092" cy="120032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b="1" dirty="0"/>
              <a:t>Tap the pin</a:t>
            </a:r>
          </a:p>
          <a:p>
            <a:pPr marL="742950" lvl="1" indent="-285750">
              <a:buFont typeface="Arial" panose="020B0604020202020204" pitchFamily="34" charset="0"/>
              <a:buChar char="•"/>
            </a:pPr>
            <a:r>
              <a:rPr lang="en-CA" dirty="0"/>
              <a:t>If you tap the pin on the map, it shows a popup with the address as the description. That's connected to the same data.</a:t>
            </a:r>
          </a:p>
        </p:txBody>
      </p:sp>
      <p:pic>
        <p:nvPicPr>
          <p:cNvPr id="4" name="Picture 3">
            <a:extLst>
              <a:ext uri="{FF2B5EF4-FFF2-40B4-BE49-F238E27FC236}">
                <a16:creationId xmlns:a16="http://schemas.microsoft.com/office/drawing/2014/main" id="{FD18F229-0B9D-5EF2-B0A5-BAE18B245E9F}"/>
              </a:ext>
            </a:extLst>
          </p:cNvPr>
          <p:cNvPicPr>
            <a:picLocks noChangeAspect="1"/>
          </p:cNvPicPr>
          <p:nvPr/>
        </p:nvPicPr>
        <p:blipFill>
          <a:blip r:embed="rId2"/>
          <a:stretch>
            <a:fillRect/>
          </a:stretch>
        </p:blipFill>
        <p:spPr>
          <a:xfrm>
            <a:off x="386576" y="934357"/>
            <a:ext cx="1919532" cy="4209143"/>
          </a:xfrm>
          <a:prstGeom prst="rect">
            <a:avLst/>
          </a:prstGeom>
        </p:spPr>
      </p:pic>
      <p:sp>
        <p:nvSpPr>
          <p:cNvPr id="6" name="Shape 0">
            <a:extLst>
              <a:ext uri="{FF2B5EF4-FFF2-40B4-BE49-F238E27FC236}">
                <a16:creationId xmlns:a16="http://schemas.microsoft.com/office/drawing/2014/main" id="{F4E0AEBA-E83A-7B1D-8E4A-9722CE02DD11}"/>
              </a:ext>
            </a:extLst>
          </p:cNvPr>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8" name="Text 1">
            <a:extLst>
              <a:ext uri="{FF2B5EF4-FFF2-40B4-BE49-F238E27FC236}">
                <a16:creationId xmlns:a16="http://schemas.microsoft.com/office/drawing/2014/main" id="{2D978A41-5905-F5D2-9CC0-862566888D4D}"/>
              </a:ext>
            </a:extLst>
          </p:cNvPr>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Tree>
    <p:extLst>
      <p:ext uri="{BB962C8B-B14F-4D97-AF65-F5344CB8AC3E}">
        <p14:creationId xmlns:p14="http://schemas.microsoft.com/office/powerpoint/2010/main" val="368918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7A6E6A-0C7E-8E53-F505-30C97F753ADE}"/>
              </a:ext>
            </a:extLst>
          </p:cNvPr>
          <p:cNvSpPr txBox="1"/>
          <p:nvPr/>
        </p:nvSpPr>
        <p:spPr>
          <a:xfrm>
            <a:off x="3120570" y="1252196"/>
            <a:ext cx="5468984" cy="2308324"/>
          </a:xfrm>
          <a:prstGeom prst="rect">
            <a:avLst/>
          </a:prstGeom>
          <a:noFill/>
          <a:ln>
            <a:solidFill>
              <a:schemeClr val="accent1"/>
            </a:solidFill>
          </a:ln>
        </p:spPr>
        <p:txBody>
          <a:bodyPr wrap="square">
            <a:spAutoFit/>
          </a:bodyPr>
          <a:lstStyle/>
          <a:p>
            <a:pPr marL="285750" indent="-285750">
              <a:buFont typeface="Arial" panose="020B0604020202020204" pitchFamily="34" charset="0"/>
              <a:buChar char="•"/>
            </a:pPr>
            <a:r>
              <a:rPr lang="en-CA" b="1" dirty="0"/>
              <a:t>“Forward Geocoding” button</a:t>
            </a:r>
          </a:p>
          <a:p>
            <a:pPr marL="742950" lvl="1" indent="-285750">
              <a:buFont typeface="Arial" panose="020B0604020202020204" pitchFamily="34" charset="0"/>
              <a:buChar char="•"/>
            </a:pPr>
            <a:r>
              <a:rPr lang="en-CA" dirty="0"/>
              <a:t>Type CN Tower Toronto in the text box, tap Forward Geocoding</a:t>
            </a:r>
          </a:p>
          <a:p>
            <a:pPr marL="742950" lvl="1" indent="-285750">
              <a:buFont typeface="Arial" panose="020B0604020202020204" pitchFamily="34" charset="0"/>
              <a:buChar char="•"/>
            </a:pPr>
            <a:r>
              <a:rPr lang="en-CA" dirty="0"/>
              <a:t>The map flew to CN Tower in Toronto and the coordinates are shown in orange - that's the latitude and longitude of CN Tower.</a:t>
            </a:r>
          </a:p>
          <a:p>
            <a:pPr marL="742950" lvl="1" indent="-285750">
              <a:buFont typeface="Arial" panose="020B0604020202020204" pitchFamily="34" charset="0"/>
              <a:buChar char="•"/>
            </a:pPr>
            <a:endParaRPr lang="en-CA" dirty="0"/>
          </a:p>
          <a:p>
            <a:pPr marL="742950" lvl="1" indent="-285750">
              <a:buFont typeface="Arial" panose="020B0604020202020204" pitchFamily="34" charset="0"/>
              <a:buChar char="•"/>
            </a:pPr>
            <a:r>
              <a:rPr lang="en-CA" b="1" dirty="0"/>
              <a:t>Address </a:t>
            </a:r>
            <a:r>
              <a:rPr lang="en-CA" b="1" dirty="0">
                <a:sym typeface="Wingdings" panose="05000000000000000000" pitchFamily="2" charset="2"/>
              </a:rPr>
              <a:t> Coordinates (Forward Geocoding)</a:t>
            </a:r>
            <a:endParaRPr lang="en-CA" b="1" dirty="0"/>
          </a:p>
        </p:txBody>
      </p:sp>
      <p:pic>
        <p:nvPicPr>
          <p:cNvPr id="5" name="Picture 4">
            <a:extLst>
              <a:ext uri="{FF2B5EF4-FFF2-40B4-BE49-F238E27FC236}">
                <a16:creationId xmlns:a16="http://schemas.microsoft.com/office/drawing/2014/main" id="{6BDFA13F-6503-4B2B-4DAE-23CABF960E23}"/>
              </a:ext>
            </a:extLst>
          </p:cNvPr>
          <p:cNvPicPr>
            <a:picLocks noChangeAspect="1"/>
          </p:cNvPicPr>
          <p:nvPr/>
        </p:nvPicPr>
        <p:blipFill>
          <a:blip r:embed="rId2"/>
          <a:stretch>
            <a:fillRect/>
          </a:stretch>
        </p:blipFill>
        <p:spPr>
          <a:xfrm>
            <a:off x="365760" y="885371"/>
            <a:ext cx="1959293" cy="4229028"/>
          </a:xfrm>
          <a:prstGeom prst="rect">
            <a:avLst/>
          </a:prstGeom>
        </p:spPr>
      </p:pic>
      <p:sp>
        <p:nvSpPr>
          <p:cNvPr id="7" name="Shape 0">
            <a:extLst>
              <a:ext uri="{FF2B5EF4-FFF2-40B4-BE49-F238E27FC236}">
                <a16:creationId xmlns:a16="http://schemas.microsoft.com/office/drawing/2014/main" id="{96D9D667-E8AE-9F9F-7D44-03462D75B6DF}"/>
              </a:ext>
            </a:extLst>
          </p:cNvPr>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9" name="Text 1">
            <a:extLst>
              <a:ext uri="{FF2B5EF4-FFF2-40B4-BE49-F238E27FC236}">
                <a16:creationId xmlns:a16="http://schemas.microsoft.com/office/drawing/2014/main" id="{8E556B7D-80DE-94EB-CDAB-6098060EA674}"/>
              </a:ext>
            </a:extLst>
          </p:cNvPr>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Tree>
    <p:extLst>
      <p:ext uri="{BB962C8B-B14F-4D97-AF65-F5344CB8AC3E}">
        <p14:creationId xmlns:p14="http://schemas.microsoft.com/office/powerpoint/2010/main" val="1488126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5556DB-7558-9715-9C41-8307C5C19E37}"/>
              </a:ext>
            </a:extLst>
          </p:cNvPr>
          <p:cNvPicPr>
            <a:picLocks noChangeAspect="1"/>
          </p:cNvPicPr>
          <p:nvPr/>
        </p:nvPicPr>
        <p:blipFill>
          <a:blip r:embed="rId2"/>
          <a:stretch>
            <a:fillRect/>
          </a:stretch>
        </p:blipFill>
        <p:spPr>
          <a:xfrm>
            <a:off x="502920" y="897292"/>
            <a:ext cx="1909493" cy="4081616"/>
          </a:xfrm>
          <a:prstGeom prst="rect">
            <a:avLst/>
          </a:prstGeom>
        </p:spPr>
      </p:pic>
      <p:sp>
        <p:nvSpPr>
          <p:cNvPr id="4" name="TextBox 3">
            <a:extLst>
              <a:ext uri="{FF2B5EF4-FFF2-40B4-BE49-F238E27FC236}">
                <a16:creationId xmlns:a16="http://schemas.microsoft.com/office/drawing/2014/main" id="{14691313-15F4-13EC-843D-7A445449B57B}"/>
              </a:ext>
            </a:extLst>
          </p:cNvPr>
          <p:cNvSpPr txBox="1"/>
          <p:nvPr/>
        </p:nvSpPr>
        <p:spPr>
          <a:xfrm>
            <a:off x="3697866" y="1145341"/>
            <a:ext cx="5034654" cy="120032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b="1" dirty="0"/>
              <a:t>Try another address</a:t>
            </a:r>
          </a:p>
          <a:p>
            <a:pPr marL="742950" lvl="1" indent="-285750">
              <a:buFont typeface="Arial" panose="020B0604020202020204" pitchFamily="34" charset="0"/>
              <a:buChar char="•"/>
            </a:pPr>
            <a:r>
              <a:rPr lang="en-CA" dirty="0"/>
              <a:t>Eiffel Tower Paris, tap Forward Geocoding</a:t>
            </a:r>
          </a:p>
          <a:p>
            <a:pPr marL="742950" lvl="1" indent="-285750">
              <a:buFont typeface="Arial" panose="020B0604020202020204" pitchFamily="34" charset="0"/>
              <a:buChar char="•"/>
            </a:pPr>
            <a:r>
              <a:rPr lang="en-CA" dirty="0"/>
              <a:t>The map moves to wherever you type and coordinates are shown</a:t>
            </a:r>
          </a:p>
        </p:txBody>
      </p:sp>
      <p:sp>
        <p:nvSpPr>
          <p:cNvPr id="6" name="Shape 0">
            <a:extLst>
              <a:ext uri="{FF2B5EF4-FFF2-40B4-BE49-F238E27FC236}">
                <a16:creationId xmlns:a16="http://schemas.microsoft.com/office/drawing/2014/main" id="{74FF90F5-55A7-E3CC-FF04-1B9D2A8B8724}"/>
              </a:ext>
            </a:extLst>
          </p:cNvPr>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8" name="Text 1">
            <a:extLst>
              <a:ext uri="{FF2B5EF4-FFF2-40B4-BE49-F238E27FC236}">
                <a16:creationId xmlns:a16="http://schemas.microsoft.com/office/drawing/2014/main" id="{95EC5D6D-740B-33D8-B7DF-AAB901D66A7F}"/>
              </a:ext>
            </a:extLst>
          </p:cNvPr>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Tree>
    <p:extLst>
      <p:ext uri="{BB962C8B-B14F-4D97-AF65-F5344CB8AC3E}">
        <p14:creationId xmlns:p14="http://schemas.microsoft.com/office/powerpoint/2010/main" val="1848246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102EBE-CD7B-C612-7231-21F89A9E7757}"/>
              </a:ext>
            </a:extLst>
          </p:cNvPr>
          <p:cNvPicPr>
            <a:picLocks noChangeAspect="1"/>
          </p:cNvPicPr>
          <p:nvPr/>
        </p:nvPicPr>
        <p:blipFill>
          <a:blip r:embed="rId2"/>
          <a:stretch>
            <a:fillRect/>
          </a:stretch>
        </p:blipFill>
        <p:spPr>
          <a:xfrm>
            <a:off x="61988" y="769765"/>
            <a:ext cx="1919532" cy="4209143"/>
          </a:xfrm>
          <a:prstGeom prst="rect">
            <a:avLst/>
          </a:prstGeom>
        </p:spPr>
      </p:pic>
      <p:sp>
        <p:nvSpPr>
          <p:cNvPr id="4" name="TextBox 3">
            <a:extLst>
              <a:ext uri="{FF2B5EF4-FFF2-40B4-BE49-F238E27FC236}">
                <a16:creationId xmlns:a16="http://schemas.microsoft.com/office/drawing/2014/main" id="{05458B30-29F3-B522-AA92-33EF8C2BDBB0}"/>
              </a:ext>
            </a:extLst>
          </p:cNvPr>
          <p:cNvSpPr txBox="1"/>
          <p:nvPr/>
        </p:nvSpPr>
        <p:spPr>
          <a:xfrm>
            <a:off x="2052919" y="919903"/>
            <a:ext cx="2174954" cy="276999"/>
          </a:xfrm>
          <a:prstGeom prst="rect">
            <a:avLst/>
          </a:prstGeom>
          <a:noFill/>
          <a:ln>
            <a:solidFill>
              <a:schemeClr val="accent1"/>
            </a:solidFill>
          </a:ln>
        </p:spPr>
        <p:txBody>
          <a:bodyPr wrap="none" rtlCol="0">
            <a:spAutoFit/>
          </a:bodyPr>
          <a:lstStyle/>
          <a:p>
            <a:pPr marL="285750" indent="-285750">
              <a:buFont typeface="Arial" panose="020B0604020202020204" pitchFamily="34" charset="0"/>
              <a:buChar char="•"/>
            </a:pPr>
            <a:r>
              <a:rPr lang="en-CA" sz="1200" dirty="0"/>
              <a:t>Title — "Location Example"</a:t>
            </a:r>
          </a:p>
        </p:txBody>
      </p:sp>
      <p:sp>
        <p:nvSpPr>
          <p:cNvPr id="5" name="TextBox 4">
            <a:extLst>
              <a:ext uri="{FF2B5EF4-FFF2-40B4-BE49-F238E27FC236}">
                <a16:creationId xmlns:a16="http://schemas.microsoft.com/office/drawing/2014/main" id="{6BB33764-613C-D965-8304-97F7A6925581}"/>
              </a:ext>
            </a:extLst>
          </p:cNvPr>
          <p:cNvSpPr txBox="1"/>
          <p:nvPr/>
        </p:nvSpPr>
        <p:spPr>
          <a:xfrm>
            <a:off x="2052919" y="1336723"/>
            <a:ext cx="2552686" cy="276999"/>
          </a:xfrm>
          <a:prstGeom prst="rect">
            <a:avLst/>
          </a:prstGeom>
          <a:noFill/>
          <a:ln>
            <a:solidFill>
              <a:schemeClr val="accent1"/>
            </a:solidFill>
          </a:ln>
        </p:spPr>
        <p:txBody>
          <a:bodyPr wrap="none" rtlCol="0">
            <a:spAutoFit/>
          </a:bodyPr>
          <a:lstStyle/>
          <a:p>
            <a:pPr marL="285750" indent="-285750">
              <a:buFont typeface="Arial" panose="020B0604020202020204" pitchFamily="34" charset="0"/>
              <a:buChar char="•"/>
            </a:pPr>
            <a:r>
              <a:rPr lang="en-CA" sz="1200" dirty="0"/>
              <a:t>Text input box — "Enter Address"</a:t>
            </a:r>
          </a:p>
        </p:txBody>
      </p:sp>
      <p:sp>
        <p:nvSpPr>
          <p:cNvPr id="7" name="TextBox 6">
            <a:extLst>
              <a:ext uri="{FF2B5EF4-FFF2-40B4-BE49-F238E27FC236}">
                <a16:creationId xmlns:a16="http://schemas.microsoft.com/office/drawing/2014/main" id="{5CDD8B65-33E0-62EC-83BF-7C5DD9C1F4B3}"/>
              </a:ext>
            </a:extLst>
          </p:cNvPr>
          <p:cNvSpPr txBox="1"/>
          <p:nvPr/>
        </p:nvSpPr>
        <p:spPr>
          <a:xfrm>
            <a:off x="2052919" y="1681437"/>
            <a:ext cx="3811795" cy="461665"/>
          </a:xfrm>
          <a:prstGeom prst="rect">
            <a:avLst/>
          </a:prstGeom>
          <a:noFill/>
          <a:ln>
            <a:solidFill>
              <a:schemeClr val="accent1"/>
            </a:solidFill>
          </a:ln>
        </p:spPr>
        <p:txBody>
          <a:bodyPr wrap="square">
            <a:spAutoFit/>
          </a:bodyPr>
          <a:lstStyle/>
          <a:p>
            <a:pPr marL="285750" indent="-285750">
              <a:buFont typeface="Arial" panose="020B0604020202020204" pitchFamily="34" charset="0"/>
              <a:buChar char="•"/>
            </a:pPr>
            <a:r>
              <a:rPr lang="en-CA" sz="1200" dirty="0"/>
              <a:t>Forward Geocoding button</a:t>
            </a:r>
          </a:p>
          <a:p>
            <a:pPr marL="742950" lvl="1" indent="-285750">
              <a:buFont typeface="Arial" panose="020B0604020202020204" pitchFamily="34" charset="0"/>
              <a:buChar char="•"/>
            </a:pPr>
            <a:r>
              <a:rPr lang="en-CA" sz="1200" dirty="0"/>
              <a:t>Calls the </a:t>
            </a:r>
            <a:r>
              <a:rPr lang="en-CA" sz="1200" dirty="0" err="1"/>
              <a:t>forwardGeocoding</a:t>
            </a:r>
            <a:r>
              <a:rPr lang="en-CA" sz="1200" dirty="0"/>
              <a:t>() function.</a:t>
            </a:r>
          </a:p>
        </p:txBody>
      </p:sp>
      <p:sp>
        <p:nvSpPr>
          <p:cNvPr id="8" name="TextBox 7">
            <a:extLst>
              <a:ext uri="{FF2B5EF4-FFF2-40B4-BE49-F238E27FC236}">
                <a16:creationId xmlns:a16="http://schemas.microsoft.com/office/drawing/2014/main" id="{21E3D956-D555-C55D-0EF9-3BA1D0B2C8B2}"/>
              </a:ext>
            </a:extLst>
          </p:cNvPr>
          <p:cNvSpPr txBox="1"/>
          <p:nvPr/>
        </p:nvSpPr>
        <p:spPr>
          <a:xfrm>
            <a:off x="2060602" y="2162932"/>
            <a:ext cx="7021409" cy="120032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200" dirty="0"/>
              <a:t>Get Current Location button</a:t>
            </a:r>
          </a:p>
          <a:p>
            <a:pPr marL="285750" indent="-285750">
              <a:buFont typeface="Arial" panose="020B0604020202020204" pitchFamily="34" charset="0"/>
              <a:buChar char="•"/>
            </a:pPr>
            <a:r>
              <a:rPr lang="en-CA" sz="1200" dirty="0"/>
              <a:t>Calls the </a:t>
            </a:r>
            <a:r>
              <a:rPr lang="en-CA" sz="1200" dirty="0" err="1"/>
              <a:t>getCurrentLocation</a:t>
            </a:r>
            <a:r>
              <a:rPr lang="en-CA" sz="1200" dirty="0"/>
              <a:t>() function. In the function it:</a:t>
            </a:r>
          </a:p>
          <a:p>
            <a:pPr marL="742950" lvl="1" indent="-285750">
              <a:buFont typeface="Arial" panose="020B0604020202020204" pitchFamily="34" charset="0"/>
              <a:buChar char="•"/>
            </a:pPr>
            <a:r>
              <a:rPr lang="en-CA" sz="1200" dirty="0"/>
              <a:t>Gets your GPS location</a:t>
            </a:r>
          </a:p>
          <a:p>
            <a:pPr marL="742950" lvl="1" indent="-285750">
              <a:buFont typeface="Arial" panose="020B0604020202020204" pitchFamily="34" charset="0"/>
              <a:buChar char="•"/>
            </a:pPr>
            <a:r>
              <a:rPr lang="en-CA" sz="1200" dirty="0"/>
              <a:t>Calls the </a:t>
            </a:r>
            <a:r>
              <a:rPr lang="en-CA" sz="1200" dirty="0" err="1"/>
              <a:t>reverseGeocode</a:t>
            </a:r>
            <a:r>
              <a:rPr lang="en-CA" sz="1200" dirty="0"/>
              <a:t>() function</a:t>
            </a:r>
          </a:p>
          <a:p>
            <a:pPr marL="1200150" lvl="2" indent="-285750">
              <a:buFont typeface="Arial" panose="020B0604020202020204" pitchFamily="34" charset="0"/>
              <a:buChar char="•"/>
            </a:pPr>
            <a:r>
              <a:rPr lang="en-CA" sz="1200" dirty="0"/>
              <a:t>The </a:t>
            </a:r>
            <a:r>
              <a:rPr lang="en-CA" sz="1200" dirty="0" err="1"/>
              <a:t>reverseGeocode</a:t>
            </a:r>
            <a:r>
              <a:rPr lang="en-CA" sz="1200" dirty="0"/>
              <a:t>() function takes the coordinates and returns the address (shown in orange and on the pin description)</a:t>
            </a:r>
          </a:p>
        </p:txBody>
      </p:sp>
      <p:sp>
        <p:nvSpPr>
          <p:cNvPr id="9" name="TextBox 8">
            <a:extLst>
              <a:ext uri="{FF2B5EF4-FFF2-40B4-BE49-F238E27FC236}">
                <a16:creationId xmlns:a16="http://schemas.microsoft.com/office/drawing/2014/main" id="{F666C015-7D48-7469-F7EF-FFF772736AC5}"/>
              </a:ext>
            </a:extLst>
          </p:cNvPr>
          <p:cNvSpPr txBox="1"/>
          <p:nvPr/>
        </p:nvSpPr>
        <p:spPr>
          <a:xfrm>
            <a:off x="2053345" y="3431607"/>
            <a:ext cx="7021407" cy="46166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200" dirty="0"/>
              <a:t>Orange address text</a:t>
            </a:r>
          </a:p>
          <a:p>
            <a:pPr marL="742950" lvl="1" indent="-285750">
              <a:buFont typeface="Arial" panose="020B0604020202020204" pitchFamily="34" charset="0"/>
              <a:buChar char="•"/>
            </a:pPr>
            <a:r>
              <a:rPr lang="en-CA" sz="1200" dirty="0"/>
              <a:t>Only appears when </a:t>
            </a:r>
            <a:r>
              <a:rPr lang="en-CA" sz="1200" dirty="0" err="1"/>
              <a:t>currentAddress</a:t>
            </a:r>
            <a:r>
              <a:rPr lang="en-CA" sz="1200" dirty="0"/>
              <a:t> state is not empty.</a:t>
            </a:r>
          </a:p>
        </p:txBody>
      </p:sp>
      <p:sp>
        <p:nvSpPr>
          <p:cNvPr id="10" name="TextBox 9">
            <a:extLst>
              <a:ext uri="{FF2B5EF4-FFF2-40B4-BE49-F238E27FC236}">
                <a16:creationId xmlns:a16="http://schemas.microsoft.com/office/drawing/2014/main" id="{8204854B-83E9-74F5-99F0-16CB3B91F658}"/>
              </a:ext>
            </a:extLst>
          </p:cNvPr>
          <p:cNvSpPr txBox="1"/>
          <p:nvPr/>
        </p:nvSpPr>
        <p:spPr>
          <a:xfrm>
            <a:off x="2060603" y="3944755"/>
            <a:ext cx="7021408" cy="46166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200" dirty="0"/>
              <a:t>The map</a:t>
            </a:r>
          </a:p>
          <a:p>
            <a:pPr marL="742950" lvl="1" indent="-285750">
              <a:buFont typeface="Arial" panose="020B0604020202020204" pitchFamily="34" charset="0"/>
              <a:buChar char="•"/>
            </a:pPr>
            <a:r>
              <a:rPr lang="en-CA" sz="1200" dirty="0"/>
              <a:t>Controlled by the region state variable. Moves automatically whenever </a:t>
            </a:r>
            <a:r>
              <a:rPr lang="en-CA" sz="1200" dirty="0" err="1"/>
              <a:t>setRegion</a:t>
            </a:r>
            <a:r>
              <a:rPr lang="en-CA" sz="1200" dirty="0"/>
              <a:t>() is called.</a:t>
            </a:r>
          </a:p>
        </p:txBody>
      </p:sp>
      <p:sp>
        <p:nvSpPr>
          <p:cNvPr id="11" name="TextBox 10">
            <a:extLst>
              <a:ext uri="{FF2B5EF4-FFF2-40B4-BE49-F238E27FC236}">
                <a16:creationId xmlns:a16="http://schemas.microsoft.com/office/drawing/2014/main" id="{19B3BD39-2ADF-5CE6-5AF4-954428DD10F5}"/>
              </a:ext>
            </a:extLst>
          </p:cNvPr>
          <p:cNvSpPr txBox="1"/>
          <p:nvPr/>
        </p:nvSpPr>
        <p:spPr>
          <a:xfrm>
            <a:off x="2060603" y="4448504"/>
            <a:ext cx="5582566" cy="646331"/>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CA" sz="1200" dirty="0"/>
              <a:t>The pin on the map</a:t>
            </a:r>
          </a:p>
          <a:p>
            <a:pPr marL="742950" lvl="1" indent="-285750">
              <a:buFont typeface="Arial" panose="020B0604020202020204" pitchFamily="34" charset="0"/>
              <a:buChar char="•"/>
            </a:pPr>
            <a:r>
              <a:rPr lang="en-CA" sz="1200" dirty="0"/>
              <a:t>Always placed at the center of the current region. </a:t>
            </a:r>
          </a:p>
          <a:p>
            <a:pPr marL="742950" lvl="1" indent="-285750">
              <a:buFont typeface="Arial" panose="020B0604020202020204" pitchFamily="34" charset="0"/>
              <a:buChar char="•"/>
            </a:pPr>
            <a:r>
              <a:rPr lang="en-CA" sz="1200" dirty="0"/>
              <a:t>The popup text comes from </a:t>
            </a:r>
            <a:r>
              <a:rPr lang="en-CA" sz="1200" dirty="0" err="1"/>
              <a:t>currentAddress</a:t>
            </a:r>
            <a:r>
              <a:rPr lang="en-CA" sz="1200" dirty="0"/>
              <a:t>.</a:t>
            </a:r>
          </a:p>
        </p:txBody>
      </p:sp>
      <p:sp>
        <p:nvSpPr>
          <p:cNvPr id="13" name="Shape 0">
            <a:extLst>
              <a:ext uri="{FF2B5EF4-FFF2-40B4-BE49-F238E27FC236}">
                <a16:creationId xmlns:a16="http://schemas.microsoft.com/office/drawing/2014/main" id="{81A4F35D-9F7A-6C4B-2D5A-54DB96C3AE9E}"/>
              </a:ext>
            </a:extLst>
          </p:cNvPr>
          <p:cNvSpPr/>
          <p:nvPr/>
        </p:nvSpPr>
        <p:spPr>
          <a:xfrm>
            <a:off x="365760" y="48480"/>
            <a:ext cx="8412480" cy="566928"/>
          </a:xfrm>
          <a:prstGeom prst="roundRect">
            <a:avLst>
              <a:gd name="adj" fmla="val 12903"/>
            </a:avLst>
          </a:prstGeom>
          <a:solidFill>
            <a:srgbClr val="0D1B2A"/>
          </a:solidFill>
          <a:ln/>
        </p:spPr>
        <p:txBody>
          <a:bodyPr/>
          <a:lstStyle/>
          <a:p>
            <a:endParaRPr lang="en-CA"/>
          </a:p>
        </p:txBody>
      </p:sp>
      <p:sp>
        <p:nvSpPr>
          <p:cNvPr id="15" name="Text 1">
            <a:extLst>
              <a:ext uri="{FF2B5EF4-FFF2-40B4-BE49-F238E27FC236}">
                <a16:creationId xmlns:a16="http://schemas.microsoft.com/office/drawing/2014/main" id="{7BE63F1A-A410-BE2F-E364-E4133A40C842}"/>
              </a:ext>
            </a:extLst>
          </p:cNvPr>
          <p:cNvSpPr/>
          <p:nvPr/>
        </p:nvSpPr>
        <p:spPr>
          <a:xfrm>
            <a:off x="502920" y="66768"/>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rPr>
              <a:t>Today’s Project</a:t>
            </a:r>
            <a:endParaRPr lang="en-US" sz="2200" dirty="0"/>
          </a:p>
        </p:txBody>
      </p:sp>
    </p:spTree>
    <p:extLst>
      <p:ext uri="{BB962C8B-B14F-4D97-AF65-F5344CB8AC3E}">
        <p14:creationId xmlns:p14="http://schemas.microsoft.com/office/powerpoint/2010/main" val="3716283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Core Concept: Permissions</a:t>
            </a:r>
            <a:endParaRPr lang="en-US" sz="2200" dirty="0"/>
          </a:p>
        </p:txBody>
      </p:sp>
      <p:sp>
        <p:nvSpPr>
          <p:cNvPr id="4" name="Text 2"/>
          <p:cNvSpPr/>
          <p:nvPr/>
        </p:nvSpPr>
        <p:spPr>
          <a:xfrm>
            <a:off x="365760" y="841248"/>
            <a:ext cx="8412480" cy="329184"/>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Apps must ASK the user for permission before accessing GPS. This is required by both Android and iOS.</a:t>
            </a:r>
            <a:endParaRPr lang="en-US" sz="1300" dirty="0"/>
          </a:p>
        </p:txBody>
      </p:sp>
      <p:sp>
        <p:nvSpPr>
          <p:cNvPr id="5" name="Shape 3"/>
          <p:cNvSpPr/>
          <p:nvPr/>
        </p:nvSpPr>
        <p:spPr>
          <a:xfrm>
            <a:off x="365760" y="1234440"/>
            <a:ext cx="5120640" cy="3017520"/>
          </a:xfrm>
          <a:prstGeom prst="roundRect">
            <a:avLst>
              <a:gd name="adj" fmla="val 3030"/>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6" name="Text 4"/>
          <p:cNvSpPr/>
          <p:nvPr/>
        </p:nvSpPr>
        <p:spPr>
          <a:xfrm>
            <a:off x="502920" y="1344168"/>
            <a:ext cx="4846320" cy="2798064"/>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const getCurrentLocation = async () =&gt; {</a:t>
            </a:r>
            <a:endParaRPr lang="en-US" sz="1000" dirty="0"/>
          </a:p>
          <a:p>
            <a:pPr marL="0" indent="0">
              <a:buNone/>
            </a:pP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 1. Ask the user for permission</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const { status } = await Location.requestForegroundPermissionsAsync();</a:t>
            </a:r>
            <a:endParaRPr lang="en-US" sz="1000" dirty="0"/>
          </a:p>
          <a:p>
            <a:pPr marL="0" indent="0">
              <a:buNone/>
            </a:pP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 2. If they said no — show an alert and stop</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if (status !== "granted") {</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Alert.alert("Permission Denied", "Allow location access to continue");</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return;</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a:t>
            </a:r>
            <a:endParaRPr lang="en-US" sz="1000" dirty="0"/>
          </a:p>
          <a:p>
            <a:pPr marL="0" indent="0">
              <a:buNone/>
            </a:pP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 3. Permission granted — safe to get GPS now</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const location = await Location.getCurrentPositionAsync({</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accuracy: Location.Accuracy.Highest</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5669280" y="1234440"/>
            <a:ext cx="3108960" cy="1078992"/>
          </a:xfrm>
          <a:prstGeom prst="roundRect">
            <a:avLst>
              <a:gd name="adj" fmla="val 8475"/>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8" name="Image 0" descr="preencoded.png"/>
          <p:cNvPicPr>
            <a:picLocks noChangeAspect="1"/>
          </p:cNvPicPr>
          <p:nvPr/>
        </p:nvPicPr>
        <p:blipFill>
          <a:blip r:embed="rId3"/>
          <a:stretch>
            <a:fillRect/>
          </a:stretch>
        </p:blipFill>
        <p:spPr>
          <a:xfrm>
            <a:off x="5797296" y="1362456"/>
            <a:ext cx="347472" cy="347472"/>
          </a:xfrm>
          <a:prstGeom prst="rect">
            <a:avLst/>
          </a:prstGeom>
        </p:spPr>
      </p:pic>
      <p:sp>
        <p:nvSpPr>
          <p:cNvPr id="9" name="Text 6"/>
          <p:cNvSpPr/>
          <p:nvPr/>
        </p:nvSpPr>
        <p:spPr>
          <a:xfrm>
            <a:off x="6217920" y="1344168"/>
            <a:ext cx="2468880" cy="32004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Foreground permission</a:t>
            </a:r>
            <a:endParaRPr lang="en-US" sz="1200" dirty="0"/>
          </a:p>
        </p:txBody>
      </p:sp>
      <p:sp>
        <p:nvSpPr>
          <p:cNvPr id="10" name="Text 7"/>
          <p:cNvSpPr/>
          <p:nvPr/>
        </p:nvSpPr>
        <p:spPr>
          <a:xfrm>
            <a:off x="5852160" y="1709928"/>
            <a:ext cx="2788920" cy="512064"/>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Allows location access while the app is open. This is what most apps need. We use requestForegroundPermissionsAsync().</a:t>
            </a:r>
            <a:endParaRPr lang="en-US" sz="1050" dirty="0"/>
          </a:p>
        </p:txBody>
      </p:sp>
      <p:sp>
        <p:nvSpPr>
          <p:cNvPr id="11" name="Shape 8"/>
          <p:cNvSpPr/>
          <p:nvPr/>
        </p:nvSpPr>
        <p:spPr>
          <a:xfrm>
            <a:off x="5669280" y="2468880"/>
            <a:ext cx="3108960" cy="1078992"/>
          </a:xfrm>
          <a:prstGeom prst="roundRect">
            <a:avLst>
              <a:gd name="adj" fmla="val 8475"/>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2" name="Image 1" descr="preencoded.png"/>
          <p:cNvPicPr>
            <a:picLocks noChangeAspect="1"/>
          </p:cNvPicPr>
          <p:nvPr/>
        </p:nvPicPr>
        <p:blipFill>
          <a:blip r:embed="rId4"/>
          <a:stretch>
            <a:fillRect/>
          </a:stretch>
        </p:blipFill>
        <p:spPr>
          <a:xfrm>
            <a:off x="5797296" y="2596896"/>
            <a:ext cx="347472" cy="347472"/>
          </a:xfrm>
          <a:prstGeom prst="rect">
            <a:avLst/>
          </a:prstGeom>
        </p:spPr>
      </p:pic>
      <p:sp>
        <p:nvSpPr>
          <p:cNvPr id="13" name="Text 9"/>
          <p:cNvSpPr/>
          <p:nvPr/>
        </p:nvSpPr>
        <p:spPr>
          <a:xfrm>
            <a:off x="6217920" y="2578608"/>
            <a:ext cx="2468880" cy="32004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Always check status first</a:t>
            </a:r>
            <a:endParaRPr lang="en-US" sz="1200" dirty="0"/>
          </a:p>
        </p:txBody>
      </p:sp>
      <p:sp>
        <p:nvSpPr>
          <p:cNvPr id="14" name="Text 10"/>
          <p:cNvSpPr/>
          <p:nvPr/>
        </p:nvSpPr>
        <p:spPr>
          <a:xfrm>
            <a:off x="5852160" y="2944368"/>
            <a:ext cx="2788920" cy="512064"/>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status will be "granted" or "denied". Never skip this check — if you try to get GPS without permission the app will crash.</a:t>
            </a:r>
            <a:endParaRPr lang="en-US" sz="1050" dirty="0"/>
          </a:p>
        </p:txBody>
      </p:sp>
      <p:sp>
        <p:nvSpPr>
          <p:cNvPr id="15" name="Shape 11"/>
          <p:cNvSpPr/>
          <p:nvPr/>
        </p:nvSpPr>
        <p:spPr>
          <a:xfrm>
            <a:off x="5669280" y="3703320"/>
            <a:ext cx="3108960" cy="1078992"/>
          </a:xfrm>
          <a:prstGeom prst="roundRect">
            <a:avLst>
              <a:gd name="adj" fmla="val 8475"/>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6" name="Image 2" descr="preencoded.png"/>
          <p:cNvPicPr>
            <a:picLocks noChangeAspect="1"/>
          </p:cNvPicPr>
          <p:nvPr/>
        </p:nvPicPr>
        <p:blipFill>
          <a:blip r:embed="rId5"/>
          <a:stretch>
            <a:fillRect/>
          </a:stretch>
        </p:blipFill>
        <p:spPr>
          <a:xfrm>
            <a:off x="5797296" y="3831336"/>
            <a:ext cx="347472" cy="347472"/>
          </a:xfrm>
          <a:prstGeom prst="rect">
            <a:avLst/>
          </a:prstGeom>
        </p:spPr>
      </p:pic>
      <p:sp>
        <p:nvSpPr>
          <p:cNvPr id="17" name="Text 12"/>
          <p:cNvSpPr/>
          <p:nvPr/>
        </p:nvSpPr>
        <p:spPr>
          <a:xfrm>
            <a:off x="6217920" y="3813048"/>
            <a:ext cx="2468880" cy="32004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async / await</a:t>
            </a:r>
            <a:endParaRPr lang="en-US" sz="1200" dirty="0"/>
          </a:p>
        </p:txBody>
      </p:sp>
      <p:sp>
        <p:nvSpPr>
          <p:cNvPr id="18" name="Text 13"/>
          <p:cNvSpPr/>
          <p:nvPr/>
        </p:nvSpPr>
        <p:spPr>
          <a:xfrm>
            <a:off x="5852160" y="4178808"/>
            <a:ext cx="2788920" cy="512064"/>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Both calls return Promises. We use async on the function and await to wait for each result before moving 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Core Concept: async / await</a:t>
            </a:r>
            <a:endParaRPr lang="en-US" sz="2200" dirty="0"/>
          </a:p>
        </p:txBody>
      </p:sp>
      <p:sp>
        <p:nvSpPr>
          <p:cNvPr id="4" name="Text 2"/>
          <p:cNvSpPr/>
          <p:nvPr/>
        </p:nvSpPr>
        <p:spPr>
          <a:xfrm>
            <a:off x="365760" y="841248"/>
            <a:ext cx="8412480" cy="329184"/>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GPS and geocoding take time to complete. async/await lets us WAIT for the result before continuing.</a:t>
            </a:r>
            <a:endParaRPr lang="en-US" sz="1300" dirty="0"/>
          </a:p>
        </p:txBody>
      </p:sp>
      <p:sp>
        <p:nvSpPr>
          <p:cNvPr id="5" name="Shape 3"/>
          <p:cNvSpPr/>
          <p:nvPr/>
        </p:nvSpPr>
        <p:spPr>
          <a:xfrm>
            <a:off x="365760" y="1234440"/>
            <a:ext cx="4023360" cy="402336"/>
          </a:xfrm>
          <a:prstGeom prst="roundRect">
            <a:avLst>
              <a:gd name="adj" fmla="val 18182"/>
            </a:avLst>
          </a:prstGeom>
          <a:solidFill>
            <a:srgbClr val="FF6B35"/>
          </a:solidFill>
          <a:ln/>
        </p:spPr>
        <p:txBody>
          <a:bodyPr/>
          <a:lstStyle/>
          <a:p>
            <a:endParaRPr lang="en-CA"/>
          </a:p>
        </p:txBody>
      </p:sp>
      <p:sp>
        <p:nvSpPr>
          <p:cNvPr id="6" name="Text 4"/>
          <p:cNvSpPr/>
          <p:nvPr/>
        </p:nvSpPr>
        <p:spPr>
          <a:xfrm>
            <a:off x="457200" y="1252728"/>
            <a:ext cx="3840480" cy="36576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Without async/await (broken)</a:t>
            </a:r>
            <a:endParaRPr lang="en-US" sz="1300" dirty="0"/>
          </a:p>
        </p:txBody>
      </p:sp>
      <p:sp>
        <p:nvSpPr>
          <p:cNvPr id="7" name="Shape 5"/>
          <p:cNvSpPr/>
          <p:nvPr/>
        </p:nvSpPr>
        <p:spPr>
          <a:xfrm>
            <a:off x="365760" y="1682496"/>
            <a:ext cx="4023360" cy="1188720"/>
          </a:xfrm>
          <a:prstGeom prst="roundRect">
            <a:avLst>
              <a:gd name="adj" fmla="val 7692"/>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8" name="Text 6"/>
          <p:cNvSpPr/>
          <p:nvPr/>
        </p:nvSpPr>
        <p:spPr>
          <a:xfrm>
            <a:off x="502920" y="1792224"/>
            <a:ext cx="3749040" cy="969264"/>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const getLocation = () =&gt; {</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 This returns a Promise, not the result!</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const location = Location.getCurrentPositionAsync({})</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console.log(location) // [object Promise]</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a:t>
            </a:r>
            <a:endParaRPr lang="en-US" sz="1000" dirty="0"/>
          </a:p>
        </p:txBody>
      </p:sp>
      <p:sp>
        <p:nvSpPr>
          <p:cNvPr id="9" name="Shape 7"/>
          <p:cNvSpPr/>
          <p:nvPr/>
        </p:nvSpPr>
        <p:spPr>
          <a:xfrm>
            <a:off x="4754880" y="1234440"/>
            <a:ext cx="4023360" cy="402336"/>
          </a:xfrm>
          <a:prstGeom prst="roundRect">
            <a:avLst>
              <a:gd name="adj" fmla="val 18182"/>
            </a:avLst>
          </a:prstGeom>
          <a:solidFill>
            <a:srgbClr val="0A7E8C"/>
          </a:solidFill>
          <a:ln/>
        </p:spPr>
        <p:txBody>
          <a:bodyPr/>
          <a:lstStyle/>
          <a:p>
            <a:endParaRPr lang="en-CA"/>
          </a:p>
        </p:txBody>
      </p:sp>
      <p:sp>
        <p:nvSpPr>
          <p:cNvPr id="10" name="Text 8"/>
          <p:cNvSpPr/>
          <p:nvPr/>
        </p:nvSpPr>
        <p:spPr>
          <a:xfrm>
            <a:off x="4846320" y="1252728"/>
            <a:ext cx="3840480" cy="36576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With async/await (correct)</a:t>
            </a:r>
            <a:endParaRPr lang="en-US" sz="1300" dirty="0"/>
          </a:p>
        </p:txBody>
      </p:sp>
      <p:sp>
        <p:nvSpPr>
          <p:cNvPr id="11" name="Shape 9"/>
          <p:cNvSpPr/>
          <p:nvPr/>
        </p:nvSpPr>
        <p:spPr>
          <a:xfrm>
            <a:off x="4754880" y="1682496"/>
            <a:ext cx="4023360" cy="1188720"/>
          </a:xfrm>
          <a:prstGeom prst="roundRect">
            <a:avLst>
              <a:gd name="adj" fmla="val 7692"/>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12" name="Text 10"/>
          <p:cNvSpPr/>
          <p:nvPr/>
        </p:nvSpPr>
        <p:spPr>
          <a:xfrm>
            <a:off x="4892040" y="1792224"/>
            <a:ext cx="3749040" cy="969264"/>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const getLocation = async () =&gt; {</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 await WAITS for the GPS result</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const location = await Location.getCurrentPositionAsync({})</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console.log(location.coords.latitude) // real number!</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365760" y="3017520"/>
            <a:ext cx="8412480" cy="402336"/>
          </a:xfrm>
          <a:prstGeom prst="roundRect">
            <a:avLst>
              <a:gd name="adj" fmla="val 18182"/>
            </a:avLst>
          </a:prstGeom>
          <a:solidFill>
            <a:srgbClr val="0D1B2A"/>
          </a:solidFill>
          <a:ln/>
        </p:spPr>
        <p:txBody>
          <a:bodyPr/>
          <a:lstStyle/>
          <a:p>
            <a:endParaRPr lang="en-CA"/>
          </a:p>
        </p:txBody>
      </p:sp>
      <p:sp>
        <p:nvSpPr>
          <p:cNvPr id="14" name="Text 12"/>
          <p:cNvSpPr/>
          <p:nvPr/>
        </p:nvSpPr>
        <p:spPr>
          <a:xfrm>
            <a:off x="457200" y="3035808"/>
            <a:ext cx="822960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What getCurrentPositionAsync() returns:</a:t>
            </a:r>
            <a:endParaRPr lang="en-US" sz="1400" dirty="0"/>
          </a:p>
        </p:txBody>
      </p:sp>
      <p:sp>
        <p:nvSpPr>
          <p:cNvPr id="15" name="Shape 13"/>
          <p:cNvSpPr/>
          <p:nvPr/>
        </p:nvSpPr>
        <p:spPr>
          <a:xfrm>
            <a:off x="365760" y="3474720"/>
            <a:ext cx="5029200" cy="1280160"/>
          </a:xfrm>
          <a:prstGeom prst="roundRect">
            <a:avLst>
              <a:gd name="adj" fmla="val 7143"/>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16" name="Text 14"/>
          <p:cNvSpPr/>
          <p:nvPr/>
        </p:nvSpPr>
        <p:spPr>
          <a:xfrm>
            <a:off x="502920" y="3584448"/>
            <a:ext cx="4754880" cy="1060704"/>
          </a:xfrm>
          <a:prstGeom prst="rect">
            <a:avLst/>
          </a:prstGeom>
          <a:noFill/>
          <a:ln/>
        </p:spPr>
        <p:txBody>
          <a:bodyPr wrap="square" lIns="0" tIns="0" rIns="0" bIns="0" rtlCol="0" anchor="t"/>
          <a:lstStyle/>
          <a:p>
            <a:pPr marL="0" indent="0">
              <a:buNone/>
            </a:pPr>
            <a:r>
              <a:rPr lang="en-US" sz="1050" dirty="0">
                <a:solidFill>
                  <a:srgbClr val="A8D8D8"/>
                </a:solidFill>
                <a:latin typeface="Courier New" pitchFamily="34" charset="0"/>
                <a:ea typeface="Courier New" pitchFamily="34" charset="-122"/>
                <a:cs typeface="Courier New" pitchFamily="34" charset="-120"/>
              </a:rPr>
              <a:t>location.coords.latitude    // e.g. 43.64272</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location.coords.longitude   // e.g. -79.38705</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location.coords.accuracy    // accuracy in metres</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location.timestamp          // when it was read</a:t>
            </a:r>
            <a:endParaRPr lang="en-US" sz="1050" dirty="0"/>
          </a:p>
        </p:txBody>
      </p:sp>
      <p:sp>
        <p:nvSpPr>
          <p:cNvPr id="17" name="Shape 15"/>
          <p:cNvSpPr/>
          <p:nvPr/>
        </p:nvSpPr>
        <p:spPr>
          <a:xfrm>
            <a:off x="5577840" y="3474720"/>
            <a:ext cx="3200400" cy="1280160"/>
          </a:xfrm>
          <a:prstGeom prst="roundRect">
            <a:avLst>
              <a:gd name="adj" fmla="val 7143"/>
            </a:avLst>
          </a:prstGeom>
          <a:solidFill>
            <a:srgbClr val="D4F5F5"/>
          </a:solidFill>
          <a:ln/>
        </p:spPr>
        <p:txBody>
          <a:bodyPr/>
          <a:lstStyle/>
          <a:p>
            <a:endParaRPr lang="en-CA"/>
          </a:p>
        </p:txBody>
      </p:sp>
      <p:sp>
        <p:nvSpPr>
          <p:cNvPr id="18" name="Text 16"/>
          <p:cNvSpPr/>
          <p:nvPr/>
        </p:nvSpPr>
        <p:spPr>
          <a:xfrm>
            <a:off x="5687568" y="3566160"/>
            <a:ext cx="2926080" cy="27432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Accuracy levels</a:t>
            </a:r>
            <a:endParaRPr lang="en-US" sz="1200" dirty="0"/>
          </a:p>
        </p:txBody>
      </p:sp>
      <p:sp>
        <p:nvSpPr>
          <p:cNvPr id="19" name="Text 17"/>
          <p:cNvSpPr/>
          <p:nvPr/>
        </p:nvSpPr>
        <p:spPr>
          <a:xfrm>
            <a:off x="5687568" y="3877056"/>
            <a:ext cx="2926080" cy="164592"/>
          </a:xfrm>
          <a:prstGeom prst="rect">
            <a:avLst/>
          </a:prstGeom>
          <a:noFill/>
          <a:ln/>
        </p:spPr>
        <p:txBody>
          <a:bodyPr wrap="square" lIns="0" tIns="0" rIns="0" bIns="0" rtlCol="0" anchor="ctr"/>
          <a:lstStyle/>
          <a:p>
            <a:pPr marL="0" indent="0">
              <a:buNone/>
            </a:pPr>
            <a:r>
              <a:rPr lang="en-US" sz="950" dirty="0">
                <a:solidFill>
                  <a:srgbClr val="0D1B2A"/>
                </a:solidFill>
                <a:latin typeface="Courier New" pitchFamily="34" charset="0"/>
                <a:ea typeface="Courier New" pitchFamily="34" charset="-122"/>
                <a:cs typeface="Courier New" pitchFamily="34" charset="-120"/>
              </a:rPr>
              <a:t>Lowest  → ~3 km</a:t>
            </a:r>
            <a:endParaRPr lang="en-US" sz="950" dirty="0"/>
          </a:p>
        </p:txBody>
      </p:sp>
      <p:sp>
        <p:nvSpPr>
          <p:cNvPr id="20" name="Text 18"/>
          <p:cNvSpPr/>
          <p:nvPr/>
        </p:nvSpPr>
        <p:spPr>
          <a:xfrm>
            <a:off x="5687568" y="4041648"/>
            <a:ext cx="2926080" cy="164592"/>
          </a:xfrm>
          <a:prstGeom prst="rect">
            <a:avLst/>
          </a:prstGeom>
          <a:noFill/>
          <a:ln/>
        </p:spPr>
        <p:txBody>
          <a:bodyPr wrap="square" lIns="0" tIns="0" rIns="0" bIns="0" rtlCol="0" anchor="ctr"/>
          <a:lstStyle/>
          <a:p>
            <a:pPr marL="0" indent="0">
              <a:buNone/>
            </a:pPr>
            <a:r>
              <a:rPr lang="en-US" sz="950" dirty="0">
                <a:solidFill>
                  <a:srgbClr val="0D1B2A"/>
                </a:solidFill>
                <a:latin typeface="Courier New" pitchFamily="34" charset="0"/>
                <a:ea typeface="Courier New" pitchFamily="34" charset="-122"/>
                <a:cs typeface="Courier New" pitchFamily="34" charset="-120"/>
              </a:rPr>
              <a:t>Low     → ~1 km</a:t>
            </a:r>
            <a:endParaRPr lang="en-US" sz="950" dirty="0"/>
          </a:p>
        </p:txBody>
      </p:sp>
      <p:sp>
        <p:nvSpPr>
          <p:cNvPr id="21" name="Text 19"/>
          <p:cNvSpPr/>
          <p:nvPr/>
        </p:nvSpPr>
        <p:spPr>
          <a:xfrm>
            <a:off x="5687568" y="4206240"/>
            <a:ext cx="2926080" cy="164592"/>
          </a:xfrm>
          <a:prstGeom prst="rect">
            <a:avLst/>
          </a:prstGeom>
          <a:noFill/>
          <a:ln/>
        </p:spPr>
        <p:txBody>
          <a:bodyPr wrap="square" lIns="0" tIns="0" rIns="0" bIns="0" rtlCol="0" anchor="ctr"/>
          <a:lstStyle/>
          <a:p>
            <a:pPr marL="0" indent="0">
              <a:buNone/>
            </a:pPr>
            <a:r>
              <a:rPr lang="en-US" sz="950" dirty="0">
                <a:solidFill>
                  <a:srgbClr val="0D1B2A"/>
                </a:solidFill>
                <a:latin typeface="Courier New" pitchFamily="34" charset="0"/>
                <a:ea typeface="Courier New" pitchFamily="34" charset="-122"/>
                <a:cs typeface="Courier New" pitchFamily="34" charset="-120"/>
              </a:rPr>
              <a:t>Balanced → ~100m</a:t>
            </a:r>
            <a:endParaRPr lang="en-US" sz="950" dirty="0"/>
          </a:p>
        </p:txBody>
      </p:sp>
      <p:sp>
        <p:nvSpPr>
          <p:cNvPr id="22" name="Text 20"/>
          <p:cNvSpPr/>
          <p:nvPr/>
        </p:nvSpPr>
        <p:spPr>
          <a:xfrm>
            <a:off x="5687568" y="4370832"/>
            <a:ext cx="2926080" cy="164592"/>
          </a:xfrm>
          <a:prstGeom prst="rect">
            <a:avLst/>
          </a:prstGeom>
          <a:noFill/>
          <a:ln/>
        </p:spPr>
        <p:txBody>
          <a:bodyPr wrap="square" lIns="0" tIns="0" rIns="0" bIns="0" rtlCol="0" anchor="ctr"/>
          <a:lstStyle/>
          <a:p>
            <a:pPr marL="0" indent="0">
              <a:buNone/>
            </a:pPr>
            <a:r>
              <a:rPr lang="en-US" sz="950" dirty="0">
                <a:solidFill>
                  <a:srgbClr val="0D1B2A"/>
                </a:solidFill>
                <a:latin typeface="Courier New" pitchFamily="34" charset="0"/>
                <a:ea typeface="Courier New" pitchFamily="34" charset="-122"/>
                <a:cs typeface="Courier New" pitchFamily="34" charset="-120"/>
              </a:rPr>
              <a:t>High    → ~10m</a:t>
            </a:r>
            <a:endParaRPr lang="en-US" sz="950" dirty="0"/>
          </a:p>
        </p:txBody>
      </p:sp>
      <p:sp>
        <p:nvSpPr>
          <p:cNvPr id="23" name="Text 21"/>
          <p:cNvSpPr/>
          <p:nvPr/>
        </p:nvSpPr>
        <p:spPr>
          <a:xfrm>
            <a:off x="5687568" y="4535424"/>
            <a:ext cx="2926080" cy="164592"/>
          </a:xfrm>
          <a:prstGeom prst="rect">
            <a:avLst/>
          </a:prstGeom>
          <a:noFill/>
          <a:ln/>
        </p:spPr>
        <p:txBody>
          <a:bodyPr wrap="square" lIns="0" tIns="0" rIns="0" bIns="0" rtlCol="0" anchor="ctr"/>
          <a:lstStyle/>
          <a:p>
            <a:pPr marL="0" indent="0">
              <a:buNone/>
            </a:pPr>
            <a:r>
              <a:rPr lang="en-US" sz="950" dirty="0">
                <a:solidFill>
                  <a:srgbClr val="0D1B2A"/>
                </a:solidFill>
                <a:latin typeface="Courier New" pitchFamily="34" charset="0"/>
                <a:ea typeface="Courier New" pitchFamily="34" charset="-122"/>
                <a:cs typeface="Courier New" pitchFamily="34" charset="-120"/>
              </a:rPr>
              <a:t>Highest → best possible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Core Concept: Accuracy Levels</a:t>
            </a:r>
            <a:endParaRPr lang="en-US" sz="2200" dirty="0"/>
          </a:p>
        </p:txBody>
      </p:sp>
      <p:sp>
        <p:nvSpPr>
          <p:cNvPr id="4" name="Text 2"/>
          <p:cNvSpPr/>
          <p:nvPr/>
        </p:nvSpPr>
        <p:spPr>
          <a:xfrm>
            <a:off x="365760" y="841248"/>
            <a:ext cx="8412480" cy="347472"/>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Accuracy levels tell the device how hard to try to get a precise location. Higher accuracy = more battery used.</a:t>
            </a:r>
            <a:endParaRPr lang="en-US" sz="1300" dirty="0"/>
          </a:p>
        </p:txBody>
      </p:sp>
      <p:sp>
        <p:nvSpPr>
          <p:cNvPr id="5" name="Shape 3"/>
          <p:cNvSpPr/>
          <p:nvPr/>
        </p:nvSpPr>
        <p:spPr>
          <a:xfrm>
            <a:off x="365760" y="1298448"/>
            <a:ext cx="8412480" cy="603504"/>
          </a:xfrm>
          <a:prstGeom prst="roundRect">
            <a:avLst>
              <a:gd name="adj" fmla="val 12121"/>
            </a:avLst>
          </a:prstGeom>
          <a:solidFill>
            <a:srgbClr val="FFFFFF"/>
          </a:solidFill>
          <a:ln/>
          <a:effectLst>
            <a:outerShdw blurRad="63500" dist="25400" dir="2700000" algn="bl" rotWithShape="0">
              <a:srgbClr val="000000">
                <a:alpha val="12000"/>
              </a:srgbClr>
            </a:outerShdw>
          </a:effectLst>
        </p:spPr>
        <p:txBody>
          <a:bodyPr/>
          <a:lstStyle/>
          <a:p>
            <a:endParaRPr lang="en-CA"/>
          </a:p>
        </p:txBody>
      </p:sp>
      <p:sp>
        <p:nvSpPr>
          <p:cNvPr id="6" name="Shape 4"/>
          <p:cNvSpPr/>
          <p:nvPr/>
        </p:nvSpPr>
        <p:spPr>
          <a:xfrm>
            <a:off x="457200" y="1389888"/>
            <a:ext cx="1188720" cy="402336"/>
          </a:xfrm>
          <a:prstGeom prst="roundRect">
            <a:avLst>
              <a:gd name="adj" fmla="val 13636"/>
            </a:avLst>
          </a:prstGeom>
          <a:solidFill>
            <a:srgbClr val="4CAF50"/>
          </a:solidFill>
          <a:ln/>
        </p:spPr>
        <p:txBody>
          <a:bodyPr/>
          <a:lstStyle/>
          <a:p>
            <a:endParaRPr lang="en-CA"/>
          </a:p>
        </p:txBody>
      </p:sp>
      <p:sp>
        <p:nvSpPr>
          <p:cNvPr id="7" name="Text 5"/>
          <p:cNvSpPr/>
          <p:nvPr/>
        </p:nvSpPr>
        <p:spPr>
          <a:xfrm>
            <a:off x="457200" y="1389888"/>
            <a:ext cx="118872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Lowest</a:t>
            </a:r>
            <a:endParaRPr lang="en-US" sz="1200" dirty="0"/>
          </a:p>
        </p:txBody>
      </p:sp>
      <p:sp>
        <p:nvSpPr>
          <p:cNvPr id="8" name="Shape 6"/>
          <p:cNvSpPr/>
          <p:nvPr/>
        </p:nvSpPr>
        <p:spPr>
          <a:xfrm>
            <a:off x="1783080" y="1408176"/>
            <a:ext cx="1371600" cy="365760"/>
          </a:xfrm>
          <a:prstGeom prst="roundRect">
            <a:avLst>
              <a:gd name="adj" fmla="val 12500"/>
            </a:avLst>
          </a:prstGeom>
          <a:solidFill>
            <a:srgbClr val="0F2027"/>
          </a:solidFill>
          <a:ln/>
        </p:spPr>
        <p:txBody>
          <a:bodyPr/>
          <a:lstStyle/>
          <a:p>
            <a:endParaRPr lang="en-CA"/>
          </a:p>
        </p:txBody>
      </p:sp>
      <p:sp>
        <p:nvSpPr>
          <p:cNvPr id="9" name="Text 7"/>
          <p:cNvSpPr/>
          <p:nvPr/>
        </p:nvSpPr>
        <p:spPr>
          <a:xfrm>
            <a:off x="1783080" y="1408176"/>
            <a:ext cx="1371600" cy="365760"/>
          </a:xfrm>
          <a:prstGeom prst="rect">
            <a:avLst/>
          </a:prstGeom>
          <a:noFill/>
          <a:ln/>
        </p:spPr>
        <p:txBody>
          <a:bodyPr wrap="square" lIns="0" tIns="0" rIns="0" bIns="0" rtlCol="0" anchor="ctr"/>
          <a:lstStyle/>
          <a:p>
            <a:pPr marL="0" indent="0" algn="ctr">
              <a:buNone/>
            </a:pPr>
            <a:r>
              <a:rPr lang="en-US" sz="1100" dirty="0">
                <a:solidFill>
                  <a:srgbClr val="A8D8D8"/>
                </a:solidFill>
                <a:latin typeface="Courier New" pitchFamily="34" charset="0"/>
                <a:ea typeface="Courier New" pitchFamily="34" charset="-122"/>
                <a:cs typeface="Courier New" pitchFamily="34" charset="-120"/>
              </a:rPr>
              <a:t>~3 km off</a:t>
            </a:r>
            <a:endParaRPr lang="en-US" sz="1100" dirty="0"/>
          </a:p>
        </p:txBody>
      </p:sp>
      <p:sp>
        <p:nvSpPr>
          <p:cNvPr id="10" name="Text 8"/>
          <p:cNvSpPr/>
          <p:nvPr/>
        </p:nvSpPr>
        <p:spPr>
          <a:xfrm>
            <a:off x="3246120" y="1444752"/>
            <a:ext cx="274320" cy="292608"/>
          </a:xfrm>
          <a:prstGeom prst="rect">
            <a:avLst/>
          </a:prstGeom>
          <a:noFill/>
          <a:ln/>
        </p:spPr>
        <p:txBody>
          <a:bodyPr wrap="square" lIns="0" tIns="0" rIns="0" bIns="0" rtlCol="0" anchor="ctr"/>
          <a:lstStyle/>
          <a:p>
            <a:pPr marL="0" indent="0" algn="ctr">
              <a:buNone/>
            </a:pPr>
            <a:r>
              <a:rPr lang="en-US" sz="1400" dirty="0">
                <a:solidFill>
                  <a:srgbClr val="0A7E8C"/>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3566160" y="1426464"/>
            <a:ext cx="4937760" cy="32918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good enough to know what city you're in</a:t>
            </a:r>
            <a:endParaRPr lang="en-US" sz="1200" dirty="0"/>
          </a:p>
        </p:txBody>
      </p:sp>
      <p:sp>
        <p:nvSpPr>
          <p:cNvPr id="12" name="Shape 10"/>
          <p:cNvSpPr/>
          <p:nvPr/>
        </p:nvSpPr>
        <p:spPr>
          <a:xfrm>
            <a:off x="365760" y="2011680"/>
            <a:ext cx="8412480" cy="603504"/>
          </a:xfrm>
          <a:prstGeom prst="roundRect">
            <a:avLst>
              <a:gd name="adj" fmla="val 12121"/>
            </a:avLst>
          </a:prstGeom>
          <a:solidFill>
            <a:srgbClr val="FFFFFF"/>
          </a:solidFill>
          <a:ln/>
          <a:effectLst>
            <a:outerShdw blurRad="63500" dist="25400" dir="2700000" algn="bl" rotWithShape="0">
              <a:srgbClr val="000000">
                <a:alpha val="12000"/>
              </a:srgbClr>
            </a:outerShdw>
          </a:effectLst>
        </p:spPr>
        <p:txBody>
          <a:bodyPr/>
          <a:lstStyle/>
          <a:p>
            <a:endParaRPr lang="en-CA"/>
          </a:p>
        </p:txBody>
      </p:sp>
      <p:sp>
        <p:nvSpPr>
          <p:cNvPr id="13" name="Shape 11"/>
          <p:cNvSpPr/>
          <p:nvPr/>
        </p:nvSpPr>
        <p:spPr>
          <a:xfrm>
            <a:off x="457200" y="2103120"/>
            <a:ext cx="1188720" cy="402336"/>
          </a:xfrm>
          <a:prstGeom prst="roundRect">
            <a:avLst>
              <a:gd name="adj" fmla="val 13636"/>
            </a:avLst>
          </a:prstGeom>
          <a:solidFill>
            <a:srgbClr val="8BC34A"/>
          </a:solidFill>
          <a:ln/>
        </p:spPr>
        <p:txBody>
          <a:bodyPr/>
          <a:lstStyle/>
          <a:p>
            <a:endParaRPr lang="en-CA"/>
          </a:p>
        </p:txBody>
      </p:sp>
      <p:sp>
        <p:nvSpPr>
          <p:cNvPr id="14" name="Text 12"/>
          <p:cNvSpPr/>
          <p:nvPr/>
        </p:nvSpPr>
        <p:spPr>
          <a:xfrm>
            <a:off x="457200" y="2103120"/>
            <a:ext cx="118872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Low</a:t>
            </a:r>
            <a:endParaRPr lang="en-US" sz="1200" dirty="0"/>
          </a:p>
        </p:txBody>
      </p:sp>
      <p:sp>
        <p:nvSpPr>
          <p:cNvPr id="15" name="Shape 13"/>
          <p:cNvSpPr/>
          <p:nvPr/>
        </p:nvSpPr>
        <p:spPr>
          <a:xfrm>
            <a:off x="1783080" y="2121408"/>
            <a:ext cx="1371600" cy="365760"/>
          </a:xfrm>
          <a:prstGeom prst="roundRect">
            <a:avLst>
              <a:gd name="adj" fmla="val 12500"/>
            </a:avLst>
          </a:prstGeom>
          <a:solidFill>
            <a:srgbClr val="0F2027"/>
          </a:solidFill>
          <a:ln/>
        </p:spPr>
        <p:txBody>
          <a:bodyPr/>
          <a:lstStyle/>
          <a:p>
            <a:endParaRPr lang="en-CA"/>
          </a:p>
        </p:txBody>
      </p:sp>
      <p:sp>
        <p:nvSpPr>
          <p:cNvPr id="16" name="Text 14"/>
          <p:cNvSpPr/>
          <p:nvPr/>
        </p:nvSpPr>
        <p:spPr>
          <a:xfrm>
            <a:off x="1783080" y="2121408"/>
            <a:ext cx="1371600" cy="365760"/>
          </a:xfrm>
          <a:prstGeom prst="rect">
            <a:avLst/>
          </a:prstGeom>
          <a:noFill/>
          <a:ln/>
        </p:spPr>
        <p:txBody>
          <a:bodyPr wrap="square" lIns="0" tIns="0" rIns="0" bIns="0" rtlCol="0" anchor="ctr"/>
          <a:lstStyle/>
          <a:p>
            <a:pPr marL="0" indent="0" algn="ctr">
              <a:buNone/>
            </a:pPr>
            <a:r>
              <a:rPr lang="en-US" sz="1100" dirty="0">
                <a:solidFill>
                  <a:srgbClr val="A8D8D8"/>
                </a:solidFill>
                <a:latin typeface="Courier New" pitchFamily="34" charset="0"/>
                <a:ea typeface="Courier New" pitchFamily="34" charset="-122"/>
                <a:cs typeface="Courier New" pitchFamily="34" charset="-120"/>
              </a:rPr>
              <a:t>~1 km off</a:t>
            </a:r>
            <a:endParaRPr lang="en-US" sz="1100" dirty="0"/>
          </a:p>
        </p:txBody>
      </p:sp>
      <p:sp>
        <p:nvSpPr>
          <p:cNvPr id="17" name="Text 15"/>
          <p:cNvSpPr/>
          <p:nvPr/>
        </p:nvSpPr>
        <p:spPr>
          <a:xfrm>
            <a:off x="3246120" y="2157984"/>
            <a:ext cx="274320" cy="292608"/>
          </a:xfrm>
          <a:prstGeom prst="rect">
            <a:avLst/>
          </a:prstGeom>
          <a:noFill/>
          <a:ln/>
        </p:spPr>
        <p:txBody>
          <a:bodyPr wrap="square" lIns="0" tIns="0" rIns="0" bIns="0" rtlCol="0" anchor="ctr"/>
          <a:lstStyle/>
          <a:p>
            <a:pPr marL="0" indent="0" algn="ctr">
              <a:buNone/>
            </a:pPr>
            <a:r>
              <a:rPr lang="en-US" sz="1400" dirty="0">
                <a:solidFill>
                  <a:srgbClr val="0A7E8C"/>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3566160" y="2139696"/>
            <a:ext cx="4937760" cy="32918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good enough to know what neighbourhood you're in</a:t>
            </a:r>
            <a:endParaRPr lang="en-US" sz="1200" dirty="0"/>
          </a:p>
        </p:txBody>
      </p:sp>
      <p:sp>
        <p:nvSpPr>
          <p:cNvPr id="19" name="Shape 17"/>
          <p:cNvSpPr/>
          <p:nvPr/>
        </p:nvSpPr>
        <p:spPr>
          <a:xfrm>
            <a:off x="365760" y="2724912"/>
            <a:ext cx="8412480" cy="603504"/>
          </a:xfrm>
          <a:prstGeom prst="roundRect">
            <a:avLst>
              <a:gd name="adj" fmla="val 12121"/>
            </a:avLst>
          </a:prstGeom>
          <a:solidFill>
            <a:srgbClr val="FFFFFF"/>
          </a:solidFill>
          <a:ln/>
          <a:effectLst>
            <a:outerShdw blurRad="63500" dist="25400" dir="2700000" algn="bl" rotWithShape="0">
              <a:srgbClr val="000000">
                <a:alpha val="12000"/>
              </a:srgbClr>
            </a:outerShdw>
          </a:effectLst>
        </p:spPr>
        <p:txBody>
          <a:bodyPr/>
          <a:lstStyle/>
          <a:p>
            <a:endParaRPr lang="en-CA"/>
          </a:p>
        </p:txBody>
      </p:sp>
      <p:sp>
        <p:nvSpPr>
          <p:cNvPr id="20" name="Shape 18"/>
          <p:cNvSpPr/>
          <p:nvPr/>
        </p:nvSpPr>
        <p:spPr>
          <a:xfrm>
            <a:off x="457200" y="2816352"/>
            <a:ext cx="1188720" cy="402336"/>
          </a:xfrm>
          <a:prstGeom prst="roundRect">
            <a:avLst>
              <a:gd name="adj" fmla="val 13636"/>
            </a:avLst>
          </a:prstGeom>
          <a:solidFill>
            <a:srgbClr val="FFC107"/>
          </a:solidFill>
          <a:ln/>
        </p:spPr>
        <p:txBody>
          <a:bodyPr/>
          <a:lstStyle/>
          <a:p>
            <a:endParaRPr lang="en-CA"/>
          </a:p>
        </p:txBody>
      </p:sp>
      <p:sp>
        <p:nvSpPr>
          <p:cNvPr id="21" name="Text 19"/>
          <p:cNvSpPr/>
          <p:nvPr/>
        </p:nvSpPr>
        <p:spPr>
          <a:xfrm>
            <a:off x="457200" y="2816352"/>
            <a:ext cx="118872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Balanced</a:t>
            </a:r>
            <a:endParaRPr lang="en-US" sz="1200" dirty="0"/>
          </a:p>
        </p:txBody>
      </p:sp>
      <p:sp>
        <p:nvSpPr>
          <p:cNvPr id="22" name="Shape 20"/>
          <p:cNvSpPr/>
          <p:nvPr/>
        </p:nvSpPr>
        <p:spPr>
          <a:xfrm>
            <a:off x="1783080" y="2834640"/>
            <a:ext cx="1371600" cy="365760"/>
          </a:xfrm>
          <a:prstGeom prst="roundRect">
            <a:avLst>
              <a:gd name="adj" fmla="val 12500"/>
            </a:avLst>
          </a:prstGeom>
          <a:solidFill>
            <a:srgbClr val="0F2027"/>
          </a:solidFill>
          <a:ln/>
        </p:spPr>
        <p:txBody>
          <a:bodyPr/>
          <a:lstStyle/>
          <a:p>
            <a:endParaRPr lang="en-CA"/>
          </a:p>
        </p:txBody>
      </p:sp>
      <p:sp>
        <p:nvSpPr>
          <p:cNvPr id="23" name="Text 21"/>
          <p:cNvSpPr/>
          <p:nvPr/>
        </p:nvSpPr>
        <p:spPr>
          <a:xfrm>
            <a:off x="1783080" y="2834640"/>
            <a:ext cx="1371600" cy="365760"/>
          </a:xfrm>
          <a:prstGeom prst="rect">
            <a:avLst/>
          </a:prstGeom>
          <a:noFill/>
          <a:ln/>
        </p:spPr>
        <p:txBody>
          <a:bodyPr wrap="square" lIns="0" tIns="0" rIns="0" bIns="0" rtlCol="0" anchor="ctr"/>
          <a:lstStyle/>
          <a:p>
            <a:pPr marL="0" indent="0" algn="ctr">
              <a:buNone/>
            </a:pPr>
            <a:r>
              <a:rPr lang="en-US" sz="1100" dirty="0">
                <a:solidFill>
                  <a:srgbClr val="A8D8D8"/>
                </a:solidFill>
                <a:latin typeface="Courier New" pitchFamily="34" charset="0"/>
                <a:ea typeface="Courier New" pitchFamily="34" charset="-122"/>
                <a:cs typeface="Courier New" pitchFamily="34" charset="-120"/>
              </a:rPr>
              <a:t>~100m off</a:t>
            </a:r>
            <a:endParaRPr lang="en-US" sz="1100" dirty="0"/>
          </a:p>
        </p:txBody>
      </p:sp>
      <p:sp>
        <p:nvSpPr>
          <p:cNvPr id="24" name="Text 22"/>
          <p:cNvSpPr/>
          <p:nvPr/>
        </p:nvSpPr>
        <p:spPr>
          <a:xfrm>
            <a:off x="3246120" y="2871216"/>
            <a:ext cx="274320" cy="292608"/>
          </a:xfrm>
          <a:prstGeom prst="rect">
            <a:avLst/>
          </a:prstGeom>
          <a:noFill/>
          <a:ln/>
        </p:spPr>
        <p:txBody>
          <a:bodyPr wrap="square" lIns="0" tIns="0" rIns="0" bIns="0" rtlCol="0" anchor="ctr"/>
          <a:lstStyle/>
          <a:p>
            <a:pPr marL="0" indent="0" algn="ctr">
              <a:buNone/>
            </a:pPr>
            <a:r>
              <a:rPr lang="en-US" sz="1400" dirty="0">
                <a:solidFill>
                  <a:srgbClr val="0A7E8C"/>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3566160" y="2852928"/>
            <a:ext cx="4937760" cy="32918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good enough for most apps</a:t>
            </a:r>
            <a:endParaRPr lang="en-US" sz="1200" dirty="0"/>
          </a:p>
        </p:txBody>
      </p:sp>
      <p:sp>
        <p:nvSpPr>
          <p:cNvPr id="26" name="Shape 24"/>
          <p:cNvSpPr/>
          <p:nvPr/>
        </p:nvSpPr>
        <p:spPr>
          <a:xfrm>
            <a:off x="365760" y="3438144"/>
            <a:ext cx="8412480" cy="603504"/>
          </a:xfrm>
          <a:prstGeom prst="roundRect">
            <a:avLst>
              <a:gd name="adj" fmla="val 12121"/>
            </a:avLst>
          </a:prstGeom>
          <a:solidFill>
            <a:srgbClr val="FFFFFF"/>
          </a:solidFill>
          <a:ln/>
          <a:effectLst>
            <a:outerShdw blurRad="63500" dist="25400" dir="2700000" algn="bl" rotWithShape="0">
              <a:srgbClr val="000000">
                <a:alpha val="12000"/>
              </a:srgbClr>
            </a:outerShdw>
          </a:effectLst>
        </p:spPr>
        <p:txBody>
          <a:bodyPr/>
          <a:lstStyle/>
          <a:p>
            <a:endParaRPr lang="en-CA"/>
          </a:p>
        </p:txBody>
      </p:sp>
      <p:sp>
        <p:nvSpPr>
          <p:cNvPr id="27" name="Shape 25"/>
          <p:cNvSpPr/>
          <p:nvPr/>
        </p:nvSpPr>
        <p:spPr>
          <a:xfrm>
            <a:off x="457200" y="3529584"/>
            <a:ext cx="1188720" cy="402336"/>
          </a:xfrm>
          <a:prstGeom prst="roundRect">
            <a:avLst>
              <a:gd name="adj" fmla="val 13636"/>
            </a:avLst>
          </a:prstGeom>
          <a:solidFill>
            <a:srgbClr val="FF9800"/>
          </a:solidFill>
          <a:ln/>
        </p:spPr>
        <p:txBody>
          <a:bodyPr/>
          <a:lstStyle/>
          <a:p>
            <a:endParaRPr lang="en-CA"/>
          </a:p>
        </p:txBody>
      </p:sp>
      <p:sp>
        <p:nvSpPr>
          <p:cNvPr id="28" name="Text 26"/>
          <p:cNvSpPr/>
          <p:nvPr/>
        </p:nvSpPr>
        <p:spPr>
          <a:xfrm>
            <a:off x="457200" y="3529584"/>
            <a:ext cx="118872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High</a:t>
            </a:r>
            <a:endParaRPr lang="en-US" sz="1200" dirty="0"/>
          </a:p>
        </p:txBody>
      </p:sp>
      <p:sp>
        <p:nvSpPr>
          <p:cNvPr id="29" name="Shape 27"/>
          <p:cNvSpPr/>
          <p:nvPr/>
        </p:nvSpPr>
        <p:spPr>
          <a:xfrm>
            <a:off x="1783080" y="3547872"/>
            <a:ext cx="1371600" cy="365760"/>
          </a:xfrm>
          <a:prstGeom prst="roundRect">
            <a:avLst>
              <a:gd name="adj" fmla="val 12500"/>
            </a:avLst>
          </a:prstGeom>
          <a:solidFill>
            <a:srgbClr val="0F2027"/>
          </a:solidFill>
          <a:ln/>
        </p:spPr>
        <p:txBody>
          <a:bodyPr/>
          <a:lstStyle/>
          <a:p>
            <a:endParaRPr lang="en-CA"/>
          </a:p>
        </p:txBody>
      </p:sp>
      <p:sp>
        <p:nvSpPr>
          <p:cNvPr id="30" name="Text 28"/>
          <p:cNvSpPr/>
          <p:nvPr/>
        </p:nvSpPr>
        <p:spPr>
          <a:xfrm>
            <a:off x="1783080" y="3547872"/>
            <a:ext cx="1371600" cy="365760"/>
          </a:xfrm>
          <a:prstGeom prst="rect">
            <a:avLst/>
          </a:prstGeom>
          <a:noFill/>
          <a:ln/>
        </p:spPr>
        <p:txBody>
          <a:bodyPr wrap="square" lIns="0" tIns="0" rIns="0" bIns="0" rtlCol="0" anchor="ctr"/>
          <a:lstStyle/>
          <a:p>
            <a:pPr marL="0" indent="0" algn="ctr">
              <a:buNone/>
            </a:pPr>
            <a:r>
              <a:rPr lang="en-US" sz="1100" dirty="0">
                <a:solidFill>
                  <a:srgbClr val="A8D8D8"/>
                </a:solidFill>
                <a:latin typeface="Courier New" pitchFamily="34" charset="0"/>
                <a:ea typeface="Courier New" pitchFamily="34" charset="-122"/>
                <a:cs typeface="Courier New" pitchFamily="34" charset="-120"/>
              </a:rPr>
              <a:t>~10m off</a:t>
            </a:r>
            <a:endParaRPr lang="en-US" sz="1100" dirty="0"/>
          </a:p>
        </p:txBody>
      </p:sp>
      <p:sp>
        <p:nvSpPr>
          <p:cNvPr id="31" name="Text 29"/>
          <p:cNvSpPr/>
          <p:nvPr/>
        </p:nvSpPr>
        <p:spPr>
          <a:xfrm>
            <a:off x="3246120" y="3584448"/>
            <a:ext cx="274320" cy="292608"/>
          </a:xfrm>
          <a:prstGeom prst="rect">
            <a:avLst/>
          </a:prstGeom>
          <a:noFill/>
          <a:ln/>
        </p:spPr>
        <p:txBody>
          <a:bodyPr wrap="square" lIns="0" tIns="0" rIns="0" bIns="0" rtlCol="0" anchor="ctr"/>
          <a:lstStyle/>
          <a:p>
            <a:pPr marL="0" indent="0" algn="ctr">
              <a:buNone/>
            </a:pPr>
            <a:r>
              <a:rPr lang="en-US" sz="1400" dirty="0">
                <a:solidFill>
                  <a:srgbClr val="0A7E8C"/>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3566160" y="3566160"/>
            <a:ext cx="4937760" cy="32918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good for navigation</a:t>
            </a:r>
            <a:endParaRPr lang="en-US" sz="1200" dirty="0"/>
          </a:p>
        </p:txBody>
      </p:sp>
      <p:sp>
        <p:nvSpPr>
          <p:cNvPr id="33" name="Shape 31"/>
          <p:cNvSpPr/>
          <p:nvPr/>
        </p:nvSpPr>
        <p:spPr>
          <a:xfrm>
            <a:off x="365760" y="4151376"/>
            <a:ext cx="8412480" cy="603504"/>
          </a:xfrm>
          <a:prstGeom prst="roundRect">
            <a:avLst>
              <a:gd name="adj" fmla="val 12121"/>
            </a:avLst>
          </a:prstGeom>
          <a:solidFill>
            <a:srgbClr val="D4F5F5"/>
          </a:solidFill>
          <a:ln/>
          <a:effectLst>
            <a:outerShdw blurRad="63500" dist="25400" dir="2700000" algn="bl" rotWithShape="0">
              <a:srgbClr val="000000">
                <a:alpha val="12000"/>
              </a:srgbClr>
            </a:outerShdw>
          </a:effectLst>
        </p:spPr>
        <p:txBody>
          <a:bodyPr/>
          <a:lstStyle/>
          <a:p>
            <a:endParaRPr lang="en-CA"/>
          </a:p>
        </p:txBody>
      </p:sp>
      <p:sp>
        <p:nvSpPr>
          <p:cNvPr id="34" name="Shape 32"/>
          <p:cNvSpPr/>
          <p:nvPr/>
        </p:nvSpPr>
        <p:spPr>
          <a:xfrm>
            <a:off x="457200" y="4242816"/>
            <a:ext cx="1188720" cy="402336"/>
          </a:xfrm>
          <a:prstGeom prst="roundRect">
            <a:avLst>
              <a:gd name="adj" fmla="val 13636"/>
            </a:avLst>
          </a:prstGeom>
          <a:solidFill>
            <a:srgbClr val="0A7E8C"/>
          </a:solidFill>
          <a:ln/>
        </p:spPr>
        <p:txBody>
          <a:bodyPr/>
          <a:lstStyle/>
          <a:p>
            <a:endParaRPr lang="en-CA"/>
          </a:p>
        </p:txBody>
      </p:sp>
      <p:sp>
        <p:nvSpPr>
          <p:cNvPr id="35" name="Text 33"/>
          <p:cNvSpPr/>
          <p:nvPr/>
        </p:nvSpPr>
        <p:spPr>
          <a:xfrm>
            <a:off x="457200" y="4242816"/>
            <a:ext cx="118872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Highest</a:t>
            </a:r>
            <a:endParaRPr lang="en-US" sz="1200" dirty="0"/>
          </a:p>
        </p:txBody>
      </p:sp>
      <p:sp>
        <p:nvSpPr>
          <p:cNvPr id="36" name="Shape 34"/>
          <p:cNvSpPr/>
          <p:nvPr/>
        </p:nvSpPr>
        <p:spPr>
          <a:xfrm>
            <a:off x="1783080" y="4261104"/>
            <a:ext cx="1371600" cy="365760"/>
          </a:xfrm>
          <a:prstGeom prst="roundRect">
            <a:avLst>
              <a:gd name="adj" fmla="val 12500"/>
            </a:avLst>
          </a:prstGeom>
          <a:solidFill>
            <a:srgbClr val="0F2027"/>
          </a:solidFill>
          <a:ln/>
        </p:spPr>
        <p:txBody>
          <a:bodyPr/>
          <a:lstStyle/>
          <a:p>
            <a:endParaRPr lang="en-CA"/>
          </a:p>
        </p:txBody>
      </p:sp>
      <p:sp>
        <p:nvSpPr>
          <p:cNvPr id="37" name="Text 35"/>
          <p:cNvSpPr/>
          <p:nvPr/>
        </p:nvSpPr>
        <p:spPr>
          <a:xfrm>
            <a:off x="1783080" y="4261104"/>
            <a:ext cx="1371600" cy="365760"/>
          </a:xfrm>
          <a:prstGeom prst="rect">
            <a:avLst/>
          </a:prstGeom>
          <a:noFill/>
          <a:ln/>
        </p:spPr>
        <p:txBody>
          <a:bodyPr wrap="square" lIns="0" tIns="0" rIns="0" bIns="0" rtlCol="0" anchor="ctr"/>
          <a:lstStyle/>
          <a:p>
            <a:pPr marL="0" indent="0" algn="ctr">
              <a:buNone/>
            </a:pPr>
            <a:r>
              <a:rPr lang="en-US" sz="1100" dirty="0">
                <a:solidFill>
                  <a:srgbClr val="A8D8D8"/>
                </a:solidFill>
                <a:latin typeface="Courier New" pitchFamily="34" charset="0"/>
                <a:ea typeface="Courier New" pitchFamily="34" charset="-122"/>
                <a:cs typeface="Courier New" pitchFamily="34" charset="-120"/>
              </a:rPr>
              <a:t>Best possible</a:t>
            </a:r>
            <a:endParaRPr lang="en-US" sz="1100" dirty="0"/>
          </a:p>
        </p:txBody>
      </p:sp>
      <p:sp>
        <p:nvSpPr>
          <p:cNvPr id="38" name="Text 36"/>
          <p:cNvSpPr/>
          <p:nvPr/>
        </p:nvSpPr>
        <p:spPr>
          <a:xfrm>
            <a:off x="3246120" y="4297680"/>
            <a:ext cx="274320" cy="292608"/>
          </a:xfrm>
          <a:prstGeom prst="rect">
            <a:avLst/>
          </a:prstGeom>
          <a:noFill/>
          <a:ln/>
        </p:spPr>
        <p:txBody>
          <a:bodyPr wrap="square" lIns="0" tIns="0" rIns="0" bIns="0" rtlCol="0" anchor="ctr"/>
          <a:lstStyle/>
          <a:p>
            <a:pPr marL="0" indent="0" algn="ctr">
              <a:buNone/>
            </a:pPr>
            <a:r>
              <a:rPr lang="en-US" sz="1400" dirty="0">
                <a:solidFill>
                  <a:srgbClr val="0A7E8C"/>
                </a:solidFill>
                <a:latin typeface="Calibri" pitchFamily="34" charset="0"/>
                <a:ea typeface="Calibri" pitchFamily="34" charset="-122"/>
                <a:cs typeface="Calibri" pitchFamily="34" charset="-120"/>
              </a:rPr>
              <a:t>→</a:t>
            </a:r>
            <a:endParaRPr lang="en-US" sz="1400" dirty="0"/>
          </a:p>
        </p:txBody>
      </p:sp>
      <p:sp>
        <p:nvSpPr>
          <p:cNvPr id="39" name="Text 37"/>
          <p:cNvSpPr/>
          <p:nvPr/>
        </p:nvSpPr>
        <p:spPr>
          <a:xfrm>
            <a:off x="3566160" y="4279392"/>
            <a:ext cx="4937760" cy="329184"/>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what we use in this project ✓</a:t>
            </a:r>
            <a:endParaRPr lang="en-US" sz="1200" dirty="0"/>
          </a:p>
        </p:txBody>
      </p:sp>
      <p:sp>
        <p:nvSpPr>
          <p:cNvPr id="40" name="Shape 38"/>
          <p:cNvSpPr/>
          <p:nvPr/>
        </p:nvSpPr>
        <p:spPr>
          <a:xfrm>
            <a:off x="365760" y="4882896"/>
            <a:ext cx="8412480" cy="201168"/>
          </a:xfrm>
          <a:prstGeom prst="roundRect">
            <a:avLst>
              <a:gd name="adj" fmla="val 27273"/>
            </a:avLst>
          </a:prstGeom>
          <a:solidFill>
            <a:srgbClr val="0A7E8C"/>
          </a:solidFill>
          <a:ln/>
        </p:spPr>
        <p:txBody>
          <a:bodyPr/>
          <a:lstStyle/>
          <a:p>
            <a:endParaRPr lang="en-CA"/>
          </a:p>
        </p:txBody>
      </p:sp>
      <p:sp>
        <p:nvSpPr>
          <p:cNvPr id="41" name="Text 39"/>
          <p:cNvSpPr/>
          <p:nvPr/>
        </p:nvSpPr>
        <p:spPr>
          <a:xfrm>
            <a:off x="457200" y="4892040"/>
            <a:ext cx="8229600" cy="1828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In this project we use  Location.Accuracy.Highest  — we want the most precise coordinates for geocoding.</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Core Concept: Geocoding &amp; Reverse Geocoding</a:t>
            </a:r>
            <a:endParaRPr lang="en-US" sz="2200" dirty="0"/>
          </a:p>
        </p:txBody>
      </p:sp>
      <p:sp>
        <p:nvSpPr>
          <p:cNvPr id="4" name="Shape 2"/>
          <p:cNvSpPr/>
          <p:nvPr/>
        </p:nvSpPr>
        <p:spPr>
          <a:xfrm>
            <a:off x="365760" y="914400"/>
            <a:ext cx="4160520" cy="457200"/>
          </a:xfrm>
          <a:prstGeom prst="roundRect">
            <a:avLst>
              <a:gd name="adj" fmla="val 16000"/>
            </a:avLst>
          </a:prstGeom>
          <a:solidFill>
            <a:srgbClr val="0A7E8C"/>
          </a:solidFill>
          <a:ln/>
        </p:spPr>
        <p:txBody>
          <a:bodyPr/>
          <a:lstStyle/>
          <a:p>
            <a:endParaRPr lang="en-CA"/>
          </a:p>
        </p:txBody>
      </p:sp>
      <p:sp>
        <p:nvSpPr>
          <p:cNvPr id="5" name="Text 3"/>
          <p:cNvSpPr/>
          <p:nvPr/>
        </p:nvSpPr>
        <p:spPr>
          <a:xfrm>
            <a:off x="457200" y="932688"/>
            <a:ext cx="3977640" cy="42062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Forward Geocoding</a:t>
            </a:r>
            <a:endParaRPr lang="en-US" sz="1400" dirty="0"/>
          </a:p>
        </p:txBody>
      </p:sp>
      <p:sp>
        <p:nvSpPr>
          <p:cNvPr id="6" name="Text 4"/>
          <p:cNvSpPr/>
          <p:nvPr/>
        </p:nvSpPr>
        <p:spPr>
          <a:xfrm>
            <a:off x="365760" y="1426464"/>
            <a:ext cx="416052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Address → Latitude &amp; Longitude</a:t>
            </a:r>
            <a:endParaRPr lang="en-US" sz="1200" dirty="0"/>
          </a:p>
        </p:txBody>
      </p:sp>
      <p:sp>
        <p:nvSpPr>
          <p:cNvPr id="7" name="Shape 5"/>
          <p:cNvSpPr/>
          <p:nvPr/>
        </p:nvSpPr>
        <p:spPr>
          <a:xfrm>
            <a:off x="365760" y="1737360"/>
            <a:ext cx="4160520" cy="1371600"/>
          </a:xfrm>
          <a:prstGeom prst="roundRect">
            <a:avLst>
              <a:gd name="adj" fmla="val 6667"/>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8" name="Text 6"/>
          <p:cNvSpPr/>
          <p:nvPr/>
        </p:nvSpPr>
        <p:spPr>
          <a:xfrm>
            <a:off x="502920" y="1847088"/>
            <a:ext cx="3886200" cy="1152144"/>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 User types: "CN Tower Toronto"</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const result = await Location.geocodeAsync(address);</a:t>
            </a:r>
            <a:endParaRPr lang="en-US" sz="1000" dirty="0"/>
          </a:p>
          <a:p>
            <a:pPr marL="0" indent="0">
              <a:buNone/>
            </a:pP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const lat = result[0].latitude;   // 43.64272</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const lng = result[0].longitude;  // -79.38705</a:t>
            </a:r>
            <a:endParaRPr lang="en-US" sz="1000" dirty="0"/>
          </a:p>
        </p:txBody>
      </p:sp>
      <p:sp>
        <p:nvSpPr>
          <p:cNvPr id="9" name="Shape 7"/>
          <p:cNvSpPr/>
          <p:nvPr/>
        </p:nvSpPr>
        <p:spPr>
          <a:xfrm>
            <a:off x="4663440" y="914400"/>
            <a:ext cx="4114800" cy="457200"/>
          </a:xfrm>
          <a:prstGeom prst="roundRect">
            <a:avLst>
              <a:gd name="adj" fmla="val 16000"/>
            </a:avLst>
          </a:prstGeom>
          <a:solidFill>
            <a:srgbClr val="FF6B35"/>
          </a:solidFill>
          <a:ln/>
        </p:spPr>
        <p:txBody>
          <a:bodyPr/>
          <a:lstStyle/>
          <a:p>
            <a:endParaRPr lang="en-CA"/>
          </a:p>
        </p:txBody>
      </p:sp>
      <p:sp>
        <p:nvSpPr>
          <p:cNvPr id="10" name="Text 8"/>
          <p:cNvSpPr/>
          <p:nvPr/>
        </p:nvSpPr>
        <p:spPr>
          <a:xfrm>
            <a:off x="4754880" y="932688"/>
            <a:ext cx="3931920" cy="420624"/>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Reverse Geocoding</a:t>
            </a:r>
            <a:endParaRPr lang="en-US" sz="1400" dirty="0"/>
          </a:p>
        </p:txBody>
      </p:sp>
      <p:sp>
        <p:nvSpPr>
          <p:cNvPr id="11" name="Text 9"/>
          <p:cNvSpPr/>
          <p:nvPr/>
        </p:nvSpPr>
        <p:spPr>
          <a:xfrm>
            <a:off x="4663440" y="1426464"/>
            <a:ext cx="41148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Latitude &amp; Longitude → Address</a:t>
            </a:r>
            <a:endParaRPr lang="en-US" sz="1200" dirty="0"/>
          </a:p>
        </p:txBody>
      </p:sp>
      <p:sp>
        <p:nvSpPr>
          <p:cNvPr id="12" name="Shape 10"/>
          <p:cNvSpPr/>
          <p:nvPr/>
        </p:nvSpPr>
        <p:spPr>
          <a:xfrm>
            <a:off x="4663440" y="1737360"/>
            <a:ext cx="4114800" cy="1645920"/>
          </a:xfrm>
          <a:prstGeom prst="roundRect">
            <a:avLst>
              <a:gd name="adj" fmla="val 5556"/>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13" name="Text 11"/>
          <p:cNvSpPr/>
          <p:nvPr/>
        </p:nvSpPr>
        <p:spPr>
          <a:xfrm>
            <a:off x="4800600" y="1847088"/>
            <a:ext cx="3840480" cy="1426464"/>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 We have: lat = 43.64272, lng = -79.38705</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const result = await Location.reverseGeocodeAsync({</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latitude: lat,</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longitude: lng</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a:t>
            </a:r>
            <a:endParaRPr lang="en-US" sz="1000" dirty="0"/>
          </a:p>
          <a:p>
            <a:pPr marL="0" indent="0">
              <a:buNone/>
            </a:pP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result[0].formattedAddress</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"290 Bremner Blvd, Toronto, ON M5V 3L9"</a:t>
            </a:r>
            <a:endParaRPr lang="en-US" sz="1000" dirty="0"/>
          </a:p>
        </p:txBody>
      </p:sp>
      <p:sp>
        <p:nvSpPr>
          <p:cNvPr id="14" name="Shape 12"/>
          <p:cNvSpPr/>
          <p:nvPr/>
        </p:nvSpPr>
        <p:spPr>
          <a:xfrm>
            <a:off x="365760" y="3246120"/>
            <a:ext cx="8412480" cy="384048"/>
          </a:xfrm>
          <a:prstGeom prst="roundRect">
            <a:avLst>
              <a:gd name="adj" fmla="val 19048"/>
            </a:avLst>
          </a:prstGeom>
          <a:solidFill>
            <a:srgbClr val="0D1B2A"/>
          </a:solidFill>
          <a:ln/>
        </p:spPr>
        <p:txBody>
          <a:bodyPr/>
          <a:lstStyle/>
          <a:p>
            <a:endParaRPr lang="en-CA"/>
          </a:p>
        </p:txBody>
      </p:sp>
      <p:sp>
        <p:nvSpPr>
          <p:cNvPr id="15" name="Text 13"/>
          <p:cNvSpPr/>
          <p:nvPr/>
        </p:nvSpPr>
        <p:spPr>
          <a:xfrm>
            <a:off x="457200" y="3264408"/>
            <a:ext cx="82296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reverseGeocodeAsync returns an array of address objects. We use result[0]:</a:t>
            </a:r>
            <a:endParaRPr lang="en-US" sz="1300" dirty="0"/>
          </a:p>
        </p:txBody>
      </p:sp>
      <p:sp>
        <p:nvSpPr>
          <p:cNvPr id="16" name="Shape 14"/>
          <p:cNvSpPr/>
          <p:nvPr/>
        </p:nvSpPr>
        <p:spPr>
          <a:xfrm>
            <a:off x="365760" y="3685032"/>
            <a:ext cx="8412480" cy="1389888"/>
          </a:xfrm>
          <a:prstGeom prst="roundRect">
            <a:avLst>
              <a:gd name="adj" fmla="val 6579"/>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17" name="Text 15"/>
          <p:cNvSpPr/>
          <p:nvPr/>
        </p:nvSpPr>
        <p:spPr>
          <a:xfrm>
            <a:off x="502920" y="3794760"/>
            <a:ext cx="8138160" cy="1170432"/>
          </a:xfrm>
          <a:prstGeom prst="rect">
            <a:avLst/>
          </a:prstGeom>
          <a:noFill/>
          <a:ln/>
        </p:spPr>
        <p:txBody>
          <a:bodyPr wrap="square" lIns="0" tIns="0" rIns="0" bIns="0" rtlCol="0" anchor="t"/>
          <a:lstStyle/>
          <a:p>
            <a:pPr marL="0" indent="0">
              <a:buNone/>
            </a:pPr>
            <a:r>
              <a:rPr lang="en-US" sz="1050" dirty="0">
                <a:solidFill>
                  <a:srgbClr val="A8D8D8"/>
                </a:solidFill>
                <a:latin typeface="Courier New" pitchFamily="34" charset="0"/>
                <a:ea typeface="Courier New" pitchFamily="34" charset="-122"/>
                <a:cs typeface="Courier New" pitchFamily="34" charset="-120"/>
              </a:rPr>
              <a:t>result[0].formattedAddress  // "290 Bremner Blvd, Toronto, ON M5V 3L9, Canada"</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result[0].city              // "Toronto"</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result[0].region            // "Ontario"</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result[0].country           // "Canada"</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result[0].street            // "Bremner Boulevard"</a:t>
            </a:r>
            <a:endParaRPr lang="en-US" sz="1050" dirty="0"/>
          </a:p>
          <a:p>
            <a:pPr marL="0" indent="0">
              <a:buNone/>
            </a:pPr>
            <a:r>
              <a:rPr lang="en-US" sz="1050" dirty="0">
                <a:solidFill>
                  <a:srgbClr val="A8D8D8"/>
                </a:solidFill>
                <a:latin typeface="Courier New" pitchFamily="34" charset="0"/>
                <a:ea typeface="Courier New" pitchFamily="34" charset="-122"/>
                <a:cs typeface="Courier New" pitchFamily="34" charset="-120"/>
              </a:rPr>
              <a:t>result[0].postalCode        // "M5V 3L9"</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858000" y="3200400"/>
            <a:ext cx="3200400" cy="3200400"/>
          </a:xfrm>
          <a:prstGeom prst="ellipse">
            <a:avLst/>
          </a:prstGeom>
          <a:solidFill>
            <a:srgbClr val="0A7E8C">
              <a:alpha val="15000"/>
            </a:srgbClr>
          </a:solidFill>
          <a:ln/>
        </p:spPr>
        <p:txBody>
          <a:bodyPr/>
          <a:lstStyle/>
          <a:p>
            <a:endParaRPr lang="en-CA"/>
          </a:p>
        </p:txBody>
      </p:sp>
      <p:pic>
        <p:nvPicPr>
          <p:cNvPr id="3" name="Image 0" descr="preencoded.png"/>
          <p:cNvPicPr>
            <a:picLocks noChangeAspect="1"/>
          </p:cNvPicPr>
          <p:nvPr/>
        </p:nvPicPr>
        <p:blipFill>
          <a:blip r:embed="rId3"/>
          <a:stretch>
            <a:fillRect/>
          </a:stretch>
        </p:blipFill>
        <p:spPr>
          <a:xfrm>
            <a:off x="457200" y="640080"/>
            <a:ext cx="640080" cy="640080"/>
          </a:xfrm>
          <a:prstGeom prst="rect">
            <a:avLst/>
          </a:prstGeom>
        </p:spPr>
      </p:pic>
      <p:sp>
        <p:nvSpPr>
          <p:cNvPr id="4" name="Text 1"/>
          <p:cNvSpPr/>
          <p:nvPr/>
        </p:nvSpPr>
        <p:spPr>
          <a:xfrm>
            <a:off x="1188720" y="658368"/>
            <a:ext cx="731520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Project: Week 9 Location Example</a:t>
            </a:r>
            <a:endParaRPr lang="en-US" sz="2400" dirty="0"/>
          </a:p>
        </p:txBody>
      </p:sp>
      <p:sp>
        <p:nvSpPr>
          <p:cNvPr id="5" name="Text 2"/>
          <p:cNvSpPr/>
          <p:nvPr/>
        </p:nvSpPr>
        <p:spPr>
          <a:xfrm>
            <a:off x="457200" y="1371600"/>
            <a:ext cx="8229600" cy="411480"/>
          </a:xfrm>
          <a:prstGeom prst="rect">
            <a:avLst/>
          </a:prstGeom>
          <a:noFill/>
          <a:ln/>
        </p:spPr>
        <p:txBody>
          <a:bodyPr wrap="square" lIns="0" tIns="0" rIns="0" bIns="0" rtlCol="0" anchor="ctr"/>
          <a:lstStyle/>
          <a:p>
            <a:pPr marL="0" indent="0">
              <a:buNone/>
            </a:pPr>
            <a:r>
              <a:rPr lang="en-US" sz="1400" dirty="0">
                <a:solidFill>
                  <a:srgbClr val="D4F5F5"/>
                </a:solidFill>
                <a:latin typeface="Calibri" pitchFamily="34" charset="0"/>
                <a:ea typeface="Calibri" pitchFamily="34" charset="-122"/>
                <a:cs typeface="Calibri" pitchFamily="34" charset="-120"/>
              </a:rPr>
              <a:t>Find your location, look up any address, and display everything on a live map with a pin</a:t>
            </a:r>
            <a:endParaRPr lang="en-US" sz="1400" dirty="0"/>
          </a:p>
        </p:txBody>
      </p:sp>
      <p:sp>
        <p:nvSpPr>
          <p:cNvPr id="6" name="Shape 3"/>
          <p:cNvSpPr/>
          <p:nvPr/>
        </p:nvSpPr>
        <p:spPr>
          <a:xfrm>
            <a:off x="365760" y="1920240"/>
            <a:ext cx="4114800" cy="868680"/>
          </a:xfrm>
          <a:prstGeom prst="roundRect">
            <a:avLst>
              <a:gd name="adj" fmla="val 10526"/>
            </a:avLst>
          </a:prstGeom>
          <a:solidFill>
            <a:srgbClr val="FFFFFF">
              <a:alpha val="90000"/>
            </a:srgbClr>
          </a:solidFill>
          <a:ln/>
        </p:spPr>
        <p:txBody>
          <a:bodyPr/>
          <a:lstStyle/>
          <a:p>
            <a:endParaRPr lang="en-CA"/>
          </a:p>
        </p:txBody>
      </p:sp>
      <p:sp>
        <p:nvSpPr>
          <p:cNvPr id="7" name="Text 4"/>
          <p:cNvSpPr/>
          <p:nvPr/>
        </p:nvSpPr>
        <p:spPr>
          <a:xfrm>
            <a:off x="548640" y="1993392"/>
            <a:ext cx="3749040" cy="274320"/>
          </a:xfrm>
          <a:prstGeom prst="rect">
            <a:avLst/>
          </a:prstGeom>
          <a:noFill/>
          <a:ln/>
        </p:spPr>
        <p:txBody>
          <a:bodyPr wrap="square" lIns="0" tIns="0" rIns="0" bIns="0" rtlCol="0" anchor="ctr"/>
          <a:lstStyle/>
          <a:p>
            <a:pPr marL="0" indent="0">
              <a:buNone/>
            </a:pPr>
            <a:r>
              <a:rPr lang="en-US" sz="1300" b="1" dirty="0">
                <a:solidFill>
                  <a:srgbClr val="1AB8C4"/>
                </a:solidFill>
                <a:latin typeface="Cambria" pitchFamily="34" charset="0"/>
                <a:ea typeface="Cambria" pitchFamily="34" charset="-122"/>
                <a:cs typeface="Cambria" pitchFamily="34" charset="-120"/>
              </a:rPr>
              <a:t>TextInput</a:t>
            </a:r>
            <a:endParaRPr lang="en-US" sz="1300" dirty="0"/>
          </a:p>
        </p:txBody>
      </p:sp>
      <p:sp>
        <p:nvSpPr>
          <p:cNvPr id="8" name="Text 5"/>
          <p:cNvSpPr/>
          <p:nvPr/>
        </p:nvSpPr>
        <p:spPr>
          <a:xfrm>
            <a:off x="548640" y="2304288"/>
            <a:ext cx="3749040" cy="420624"/>
          </a:xfrm>
          <a:prstGeom prst="rect">
            <a:avLst/>
          </a:prstGeom>
          <a:noFill/>
          <a:ln/>
        </p:spPr>
        <p:txBody>
          <a:bodyPr wrap="square" lIns="0" tIns="0" rIns="0" bIns="0" rtlCol="0" anchor="ctr"/>
          <a:lstStyle/>
          <a:p>
            <a:pPr marL="0" indent="0">
              <a:buNone/>
            </a:pPr>
            <a:r>
              <a:rPr lang="en-US" sz="1150" dirty="0">
                <a:latin typeface="Calibri" pitchFamily="34" charset="0"/>
                <a:ea typeface="Calibri" pitchFamily="34" charset="-122"/>
                <a:cs typeface="Calibri" pitchFamily="34" charset="-120"/>
              </a:rPr>
              <a:t>User types any address into a text field</a:t>
            </a:r>
            <a:endParaRPr lang="en-US" sz="1150" dirty="0"/>
          </a:p>
        </p:txBody>
      </p:sp>
      <p:sp>
        <p:nvSpPr>
          <p:cNvPr id="9" name="Shape 6"/>
          <p:cNvSpPr/>
          <p:nvPr/>
        </p:nvSpPr>
        <p:spPr>
          <a:xfrm>
            <a:off x="4663440" y="1920240"/>
            <a:ext cx="4114800" cy="868680"/>
          </a:xfrm>
          <a:prstGeom prst="roundRect">
            <a:avLst>
              <a:gd name="adj" fmla="val 10526"/>
            </a:avLst>
          </a:prstGeom>
          <a:solidFill>
            <a:srgbClr val="FFFFFF">
              <a:alpha val="90000"/>
            </a:srgbClr>
          </a:solidFill>
          <a:ln/>
        </p:spPr>
        <p:txBody>
          <a:bodyPr/>
          <a:lstStyle/>
          <a:p>
            <a:endParaRPr lang="en-CA"/>
          </a:p>
        </p:txBody>
      </p:sp>
      <p:sp>
        <p:nvSpPr>
          <p:cNvPr id="10" name="Text 7"/>
          <p:cNvSpPr/>
          <p:nvPr/>
        </p:nvSpPr>
        <p:spPr>
          <a:xfrm>
            <a:off x="4846320" y="1993392"/>
            <a:ext cx="3749040" cy="274320"/>
          </a:xfrm>
          <a:prstGeom prst="rect">
            <a:avLst/>
          </a:prstGeom>
          <a:noFill/>
          <a:ln/>
        </p:spPr>
        <p:txBody>
          <a:bodyPr wrap="square" lIns="0" tIns="0" rIns="0" bIns="0" rtlCol="0" anchor="ctr"/>
          <a:lstStyle/>
          <a:p>
            <a:pPr marL="0" indent="0">
              <a:buNone/>
            </a:pPr>
            <a:r>
              <a:rPr lang="en-US" sz="1300" b="1" dirty="0">
                <a:solidFill>
                  <a:srgbClr val="1AB8C4"/>
                </a:solidFill>
                <a:latin typeface="Cambria" pitchFamily="34" charset="0"/>
                <a:ea typeface="Cambria" pitchFamily="34" charset="-122"/>
                <a:cs typeface="Cambria" pitchFamily="34" charset="-120"/>
              </a:rPr>
              <a:t>Forward Geocoding</a:t>
            </a:r>
            <a:endParaRPr lang="en-US" sz="1300" dirty="0"/>
          </a:p>
        </p:txBody>
      </p:sp>
      <p:sp>
        <p:nvSpPr>
          <p:cNvPr id="11" name="Text 8"/>
          <p:cNvSpPr/>
          <p:nvPr/>
        </p:nvSpPr>
        <p:spPr>
          <a:xfrm>
            <a:off x="4846320" y="2304288"/>
            <a:ext cx="3749040" cy="420624"/>
          </a:xfrm>
          <a:prstGeom prst="rect">
            <a:avLst/>
          </a:prstGeom>
          <a:noFill/>
          <a:ln/>
        </p:spPr>
        <p:txBody>
          <a:bodyPr wrap="square" lIns="0" tIns="0" rIns="0" bIns="0" rtlCol="0" anchor="ctr"/>
          <a:lstStyle/>
          <a:p>
            <a:pPr marL="0" indent="0">
              <a:buNone/>
            </a:pPr>
            <a:r>
              <a:rPr lang="en-US" sz="1150" dirty="0">
                <a:latin typeface="Calibri" pitchFamily="34" charset="0"/>
                <a:ea typeface="Calibri" pitchFamily="34" charset="-122"/>
                <a:cs typeface="Calibri" pitchFamily="34" charset="-120"/>
              </a:rPr>
              <a:t>Converts typed address to lat/lng → moves map to that location</a:t>
            </a:r>
            <a:endParaRPr lang="en-US" sz="1150" dirty="0"/>
          </a:p>
        </p:txBody>
      </p:sp>
      <p:sp>
        <p:nvSpPr>
          <p:cNvPr id="12" name="Shape 9"/>
          <p:cNvSpPr/>
          <p:nvPr/>
        </p:nvSpPr>
        <p:spPr>
          <a:xfrm>
            <a:off x="365760" y="2926080"/>
            <a:ext cx="4114800" cy="868680"/>
          </a:xfrm>
          <a:prstGeom prst="roundRect">
            <a:avLst>
              <a:gd name="adj" fmla="val 10526"/>
            </a:avLst>
          </a:prstGeom>
          <a:solidFill>
            <a:srgbClr val="FFFFFF">
              <a:alpha val="90000"/>
            </a:srgbClr>
          </a:solidFill>
          <a:ln/>
        </p:spPr>
        <p:txBody>
          <a:bodyPr/>
          <a:lstStyle/>
          <a:p>
            <a:endParaRPr lang="en-CA"/>
          </a:p>
        </p:txBody>
      </p:sp>
      <p:sp>
        <p:nvSpPr>
          <p:cNvPr id="13" name="Text 10"/>
          <p:cNvSpPr/>
          <p:nvPr/>
        </p:nvSpPr>
        <p:spPr>
          <a:xfrm>
            <a:off x="548640" y="2999232"/>
            <a:ext cx="3749040" cy="274320"/>
          </a:xfrm>
          <a:prstGeom prst="rect">
            <a:avLst/>
          </a:prstGeom>
          <a:noFill/>
          <a:ln/>
        </p:spPr>
        <p:txBody>
          <a:bodyPr wrap="square" lIns="0" tIns="0" rIns="0" bIns="0" rtlCol="0" anchor="ctr"/>
          <a:lstStyle/>
          <a:p>
            <a:pPr marL="0" indent="0">
              <a:buNone/>
            </a:pPr>
            <a:r>
              <a:rPr lang="en-US" sz="1300" b="1" dirty="0">
                <a:solidFill>
                  <a:srgbClr val="1AB8C4"/>
                </a:solidFill>
                <a:latin typeface="Cambria" pitchFamily="34" charset="0"/>
                <a:ea typeface="Cambria" pitchFamily="34" charset="-122"/>
                <a:cs typeface="Cambria" pitchFamily="34" charset="-120"/>
              </a:rPr>
              <a:t>Get Current Location</a:t>
            </a:r>
            <a:endParaRPr lang="en-US" sz="1300" dirty="0"/>
          </a:p>
        </p:txBody>
      </p:sp>
      <p:sp>
        <p:nvSpPr>
          <p:cNvPr id="14" name="Text 11"/>
          <p:cNvSpPr/>
          <p:nvPr/>
        </p:nvSpPr>
        <p:spPr>
          <a:xfrm>
            <a:off x="548640" y="3310128"/>
            <a:ext cx="3749040" cy="420624"/>
          </a:xfrm>
          <a:prstGeom prst="rect">
            <a:avLst/>
          </a:prstGeom>
          <a:noFill/>
          <a:ln/>
        </p:spPr>
        <p:txBody>
          <a:bodyPr wrap="square" lIns="0" tIns="0" rIns="0" bIns="0" rtlCol="0" anchor="ctr"/>
          <a:lstStyle/>
          <a:p>
            <a:pPr marL="0" indent="0">
              <a:buNone/>
            </a:pPr>
            <a:r>
              <a:rPr lang="en-US" sz="1150" dirty="0">
                <a:latin typeface="Calibri" pitchFamily="34" charset="0"/>
                <a:ea typeface="Calibri" pitchFamily="34" charset="-122"/>
                <a:cs typeface="Calibri" pitchFamily="34" charset="-120"/>
              </a:rPr>
              <a:t>Gets real GPS coordinates → moves map → reverse geocodes to address</a:t>
            </a:r>
            <a:endParaRPr lang="en-US" sz="1150" dirty="0"/>
          </a:p>
        </p:txBody>
      </p:sp>
      <p:sp>
        <p:nvSpPr>
          <p:cNvPr id="15" name="Shape 12"/>
          <p:cNvSpPr/>
          <p:nvPr/>
        </p:nvSpPr>
        <p:spPr>
          <a:xfrm>
            <a:off x="4663440" y="2926080"/>
            <a:ext cx="4114800" cy="868680"/>
          </a:xfrm>
          <a:prstGeom prst="roundRect">
            <a:avLst>
              <a:gd name="adj" fmla="val 10526"/>
            </a:avLst>
          </a:prstGeom>
          <a:solidFill>
            <a:srgbClr val="FFFFFF">
              <a:alpha val="90000"/>
            </a:srgbClr>
          </a:solidFill>
          <a:ln/>
        </p:spPr>
        <p:txBody>
          <a:bodyPr/>
          <a:lstStyle/>
          <a:p>
            <a:endParaRPr lang="en-CA"/>
          </a:p>
        </p:txBody>
      </p:sp>
      <p:sp>
        <p:nvSpPr>
          <p:cNvPr id="16" name="Text 13"/>
          <p:cNvSpPr/>
          <p:nvPr/>
        </p:nvSpPr>
        <p:spPr>
          <a:xfrm>
            <a:off x="4846320" y="2999232"/>
            <a:ext cx="3749040" cy="274320"/>
          </a:xfrm>
          <a:prstGeom prst="rect">
            <a:avLst/>
          </a:prstGeom>
          <a:noFill/>
          <a:ln/>
        </p:spPr>
        <p:txBody>
          <a:bodyPr wrap="square" lIns="0" tIns="0" rIns="0" bIns="0" rtlCol="0" anchor="ctr"/>
          <a:lstStyle/>
          <a:p>
            <a:pPr marL="0" indent="0">
              <a:buNone/>
            </a:pPr>
            <a:r>
              <a:rPr lang="en-US" sz="1300" b="1" dirty="0">
                <a:solidFill>
                  <a:srgbClr val="1AB8C4"/>
                </a:solidFill>
                <a:latin typeface="Cambria" pitchFamily="34" charset="0"/>
                <a:ea typeface="Cambria" pitchFamily="34" charset="-122"/>
                <a:cs typeface="Cambria" pitchFamily="34" charset="-120"/>
              </a:rPr>
              <a:t>Reverse Geocoding</a:t>
            </a:r>
            <a:endParaRPr lang="en-US" sz="1300" dirty="0"/>
          </a:p>
        </p:txBody>
      </p:sp>
      <p:sp>
        <p:nvSpPr>
          <p:cNvPr id="17" name="Text 14"/>
          <p:cNvSpPr/>
          <p:nvPr/>
        </p:nvSpPr>
        <p:spPr>
          <a:xfrm>
            <a:off x="4846320" y="3310128"/>
            <a:ext cx="3749040" cy="420624"/>
          </a:xfrm>
          <a:prstGeom prst="rect">
            <a:avLst/>
          </a:prstGeom>
          <a:noFill/>
          <a:ln/>
        </p:spPr>
        <p:txBody>
          <a:bodyPr wrap="square" lIns="0" tIns="0" rIns="0" bIns="0" rtlCol="0" anchor="ctr"/>
          <a:lstStyle/>
          <a:p>
            <a:pPr marL="0" indent="0">
              <a:buNone/>
            </a:pPr>
            <a:r>
              <a:rPr lang="en-US" sz="1150" dirty="0">
                <a:latin typeface="Calibri" pitchFamily="34" charset="0"/>
                <a:ea typeface="Calibri" pitchFamily="34" charset="-122"/>
                <a:cs typeface="Calibri" pitchFamily="34" charset="-120"/>
              </a:rPr>
              <a:t>Converts GPS coordinates to a readable street address</a:t>
            </a:r>
            <a:endParaRPr lang="en-US" sz="1150" dirty="0"/>
          </a:p>
        </p:txBody>
      </p:sp>
      <p:sp>
        <p:nvSpPr>
          <p:cNvPr id="18" name="Shape 15"/>
          <p:cNvSpPr/>
          <p:nvPr/>
        </p:nvSpPr>
        <p:spPr>
          <a:xfrm>
            <a:off x="365760" y="3931920"/>
            <a:ext cx="4114800" cy="868680"/>
          </a:xfrm>
          <a:prstGeom prst="roundRect">
            <a:avLst>
              <a:gd name="adj" fmla="val 10526"/>
            </a:avLst>
          </a:prstGeom>
          <a:solidFill>
            <a:srgbClr val="FFFFFF">
              <a:alpha val="90000"/>
            </a:srgbClr>
          </a:solidFill>
          <a:ln/>
        </p:spPr>
        <p:txBody>
          <a:bodyPr/>
          <a:lstStyle/>
          <a:p>
            <a:endParaRPr lang="en-CA"/>
          </a:p>
        </p:txBody>
      </p:sp>
      <p:sp>
        <p:nvSpPr>
          <p:cNvPr id="19" name="Text 16"/>
          <p:cNvSpPr/>
          <p:nvPr/>
        </p:nvSpPr>
        <p:spPr>
          <a:xfrm>
            <a:off x="548640" y="4005072"/>
            <a:ext cx="3749040" cy="274320"/>
          </a:xfrm>
          <a:prstGeom prst="rect">
            <a:avLst/>
          </a:prstGeom>
          <a:noFill/>
          <a:ln/>
        </p:spPr>
        <p:txBody>
          <a:bodyPr wrap="square" lIns="0" tIns="0" rIns="0" bIns="0" rtlCol="0" anchor="ctr"/>
          <a:lstStyle/>
          <a:p>
            <a:pPr marL="0" indent="0">
              <a:buNone/>
            </a:pPr>
            <a:r>
              <a:rPr lang="en-US" sz="1300" b="1" dirty="0">
                <a:solidFill>
                  <a:srgbClr val="1AB8C4"/>
                </a:solidFill>
                <a:latin typeface="Cambria" pitchFamily="34" charset="0"/>
                <a:ea typeface="Cambria" pitchFamily="34" charset="-122"/>
                <a:cs typeface="Cambria" pitchFamily="34" charset="-120"/>
              </a:rPr>
              <a:t>MapView + Marker</a:t>
            </a:r>
            <a:endParaRPr lang="en-US" sz="1300" dirty="0"/>
          </a:p>
        </p:txBody>
      </p:sp>
      <p:sp>
        <p:nvSpPr>
          <p:cNvPr id="20" name="Text 17"/>
          <p:cNvSpPr/>
          <p:nvPr/>
        </p:nvSpPr>
        <p:spPr>
          <a:xfrm>
            <a:off x="548640" y="4315968"/>
            <a:ext cx="3749040" cy="420624"/>
          </a:xfrm>
          <a:prstGeom prst="rect">
            <a:avLst/>
          </a:prstGeom>
          <a:noFill/>
          <a:ln/>
        </p:spPr>
        <p:txBody>
          <a:bodyPr wrap="square" lIns="0" tIns="0" rIns="0" bIns="0" rtlCol="0" anchor="ctr"/>
          <a:lstStyle/>
          <a:p>
            <a:pPr marL="0" indent="0">
              <a:buNone/>
            </a:pPr>
            <a:r>
              <a:rPr lang="en-US" sz="1150" dirty="0">
                <a:latin typeface="Calibri" pitchFamily="34" charset="0"/>
                <a:ea typeface="Calibri" pitchFamily="34" charset="-122"/>
                <a:cs typeface="Calibri" pitchFamily="34" charset="-120"/>
              </a:rPr>
              <a:t>Map always shows a pin at the current region — updates automatically</a:t>
            </a:r>
            <a:endParaRPr lang="en-US" sz="1150" dirty="0"/>
          </a:p>
        </p:txBody>
      </p:sp>
      <p:sp>
        <p:nvSpPr>
          <p:cNvPr id="21" name="Shape 18"/>
          <p:cNvSpPr/>
          <p:nvPr/>
        </p:nvSpPr>
        <p:spPr>
          <a:xfrm>
            <a:off x="4663440" y="3931920"/>
            <a:ext cx="4114800" cy="868680"/>
          </a:xfrm>
          <a:prstGeom prst="roundRect">
            <a:avLst>
              <a:gd name="adj" fmla="val 10526"/>
            </a:avLst>
          </a:prstGeom>
          <a:solidFill>
            <a:srgbClr val="FFFFFF">
              <a:alpha val="90000"/>
            </a:srgbClr>
          </a:solidFill>
          <a:ln/>
        </p:spPr>
        <p:txBody>
          <a:bodyPr/>
          <a:lstStyle/>
          <a:p>
            <a:endParaRPr lang="en-CA"/>
          </a:p>
        </p:txBody>
      </p:sp>
      <p:sp>
        <p:nvSpPr>
          <p:cNvPr id="22" name="Text 19"/>
          <p:cNvSpPr/>
          <p:nvPr/>
        </p:nvSpPr>
        <p:spPr>
          <a:xfrm>
            <a:off x="4846320" y="4005072"/>
            <a:ext cx="3749040" cy="274320"/>
          </a:xfrm>
          <a:prstGeom prst="rect">
            <a:avLst/>
          </a:prstGeom>
          <a:noFill/>
          <a:ln/>
        </p:spPr>
        <p:txBody>
          <a:bodyPr wrap="square" lIns="0" tIns="0" rIns="0" bIns="0" rtlCol="0" anchor="ctr"/>
          <a:lstStyle/>
          <a:p>
            <a:pPr marL="0" indent="0">
              <a:buNone/>
            </a:pPr>
            <a:r>
              <a:rPr lang="en-US" sz="1300" b="1" dirty="0">
                <a:solidFill>
                  <a:srgbClr val="1AB8C4"/>
                </a:solidFill>
                <a:latin typeface="Cambria" pitchFamily="34" charset="0"/>
                <a:ea typeface="Cambria" pitchFamily="34" charset="-122"/>
                <a:cs typeface="Cambria" pitchFamily="34" charset="-120"/>
              </a:rPr>
              <a:t>Conditional rendering</a:t>
            </a:r>
            <a:endParaRPr lang="en-US" sz="1300" dirty="0"/>
          </a:p>
        </p:txBody>
      </p:sp>
      <p:sp>
        <p:nvSpPr>
          <p:cNvPr id="23" name="Text 20"/>
          <p:cNvSpPr/>
          <p:nvPr/>
        </p:nvSpPr>
        <p:spPr>
          <a:xfrm>
            <a:off x="4846320" y="4315968"/>
            <a:ext cx="3749040" cy="420624"/>
          </a:xfrm>
          <a:prstGeom prst="rect">
            <a:avLst/>
          </a:prstGeom>
          <a:noFill/>
          <a:ln/>
        </p:spPr>
        <p:txBody>
          <a:bodyPr wrap="square" lIns="0" tIns="0" rIns="0" bIns="0" rtlCol="0" anchor="ctr"/>
          <a:lstStyle/>
          <a:p>
            <a:pPr marL="0" indent="0">
              <a:buNone/>
            </a:pPr>
            <a:r>
              <a:rPr lang="en-US" sz="1150" dirty="0">
                <a:latin typeface="Calibri" pitchFamily="34" charset="0"/>
                <a:ea typeface="Calibri" pitchFamily="34" charset="-122"/>
                <a:cs typeface="Calibri" pitchFamily="34" charset="-120"/>
              </a:rPr>
              <a:t>Address text and map only show when there is data to display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66E32DF7-66E3-0E9E-A3A4-8162C59482C9}"/>
              </a:ext>
            </a:extLst>
          </p:cNvPr>
          <p:cNvSpPr/>
          <p:nvPr/>
        </p:nvSpPr>
        <p:spPr>
          <a:xfrm>
            <a:off x="365760" y="164592"/>
            <a:ext cx="8412480" cy="566928"/>
          </a:xfrm>
          <a:prstGeom prst="roundRect">
            <a:avLst>
              <a:gd name="adj" fmla="val 12903"/>
            </a:avLst>
          </a:prstGeom>
          <a:solidFill>
            <a:srgbClr val="0D1B2A"/>
          </a:solidFill>
          <a:ln/>
        </p:spPr>
        <p:txBody>
          <a:bodyPr/>
          <a:lstStyle/>
          <a:p>
            <a:r>
              <a:rPr lang="en-US" b="1" dirty="0">
                <a:solidFill>
                  <a:srgbClr val="FFFFFF"/>
                </a:solidFill>
                <a:latin typeface="Cambria" pitchFamily="34" charset="0"/>
                <a:ea typeface="Cambria" pitchFamily="34" charset="-122"/>
              </a:rPr>
              <a:t>Step 0: Setting Up a New Project</a:t>
            </a:r>
            <a:endParaRPr lang="en-US" dirty="0"/>
          </a:p>
        </p:txBody>
      </p:sp>
      <p:pic>
        <p:nvPicPr>
          <p:cNvPr id="9" name="Picture 8">
            <a:extLst>
              <a:ext uri="{FF2B5EF4-FFF2-40B4-BE49-F238E27FC236}">
                <a16:creationId xmlns:a16="http://schemas.microsoft.com/office/drawing/2014/main" id="{A3CB4C15-B6F4-6A76-9FCE-D107684E79E1}"/>
              </a:ext>
            </a:extLst>
          </p:cNvPr>
          <p:cNvPicPr>
            <a:picLocks noChangeAspect="1"/>
          </p:cNvPicPr>
          <p:nvPr/>
        </p:nvPicPr>
        <p:blipFill>
          <a:blip r:embed="rId2"/>
          <a:stretch>
            <a:fillRect/>
          </a:stretch>
        </p:blipFill>
        <p:spPr>
          <a:xfrm>
            <a:off x="424992" y="2062427"/>
            <a:ext cx="6843353" cy="217189"/>
          </a:xfrm>
          <a:prstGeom prst="rect">
            <a:avLst/>
          </a:prstGeom>
          <a:ln>
            <a:solidFill>
              <a:schemeClr val="accent1"/>
            </a:solidFill>
          </a:ln>
        </p:spPr>
      </p:pic>
      <p:pic>
        <p:nvPicPr>
          <p:cNvPr id="15" name="Picture 14">
            <a:extLst>
              <a:ext uri="{FF2B5EF4-FFF2-40B4-BE49-F238E27FC236}">
                <a16:creationId xmlns:a16="http://schemas.microsoft.com/office/drawing/2014/main" id="{71E4D2B7-1FD7-472E-59FE-63843CFB7940}"/>
              </a:ext>
            </a:extLst>
          </p:cNvPr>
          <p:cNvPicPr>
            <a:picLocks noChangeAspect="1"/>
          </p:cNvPicPr>
          <p:nvPr/>
        </p:nvPicPr>
        <p:blipFill>
          <a:blip r:embed="rId3"/>
          <a:stretch>
            <a:fillRect/>
          </a:stretch>
        </p:blipFill>
        <p:spPr>
          <a:xfrm>
            <a:off x="457543" y="3577131"/>
            <a:ext cx="1581287" cy="217189"/>
          </a:xfrm>
          <a:prstGeom prst="rect">
            <a:avLst/>
          </a:prstGeom>
          <a:ln>
            <a:solidFill>
              <a:schemeClr val="accent1"/>
            </a:solidFill>
          </a:ln>
        </p:spPr>
      </p:pic>
      <p:pic>
        <p:nvPicPr>
          <p:cNvPr id="17" name="Picture 16">
            <a:extLst>
              <a:ext uri="{FF2B5EF4-FFF2-40B4-BE49-F238E27FC236}">
                <a16:creationId xmlns:a16="http://schemas.microsoft.com/office/drawing/2014/main" id="{13FDE873-6509-48CE-4765-852E7FB72FC0}"/>
              </a:ext>
            </a:extLst>
          </p:cNvPr>
          <p:cNvPicPr>
            <a:picLocks noChangeAspect="1"/>
          </p:cNvPicPr>
          <p:nvPr/>
        </p:nvPicPr>
        <p:blipFill>
          <a:blip r:embed="rId4"/>
          <a:stretch>
            <a:fillRect/>
          </a:stretch>
        </p:blipFill>
        <p:spPr>
          <a:xfrm>
            <a:off x="457543" y="3933119"/>
            <a:ext cx="6466130" cy="278154"/>
          </a:xfrm>
          <a:prstGeom prst="rect">
            <a:avLst/>
          </a:prstGeom>
          <a:ln>
            <a:solidFill>
              <a:schemeClr val="accent1"/>
            </a:solidFill>
          </a:ln>
        </p:spPr>
      </p:pic>
      <p:pic>
        <p:nvPicPr>
          <p:cNvPr id="19" name="Picture 18">
            <a:extLst>
              <a:ext uri="{FF2B5EF4-FFF2-40B4-BE49-F238E27FC236}">
                <a16:creationId xmlns:a16="http://schemas.microsoft.com/office/drawing/2014/main" id="{7AC8DE89-3E40-84A5-5905-5D28637EEA1E}"/>
              </a:ext>
            </a:extLst>
          </p:cNvPr>
          <p:cNvPicPr>
            <a:picLocks noChangeAspect="1"/>
          </p:cNvPicPr>
          <p:nvPr/>
        </p:nvPicPr>
        <p:blipFill>
          <a:blip r:embed="rId5"/>
          <a:stretch>
            <a:fillRect/>
          </a:stretch>
        </p:blipFill>
        <p:spPr>
          <a:xfrm>
            <a:off x="424992" y="4735768"/>
            <a:ext cx="8024555" cy="194327"/>
          </a:xfrm>
          <a:prstGeom prst="rect">
            <a:avLst/>
          </a:prstGeom>
          <a:ln>
            <a:solidFill>
              <a:schemeClr val="accent1"/>
            </a:solidFill>
          </a:ln>
        </p:spPr>
      </p:pic>
      <p:sp>
        <p:nvSpPr>
          <p:cNvPr id="20" name="TextBox 19">
            <a:extLst>
              <a:ext uri="{FF2B5EF4-FFF2-40B4-BE49-F238E27FC236}">
                <a16:creationId xmlns:a16="http://schemas.microsoft.com/office/drawing/2014/main" id="{DCBC073E-0F0E-902B-2BA1-324B1828CAA1}"/>
              </a:ext>
            </a:extLst>
          </p:cNvPr>
          <p:cNvSpPr txBox="1"/>
          <p:nvPr/>
        </p:nvSpPr>
        <p:spPr>
          <a:xfrm>
            <a:off x="365760" y="771472"/>
            <a:ext cx="2361865" cy="369332"/>
          </a:xfrm>
          <a:prstGeom prst="rect">
            <a:avLst/>
          </a:prstGeom>
          <a:noFill/>
        </p:spPr>
        <p:txBody>
          <a:bodyPr wrap="none" rtlCol="0">
            <a:spAutoFit/>
          </a:bodyPr>
          <a:lstStyle/>
          <a:p>
            <a:r>
              <a:rPr lang="en-CA" dirty="0"/>
              <a:t>1. Create a new project</a:t>
            </a:r>
          </a:p>
        </p:txBody>
      </p:sp>
      <p:sp>
        <p:nvSpPr>
          <p:cNvPr id="22" name="TextBox 21">
            <a:extLst>
              <a:ext uri="{FF2B5EF4-FFF2-40B4-BE49-F238E27FC236}">
                <a16:creationId xmlns:a16="http://schemas.microsoft.com/office/drawing/2014/main" id="{CC097851-ECD3-594A-61C1-ED78BE28751C}"/>
              </a:ext>
            </a:extLst>
          </p:cNvPr>
          <p:cNvSpPr txBox="1"/>
          <p:nvPr/>
        </p:nvSpPr>
        <p:spPr>
          <a:xfrm>
            <a:off x="365759" y="1606812"/>
            <a:ext cx="2148922" cy="369332"/>
          </a:xfrm>
          <a:prstGeom prst="rect">
            <a:avLst/>
          </a:prstGeom>
          <a:noFill/>
        </p:spPr>
        <p:txBody>
          <a:bodyPr wrap="none" rtlCol="0">
            <a:spAutoFit/>
          </a:bodyPr>
          <a:lstStyle/>
          <a:p>
            <a:r>
              <a:rPr lang="en-CA" dirty="0"/>
              <a:t>2. Select SDK Version</a:t>
            </a:r>
          </a:p>
        </p:txBody>
      </p:sp>
      <p:sp>
        <p:nvSpPr>
          <p:cNvPr id="24" name="TextBox 23">
            <a:extLst>
              <a:ext uri="{FF2B5EF4-FFF2-40B4-BE49-F238E27FC236}">
                <a16:creationId xmlns:a16="http://schemas.microsoft.com/office/drawing/2014/main" id="{709718B8-8F9F-9178-3804-76E3C06A8292}"/>
              </a:ext>
            </a:extLst>
          </p:cNvPr>
          <p:cNvSpPr txBox="1"/>
          <p:nvPr/>
        </p:nvSpPr>
        <p:spPr>
          <a:xfrm>
            <a:off x="343986" y="2365899"/>
            <a:ext cx="3346622" cy="369332"/>
          </a:xfrm>
          <a:prstGeom prst="rect">
            <a:avLst/>
          </a:prstGeom>
          <a:noFill/>
        </p:spPr>
        <p:txBody>
          <a:bodyPr wrap="none" rtlCol="0">
            <a:spAutoFit/>
          </a:bodyPr>
          <a:lstStyle/>
          <a:p>
            <a:r>
              <a:rPr lang="en-CA" dirty="0"/>
              <a:t>3. Change directory to the project</a:t>
            </a:r>
          </a:p>
        </p:txBody>
      </p:sp>
      <p:sp>
        <p:nvSpPr>
          <p:cNvPr id="25" name="TextBox 24">
            <a:extLst>
              <a:ext uri="{FF2B5EF4-FFF2-40B4-BE49-F238E27FC236}">
                <a16:creationId xmlns:a16="http://schemas.microsoft.com/office/drawing/2014/main" id="{AAF78952-8DD3-B1C8-85F6-2B5D845EDA16}"/>
              </a:ext>
            </a:extLst>
          </p:cNvPr>
          <p:cNvSpPr txBox="1"/>
          <p:nvPr/>
        </p:nvSpPr>
        <p:spPr>
          <a:xfrm>
            <a:off x="365759" y="3151216"/>
            <a:ext cx="8222059" cy="369332"/>
          </a:xfrm>
          <a:prstGeom prst="rect">
            <a:avLst/>
          </a:prstGeom>
          <a:noFill/>
        </p:spPr>
        <p:txBody>
          <a:bodyPr wrap="none" rtlCol="0">
            <a:spAutoFit/>
          </a:bodyPr>
          <a:lstStyle/>
          <a:p>
            <a:r>
              <a:rPr lang="en-CA" dirty="0"/>
              <a:t>4. Delete the demo code Expo gives you so you can start from a clean blank screen</a:t>
            </a:r>
          </a:p>
        </p:txBody>
      </p:sp>
      <p:sp>
        <p:nvSpPr>
          <p:cNvPr id="27" name="TextBox 26">
            <a:extLst>
              <a:ext uri="{FF2B5EF4-FFF2-40B4-BE49-F238E27FC236}">
                <a16:creationId xmlns:a16="http://schemas.microsoft.com/office/drawing/2014/main" id="{12BBE402-20F0-A544-0E0E-2B43425065C9}"/>
              </a:ext>
            </a:extLst>
          </p:cNvPr>
          <p:cNvSpPr txBox="1"/>
          <p:nvPr/>
        </p:nvSpPr>
        <p:spPr>
          <a:xfrm>
            <a:off x="326239" y="4254512"/>
            <a:ext cx="4648452" cy="369332"/>
          </a:xfrm>
          <a:prstGeom prst="rect">
            <a:avLst/>
          </a:prstGeom>
          <a:noFill/>
        </p:spPr>
        <p:txBody>
          <a:bodyPr wrap="none" rtlCol="0">
            <a:spAutoFit/>
          </a:bodyPr>
          <a:lstStyle/>
          <a:p>
            <a:r>
              <a:rPr lang="en-CA" dirty="0"/>
              <a:t>5. Open the project folder in Visual Studio Code</a:t>
            </a:r>
          </a:p>
        </p:txBody>
      </p:sp>
      <p:pic>
        <p:nvPicPr>
          <p:cNvPr id="3" name="Picture 2">
            <a:extLst>
              <a:ext uri="{FF2B5EF4-FFF2-40B4-BE49-F238E27FC236}">
                <a16:creationId xmlns:a16="http://schemas.microsoft.com/office/drawing/2014/main" id="{E5303E49-97D1-66C4-B93F-2C05192FAA3E}"/>
              </a:ext>
            </a:extLst>
          </p:cNvPr>
          <p:cNvPicPr>
            <a:picLocks noChangeAspect="1"/>
          </p:cNvPicPr>
          <p:nvPr/>
        </p:nvPicPr>
        <p:blipFill>
          <a:blip r:embed="rId6"/>
          <a:stretch>
            <a:fillRect/>
          </a:stretch>
        </p:blipFill>
        <p:spPr>
          <a:xfrm>
            <a:off x="456843" y="1246226"/>
            <a:ext cx="8230313" cy="198137"/>
          </a:xfrm>
          <a:prstGeom prst="rect">
            <a:avLst/>
          </a:prstGeom>
          <a:ln>
            <a:solidFill>
              <a:schemeClr val="accent1"/>
            </a:solidFill>
          </a:ln>
        </p:spPr>
      </p:pic>
      <p:pic>
        <p:nvPicPr>
          <p:cNvPr id="6" name="Picture 5">
            <a:extLst>
              <a:ext uri="{FF2B5EF4-FFF2-40B4-BE49-F238E27FC236}">
                <a16:creationId xmlns:a16="http://schemas.microsoft.com/office/drawing/2014/main" id="{C55E70B3-9C9E-846A-6E0E-007B0AEAB498}"/>
              </a:ext>
            </a:extLst>
          </p:cNvPr>
          <p:cNvPicPr>
            <a:picLocks noChangeAspect="1"/>
          </p:cNvPicPr>
          <p:nvPr/>
        </p:nvPicPr>
        <p:blipFill>
          <a:blip r:embed="rId7"/>
          <a:stretch>
            <a:fillRect/>
          </a:stretch>
        </p:blipFill>
        <p:spPr>
          <a:xfrm>
            <a:off x="457543" y="2838637"/>
            <a:ext cx="6950042" cy="205758"/>
          </a:xfrm>
          <a:prstGeom prst="rect">
            <a:avLst/>
          </a:prstGeom>
          <a:ln>
            <a:solidFill>
              <a:schemeClr val="accent1"/>
            </a:solidFill>
          </a:ln>
        </p:spPr>
      </p:pic>
    </p:spTree>
    <p:extLst>
      <p:ext uri="{BB962C8B-B14F-4D97-AF65-F5344CB8AC3E}">
        <p14:creationId xmlns:p14="http://schemas.microsoft.com/office/powerpoint/2010/main" val="3849725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1 — Project Setup &amp; Imports</a:t>
            </a:r>
            <a:endParaRPr lang="en-US" sz="2200" dirty="0"/>
          </a:p>
        </p:txBody>
      </p:sp>
      <p:sp>
        <p:nvSpPr>
          <p:cNvPr id="4" name="Text 2"/>
          <p:cNvSpPr/>
          <p:nvPr/>
        </p:nvSpPr>
        <p:spPr>
          <a:xfrm>
            <a:off x="365760" y="841248"/>
            <a:ext cx="8229600" cy="310896"/>
          </a:xfrm>
          <a:prstGeom prst="rect">
            <a:avLst/>
          </a:prstGeom>
          <a:noFill/>
          <a:ln/>
        </p:spPr>
        <p:txBody>
          <a:bodyPr wrap="square" lIns="0" tIns="0" rIns="0" bIns="0" rtlCol="0" anchor="ctr"/>
          <a:lstStyle/>
          <a:p>
            <a:pPr marL="0" indent="0">
              <a:buNone/>
            </a:pPr>
            <a:r>
              <a:rPr lang="en-US" sz="1400" b="1" dirty="0">
                <a:solidFill>
                  <a:srgbClr val="0A7E8C"/>
                </a:solidFill>
                <a:latin typeface="Calibri" pitchFamily="34" charset="0"/>
                <a:ea typeface="Calibri" pitchFamily="34" charset="-122"/>
                <a:cs typeface="Calibri" pitchFamily="34" charset="-120"/>
              </a:rPr>
              <a:t>A  </a:t>
            </a:r>
            <a:r>
              <a:rPr lang="en-US" sz="1400" b="1" dirty="0">
                <a:solidFill>
                  <a:srgbClr val="0D1B2A"/>
                </a:solidFill>
                <a:latin typeface="Calibri" pitchFamily="34" charset="0"/>
                <a:ea typeface="Calibri" pitchFamily="34" charset="-122"/>
                <a:cs typeface="Calibri" pitchFamily="34" charset="-120"/>
              </a:rPr>
              <a:t>Install both libraries</a:t>
            </a:r>
            <a:endParaRPr lang="en-US" sz="1400" dirty="0"/>
          </a:p>
        </p:txBody>
      </p:sp>
      <p:sp>
        <p:nvSpPr>
          <p:cNvPr id="5" name="Shape 3"/>
          <p:cNvSpPr/>
          <p:nvPr/>
        </p:nvSpPr>
        <p:spPr>
          <a:xfrm>
            <a:off x="365760" y="1188720"/>
            <a:ext cx="8412480" cy="566928"/>
          </a:xfrm>
          <a:prstGeom prst="roundRect">
            <a:avLst>
              <a:gd name="adj" fmla="val 16129"/>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6" name="Text 4"/>
          <p:cNvSpPr/>
          <p:nvPr/>
        </p:nvSpPr>
        <p:spPr>
          <a:xfrm>
            <a:off x="502920" y="1298448"/>
            <a:ext cx="8138160" cy="347472"/>
          </a:xfrm>
          <a:prstGeom prst="rect">
            <a:avLst/>
          </a:prstGeom>
          <a:noFill/>
          <a:ln/>
        </p:spPr>
        <p:txBody>
          <a:bodyPr wrap="square" lIns="0" tIns="0" rIns="0" bIns="0" rtlCol="0" anchor="t"/>
          <a:lstStyle/>
          <a:p>
            <a:pPr marL="0" indent="0">
              <a:buNone/>
            </a:pPr>
            <a:r>
              <a:rPr lang="en-US" sz="1100" dirty="0">
                <a:solidFill>
                  <a:srgbClr val="A8D8D8"/>
                </a:solidFill>
                <a:latin typeface="Courier New" pitchFamily="34" charset="0"/>
                <a:ea typeface="Courier New" pitchFamily="34" charset="-122"/>
                <a:cs typeface="Courier New" pitchFamily="34" charset="-120"/>
              </a:rPr>
              <a:t>npx expo install expo-location</a:t>
            </a:r>
            <a:endParaRPr lang="en-US" sz="1100" dirty="0"/>
          </a:p>
          <a:p>
            <a:pPr marL="0" indent="0">
              <a:buNone/>
            </a:pPr>
            <a:r>
              <a:rPr lang="en-US" sz="1100" dirty="0">
                <a:solidFill>
                  <a:srgbClr val="A8D8D8"/>
                </a:solidFill>
                <a:latin typeface="Courier New" pitchFamily="34" charset="0"/>
                <a:ea typeface="Courier New" pitchFamily="34" charset="-122"/>
                <a:cs typeface="Courier New" pitchFamily="34" charset="-120"/>
              </a:rPr>
              <a:t>npx expo install react-native-maps</a:t>
            </a:r>
            <a:endParaRPr lang="en-US" sz="1100" dirty="0"/>
          </a:p>
        </p:txBody>
      </p:sp>
      <p:sp>
        <p:nvSpPr>
          <p:cNvPr id="7" name="Text 5"/>
          <p:cNvSpPr/>
          <p:nvPr/>
        </p:nvSpPr>
        <p:spPr>
          <a:xfrm>
            <a:off x="365760" y="1883664"/>
            <a:ext cx="8229600" cy="310896"/>
          </a:xfrm>
          <a:prstGeom prst="rect">
            <a:avLst/>
          </a:prstGeom>
          <a:noFill/>
          <a:ln/>
        </p:spPr>
        <p:txBody>
          <a:bodyPr wrap="square" lIns="0" tIns="0" rIns="0" bIns="0" rtlCol="0" anchor="ctr"/>
          <a:lstStyle/>
          <a:p>
            <a:pPr marL="0" indent="0">
              <a:buNone/>
            </a:pPr>
            <a:r>
              <a:rPr lang="en-US" sz="1400" b="1" dirty="0">
                <a:solidFill>
                  <a:srgbClr val="0A7E8C"/>
                </a:solidFill>
                <a:latin typeface="Calibri" pitchFamily="34" charset="0"/>
                <a:ea typeface="Calibri" pitchFamily="34" charset="-122"/>
                <a:cs typeface="Calibri" pitchFamily="34" charset="-120"/>
              </a:rPr>
              <a:t>B  </a:t>
            </a:r>
            <a:r>
              <a:rPr lang="en-US" sz="1400" b="1" dirty="0">
                <a:solidFill>
                  <a:srgbClr val="0D1B2A"/>
                </a:solidFill>
                <a:latin typeface="Calibri" pitchFamily="34" charset="0"/>
                <a:ea typeface="Calibri" pitchFamily="34" charset="-122"/>
                <a:cs typeface="Calibri" pitchFamily="34" charset="-120"/>
              </a:rPr>
              <a:t>Imports at the top of index.tsx</a:t>
            </a:r>
            <a:endParaRPr lang="en-US" sz="1400" dirty="0"/>
          </a:p>
        </p:txBody>
      </p:sp>
      <p:sp>
        <p:nvSpPr>
          <p:cNvPr id="10" name="Text 8"/>
          <p:cNvSpPr/>
          <p:nvPr/>
        </p:nvSpPr>
        <p:spPr>
          <a:xfrm>
            <a:off x="365760" y="3200400"/>
            <a:ext cx="8229600" cy="310896"/>
          </a:xfrm>
          <a:prstGeom prst="rect">
            <a:avLst/>
          </a:prstGeom>
          <a:noFill/>
          <a:ln/>
        </p:spPr>
        <p:txBody>
          <a:bodyPr wrap="square" lIns="0" tIns="0" rIns="0" bIns="0" rtlCol="0" anchor="ctr"/>
          <a:lstStyle/>
          <a:p>
            <a:pPr marL="0" indent="0">
              <a:buNone/>
            </a:pPr>
            <a:r>
              <a:rPr lang="en-US" sz="1400" b="1" dirty="0">
                <a:solidFill>
                  <a:srgbClr val="0A7E8C"/>
                </a:solidFill>
                <a:latin typeface="Calibri" pitchFamily="34" charset="0"/>
                <a:ea typeface="Calibri" pitchFamily="34" charset="-122"/>
                <a:cs typeface="Calibri" pitchFamily="34" charset="-120"/>
              </a:rPr>
              <a:t>C  </a:t>
            </a:r>
            <a:r>
              <a:rPr lang="en-US" sz="1400" b="1" dirty="0">
                <a:solidFill>
                  <a:srgbClr val="0D1B2A"/>
                </a:solidFill>
                <a:latin typeface="Calibri" pitchFamily="34" charset="0"/>
                <a:ea typeface="Calibri" pitchFamily="34" charset="-122"/>
                <a:cs typeface="Calibri" pitchFamily="34" charset="-120"/>
              </a:rPr>
              <a:t>New imports vs Week 8</a:t>
            </a:r>
            <a:endParaRPr lang="en-US" sz="1400" dirty="0"/>
          </a:p>
        </p:txBody>
      </p:sp>
      <p:sp>
        <p:nvSpPr>
          <p:cNvPr id="11" name="Shape 9"/>
          <p:cNvSpPr/>
          <p:nvPr/>
        </p:nvSpPr>
        <p:spPr>
          <a:xfrm>
            <a:off x="365760" y="3547872"/>
            <a:ext cx="530352" cy="256032"/>
          </a:xfrm>
          <a:prstGeom prst="roundRect">
            <a:avLst>
              <a:gd name="adj" fmla="val 17857"/>
            </a:avLst>
          </a:prstGeom>
          <a:solidFill>
            <a:srgbClr val="FF6B35"/>
          </a:solidFill>
          <a:ln/>
        </p:spPr>
        <p:txBody>
          <a:bodyPr/>
          <a:lstStyle/>
          <a:p>
            <a:endParaRPr lang="en-CA"/>
          </a:p>
        </p:txBody>
      </p:sp>
      <p:sp>
        <p:nvSpPr>
          <p:cNvPr id="12" name="Text 10"/>
          <p:cNvSpPr/>
          <p:nvPr/>
        </p:nvSpPr>
        <p:spPr>
          <a:xfrm>
            <a:off x="365760" y="3547872"/>
            <a:ext cx="53035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NEW</a:t>
            </a:r>
            <a:endParaRPr lang="en-US" sz="800" dirty="0"/>
          </a:p>
        </p:txBody>
      </p:sp>
      <p:sp>
        <p:nvSpPr>
          <p:cNvPr id="13" name="Text 11"/>
          <p:cNvSpPr/>
          <p:nvPr/>
        </p:nvSpPr>
        <p:spPr>
          <a:xfrm>
            <a:off x="987552" y="3547872"/>
            <a:ext cx="7772400" cy="274320"/>
          </a:xfrm>
          <a:prstGeom prst="rect">
            <a:avLst/>
          </a:prstGeom>
          <a:noFill/>
          <a:ln/>
        </p:spPr>
        <p:txBody>
          <a:bodyPr wrap="square" lIns="0" tIns="0" rIns="0" bIns="0" rtlCol="0" anchor="ctr"/>
          <a:lstStyle/>
          <a:p>
            <a:pPr marL="0" indent="0">
              <a:buNone/>
            </a:pPr>
            <a:r>
              <a:rPr lang="en-US" sz="1150" b="1" dirty="0">
                <a:solidFill>
                  <a:srgbClr val="0A7E8C"/>
                </a:solidFill>
                <a:latin typeface="Courier New" pitchFamily="34" charset="0"/>
                <a:ea typeface="Courier New" pitchFamily="34" charset="-122"/>
                <a:cs typeface="Courier New" pitchFamily="34" charset="-120"/>
              </a:rPr>
              <a:t>Alert  </a:t>
            </a:r>
            <a:r>
              <a:rPr lang="en-US" sz="1150" dirty="0">
                <a:solidFill>
                  <a:srgbClr val="0D1B2A"/>
                </a:solidFill>
                <a:latin typeface="Calibri" pitchFamily="34" charset="0"/>
                <a:ea typeface="Calibri" pitchFamily="34" charset="-122"/>
                <a:cs typeface="Calibri" pitchFamily="34" charset="-120"/>
              </a:rPr>
              <a:t>→  Shows a popup when permission is denied</a:t>
            </a:r>
            <a:endParaRPr lang="en-US" sz="1150" dirty="0"/>
          </a:p>
        </p:txBody>
      </p:sp>
      <p:sp>
        <p:nvSpPr>
          <p:cNvPr id="14" name="Shape 12"/>
          <p:cNvSpPr/>
          <p:nvPr/>
        </p:nvSpPr>
        <p:spPr>
          <a:xfrm>
            <a:off x="365760" y="3858768"/>
            <a:ext cx="530352" cy="256032"/>
          </a:xfrm>
          <a:prstGeom prst="roundRect">
            <a:avLst>
              <a:gd name="adj" fmla="val 17857"/>
            </a:avLst>
          </a:prstGeom>
          <a:solidFill>
            <a:srgbClr val="FF6B35"/>
          </a:solidFill>
          <a:ln/>
        </p:spPr>
        <p:txBody>
          <a:bodyPr/>
          <a:lstStyle/>
          <a:p>
            <a:endParaRPr lang="en-CA"/>
          </a:p>
        </p:txBody>
      </p:sp>
      <p:sp>
        <p:nvSpPr>
          <p:cNvPr id="15" name="Text 13"/>
          <p:cNvSpPr/>
          <p:nvPr/>
        </p:nvSpPr>
        <p:spPr>
          <a:xfrm>
            <a:off x="365760" y="3858768"/>
            <a:ext cx="53035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NEW</a:t>
            </a:r>
            <a:endParaRPr lang="en-US" sz="800" dirty="0"/>
          </a:p>
        </p:txBody>
      </p:sp>
      <p:sp>
        <p:nvSpPr>
          <p:cNvPr id="16" name="Text 14"/>
          <p:cNvSpPr/>
          <p:nvPr/>
        </p:nvSpPr>
        <p:spPr>
          <a:xfrm>
            <a:off x="987552" y="3858768"/>
            <a:ext cx="7772400" cy="274320"/>
          </a:xfrm>
          <a:prstGeom prst="rect">
            <a:avLst/>
          </a:prstGeom>
          <a:noFill/>
          <a:ln/>
        </p:spPr>
        <p:txBody>
          <a:bodyPr wrap="square" lIns="0" tIns="0" rIns="0" bIns="0" rtlCol="0" anchor="ctr"/>
          <a:lstStyle/>
          <a:p>
            <a:pPr marL="0" indent="0">
              <a:buNone/>
            </a:pPr>
            <a:r>
              <a:rPr lang="en-US" sz="1150" b="1" dirty="0">
                <a:solidFill>
                  <a:srgbClr val="0A7E8C"/>
                </a:solidFill>
                <a:latin typeface="Courier New" pitchFamily="34" charset="0"/>
                <a:ea typeface="Courier New" pitchFamily="34" charset="-122"/>
                <a:cs typeface="Courier New" pitchFamily="34" charset="-120"/>
              </a:rPr>
              <a:t>TextInput  </a:t>
            </a:r>
            <a:r>
              <a:rPr lang="en-US" sz="1150" dirty="0">
                <a:solidFill>
                  <a:srgbClr val="0D1B2A"/>
                </a:solidFill>
                <a:latin typeface="Calibri" pitchFamily="34" charset="0"/>
                <a:ea typeface="Calibri" pitchFamily="34" charset="-122"/>
                <a:cs typeface="Calibri" pitchFamily="34" charset="-120"/>
              </a:rPr>
              <a:t>→  The address input field</a:t>
            </a:r>
            <a:endParaRPr lang="en-US" sz="1150" dirty="0"/>
          </a:p>
        </p:txBody>
      </p:sp>
      <p:sp>
        <p:nvSpPr>
          <p:cNvPr id="17" name="Shape 15"/>
          <p:cNvSpPr/>
          <p:nvPr/>
        </p:nvSpPr>
        <p:spPr>
          <a:xfrm>
            <a:off x="365760" y="4169664"/>
            <a:ext cx="530352" cy="256032"/>
          </a:xfrm>
          <a:prstGeom prst="roundRect">
            <a:avLst>
              <a:gd name="adj" fmla="val 17857"/>
            </a:avLst>
          </a:prstGeom>
          <a:solidFill>
            <a:srgbClr val="FF6B35"/>
          </a:solidFill>
          <a:ln/>
        </p:spPr>
        <p:txBody>
          <a:bodyPr/>
          <a:lstStyle/>
          <a:p>
            <a:endParaRPr lang="en-CA"/>
          </a:p>
        </p:txBody>
      </p:sp>
      <p:sp>
        <p:nvSpPr>
          <p:cNvPr id="18" name="Text 16"/>
          <p:cNvSpPr/>
          <p:nvPr/>
        </p:nvSpPr>
        <p:spPr>
          <a:xfrm>
            <a:off x="365760" y="4169664"/>
            <a:ext cx="53035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NEW</a:t>
            </a:r>
            <a:endParaRPr lang="en-US" sz="800" dirty="0"/>
          </a:p>
        </p:txBody>
      </p:sp>
      <p:sp>
        <p:nvSpPr>
          <p:cNvPr id="19" name="Text 17"/>
          <p:cNvSpPr/>
          <p:nvPr/>
        </p:nvSpPr>
        <p:spPr>
          <a:xfrm>
            <a:off x="987552" y="4169664"/>
            <a:ext cx="7772400" cy="274320"/>
          </a:xfrm>
          <a:prstGeom prst="rect">
            <a:avLst/>
          </a:prstGeom>
          <a:noFill/>
          <a:ln/>
        </p:spPr>
        <p:txBody>
          <a:bodyPr wrap="square" lIns="0" tIns="0" rIns="0" bIns="0" rtlCol="0" anchor="ctr"/>
          <a:lstStyle/>
          <a:p>
            <a:pPr marL="0" indent="0">
              <a:buNone/>
            </a:pPr>
            <a:r>
              <a:rPr lang="en-US" sz="1150" b="1" dirty="0">
                <a:solidFill>
                  <a:srgbClr val="0A7E8C"/>
                </a:solidFill>
                <a:latin typeface="Courier New" pitchFamily="34" charset="0"/>
                <a:ea typeface="Courier New" pitchFamily="34" charset="-122"/>
                <a:cs typeface="Courier New" pitchFamily="34" charset="-120"/>
              </a:rPr>
              <a:t>* as Location  </a:t>
            </a:r>
            <a:r>
              <a:rPr lang="en-US" sz="1150" dirty="0">
                <a:solidFill>
                  <a:srgbClr val="0D1B2A"/>
                </a:solidFill>
                <a:latin typeface="Calibri" pitchFamily="34" charset="0"/>
                <a:ea typeface="Calibri" pitchFamily="34" charset="-122"/>
                <a:cs typeface="Calibri" pitchFamily="34" charset="-120"/>
              </a:rPr>
              <a:t>→  All expo-location functions under one name</a:t>
            </a:r>
            <a:endParaRPr lang="en-US" sz="1150" dirty="0"/>
          </a:p>
        </p:txBody>
      </p:sp>
      <p:sp>
        <p:nvSpPr>
          <p:cNvPr id="20" name="Shape 18"/>
          <p:cNvSpPr/>
          <p:nvPr/>
        </p:nvSpPr>
        <p:spPr>
          <a:xfrm>
            <a:off x="365760" y="4480560"/>
            <a:ext cx="530352" cy="256032"/>
          </a:xfrm>
          <a:prstGeom prst="roundRect">
            <a:avLst>
              <a:gd name="adj" fmla="val 17857"/>
            </a:avLst>
          </a:prstGeom>
          <a:solidFill>
            <a:srgbClr val="0A7E8C"/>
          </a:solidFill>
          <a:ln/>
        </p:spPr>
        <p:txBody>
          <a:bodyPr/>
          <a:lstStyle/>
          <a:p>
            <a:endParaRPr lang="en-CA"/>
          </a:p>
        </p:txBody>
      </p:sp>
      <p:sp>
        <p:nvSpPr>
          <p:cNvPr id="21" name="Text 19"/>
          <p:cNvSpPr/>
          <p:nvPr/>
        </p:nvSpPr>
        <p:spPr>
          <a:xfrm>
            <a:off x="365760" y="4480560"/>
            <a:ext cx="53035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SAME</a:t>
            </a:r>
            <a:endParaRPr lang="en-US" sz="800" dirty="0"/>
          </a:p>
        </p:txBody>
      </p:sp>
      <p:sp>
        <p:nvSpPr>
          <p:cNvPr id="22" name="Text 20"/>
          <p:cNvSpPr/>
          <p:nvPr/>
        </p:nvSpPr>
        <p:spPr>
          <a:xfrm>
            <a:off x="987552" y="4480560"/>
            <a:ext cx="7772400" cy="274320"/>
          </a:xfrm>
          <a:prstGeom prst="rect">
            <a:avLst/>
          </a:prstGeom>
          <a:noFill/>
          <a:ln/>
        </p:spPr>
        <p:txBody>
          <a:bodyPr wrap="square" lIns="0" tIns="0" rIns="0" bIns="0" rtlCol="0" anchor="ctr"/>
          <a:lstStyle/>
          <a:p>
            <a:pPr marL="0" indent="0">
              <a:buNone/>
            </a:pPr>
            <a:r>
              <a:rPr lang="en-US" sz="1150" b="1" dirty="0">
                <a:solidFill>
                  <a:srgbClr val="0A7E8C"/>
                </a:solidFill>
                <a:latin typeface="Courier New" pitchFamily="34" charset="0"/>
                <a:ea typeface="Courier New" pitchFamily="34" charset="-122"/>
                <a:cs typeface="Courier New" pitchFamily="34" charset="-120"/>
              </a:rPr>
              <a:t>Region (from maps)  </a:t>
            </a:r>
            <a:r>
              <a:rPr lang="en-US" sz="1150" dirty="0">
                <a:solidFill>
                  <a:srgbClr val="0D1B2A"/>
                </a:solidFill>
                <a:latin typeface="Calibri" pitchFamily="34" charset="0"/>
                <a:ea typeface="Calibri" pitchFamily="34" charset="-122"/>
                <a:cs typeface="Calibri" pitchFamily="34" charset="-120"/>
              </a:rPr>
              <a:t>→  TypeScript type — same as Week 8</a:t>
            </a:r>
            <a:endParaRPr lang="en-US" sz="1150" dirty="0"/>
          </a:p>
        </p:txBody>
      </p:sp>
      <p:sp>
        <p:nvSpPr>
          <p:cNvPr id="23" name="Shape 21"/>
          <p:cNvSpPr/>
          <p:nvPr/>
        </p:nvSpPr>
        <p:spPr>
          <a:xfrm>
            <a:off x="365760" y="4791456"/>
            <a:ext cx="530352" cy="256032"/>
          </a:xfrm>
          <a:prstGeom prst="roundRect">
            <a:avLst>
              <a:gd name="adj" fmla="val 17857"/>
            </a:avLst>
          </a:prstGeom>
          <a:solidFill>
            <a:srgbClr val="0A7E8C"/>
          </a:solidFill>
          <a:ln/>
        </p:spPr>
        <p:txBody>
          <a:bodyPr/>
          <a:lstStyle/>
          <a:p>
            <a:endParaRPr lang="en-CA"/>
          </a:p>
        </p:txBody>
      </p:sp>
      <p:sp>
        <p:nvSpPr>
          <p:cNvPr id="24" name="Text 22"/>
          <p:cNvSpPr/>
          <p:nvPr/>
        </p:nvSpPr>
        <p:spPr>
          <a:xfrm>
            <a:off x="365760" y="4791456"/>
            <a:ext cx="53035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SAME</a:t>
            </a:r>
            <a:endParaRPr lang="en-US" sz="800" dirty="0"/>
          </a:p>
        </p:txBody>
      </p:sp>
      <p:sp>
        <p:nvSpPr>
          <p:cNvPr id="25" name="Text 23"/>
          <p:cNvSpPr/>
          <p:nvPr/>
        </p:nvSpPr>
        <p:spPr>
          <a:xfrm>
            <a:off x="987552" y="4791456"/>
            <a:ext cx="7772400" cy="274320"/>
          </a:xfrm>
          <a:prstGeom prst="rect">
            <a:avLst/>
          </a:prstGeom>
          <a:noFill/>
          <a:ln/>
        </p:spPr>
        <p:txBody>
          <a:bodyPr wrap="square" lIns="0" tIns="0" rIns="0" bIns="0" rtlCol="0" anchor="ctr"/>
          <a:lstStyle/>
          <a:p>
            <a:pPr marL="0" indent="0">
              <a:buNone/>
            </a:pPr>
            <a:r>
              <a:rPr lang="en-US" sz="1150" b="1" dirty="0">
                <a:solidFill>
                  <a:srgbClr val="0A7E8C"/>
                </a:solidFill>
                <a:latin typeface="Courier New" pitchFamily="34" charset="0"/>
                <a:ea typeface="Courier New" pitchFamily="34" charset="-122"/>
                <a:cs typeface="Courier New" pitchFamily="34" charset="-120"/>
              </a:rPr>
              <a:t>Marker  </a:t>
            </a:r>
            <a:r>
              <a:rPr lang="en-US" sz="1150" dirty="0">
                <a:solidFill>
                  <a:srgbClr val="0D1B2A"/>
                </a:solidFill>
                <a:latin typeface="Calibri" pitchFamily="34" charset="0"/>
                <a:ea typeface="Calibri" pitchFamily="34" charset="-122"/>
                <a:cs typeface="Calibri" pitchFamily="34" charset="-120"/>
              </a:rPr>
              <a:t>→  Pin on the map — same as Week 8</a:t>
            </a:r>
            <a:endParaRPr lang="en-US" sz="1150" dirty="0"/>
          </a:p>
        </p:txBody>
      </p:sp>
      <p:pic>
        <p:nvPicPr>
          <p:cNvPr id="27" name="Picture 26">
            <a:extLst>
              <a:ext uri="{FF2B5EF4-FFF2-40B4-BE49-F238E27FC236}">
                <a16:creationId xmlns:a16="http://schemas.microsoft.com/office/drawing/2014/main" id="{CAF0531B-03CC-3572-7EEC-75686D45A71E}"/>
              </a:ext>
            </a:extLst>
          </p:cNvPr>
          <p:cNvPicPr>
            <a:picLocks noChangeAspect="1"/>
          </p:cNvPicPr>
          <p:nvPr/>
        </p:nvPicPr>
        <p:blipFill>
          <a:blip r:embed="rId3"/>
          <a:stretch>
            <a:fillRect/>
          </a:stretch>
        </p:blipFill>
        <p:spPr>
          <a:xfrm>
            <a:off x="365760" y="2226600"/>
            <a:ext cx="6911939" cy="838273"/>
          </a:xfrm>
          <a:prstGeom prst="rect">
            <a:avLst/>
          </a:prstGeom>
          <a:ln>
            <a:solidFill>
              <a:schemeClr val="accent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2 — State Variables</a:t>
            </a:r>
            <a:endParaRPr lang="en-US" sz="2200" dirty="0"/>
          </a:p>
        </p:txBody>
      </p:sp>
      <p:sp>
        <p:nvSpPr>
          <p:cNvPr id="6" name="Shape 4"/>
          <p:cNvSpPr/>
          <p:nvPr/>
        </p:nvSpPr>
        <p:spPr>
          <a:xfrm>
            <a:off x="5852160" y="841248"/>
            <a:ext cx="2926080" cy="960120"/>
          </a:xfrm>
          <a:prstGeom prst="roundRect">
            <a:avLst>
              <a:gd name="adj" fmla="val 9524"/>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7" name="Shape 5"/>
          <p:cNvSpPr/>
          <p:nvPr/>
        </p:nvSpPr>
        <p:spPr>
          <a:xfrm>
            <a:off x="5852160" y="841248"/>
            <a:ext cx="2926080" cy="310896"/>
          </a:xfrm>
          <a:prstGeom prst="roundRect">
            <a:avLst>
              <a:gd name="adj" fmla="val 29412"/>
            </a:avLst>
          </a:prstGeom>
          <a:solidFill>
            <a:srgbClr val="FF6B35"/>
          </a:solidFill>
          <a:ln/>
        </p:spPr>
        <p:txBody>
          <a:bodyPr/>
          <a:lstStyle/>
          <a:p>
            <a:endParaRPr lang="en-CA"/>
          </a:p>
        </p:txBody>
      </p:sp>
      <p:sp>
        <p:nvSpPr>
          <p:cNvPr id="8" name="Text 6"/>
          <p:cNvSpPr/>
          <p:nvPr/>
        </p:nvSpPr>
        <p:spPr>
          <a:xfrm>
            <a:off x="5943600" y="859536"/>
            <a:ext cx="2743200" cy="27432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Region | null</a:t>
            </a:r>
            <a:endParaRPr lang="en-US" sz="1100" dirty="0"/>
          </a:p>
        </p:txBody>
      </p:sp>
      <p:sp>
        <p:nvSpPr>
          <p:cNvPr id="9" name="Text 7"/>
          <p:cNvSpPr/>
          <p:nvPr/>
        </p:nvSpPr>
        <p:spPr>
          <a:xfrm>
            <a:off x="5943600" y="1207008"/>
            <a:ext cx="27432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The map region can be null — meaning 'no location yet'. We use | null so TypeScript allows it to be either a Region or nothing.</a:t>
            </a:r>
            <a:endParaRPr lang="en-US" sz="1050" dirty="0"/>
          </a:p>
        </p:txBody>
      </p:sp>
      <p:sp>
        <p:nvSpPr>
          <p:cNvPr id="10" name="Shape 8"/>
          <p:cNvSpPr/>
          <p:nvPr/>
        </p:nvSpPr>
        <p:spPr>
          <a:xfrm>
            <a:off x="5852160" y="1938528"/>
            <a:ext cx="2926080" cy="960120"/>
          </a:xfrm>
          <a:prstGeom prst="roundRect">
            <a:avLst>
              <a:gd name="adj" fmla="val 9524"/>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1" name="Shape 9"/>
          <p:cNvSpPr/>
          <p:nvPr/>
        </p:nvSpPr>
        <p:spPr>
          <a:xfrm>
            <a:off x="5852160" y="1938528"/>
            <a:ext cx="2926080" cy="310896"/>
          </a:xfrm>
          <a:prstGeom prst="roundRect">
            <a:avLst>
              <a:gd name="adj" fmla="val 29412"/>
            </a:avLst>
          </a:prstGeom>
          <a:solidFill>
            <a:srgbClr val="0A7E8C"/>
          </a:solidFill>
          <a:ln/>
        </p:spPr>
        <p:txBody>
          <a:bodyPr/>
          <a:lstStyle/>
          <a:p>
            <a:endParaRPr lang="en-CA"/>
          </a:p>
        </p:txBody>
      </p:sp>
      <p:sp>
        <p:nvSpPr>
          <p:cNvPr id="12" name="Text 10"/>
          <p:cNvSpPr/>
          <p:nvPr/>
        </p:nvSpPr>
        <p:spPr>
          <a:xfrm>
            <a:off x="5943600" y="1956816"/>
            <a:ext cx="2743200" cy="27432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currentAddress</a:t>
            </a:r>
            <a:endParaRPr lang="en-US" sz="1100" dirty="0"/>
          </a:p>
        </p:txBody>
      </p:sp>
      <p:sp>
        <p:nvSpPr>
          <p:cNvPr id="13" name="Text 11"/>
          <p:cNvSpPr/>
          <p:nvPr/>
        </p:nvSpPr>
        <p:spPr>
          <a:xfrm>
            <a:off x="5943600" y="2304288"/>
            <a:ext cx="27432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Stores the address to display on screen. Starts empty. Updated by both geocoding functions.</a:t>
            </a:r>
            <a:endParaRPr lang="en-US" sz="1050" dirty="0"/>
          </a:p>
        </p:txBody>
      </p:sp>
      <p:sp>
        <p:nvSpPr>
          <p:cNvPr id="14" name="Shape 12"/>
          <p:cNvSpPr/>
          <p:nvPr/>
        </p:nvSpPr>
        <p:spPr>
          <a:xfrm>
            <a:off x="5852160" y="3035808"/>
            <a:ext cx="2926080" cy="960120"/>
          </a:xfrm>
          <a:prstGeom prst="roundRect">
            <a:avLst>
              <a:gd name="adj" fmla="val 9524"/>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5" name="Shape 13"/>
          <p:cNvSpPr/>
          <p:nvPr/>
        </p:nvSpPr>
        <p:spPr>
          <a:xfrm>
            <a:off x="5852160" y="3035808"/>
            <a:ext cx="2926080" cy="310896"/>
          </a:xfrm>
          <a:prstGeom prst="roundRect">
            <a:avLst>
              <a:gd name="adj" fmla="val 29412"/>
            </a:avLst>
          </a:prstGeom>
          <a:solidFill>
            <a:srgbClr val="0A7E8C"/>
          </a:solidFill>
          <a:ln/>
        </p:spPr>
        <p:txBody>
          <a:bodyPr/>
          <a:lstStyle/>
          <a:p>
            <a:endParaRPr lang="en-CA"/>
          </a:p>
        </p:txBody>
      </p:sp>
      <p:sp>
        <p:nvSpPr>
          <p:cNvPr id="16" name="Text 14"/>
          <p:cNvSpPr/>
          <p:nvPr/>
        </p:nvSpPr>
        <p:spPr>
          <a:xfrm>
            <a:off x="5943600" y="3054096"/>
            <a:ext cx="2743200" cy="27432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address</a:t>
            </a:r>
            <a:endParaRPr lang="en-US" sz="1100" dirty="0"/>
          </a:p>
        </p:txBody>
      </p:sp>
      <p:sp>
        <p:nvSpPr>
          <p:cNvPr id="17" name="Text 15"/>
          <p:cNvSpPr/>
          <p:nvPr/>
        </p:nvSpPr>
        <p:spPr>
          <a:xfrm>
            <a:off x="5943600" y="3401568"/>
            <a:ext cx="2743200" cy="5486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Tracks what the user is typing in the TextInput. Updated live via onChangeText.</a:t>
            </a:r>
            <a:endParaRPr lang="en-US" sz="1050" dirty="0"/>
          </a:p>
        </p:txBody>
      </p:sp>
      <p:sp>
        <p:nvSpPr>
          <p:cNvPr id="18" name="Shape 16"/>
          <p:cNvSpPr/>
          <p:nvPr/>
        </p:nvSpPr>
        <p:spPr>
          <a:xfrm>
            <a:off x="365760" y="4160520"/>
            <a:ext cx="8412480" cy="777240"/>
          </a:xfrm>
          <a:prstGeom prst="roundRect">
            <a:avLst>
              <a:gd name="adj" fmla="val 11765"/>
            </a:avLst>
          </a:prstGeom>
          <a:solidFill>
            <a:srgbClr val="D4F5F5"/>
          </a:solidFill>
          <a:ln/>
        </p:spPr>
        <p:txBody>
          <a:bodyPr/>
          <a:lstStyle/>
          <a:p>
            <a:endParaRPr lang="en-CA"/>
          </a:p>
        </p:txBody>
      </p:sp>
      <p:sp>
        <p:nvSpPr>
          <p:cNvPr id="19" name="Text 17"/>
          <p:cNvSpPr/>
          <p:nvPr/>
        </p:nvSpPr>
        <p:spPr>
          <a:xfrm>
            <a:off x="502920" y="4224528"/>
            <a:ext cx="8229600" cy="256032"/>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Key difference from Week 8:</a:t>
            </a:r>
            <a:endParaRPr lang="en-US" sz="1200" dirty="0"/>
          </a:p>
        </p:txBody>
      </p:sp>
      <p:sp>
        <p:nvSpPr>
          <p:cNvPr id="20" name="Text 18"/>
          <p:cNvSpPr/>
          <p:nvPr/>
        </p:nvSpPr>
        <p:spPr>
          <a:xfrm>
            <a:off x="502920" y="4498848"/>
            <a:ext cx="8229600" cy="36576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Week 8 used a const displayRegion (never changes). This week region is STATE — it changes every time the user looks up a location. That's why the map uses region={region} instead of initialRegion.</a:t>
            </a:r>
            <a:endParaRPr lang="en-US" sz="1100" dirty="0"/>
          </a:p>
        </p:txBody>
      </p:sp>
      <p:pic>
        <p:nvPicPr>
          <p:cNvPr id="22" name="Picture 21">
            <a:extLst>
              <a:ext uri="{FF2B5EF4-FFF2-40B4-BE49-F238E27FC236}">
                <a16:creationId xmlns:a16="http://schemas.microsoft.com/office/drawing/2014/main" id="{8071B2AB-1693-3074-AB64-D8D2ED9CF6EF}"/>
              </a:ext>
            </a:extLst>
          </p:cNvPr>
          <p:cNvPicPr>
            <a:picLocks noChangeAspect="1"/>
          </p:cNvPicPr>
          <p:nvPr/>
        </p:nvPicPr>
        <p:blipFill>
          <a:blip r:embed="rId3"/>
          <a:stretch>
            <a:fillRect/>
          </a:stretch>
        </p:blipFill>
        <p:spPr>
          <a:xfrm>
            <a:off x="195893" y="1053302"/>
            <a:ext cx="5564827" cy="2880360"/>
          </a:xfrm>
          <a:prstGeom prst="rect">
            <a:avLst/>
          </a:prstGeom>
          <a:ln>
            <a:solidFill>
              <a:schemeClr val="accent1"/>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47970"/>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5966"/>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3 — getCurrentLocation() Function</a:t>
            </a:r>
            <a:endParaRPr lang="en-US" sz="2200" dirty="0"/>
          </a:p>
        </p:txBody>
      </p:sp>
      <p:sp>
        <p:nvSpPr>
          <p:cNvPr id="6" name="Shape 4"/>
          <p:cNvSpPr/>
          <p:nvPr/>
        </p:nvSpPr>
        <p:spPr>
          <a:xfrm>
            <a:off x="5852160" y="84124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7" name="Shape 5"/>
          <p:cNvSpPr/>
          <p:nvPr/>
        </p:nvSpPr>
        <p:spPr>
          <a:xfrm>
            <a:off x="5888736" y="1005840"/>
            <a:ext cx="384048" cy="384048"/>
          </a:xfrm>
          <a:prstGeom prst="ellipse">
            <a:avLst/>
          </a:prstGeom>
          <a:solidFill>
            <a:srgbClr val="0A7E8C"/>
          </a:solidFill>
          <a:ln/>
        </p:spPr>
        <p:txBody>
          <a:bodyPr/>
          <a:lstStyle/>
          <a:p>
            <a:endParaRPr lang="en-CA"/>
          </a:p>
        </p:txBody>
      </p:sp>
      <p:sp>
        <p:nvSpPr>
          <p:cNvPr id="8" name="Text 6"/>
          <p:cNvSpPr/>
          <p:nvPr/>
        </p:nvSpPr>
        <p:spPr>
          <a:xfrm>
            <a:off x="5888736" y="1024128"/>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1-2</a:t>
            </a:r>
            <a:endParaRPr lang="en-US" sz="1100" dirty="0"/>
          </a:p>
        </p:txBody>
      </p:sp>
      <p:sp>
        <p:nvSpPr>
          <p:cNvPr id="9" name="Text 7"/>
          <p:cNvSpPr/>
          <p:nvPr/>
        </p:nvSpPr>
        <p:spPr>
          <a:xfrm>
            <a:off x="6345936" y="914400"/>
            <a:ext cx="2377440" cy="256032"/>
          </a:xfrm>
          <a:prstGeom prst="rect">
            <a:avLst/>
          </a:prstGeom>
          <a:noFill/>
          <a:ln/>
        </p:spPr>
        <p:txBody>
          <a:bodyPr wrap="square" lIns="0" tIns="0" rIns="0" bIns="0"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Permission first</a:t>
            </a:r>
            <a:endParaRPr lang="en-US" sz="1150" dirty="0"/>
          </a:p>
        </p:txBody>
      </p:sp>
      <p:sp>
        <p:nvSpPr>
          <p:cNvPr id="10" name="Text 8"/>
          <p:cNvSpPr/>
          <p:nvPr/>
        </p:nvSpPr>
        <p:spPr>
          <a:xfrm>
            <a:off x="6345936" y="1188720"/>
            <a:ext cx="237744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Always ask before using GPS. Denied = show Alert and return early.</a:t>
            </a:r>
            <a:endParaRPr lang="en-US" sz="1000" dirty="0"/>
          </a:p>
        </p:txBody>
      </p:sp>
      <p:sp>
        <p:nvSpPr>
          <p:cNvPr id="11" name="Shape 9"/>
          <p:cNvSpPr/>
          <p:nvPr/>
        </p:nvSpPr>
        <p:spPr>
          <a:xfrm>
            <a:off x="5852160" y="189280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2" name="Shape 10"/>
          <p:cNvSpPr/>
          <p:nvPr/>
        </p:nvSpPr>
        <p:spPr>
          <a:xfrm>
            <a:off x="5888736" y="2057400"/>
            <a:ext cx="384048" cy="384048"/>
          </a:xfrm>
          <a:prstGeom prst="ellipse">
            <a:avLst/>
          </a:prstGeom>
          <a:solidFill>
            <a:srgbClr val="0A7E8C"/>
          </a:solidFill>
          <a:ln/>
        </p:spPr>
        <p:txBody>
          <a:bodyPr/>
          <a:lstStyle/>
          <a:p>
            <a:endParaRPr lang="en-CA"/>
          </a:p>
        </p:txBody>
      </p:sp>
      <p:sp>
        <p:nvSpPr>
          <p:cNvPr id="13" name="Text 11"/>
          <p:cNvSpPr/>
          <p:nvPr/>
        </p:nvSpPr>
        <p:spPr>
          <a:xfrm>
            <a:off x="5888736" y="2075688"/>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4" name="Text 12"/>
          <p:cNvSpPr/>
          <p:nvPr/>
        </p:nvSpPr>
        <p:spPr>
          <a:xfrm>
            <a:off x="6345936" y="1965960"/>
            <a:ext cx="2377440" cy="256032"/>
          </a:xfrm>
          <a:prstGeom prst="rect">
            <a:avLst/>
          </a:prstGeom>
          <a:noFill/>
          <a:ln/>
        </p:spPr>
        <p:txBody>
          <a:bodyPr wrap="square" lIns="0" tIns="0" rIns="0" bIns="0"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Get coordinates</a:t>
            </a:r>
            <a:endParaRPr lang="en-US" sz="1150" dirty="0"/>
          </a:p>
        </p:txBody>
      </p:sp>
      <p:sp>
        <p:nvSpPr>
          <p:cNvPr id="15" name="Text 13"/>
          <p:cNvSpPr/>
          <p:nvPr/>
        </p:nvSpPr>
        <p:spPr>
          <a:xfrm>
            <a:off x="6345936" y="2240280"/>
            <a:ext cx="237744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getCurrentPositionAsync with Accuracy.Highest. Takes a moment — that's why we await.</a:t>
            </a:r>
            <a:endParaRPr lang="en-US" sz="1000" dirty="0"/>
          </a:p>
        </p:txBody>
      </p:sp>
      <p:sp>
        <p:nvSpPr>
          <p:cNvPr id="16" name="Shape 14"/>
          <p:cNvSpPr/>
          <p:nvPr/>
        </p:nvSpPr>
        <p:spPr>
          <a:xfrm>
            <a:off x="5852160" y="294436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7" name="Shape 15"/>
          <p:cNvSpPr/>
          <p:nvPr/>
        </p:nvSpPr>
        <p:spPr>
          <a:xfrm>
            <a:off x="5888736" y="3108960"/>
            <a:ext cx="384048" cy="384048"/>
          </a:xfrm>
          <a:prstGeom prst="ellipse">
            <a:avLst/>
          </a:prstGeom>
          <a:solidFill>
            <a:srgbClr val="0A7E8C"/>
          </a:solidFill>
          <a:ln/>
        </p:spPr>
        <p:txBody>
          <a:bodyPr/>
          <a:lstStyle/>
          <a:p>
            <a:endParaRPr lang="en-CA"/>
          </a:p>
        </p:txBody>
      </p:sp>
      <p:sp>
        <p:nvSpPr>
          <p:cNvPr id="18" name="Text 16"/>
          <p:cNvSpPr/>
          <p:nvPr/>
        </p:nvSpPr>
        <p:spPr>
          <a:xfrm>
            <a:off x="5888736" y="3127248"/>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9" name="Text 17"/>
          <p:cNvSpPr/>
          <p:nvPr/>
        </p:nvSpPr>
        <p:spPr>
          <a:xfrm>
            <a:off x="6345936" y="3017520"/>
            <a:ext cx="2377440" cy="256032"/>
          </a:xfrm>
          <a:prstGeom prst="rect">
            <a:avLst/>
          </a:prstGeom>
          <a:noFill/>
          <a:ln/>
        </p:spPr>
        <p:txBody>
          <a:bodyPr wrap="square" lIns="0" tIns="0" rIns="0" bIns="0"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Build Region</a:t>
            </a:r>
            <a:endParaRPr lang="en-US" sz="1150" dirty="0"/>
          </a:p>
        </p:txBody>
      </p:sp>
      <p:sp>
        <p:nvSpPr>
          <p:cNvPr id="20" name="Text 18"/>
          <p:cNvSpPr/>
          <p:nvPr/>
        </p:nvSpPr>
        <p:spPr>
          <a:xfrm>
            <a:off x="6345936" y="3291840"/>
            <a:ext cx="237744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Wrap the GPS coords in a Region object (same format as Week 8).</a:t>
            </a:r>
            <a:endParaRPr lang="en-US" sz="1000" dirty="0"/>
          </a:p>
        </p:txBody>
      </p:sp>
      <p:sp>
        <p:nvSpPr>
          <p:cNvPr id="21" name="Shape 19"/>
          <p:cNvSpPr/>
          <p:nvPr/>
        </p:nvSpPr>
        <p:spPr>
          <a:xfrm>
            <a:off x="5852160" y="399592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2" name="Shape 20"/>
          <p:cNvSpPr/>
          <p:nvPr/>
        </p:nvSpPr>
        <p:spPr>
          <a:xfrm>
            <a:off x="5888736" y="4160520"/>
            <a:ext cx="384048" cy="384048"/>
          </a:xfrm>
          <a:prstGeom prst="ellipse">
            <a:avLst/>
          </a:prstGeom>
          <a:solidFill>
            <a:srgbClr val="0A7E8C"/>
          </a:solidFill>
          <a:ln/>
        </p:spPr>
        <p:txBody>
          <a:bodyPr/>
          <a:lstStyle/>
          <a:p>
            <a:endParaRPr lang="en-CA"/>
          </a:p>
        </p:txBody>
      </p:sp>
      <p:sp>
        <p:nvSpPr>
          <p:cNvPr id="23" name="Text 21"/>
          <p:cNvSpPr/>
          <p:nvPr/>
        </p:nvSpPr>
        <p:spPr>
          <a:xfrm>
            <a:off x="5888736" y="4178808"/>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6-7</a:t>
            </a:r>
            <a:endParaRPr lang="en-US" sz="1100" dirty="0"/>
          </a:p>
        </p:txBody>
      </p:sp>
      <p:sp>
        <p:nvSpPr>
          <p:cNvPr id="24" name="Text 22"/>
          <p:cNvSpPr/>
          <p:nvPr/>
        </p:nvSpPr>
        <p:spPr>
          <a:xfrm>
            <a:off x="6345936" y="4069080"/>
            <a:ext cx="2377440" cy="256032"/>
          </a:xfrm>
          <a:prstGeom prst="rect">
            <a:avLst/>
          </a:prstGeom>
          <a:noFill/>
          <a:ln/>
        </p:spPr>
        <p:txBody>
          <a:bodyPr wrap="square" lIns="0" tIns="0" rIns="0" bIns="0"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Update state &amp; address</a:t>
            </a:r>
            <a:endParaRPr lang="en-US" sz="1150" dirty="0"/>
          </a:p>
        </p:txBody>
      </p:sp>
      <p:sp>
        <p:nvSpPr>
          <p:cNvPr id="25" name="Text 23"/>
          <p:cNvSpPr/>
          <p:nvPr/>
        </p:nvSpPr>
        <p:spPr>
          <a:xfrm>
            <a:off x="6345936" y="4343400"/>
            <a:ext cx="237744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setRegion moves the map. Then call reverseGeocode to get the street address.</a:t>
            </a:r>
            <a:endParaRPr lang="en-US" sz="1000" dirty="0"/>
          </a:p>
        </p:txBody>
      </p:sp>
      <p:pic>
        <p:nvPicPr>
          <p:cNvPr id="27" name="Picture 26">
            <a:extLst>
              <a:ext uri="{FF2B5EF4-FFF2-40B4-BE49-F238E27FC236}">
                <a16:creationId xmlns:a16="http://schemas.microsoft.com/office/drawing/2014/main" id="{A2A83B74-A879-D2C6-2B80-883332C645B7}"/>
              </a:ext>
            </a:extLst>
          </p:cNvPr>
          <p:cNvPicPr>
            <a:picLocks noChangeAspect="1"/>
          </p:cNvPicPr>
          <p:nvPr/>
        </p:nvPicPr>
        <p:blipFill>
          <a:blip r:embed="rId3"/>
          <a:stretch>
            <a:fillRect/>
          </a:stretch>
        </p:blipFill>
        <p:spPr>
          <a:xfrm>
            <a:off x="426398" y="772667"/>
            <a:ext cx="4073031" cy="4278031"/>
          </a:xfrm>
          <a:prstGeom prst="rect">
            <a:avLst/>
          </a:prstGeom>
          <a:ln>
            <a:solidFill>
              <a:schemeClr val="accent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4 — reverseGeocode() Function</a:t>
            </a:r>
            <a:endParaRPr lang="en-US" sz="2200" dirty="0"/>
          </a:p>
        </p:txBody>
      </p:sp>
      <p:sp>
        <p:nvSpPr>
          <p:cNvPr id="6" name="Shape 4"/>
          <p:cNvSpPr/>
          <p:nvPr/>
        </p:nvSpPr>
        <p:spPr>
          <a:xfrm>
            <a:off x="5852160" y="84124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7" name="Image 0" descr="preencoded.png"/>
          <p:cNvPicPr>
            <a:picLocks noChangeAspect="1"/>
          </p:cNvPicPr>
          <p:nvPr/>
        </p:nvPicPr>
        <p:blipFill>
          <a:blip r:embed="rId3"/>
          <a:stretch>
            <a:fillRect/>
          </a:stretch>
        </p:blipFill>
        <p:spPr>
          <a:xfrm>
            <a:off x="5961888" y="969264"/>
            <a:ext cx="320040" cy="320040"/>
          </a:xfrm>
          <a:prstGeom prst="rect">
            <a:avLst/>
          </a:prstGeom>
        </p:spPr>
      </p:pic>
      <p:sp>
        <p:nvSpPr>
          <p:cNvPr id="8" name="Text 5"/>
          <p:cNvSpPr/>
          <p:nvPr/>
        </p:nvSpPr>
        <p:spPr>
          <a:xfrm>
            <a:off x="6364224" y="93268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Takes lat &amp; lng as parameters</a:t>
            </a:r>
            <a:endParaRPr lang="en-US" sz="1100" dirty="0"/>
          </a:p>
        </p:txBody>
      </p:sp>
      <p:sp>
        <p:nvSpPr>
          <p:cNvPr id="9" name="Text 6"/>
          <p:cNvSpPr/>
          <p:nvPr/>
        </p:nvSpPr>
        <p:spPr>
          <a:xfrm>
            <a:off x="5961888" y="131673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Called from getCurrentLocation. We pass the coordinates we just got from GPS.</a:t>
            </a:r>
            <a:endParaRPr lang="en-US" sz="1000" dirty="0"/>
          </a:p>
        </p:txBody>
      </p:sp>
      <p:sp>
        <p:nvSpPr>
          <p:cNvPr id="10" name="Shape 7"/>
          <p:cNvSpPr/>
          <p:nvPr/>
        </p:nvSpPr>
        <p:spPr>
          <a:xfrm>
            <a:off x="5852160" y="189280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1" name="Image 1" descr="preencoded.png"/>
          <p:cNvPicPr>
            <a:picLocks noChangeAspect="1"/>
          </p:cNvPicPr>
          <p:nvPr/>
        </p:nvPicPr>
        <p:blipFill>
          <a:blip r:embed="rId4"/>
          <a:stretch>
            <a:fillRect/>
          </a:stretch>
        </p:blipFill>
        <p:spPr>
          <a:xfrm>
            <a:off x="5961888" y="2020824"/>
            <a:ext cx="320040" cy="320040"/>
          </a:xfrm>
          <a:prstGeom prst="rect">
            <a:avLst/>
          </a:prstGeom>
        </p:spPr>
      </p:pic>
      <p:sp>
        <p:nvSpPr>
          <p:cNvPr id="12" name="Text 8"/>
          <p:cNvSpPr/>
          <p:nvPr/>
        </p:nvSpPr>
        <p:spPr>
          <a:xfrm>
            <a:off x="6364224" y="198424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Returns an array</a:t>
            </a:r>
            <a:endParaRPr lang="en-US" sz="1100" dirty="0"/>
          </a:p>
        </p:txBody>
      </p:sp>
      <p:sp>
        <p:nvSpPr>
          <p:cNvPr id="13" name="Text 9"/>
          <p:cNvSpPr/>
          <p:nvPr/>
        </p:nvSpPr>
        <p:spPr>
          <a:xfrm>
            <a:off x="5961888" y="236829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reverseGeocodeAsync always returns an array. We use result[0] for the first (and usually only) result.</a:t>
            </a:r>
            <a:endParaRPr lang="en-US" sz="1000" dirty="0"/>
          </a:p>
        </p:txBody>
      </p:sp>
      <p:sp>
        <p:nvSpPr>
          <p:cNvPr id="14" name="Shape 10"/>
          <p:cNvSpPr/>
          <p:nvPr/>
        </p:nvSpPr>
        <p:spPr>
          <a:xfrm>
            <a:off x="5852160" y="294436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5" name="Image 2" descr="preencoded.png"/>
          <p:cNvPicPr>
            <a:picLocks noChangeAspect="1"/>
          </p:cNvPicPr>
          <p:nvPr/>
        </p:nvPicPr>
        <p:blipFill>
          <a:blip r:embed="rId5"/>
          <a:stretch>
            <a:fillRect/>
          </a:stretch>
        </p:blipFill>
        <p:spPr>
          <a:xfrm>
            <a:off x="5961888" y="3072384"/>
            <a:ext cx="320040" cy="320040"/>
          </a:xfrm>
          <a:prstGeom prst="rect">
            <a:avLst/>
          </a:prstGeom>
        </p:spPr>
      </p:pic>
      <p:sp>
        <p:nvSpPr>
          <p:cNvPr id="16" name="Text 11"/>
          <p:cNvSpPr/>
          <p:nvPr/>
        </p:nvSpPr>
        <p:spPr>
          <a:xfrm>
            <a:off x="6364224" y="303580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result.length &gt; 0 check</a:t>
            </a:r>
            <a:endParaRPr lang="en-US" sz="1100" dirty="0"/>
          </a:p>
        </p:txBody>
      </p:sp>
      <p:sp>
        <p:nvSpPr>
          <p:cNvPr id="17" name="Text 12"/>
          <p:cNvSpPr/>
          <p:nvPr/>
        </p:nvSpPr>
        <p:spPr>
          <a:xfrm>
            <a:off x="5961888" y="341985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If the coordinates can't be resolved to an address, the array comes back empty. Always check before using result[0].</a:t>
            </a:r>
            <a:endParaRPr lang="en-US" sz="1000" dirty="0"/>
          </a:p>
        </p:txBody>
      </p:sp>
      <p:sp>
        <p:nvSpPr>
          <p:cNvPr id="18" name="Shape 13"/>
          <p:cNvSpPr/>
          <p:nvPr/>
        </p:nvSpPr>
        <p:spPr>
          <a:xfrm>
            <a:off x="5852160" y="399592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9" name="Image 3" descr="preencoded.png"/>
          <p:cNvPicPr>
            <a:picLocks noChangeAspect="1"/>
          </p:cNvPicPr>
          <p:nvPr/>
        </p:nvPicPr>
        <p:blipFill>
          <a:blip r:embed="rId6"/>
          <a:stretch>
            <a:fillRect/>
          </a:stretch>
        </p:blipFill>
        <p:spPr>
          <a:xfrm>
            <a:off x="5961888" y="4123944"/>
            <a:ext cx="320040" cy="320040"/>
          </a:xfrm>
          <a:prstGeom prst="rect">
            <a:avLst/>
          </a:prstGeom>
        </p:spPr>
      </p:pic>
      <p:sp>
        <p:nvSpPr>
          <p:cNvPr id="20" name="Text 14"/>
          <p:cNvSpPr/>
          <p:nvPr/>
        </p:nvSpPr>
        <p:spPr>
          <a:xfrm>
            <a:off x="6364224" y="408736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formattedAddress + ""</a:t>
            </a:r>
            <a:endParaRPr lang="en-US" sz="1100" dirty="0"/>
          </a:p>
        </p:txBody>
      </p:sp>
      <p:sp>
        <p:nvSpPr>
          <p:cNvPr id="21" name="Text 15"/>
          <p:cNvSpPr/>
          <p:nvPr/>
        </p:nvSpPr>
        <p:spPr>
          <a:xfrm>
            <a:off x="5961888" y="447141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 "" converts the value to a string safely — formattedAddress can sometimes be null on iOS.</a:t>
            </a:r>
            <a:endParaRPr lang="en-US" sz="1000" dirty="0"/>
          </a:p>
        </p:txBody>
      </p:sp>
      <p:pic>
        <p:nvPicPr>
          <p:cNvPr id="23" name="Picture 22">
            <a:extLst>
              <a:ext uri="{FF2B5EF4-FFF2-40B4-BE49-F238E27FC236}">
                <a16:creationId xmlns:a16="http://schemas.microsoft.com/office/drawing/2014/main" id="{1D931205-631D-1E9E-E75B-E27ADD51491D}"/>
              </a:ext>
            </a:extLst>
          </p:cNvPr>
          <p:cNvPicPr>
            <a:picLocks noChangeAspect="1"/>
          </p:cNvPicPr>
          <p:nvPr/>
        </p:nvPicPr>
        <p:blipFill>
          <a:blip r:embed="rId7"/>
          <a:stretch>
            <a:fillRect/>
          </a:stretch>
        </p:blipFill>
        <p:spPr>
          <a:xfrm>
            <a:off x="571084" y="838962"/>
            <a:ext cx="4400792" cy="4212009"/>
          </a:xfrm>
          <a:prstGeom prst="rect">
            <a:avLst/>
          </a:prstGeom>
          <a:ln>
            <a:solidFill>
              <a:schemeClr val="accent1"/>
            </a:solid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5 — forwardGeocoding() Function</a:t>
            </a:r>
            <a:endParaRPr lang="en-US" sz="2200" dirty="0"/>
          </a:p>
        </p:txBody>
      </p:sp>
      <p:sp>
        <p:nvSpPr>
          <p:cNvPr id="6" name="Shape 4"/>
          <p:cNvSpPr/>
          <p:nvPr/>
        </p:nvSpPr>
        <p:spPr>
          <a:xfrm>
            <a:off x="5852160" y="84124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7" name="Image 0" descr="preencoded.png"/>
          <p:cNvPicPr>
            <a:picLocks noChangeAspect="1"/>
          </p:cNvPicPr>
          <p:nvPr/>
        </p:nvPicPr>
        <p:blipFill>
          <a:blip r:embed="rId3"/>
          <a:stretch>
            <a:fillRect/>
          </a:stretch>
        </p:blipFill>
        <p:spPr>
          <a:xfrm>
            <a:off x="5961888" y="969264"/>
            <a:ext cx="320040" cy="320040"/>
          </a:xfrm>
          <a:prstGeom prst="rect">
            <a:avLst/>
          </a:prstGeom>
        </p:spPr>
      </p:pic>
      <p:sp>
        <p:nvSpPr>
          <p:cNvPr id="8" name="Text 5"/>
          <p:cNvSpPr/>
          <p:nvPr/>
        </p:nvSpPr>
        <p:spPr>
          <a:xfrm>
            <a:off x="6364224" y="93268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Uses address state</a:t>
            </a:r>
            <a:endParaRPr lang="en-US" sz="1100" dirty="0"/>
          </a:p>
        </p:txBody>
      </p:sp>
      <p:sp>
        <p:nvSpPr>
          <p:cNvPr id="9" name="Text 6"/>
          <p:cNvSpPr/>
          <p:nvPr/>
        </p:nvSpPr>
        <p:spPr>
          <a:xfrm>
            <a:off x="5961888" y="131673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address is what the user typed in the TextInput. It's passed directly to geocodeAsync().</a:t>
            </a:r>
            <a:endParaRPr lang="en-US" sz="1000" dirty="0"/>
          </a:p>
        </p:txBody>
      </p:sp>
      <p:sp>
        <p:nvSpPr>
          <p:cNvPr id="10" name="Shape 7"/>
          <p:cNvSpPr/>
          <p:nvPr/>
        </p:nvSpPr>
        <p:spPr>
          <a:xfrm>
            <a:off x="5852160" y="189280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1" name="Image 1" descr="preencoded.png"/>
          <p:cNvPicPr>
            <a:picLocks noChangeAspect="1"/>
          </p:cNvPicPr>
          <p:nvPr/>
        </p:nvPicPr>
        <p:blipFill>
          <a:blip r:embed="rId4"/>
          <a:stretch>
            <a:fillRect/>
          </a:stretch>
        </p:blipFill>
        <p:spPr>
          <a:xfrm>
            <a:off x="5961888" y="2020824"/>
            <a:ext cx="320040" cy="320040"/>
          </a:xfrm>
          <a:prstGeom prst="rect">
            <a:avLst/>
          </a:prstGeom>
        </p:spPr>
      </p:pic>
      <p:sp>
        <p:nvSpPr>
          <p:cNvPr id="12" name="Text 8"/>
          <p:cNvSpPr/>
          <p:nvPr/>
        </p:nvSpPr>
        <p:spPr>
          <a:xfrm>
            <a:off x="6364224" y="198424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Check for empty result</a:t>
            </a:r>
            <a:endParaRPr lang="en-US" sz="1100" dirty="0"/>
          </a:p>
        </p:txBody>
      </p:sp>
      <p:sp>
        <p:nvSpPr>
          <p:cNvPr id="13" name="Text 9"/>
          <p:cNvSpPr/>
          <p:nvPr/>
        </p:nvSpPr>
        <p:spPr>
          <a:xfrm>
            <a:off x="5961888" y="236829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If the address isn't recognized, result is an empty array. result.length === 0 catches this — show Alert and return.</a:t>
            </a:r>
            <a:endParaRPr lang="en-US" sz="1000" dirty="0"/>
          </a:p>
        </p:txBody>
      </p:sp>
      <p:sp>
        <p:nvSpPr>
          <p:cNvPr id="14" name="Shape 10"/>
          <p:cNvSpPr/>
          <p:nvPr/>
        </p:nvSpPr>
        <p:spPr>
          <a:xfrm>
            <a:off x="5852160" y="294436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5" name="Image 2" descr="preencoded.png"/>
          <p:cNvPicPr>
            <a:picLocks noChangeAspect="1"/>
          </p:cNvPicPr>
          <p:nvPr/>
        </p:nvPicPr>
        <p:blipFill>
          <a:blip r:embed="rId5"/>
          <a:stretch>
            <a:fillRect/>
          </a:stretch>
        </p:blipFill>
        <p:spPr>
          <a:xfrm>
            <a:off x="5961888" y="3072384"/>
            <a:ext cx="320040" cy="320040"/>
          </a:xfrm>
          <a:prstGeom prst="rect">
            <a:avLst/>
          </a:prstGeom>
        </p:spPr>
      </p:pic>
      <p:sp>
        <p:nvSpPr>
          <p:cNvPr id="16" name="Text 11"/>
          <p:cNvSpPr/>
          <p:nvPr/>
        </p:nvSpPr>
        <p:spPr>
          <a:xfrm>
            <a:off x="6364224" y="303580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Shows coords as address</a:t>
            </a:r>
            <a:endParaRPr lang="en-US" sz="1100" dirty="0"/>
          </a:p>
        </p:txBody>
      </p:sp>
      <p:sp>
        <p:nvSpPr>
          <p:cNvPr id="17" name="Text 12"/>
          <p:cNvSpPr/>
          <p:nvPr/>
        </p:nvSpPr>
        <p:spPr>
          <a:xfrm>
            <a:off x="5961888" y="341985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Unlike reverseGeocode, this sets currentAddress to the lat/lng numbers, not a street address.</a:t>
            </a:r>
            <a:endParaRPr lang="en-US" sz="1000" dirty="0"/>
          </a:p>
        </p:txBody>
      </p:sp>
      <p:sp>
        <p:nvSpPr>
          <p:cNvPr id="18" name="Shape 13"/>
          <p:cNvSpPr/>
          <p:nvPr/>
        </p:nvSpPr>
        <p:spPr>
          <a:xfrm>
            <a:off x="5852160" y="3995928"/>
            <a:ext cx="292608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9" name="Image 3" descr="preencoded.png"/>
          <p:cNvPicPr>
            <a:picLocks noChangeAspect="1"/>
          </p:cNvPicPr>
          <p:nvPr/>
        </p:nvPicPr>
        <p:blipFill>
          <a:blip r:embed="rId6"/>
          <a:stretch>
            <a:fillRect/>
          </a:stretch>
        </p:blipFill>
        <p:spPr>
          <a:xfrm>
            <a:off x="5961888" y="4123944"/>
            <a:ext cx="320040" cy="320040"/>
          </a:xfrm>
          <a:prstGeom prst="rect">
            <a:avLst/>
          </a:prstGeom>
        </p:spPr>
      </p:pic>
      <p:sp>
        <p:nvSpPr>
          <p:cNvPr id="20" name="Text 14"/>
          <p:cNvSpPr/>
          <p:nvPr/>
        </p:nvSpPr>
        <p:spPr>
          <a:xfrm>
            <a:off x="6364224" y="4087368"/>
            <a:ext cx="233172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Template literal string</a:t>
            </a:r>
            <a:endParaRPr lang="en-US" sz="1100" dirty="0"/>
          </a:p>
        </p:txBody>
      </p:sp>
      <p:sp>
        <p:nvSpPr>
          <p:cNvPr id="21" name="Text 15"/>
          <p:cNvSpPr/>
          <p:nvPr/>
        </p:nvSpPr>
        <p:spPr>
          <a:xfrm>
            <a:off x="5961888" y="4471416"/>
            <a:ext cx="274320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`${lat} , ${lng}` — backtick string with variables embedded using ${}. Shows something like "43.64272 , -79.38705".</a:t>
            </a:r>
            <a:endParaRPr lang="en-US" sz="1000" dirty="0"/>
          </a:p>
        </p:txBody>
      </p:sp>
      <p:pic>
        <p:nvPicPr>
          <p:cNvPr id="23" name="Picture 22">
            <a:extLst>
              <a:ext uri="{FF2B5EF4-FFF2-40B4-BE49-F238E27FC236}">
                <a16:creationId xmlns:a16="http://schemas.microsoft.com/office/drawing/2014/main" id="{64A1D1EB-989E-024B-874B-6F94CF9CE93D}"/>
              </a:ext>
            </a:extLst>
          </p:cNvPr>
          <p:cNvPicPr>
            <a:picLocks noChangeAspect="1"/>
          </p:cNvPicPr>
          <p:nvPr/>
        </p:nvPicPr>
        <p:blipFill>
          <a:blip r:embed="rId7"/>
          <a:stretch>
            <a:fillRect/>
          </a:stretch>
        </p:blipFill>
        <p:spPr>
          <a:xfrm>
            <a:off x="413363" y="792045"/>
            <a:ext cx="3451155" cy="4273441"/>
          </a:xfrm>
          <a:prstGeom prst="rect">
            <a:avLst/>
          </a:prstGeom>
          <a:ln>
            <a:solidFill>
              <a:schemeClr val="accent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39634" y="27432"/>
            <a:ext cx="8412480" cy="456039"/>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451"/>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6 — The JSX Return</a:t>
            </a:r>
            <a:endParaRPr lang="en-US" sz="2200" dirty="0"/>
          </a:p>
        </p:txBody>
      </p:sp>
      <p:sp>
        <p:nvSpPr>
          <p:cNvPr id="6" name="Shape 4"/>
          <p:cNvSpPr/>
          <p:nvPr/>
        </p:nvSpPr>
        <p:spPr>
          <a:xfrm>
            <a:off x="6126480" y="841248"/>
            <a:ext cx="265176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7" name="Image 0" descr="preencoded.png"/>
          <p:cNvPicPr>
            <a:picLocks noChangeAspect="1"/>
          </p:cNvPicPr>
          <p:nvPr/>
        </p:nvPicPr>
        <p:blipFill>
          <a:blip r:embed="rId3"/>
          <a:stretch>
            <a:fillRect/>
          </a:stretch>
        </p:blipFill>
        <p:spPr>
          <a:xfrm>
            <a:off x="6236208" y="969264"/>
            <a:ext cx="320040" cy="320040"/>
          </a:xfrm>
          <a:prstGeom prst="rect">
            <a:avLst/>
          </a:prstGeom>
        </p:spPr>
      </p:pic>
      <p:sp>
        <p:nvSpPr>
          <p:cNvPr id="8" name="Text 5"/>
          <p:cNvSpPr/>
          <p:nvPr/>
        </p:nvSpPr>
        <p:spPr>
          <a:xfrm>
            <a:off x="6638544" y="932688"/>
            <a:ext cx="205740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TextInput</a:t>
            </a:r>
            <a:endParaRPr lang="en-US" sz="1100" dirty="0"/>
          </a:p>
        </p:txBody>
      </p:sp>
      <p:sp>
        <p:nvSpPr>
          <p:cNvPr id="9" name="Text 6"/>
          <p:cNvSpPr/>
          <p:nvPr/>
        </p:nvSpPr>
        <p:spPr>
          <a:xfrm>
            <a:off x="6236208" y="1316736"/>
            <a:ext cx="2487168" cy="3840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value={address} shows the current value. onChangeText={setAddress} updates state on every keystroke.</a:t>
            </a:r>
            <a:endParaRPr lang="en-US" sz="1000" dirty="0"/>
          </a:p>
        </p:txBody>
      </p:sp>
      <p:sp>
        <p:nvSpPr>
          <p:cNvPr id="10" name="Shape 7"/>
          <p:cNvSpPr/>
          <p:nvPr/>
        </p:nvSpPr>
        <p:spPr>
          <a:xfrm>
            <a:off x="6126480" y="1892808"/>
            <a:ext cx="265176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1" name="Image 1" descr="preencoded.png"/>
          <p:cNvPicPr>
            <a:picLocks noChangeAspect="1"/>
          </p:cNvPicPr>
          <p:nvPr/>
        </p:nvPicPr>
        <p:blipFill>
          <a:blip r:embed="rId4"/>
          <a:stretch>
            <a:fillRect/>
          </a:stretch>
        </p:blipFill>
        <p:spPr>
          <a:xfrm>
            <a:off x="6236208" y="2020824"/>
            <a:ext cx="320040" cy="320040"/>
          </a:xfrm>
          <a:prstGeom prst="rect">
            <a:avLst/>
          </a:prstGeom>
        </p:spPr>
      </p:pic>
      <p:sp>
        <p:nvSpPr>
          <p:cNvPr id="12" name="Text 8"/>
          <p:cNvSpPr/>
          <p:nvPr/>
        </p:nvSpPr>
        <p:spPr>
          <a:xfrm>
            <a:off x="6638544" y="1984248"/>
            <a:ext cx="205740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Conditional rendering</a:t>
            </a:r>
            <a:endParaRPr lang="en-US" sz="1100" dirty="0"/>
          </a:p>
        </p:txBody>
      </p:sp>
      <p:sp>
        <p:nvSpPr>
          <p:cNvPr id="13" name="Text 9"/>
          <p:cNvSpPr/>
          <p:nvPr/>
        </p:nvSpPr>
        <p:spPr>
          <a:xfrm>
            <a:off x="6236208" y="2368296"/>
            <a:ext cx="2487168" cy="3840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currentAddress !== '' &amp;&amp; (...) — only renders the Text if there is an address. region &amp;&amp; (...) — only renders the map if region is not null.</a:t>
            </a:r>
            <a:endParaRPr lang="en-US" sz="1000" dirty="0"/>
          </a:p>
        </p:txBody>
      </p:sp>
      <p:sp>
        <p:nvSpPr>
          <p:cNvPr id="14" name="Shape 10"/>
          <p:cNvSpPr/>
          <p:nvPr/>
        </p:nvSpPr>
        <p:spPr>
          <a:xfrm>
            <a:off x="6126480" y="2944368"/>
            <a:ext cx="265176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5" name="Image 2" descr="preencoded.png"/>
          <p:cNvPicPr>
            <a:picLocks noChangeAspect="1"/>
          </p:cNvPicPr>
          <p:nvPr/>
        </p:nvPicPr>
        <p:blipFill>
          <a:blip r:embed="rId5"/>
          <a:stretch>
            <a:fillRect/>
          </a:stretch>
        </p:blipFill>
        <p:spPr>
          <a:xfrm>
            <a:off x="6236208" y="3072384"/>
            <a:ext cx="320040" cy="320040"/>
          </a:xfrm>
          <a:prstGeom prst="rect">
            <a:avLst/>
          </a:prstGeom>
        </p:spPr>
      </p:pic>
      <p:sp>
        <p:nvSpPr>
          <p:cNvPr id="16" name="Text 11"/>
          <p:cNvSpPr/>
          <p:nvPr/>
        </p:nvSpPr>
        <p:spPr>
          <a:xfrm>
            <a:off x="6638544" y="3035808"/>
            <a:ext cx="205740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region={region} not initialRegion</a:t>
            </a:r>
            <a:endParaRPr lang="en-US" sz="1100" dirty="0"/>
          </a:p>
        </p:txBody>
      </p:sp>
      <p:sp>
        <p:nvSpPr>
          <p:cNvPr id="17" name="Text 12"/>
          <p:cNvSpPr/>
          <p:nvPr/>
        </p:nvSpPr>
        <p:spPr>
          <a:xfrm>
            <a:off x="6236208" y="3419856"/>
            <a:ext cx="2487168" cy="3840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map is controlled by state. Every time setRegion is called the map moves to the new location automatically.</a:t>
            </a:r>
            <a:endParaRPr lang="en-US" sz="1000" dirty="0"/>
          </a:p>
        </p:txBody>
      </p:sp>
      <p:sp>
        <p:nvSpPr>
          <p:cNvPr id="18" name="Shape 13"/>
          <p:cNvSpPr/>
          <p:nvPr/>
        </p:nvSpPr>
        <p:spPr>
          <a:xfrm>
            <a:off x="6126480" y="3995928"/>
            <a:ext cx="2651760" cy="896112"/>
          </a:xfrm>
          <a:prstGeom prst="roundRect">
            <a:avLst>
              <a:gd name="adj" fmla="val 8163"/>
            </a:avLst>
          </a:prstGeom>
          <a:solidFill>
            <a:srgbClr val="FFFFFF"/>
          </a:solidFill>
          <a:ln/>
          <a:effectLst>
            <a:outerShdw blurRad="101600" dist="38100" dir="2700000" algn="bl" rotWithShape="0">
              <a:srgbClr val="000000">
                <a:alpha val="18000"/>
              </a:srgbClr>
            </a:outerShdw>
          </a:effectLst>
        </p:spPr>
        <p:txBody>
          <a:bodyPr/>
          <a:lstStyle/>
          <a:p>
            <a:endParaRPr lang="en-CA"/>
          </a:p>
        </p:txBody>
      </p:sp>
      <p:pic>
        <p:nvPicPr>
          <p:cNvPr id="19" name="Image 3" descr="preencoded.png"/>
          <p:cNvPicPr>
            <a:picLocks noChangeAspect="1"/>
          </p:cNvPicPr>
          <p:nvPr/>
        </p:nvPicPr>
        <p:blipFill>
          <a:blip r:embed="rId6"/>
          <a:stretch>
            <a:fillRect/>
          </a:stretch>
        </p:blipFill>
        <p:spPr>
          <a:xfrm>
            <a:off x="6236208" y="4123944"/>
            <a:ext cx="320040" cy="320040"/>
          </a:xfrm>
          <a:prstGeom prst="rect">
            <a:avLst/>
          </a:prstGeom>
        </p:spPr>
      </p:pic>
      <p:sp>
        <p:nvSpPr>
          <p:cNvPr id="20" name="Text 14"/>
          <p:cNvSpPr/>
          <p:nvPr/>
        </p:nvSpPr>
        <p:spPr>
          <a:xfrm>
            <a:off x="6638544" y="4087368"/>
            <a:ext cx="2057400" cy="274320"/>
          </a:xfrm>
          <a:prstGeom prst="rect">
            <a:avLst/>
          </a:prstGeom>
          <a:noFill/>
          <a:ln/>
        </p:spPr>
        <p:txBody>
          <a:bodyPr wrap="square" lIns="0" tIns="0" rIns="0" bIns="0"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Marker description</a:t>
            </a:r>
            <a:endParaRPr lang="en-US" sz="1100" dirty="0"/>
          </a:p>
        </p:txBody>
      </p:sp>
      <p:sp>
        <p:nvSpPr>
          <p:cNvPr id="21" name="Text 15"/>
          <p:cNvSpPr/>
          <p:nvPr/>
        </p:nvSpPr>
        <p:spPr>
          <a:xfrm>
            <a:off x="6236208" y="4471416"/>
            <a:ext cx="2487168" cy="38404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description={currentAddress} shows the address as a popup when the pin is tapped.</a:t>
            </a:r>
            <a:endParaRPr lang="en-US" sz="1000" dirty="0"/>
          </a:p>
        </p:txBody>
      </p:sp>
      <p:pic>
        <p:nvPicPr>
          <p:cNvPr id="23" name="Picture 22">
            <a:extLst>
              <a:ext uri="{FF2B5EF4-FFF2-40B4-BE49-F238E27FC236}">
                <a16:creationId xmlns:a16="http://schemas.microsoft.com/office/drawing/2014/main" id="{5520D970-9C27-E174-EB6E-93F67FF48472}"/>
              </a:ext>
            </a:extLst>
          </p:cNvPr>
          <p:cNvPicPr>
            <a:picLocks noChangeAspect="1"/>
          </p:cNvPicPr>
          <p:nvPr/>
        </p:nvPicPr>
        <p:blipFill>
          <a:blip r:embed="rId7"/>
          <a:stretch>
            <a:fillRect/>
          </a:stretch>
        </p:blipFill>
        <p:spPr>
          <a:xfrm>
            <a:off x="387821" y="598875"/>
            <a:ext cx="3626395" cy="4380089"/>
          </a:xfrm>
          <a:prstGeom prst="rect">
            <a:avLst/>
          </a:prstGeom>
          <a:ln>
            <a:solidFill>
              <a:schemeClr val="accent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Step 7 — StyleSheet</a:t>
            </a:r>
            <a:endParaRPr lang="en-US" sz="2200" dirty="0"/>
          </a:p>
        </p:txBody>
      </p:sp>
      <p:sp>
        <p:nvSpPr>
          <p:cNvPr id="6" name="Shape 4"/>
          <p:cNvSpPr/>
          <p:nvPr/>
        </p:nvSpPr>
        <p:spPr>
          <a:xfrm>
            <a:off x="5577840" y="841248"/>
            <a:ext cx="3200400" cy="713232"/>
          </a:xfrm>
          <a:prstGeom prst="roundRect">
            <a:avLst>
              <a:gd name="adj" fmla="val 1025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7" name="Text 5"/>
          <p:cNvSpPr/>
          <p:nvPr/>
        </p:nvSpPr>
        <p:spPr>
          <a:xfrm>
            <a:off x="5687568" y="896112"/>
            <a:ext cx="2926080" cy="237744"/>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container</a:t>
            </a:r>
            <a:endParaRPr lang="en-US" sz="1100" dirty="0"/>
          </a:p>
        </p:txBody>
      </p:sp>
      <p:sp>
        <p:nvSpPr>
          <p:cNvPr id="8" name="Text 6"/>
          <p:cNvSpPr/>
          <p:nvPr/>
        </p:nvSpPr>
        <p:spPr>
          <a:xfrm>
            <a:off x="5687568" y="1170432"/>
            <a:ext cx="2944368" cy="32918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alignItems: 'center' centres everything horizontally. No justifyContent so content stacks from top.</a:t>
            </a:r>
            <a:endParaRPr lang="en-US" sz="1000" dirty="0"/>
          </a:p>
        </p:txBody>
      </p:sp>
      <p:sp>
        <p:nvSpPr>
          <p:cNvPr id="9" name="Shape 7"/>
          <p:cNvSpPr/>
          <p:nvPr/>
        </p:nvSpPr>
        <p:spPr>
          <a:xfrm>
            <a:off x="5577840" y="1664208"/>
            <a:ext cx="3200400" cy="713232"/>
          </a:xfrm>
          <a:prstGeom prst="roundRect">
            <a:avLst>
              <a:gd name="adj" fmla="val 1025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0" name="Text 8"/>
          <p:cNvSpPr/>
          <p:nvPr/>
        </p:nvSpPr>
        <p:spPr>
          <a:xfrm>
            <a:off x="5687568" y="1719072"/>
            <a:ext cx="2926080" cy="237744"/>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input</a:t>
            </a:r>
            <a:endParaRPr lang="en-US" sz="1100" dirty="0"/>
          </a:p>
        </p:txBody>
      </p:sp>
      <p:sp>
        <p:nvSpPr>
          <p:cNvPr id="11" name="Text 9"/>
          <p:cNvSpPr/>
          <p:nvPr/>
        </p:nvSpPr>
        <p:spPr>
          <a:xfrm>
            <a:off x="5687568" y="1993392"/>
            <a:ext cx="2944368" cy="32918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borderWidth + borderColor gives the outlined look. width: '100%' stretches to full container width.</a:t>
            </a:r>
            <a:endParaRPr lang="en-US" sz="1000" dirty="0"/>
          </a:p>
        </p:txBody>
      </p:sp>
      <p:sp>
        <p:nvSpPr>
          <p:cNvPr id="12" name="Shape 10"/>
          <p:cNvSpPr/>
          <p:nvPr/>
        </p:nvSpPr>
        <p:spPr>
          <a:xfrm>
            <a:off x="5577840" y="2487168"/>
            <a:ext cx="3200400" cy="713232"/>
          </a:xfrm>
          <a:prstGeom prst="roundRect">
            <a:avLst>
              <a:gd name="adj" fmla="val 1025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3" name="Text 11"/>
          <p:cNvSpPr/>
          <p:nvPr/>
        </p:nvSpPr>
        <p:spPr>
          <a:xfrm>
            <a:off x="5687568" y="2542032"/>
            <a:ext cx="2926080" cy="237744"/>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button</a:t>
            </a:r>
            <a:endParaRPr lang="en-US" sz="1100" dirty="0"/>
          </a:p>
        </p:txBody>
      </p:sp>
      <p:sp>
        <p:nvSpPr>
          <p:cNvPr id="14" name="Text 12"/>
          <p:cNvSpPr/>
          <p:nvPr/>
        </p:nvSpPr>
        <p:spPr>
          <a:xfrm>
            <a:off x="5687568" y="2816352"/>
            <a:ext cx="2944368" cy="32918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borderRadius: 25 makes the pill shape. width: '80%' so it doesn't reach the edges.</a:t>
            </a:r>
            <a:endParaRPr lang="en-US" sz="1000" dirty="0"/>
          </a:p>
        </p:txBody>
      </p:sp>
      <p:sp>
        <p:nvSpPr>
          <p:cNvPr id="15" name="Shape 13"/>
          <p:cNvSpPr/>
          <p:nvPr/>
        </p:nvSpPr>
        <p:spPr>
          <a:xfrm>
            <a:off x="5577840" y="3310128"/>
            <a:ext cx="3200400" cy="713232"/>
          </a:xfrm>
          <a:prstGeom prst="roundRect">
            <a:avLst>
              <a:gd name="adj" fmla="val 1025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6" name="Text 14"/>
          <p:cNvSpPr/>
          <p:nvPr/>
        </p:nvSpPr>
        <p:spPr>
          <a:xfrm>
            <a:off x="5687568" y="3364992"/>
            <a:ext cx="2926080" cy="237744"/>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map</a:t>
            </a:r>
            <a:endParaRPr lang="en-US" sz="1100" dirty="0"/>
          </a:p>
        </p:txBody>
      </p:sp>
      <p:sp>
        <p:nvSpPr>
          <p:cNvPr id="17" name="Text 15"/>
          <p:cNvSpPr/>
          <p:nvPr/>
        </p:nvSpPr>
        <p:spPr>
          <a:xfrm>
            <a:off x="5687568" y="3639312"/>
            <a:ext cx="2944368" cy="32918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flex: 1 + width/height 100% fills all remaining space below the buttons. Same idea as Week 8.</a:t>
            </a:r>
            <a:endParaRPr lang="en-US" sz="1000" dirty="0"/>
          </a:p>
        </p:txBody>
      </p:sp>
      <p:sp>
        <p:nvSpPr>
          <p:cNvPr id="18" name="Shape 16"/>
          <p:cNvSpPr/>
          <p:nvPr/>
        </p:nvSpPr>
        <p:spPr>
          <a:xfrm>
            <a:off x="5577840" y="4133088"/>
            <a:ext cx="3200400" cy="713232"/>
          </a:xfrm>
          <a:prstGeom prst="roundRect">
            <a:avLst>
              <a:gd name="adj" fmla="val 10256"/>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9" name="Text 17"/>
          <p:cNvSpPr/>
          <p:nvPr/>
        </p:nvSpPr>
        <p:spPr>
          <a:xfrm>
            <a:off x="5687568" y="4187952"/>
            <a:ext cx="2926080" cy="237744"/>
          </a:xfrm>
          <a:prstGeom prst="rect">
            <a:avLst/>
          </a:prstGeom>
          <a:noFill/>
          <a:ln/>
        </p:spPr>
        <p:txBody>
          <a:bodyPr wrap="square" lIns="0" tIns="0" rIns="0" bIns="0" rtlCol="0" anchor="ctr"/>
          <a:lstStyle/>
          <a:p>
            <a:pPr marL="0" indent="0">
              <a:buNone/>
            </a:pPr>
            <a:r>
              <a:rPr lang="en-US" sz="1100" b="1" dirty="0">
                <a:solidFill>
                  <a:srgbClr val="0A7E8C"/>
                </a:solidFill>
                <a:latin typeface="Courier New" pitchFamily="34" charset="0"/>
                <a:ea typeface="Courier New" pitchFamily="34" charset="-122"/>
                <a:cs typeface="Courier New" pitchFamily="34" charset="-120"/>
              </a:rPr>
              <a:t>textAddress</a:t>
            </a:r>
            <a:endParaRPr lang="en-US" sz="1100" dirty="0"/>
          </a:p>
        </p:txBody>
      </p:sp>
      <p:sp>
        <p:nvSpPr>
          <p:cNvPr id="20" name="Text 18"/>
          <p:cNvSpPr/>
          <p:nvPr/>
        </p:nvSpPr>
        <p:spPr>
          <a:xfrm>
            <a:off x="5687568" y="4462272"/>
            <a:ext cx="2944368" cy="329184"/>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Orange colour to make the address stand out. Shown conditionally — only appears when there is an address.</a:t>
            </a:r>
            <a:endParaRPr lang="en-US" sz="1000" dirty="0"/>
          </a:p>
        </p:txBody>
      </p:sp>
      <p:pic>
        <p:nvPicPr>
          <p:cNvPr id="22" name="Picture 21">
            <a:extLst>
              <a:ext uri="{FF2B5EF4-FFF2-40B4-BE49-F238E27FC236}">
                <a16:creationId xmlns:a16="http://schemas.microsoft.com/office/drawing/2014/main" id="{4C8A1736-DF77-4938-335B-C684B957506F}"/>
              </a:ext>
            </a:extLst>
          </p:cNvPr>
          <p:cNvPicPr>
            <a:picLocks noChangeAspect="1"/>
          </p:cNvPicPr>
          <p:nvPr/>
        </p:nvPicPr>
        <p:blipFill>
          <a:blip r:embed="rId3"/>
          <a:stretch>
            <a:fillRect/>
          </a:stretch>
        </p:blipFill>
        <p:spPr>
          <a:xfrm>
            <a:off x="266280" y="757065"/>
            <a:ext cx="2360982" cy="4230551"/>
          </a:xfrm>
          <a:prstGeom prst="rect">
            <a:avLst/>
          </a:prstGeom>
          <a:ln>
            <a:solidFill>
              <a:schemeClr val="accent1"/>
            </a:solidFill>
          </a:ln>
        </p:spPr>
      </p:pic>
      <p:pic>
        <p:nvPicPr>
          <p:cNvPr id="24" name="Picture 23">
            <a:extLst>
              <a:ext uri="{FF2B5EF4-FFF2-40B4-BE49-F238E27FC236}">
                <a16:creationId xmlns:a16="http://schemas.microsoft.com/office/drawing/2014/main" id="{45CEA036-36C0-66FF-D23F-732953C99BB0}"/>
              </a:ext>
            </a:extLst>
          </p:cNvPr>
          <p:cNvPicPr>
            <a:picLocks noChangeAspect="1"/>
          </p:cNvPicPr>
          <p:nvPr/>
        </p:nvPicPr>
        <p:blipFill>
          <a:blip r:embed="rId4"/>
          <a:stretch>
            <a:fillRect/>
          </a:stretch>
        </p:blipFill>
        <p:spPr>
          <a:xfrm>
            <a:off x="2851415" y="811566"/>
            <a:ext cx="1429491" cy="1815011"/>
          </a:xfrm>
          <a:prstGeom prst="rect">
            <a:avLst/>
          </a:prstGeom>
          <a:ln>
            <a:solidFill>
              <a:schemeClr val="accent1"/>
            </a:solid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5706AB-DCD9-C298-9770-B09543DE704C}"/>
              </a:ext>
            </a:extLst>
          </p:cNvPr>
          <p:cNvPicPr>
            <a:picLocks noChangeAspect="1"/>
          </p:cNvPicPr>
          <p:nvPr/>
        </p:nvPicPr>
        <p:blipFill>
          <a:blip r:embed="rId2"/>
          <a:stretch>
            <a:fillRect/>
          </a:stretch>
        </p:blipFill>
        <p:spPr>
          <a:xfrm>
            <a:off x="4147186" y="1314441"/>
            <a:ext cx="4249571" cy="1552130"/>
          </a:xfrm>
          <a:prstGeom prst="rect">
            <a:avLst/>
          </a:prstGeom>
          <a:ln>
            <a:solidFill>
              <a:schemeClr val="accent1"/>
            </a:solidFill>
          </a:ln>
        </p:spPr>
      </p:pic>
      <p:pic>
        <p:nvPicPr>
          <p:cNvPr id="5" name="Picture 4">
            <a:extLst>
              <a:ext uri="{FF2B5EF4-FFF2-40B4-BE49-F238E27FC236}">
                <a16:creationId xmlns:a16="http://schemas.microsoft.com/office/drawing/2014/main" id="{0FDB37BE-2557-6851-268C-4D6A1DECD0A5}"/>
              </a:ext>
            </a:extLst>
          </p:cNvPr>
          <p:cNvPicPr>
            <a:picLocks noChangeAspect="1"/>
          </p:cNvPicPr>
          <p:nvPr/>
        </p:nvPicPr>
        <p:blipFill>
          <a:blip r:embed="rId3"/>
          <a:stretch>
            <a:fillRect/>
          </a:stretch>
        </p:blipFill>
        <p:spPr>
          <a:xfrm>
            <a:off x="482714" y="503504"/>
            <a:ext cx="3441592" cy="2881252"/>
          </a:xfrm>
          <a:prstGeom prst="rect">
            <a:avLst/>
          </a:prstGeom>
          <a:ln>
            <a:solidFill>
              <a:schemeClr val="accent1"/>
            </a:solidFill>
          </a:ln>
        </p:spPr>
      </p:pic>
    </p:spTree>
    <p:extLst>
      <p:ext uri="{BB962C8B-B14F-4D97-AF65-F5344CB8AC3E}">
        <p14:creationId xmlns:p14="http://schemas.microsoft.com/office/powerpoint/2010/main" val="3044859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Complete File Structure at a Glance</a:t>
            </a:r>
            <a:endParaRPr lang="en-US" sz="2200" dirty="0"/>
          </a:p>
        </p:txBody>
      </p:sp>
      <p:sp>
        <p:nvSpPr>
          <p:cNvPr id="4" name="Shape 2"/>
          <p:cNvSpPr/>
          <p:nvPr/>
        </p:nvSpPr>
        <p:spPr>
          <a:xfrm>
            <a:off x="365760" y="996696"/>
            <a:ext cx="329184" cy="329184"/>
          </a:xfrm>
          <a:prstGeom prst="ellipse">
            <a:avLst/>
          </a:prstGeom>
          <a:solidFill>
            <a:srgbClr val="0A7E8C"/>
          </a:solidFill>
          <a:ln/>
        </p:spPr>
        <p:txBody>
          <a:bodyPr/>
          <a:lstStyle/>
          <a:p>
            <a:endParaRPr lang="en-CA"/>
          </a:p>
        </p:txBody>
      </p:sp>
      <p:sp>
        <p:nvSpPr>
          <p:cNvPr id="5" name="Text 3"/>
          <p:cNvSpPr/>
          <p:nvPr/>
        </p:nvSpPr>
        <p:spPr>
          <a:xfrm>
            <a:off x="365760" y="1014984"/>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p:nvPr/>
        </p:nvSpPr>
        <p:spPr>
          <a:xfrm>
            <a:off x="804672" y="94183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Imports</a:t>
            </a:r>
            <a:endParaRPr lang="en-US" sz="1200" dirty="0"/>
          </a:p>
        </p:txBody>
      </p:sp>
      <p:sp>
        <p:nvSpPr>
          <p:cNvPr id="7" name="Text 5"/>
          <p:cNvSpPr/>
          <p:nvPr/>
        </p:nvSpPr>
        <p:spPr>
          <a:xfrm>
            <a:off x="804672" y="1197864"/>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useState, Alert, TextInput, MapView, Region, Marker, * as Location</a:t>
            </a:r>
            <a:endParaRPr lang="en-US" sz="1000" dirty="0"/>
          </a:p>
        </p:txBody>
      </p:sp>
      <p:sp>
        <p:nvSpPr>
          <p:cNvPr id="8" name="Shape 6"/>
          <p:cNvSpPr/>
          <p:nvPr/>
        </p:nvSpPr>
        <p:spPr>
          <a:xfrm>
            <a:off x="365760" y="1600200"/>
            <a:ext cx="329184" cy="329184"/>
          </a:xfrm>
          <a:prstGeom prst="ellipse">
            <a:avLst/>
          </a:prstGeom>
          <a:solidFill>
            <a:srgbClr val="0A7E8C"/>
          </a:solidFill>
          <a:ln/>
        </p:spPr>
        <p:txBody>
          <a:bodyPr/>
          <a:lstStyle/>
          <a:p>
            <a:endParaRPr lang="en-CA"/>
          </a:p>
        </p:txBody>
      </p:sp>
      <p:sp>
        <p:nvSpPr>
          <p:cNvPr id="9" name="Text 7"/>
          <p:cNvSpPr/>
          <p:nvPr/>
        </p:nvSpPr>
        <p:spPr>
          <a:xfrm>
            <a:off x="365760" y="1618488"/>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804672" y="1545336"/>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State variables (inside component)</a:t>
            </a:r>
            <a:endParaRPr lang="en-US" sz="1200" dirty="0"/>
          </a:p>
        </p:txBody>
      </p:sp>
      <p:sp>
        <p:nvSpPr>
          <p:cNvPr id="11" name="Text 9"/>
          <p:cNvSpPr/>
          <p:nvPr/>
        </p:nvSpPr>
        <p:spPr>
          <a:xfrm>
            <a:off x="804672" y="1801368"/>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region (Region | null), currentAddress, address</a:t>
            </a:r>
            <a:endParaRPr lang="en-US" sz="1000" dirty="0"/>
          </a:p>
        </p:txBody>
      </p:sp>
      <p:sp>
        <p:nvSpPr>
          <p:cNvPr id="12" name="Shape 10"/>
          <p:cNvSpPr/>
          <p:nvPr/>
        </p:nvSpPr>
        <p:spPr>
          <a:xfrm>
            <a:off x="365760" y="2203704"/>
            <a:ext cx="329184" cy="329184"/>
          </a:xfrm>
          <a:prstGeom prst="ellipse">
            <a:avLst/>
          </a:prstGeom>
          <a:solidFill>
            <a:srgbClr val="0A7E8C"/>
          </a:solidFill>
          <a:ln/>
        </p:spPr>
        <p:txBody>
          <a:bodyPr/>
          <a:lstStyle/>
          <a:p>
            <a:endParaRPr lang="en-CA"/>
          </a:p>
        </p:txBody>
      </p:sp>
      <p:sp>
        <p:nvSpPr>
          <p:cNvPr id="13" name="Text 11"/>
          <p:cNvSpPr/>
          <p:nvPr/>
        </p:nvSpPr>
        <p:spPr>
          <a:xfrm>
            <a:off x="365760" y="2221992"/>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2"/>
          <p:cNvSpPr/>
          <p:nvPr/>
        </p:nvSpPr>
        <p:spPr>
          <a:xfrm>
            <a:off x="804672" y="2148840"/>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getCurrentLocation()</a:t>
            </a:r>
            <a:endParaRPr lang="en-US" sz="1200" dirty="0"/>
          </a:p>
        </p:txBody>
      </p:sp>
      <p:sp>
        <p:nvSpPr>
          <p:cNvPr id="15" name="Text 13"/>
          <p:cNvSpPr/>
          <p:nvPr/>
        </p:nvSpPr>
        <p:spPr>
          <a:xfrm>
            <a:off x="804672" y="2404872"/>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async — permission → GPS → Region → setRegion → reverseGeocode</a:t>
            </a:r>
            <a:endParaRPr lang="en-US" sz="1000" dirty="0"/>
          </a:p>
        </p:txBody>
      </p:sp>
      <p:sp>
        <p:nvSpPr>
          <p:cNvPr id="16" name="Shape 14"/>
          <p:cNvSpPr/>
          <p:nvPr/>
        </p:nvSpPr>
        <p:spPr>
          <a:xfrm>
            <a:off x="365760" y="2807208"/>
            <a:ext cx="329184" cy="329184"/>
          </a:xfrm>
          <a:prstGeom prst="ellipse">
            <a:avLst/>
          </a:prstGeom>
          <a:solidFill>
            <a:srgbClr val="0A7E8C"/>
          </a:solidFill>
          <a:ln/>
        </p:spPr>
        <p:txBody>
          <a:bodyPr/>
          <a:lstStyle/>
          <a:p>
            <a:endParaRPr lang="en-CA"/>
          </a:p>
        </p:txBody>
      </p:sp>
      <p:sp>
        <p:nvSpPr>
          <p:cNvPr id="17" name="Text 15"/>
          <p:cNvSpPr/>
          <p:nvPr/>
        </p:nvSpPr>
        <p:spPr>
          <a:xfrm>
            <a:off x="365760" y="2825496"/>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8" name="Text 16"/>
          <p:cNvSpPr/>
          <p:nvPr/>
        </p:nvSpPr>
        <p:spPr>
          <a:xfrm>
            <a:off x="804672" y="2752344"/>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reverseGeocode(lat, lng)</a:t>
            </a:r>
            <a:endParaRPr lang="en-US" sz="1200" dirty="0"/>
          </a:p>
        </p:txBody>
      </p:sp>
      <p:sp>
        <p:nvSpPr>
          <p:cNvPr id="19" name="Text 17"/>
          <p:cNvSpPr/>
          <p:nvPr/>
        </p:nvSpPr>
        <p:spPr>
          <a:xfrm>
            <a:off x="804672" y="3008376"/>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async — coordinates → address string → setCurrentAddress</a:t>
            </a:r>
            <a:endParaRPr lang="en-US" sz="1000" dirty="0"/>
          </a:p>
        </p:txBody>
      </p:sp>
      <p:sp>
        <p:nvSpPr>
          <p:cNvPr id="20" name="Shape 18"/>
          <p:cNvSpPr/>
          <p:nvPr/>
        </p:nvSpPr>
        <p:spPr>
          <a:xfrm>
            <a:off x="365760" y="3410712"/>
            <a:ext cx="329184" cy="329184"/>
          </a:xfrm>
          <a:prstGeom prst="ellipse">
            <a:avLst/>
          </a:prstGeom>
          <a:solidFill>
            <a:srgbClr val="0A7E8C"/>
          </a:solidFill>
          <a:ln/>
        </p:spPr>
        <p:txBody>
          <a:bodyPr/>
          <a:lstStyle/>
          <a:p>
            <a:endParaRPr lang="en-CA"/>
          </a:p>
        </p:txBody>
      </p:sp>
      <p:sp>
        <p:nvSpPr>
          <p:cNvPr id="21" name="Text 19"/>
          <p:cNvSpPr/>
          <p:nvPr/>
        </p:nvSpPr>
        <p:spPr>
          <a:xfrm>
            <a:off x="365760" y="3429000"/>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2" name="Text 20"/>
          <p:cNvSpPr/>
          <p:nvPr/>
        </p:nvSpPr>
        <p:spPr>
          <a:xfrm>
            <a:off x="804672" y="3355848"/>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forwardGeocoding()</a:t>
            </a:r>
            <a:endParaRPr lang="en-US" sz="1200" dirty="0"/>
          </a:p>
        </p:txBody>
      </p:sp>
      <p:sp>
        <p:nvSpPr>
          <p:cNvPr id="23" name="Text 21"/>
          <p:cNvSpPr/>
          <p:nvPr/>
        </p:nvSpPr>
        <p:spPr>
          <a:xfrm>
            <a:off x="804672" y="3611880"/>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async — address string → coordinates → Region → setRegion</a:t>
            </a:r>
            <a:endParaRPr lang="en-US" sz="1000" dirty="0"/>
          </a:p>
        </p:txBody>
      </p:sp>
      <p:sp>
        <p:nvSpPr>
          <p:cNvPr id="24" name="Shape 22"/>
          <p:cNvSpPr/>
          <p:nvPr/>
        </p:nvSpPr>
        <p:spPr>
          <a:xfrm>
            <a:off x="365760" y="4014216"/>
            <a:ext cx="329184" cy="329184"/>
          </a:xfrm>
          <a:prstGeom prst="ellipse">
            <a:avLst/>
          </a:prstGeom>
          <a:solidFill>
            <a:srgbClr val="0A7E8C"/>
          </a:solidFill>
          <a:ln/>
        </p:spPr>
        <p:txBody>
          <a:bodyPr/>
          <a:lstStyle/>
          <a:p>
            <a:endParaRPr lang="en-CA"/>
          </a:p>
        </p:txBody>
      </p:sp>
      <p:sp>
        <p:nvSpPr>
          <p:cNvPr id="25" name="Text 23"/>
          <p:cNvSpPr/>
          <p:nvPr/>
        </p:nvSpPr>
        <p:spPr>
          <a:xfrm>
            <a:off x="365760" y="4032504"/>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6" name="Text 24"/>
          <p:cNvSpPr/>
          <p:nvPr/>
        </p:nvSpPr>
        <p:spPr>
          <a:xfrm>
            <a:off x="804672" y="3959352"/>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JSX return</a:t>
            </a:r>
            <a:endParaRPr lang="en-US" sz="1200" dirty="0"/>
          </a:p>
        </p:txBody>
      </p:sp>
      <p:sp>
        <p:nvSpPr>
          <p:cNvPr id="27" name="Text 25"/>
          <p:cNvSpPr/>
          <p:nvPr/>
        </p:nvSpPr>
        <p:spPr>
          <a:xfrm>
            <a:off x="804672" y="4215384"/>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Title, TextInput, 2 buttons, conditional address text, conditional MapView+Marker</a:t>
            </a:r>
            <a:endParaRPr lang="en-US" sz="1000" dirty="0"/>
          </a:p>
        </p:txBody>
      </p:sp>
      <p:sp>
        <p:nvSpPr>
          <p:cNvPr id="28" name="Shape 26"/>
          <p:cNvSpPr/>
          <p:nvPr/>
        </p:nvSpPr>
        <p:spPr>
          <a:xfrm>
            <a:off x="365760" y="4617720"/>
            <a:ext cx="329184" cy="329184"/>
          </a:xfrm>
          <a:prstGeom prst="ellipse">
            <a:avLst/>
          </a:prstGeom>
          <a:solidFill>
            <a:srgbClr val="0A7E8C"/>
          </a:solidFill>
          <a:ln/>
        </p:spPr>
        <p:txBody>
          <a:bodyPr/>
          <a:lstStyle/>
          <a:p>
            <a:endParaRPr lang="en-CA"/>
          </a:p>
        </p:txBody>
      </p:sp>
      <p:sp>
        <p:nvSpPr>
          <p:cNvPr id="29" name="Text 27"/>
          <p:cNvSpPr/>
          <p:nvPr/>
        </p:nvSpPr>
        <p:spPr>
          <a:xfrm>
            <a:off x="365760" y="4636008"/>
            <a:ext cx="32918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0" name="Text 28"/>
          <p:cNvSpPr/>
          <p:nvPr/>
        </p:nvSpPr>
        <p:spPr>
          <a:xfrm>
            <a:off x="804672" y="4562856"/>
            <a:ext cx="2834640" cy="228600"/>
          </a:xfrm>
          <a:prstGeom prst="rect">
            <a:avLst/>
          </a:prstGeom>
          <a:noFill/>
          <a:ln/>
        </p:spPr>
        <p:txBody>
          <a:bodyPr wrap="square" lIns="0" tIns="0" rIns="0" bIns="0"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StyleSheet</a:t>
            </a:r>
            <a:endParaRPr lang="en-US" sz="1200" dirty="0"/>
          </a:p>
        </p:txBody>
      </p:sp>
      <p:sp>
        <p:nvSpPr>
          <p:cNvPr id="31" name="Text 29"/>
          <p:cNvSpPr/>
          <p:nvPr/>
        </p:nvSpPr>
        <p:spPr>
          <a:xfrm>
            <a:off x="804672" y="4818888"/>
            <a:ext cx="3383280" cy="201168"/>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container, title, input, button, buttonText, map, textAddress</a:t>
            </a:r>
            <a:endParaRPr lang="en-US" sz="1000" dirty="0"/>
          </a:p>
        </p:txBody>
      </p:sp>
      <p:sp>
        <p:nvSpPr>
          <p:cNvPr id="32" name="Shape 30"/>
          <p:cNvSpPr/>
          <p:nvPr/>
        </p:nvSpPr>
        <p:spPr>
          <a:xfrm>
            <a:off x="4206240" y="868680"/>
            <a:ext cx="4572000" cy="4114800"/>
          </a:xfrm>
          <a:prstGeom prst="roundRect">
            <a:avLst>
              <a:gd name="adj" fmla="val 2222"/>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33" name="Text 31"/>
          <p:cNvSpPr/>
          <p:nvPr/>
        </p:nvSpPr>
        <p:spPr>
          <a:xfrm>
            <a:off x="4343400" y="978408"/>
            <a:ext cx="4297680" cy="3895344"/>
          </a:xfrm>
          <a:prstGeom prst="rect">
            <a:avLst/>
          </a:prstGeom>
          <a:noFill/>
          <a:ln/>
        </p:spPr>
        <p:txBody>
          <a:bodyPr wrap="square" lIns="0" tIns="0" rIns="0" bIns="0" rtlCol="0" anchor="t"/>
          <a:lstStyle/>
          <a:p>
            <a:pPr marL="0" indent="0">
              <a:buNone/>
            </a:pPr>
            <a:r>
              <a:rPr lang="en-US" sz="850" dirty="0">
                <a:solidFill>
                  <a:srgbClr val="A8D8D8"/>
                </a:solidFill>
                <a:latin typeface="Courier New" pitchFamily="34" charset="0"/>
                <a:ea typeface="Courier New" pitchFamily="34" charset="-122"/>
                <a:cs typeface="Courier New" pitchFamily="34" charset="-120"/>
              </a:rPr>
              <a:t>// 1. Imports</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import * as Location from 'expo-location';</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import MapView, { Region, Marker } from 'react-native-maps';</a:t>
            </a:r>
            <a:endParaRPr lang="en-US" sz="850" dirty="0"/>
          </a:p>
          <a:p>
            <a:pPr marL="0" indent="0">
              <a:buNone/>
            </a:pP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2. State</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const [region, setRegion] = useState&lt;Region | null&gt;({...})</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const [currentAddress, setCurrentAddress] = useState("")</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const [address, setAddress] = useState("")</a:t>
            </a:r>
            <a:endParaRPr lang="en-US" sz="850" dirty="0"/>
          </a:p>
          <a:p>
            <a:pPr marL="0" indent="0">
              <a:buNone/>
            </a:pP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3. getCurrentLocation — async</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const getCurrentLocation = async () =&gt;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const { status } = await Location.requestForegroundPermissionsAsync()</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if (status !== "granted") { Alert.alert(...); return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const location = await Location.getCurrentPositionAsync({...})</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setRegion({ latitude: ..., longitude: ...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reverseGeocode(lat, lng)</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a:t>
            </a:r>
            <a:endParaRPr lang="en-US" sz="850" dirty="0"/>
          </a:p>
          <a:p>
            <a:pPr marL="0" indent="0">
              <a:buNone/>
            </a:pP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4. reverseGeocode — async</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const reverseGeocode = async (lat, lng) =&gt;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const result = await Location.reverseGeocodeAsync({latitude, longitude})</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if (result.length &gt; 0) setCurrentAddress(result[0].formattedAddress)</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a:t>
            </a:r>
            <a:endParaRPr lang="en-US" sz="850" dirty="0"/>
          </a:p>
          <a:p>
            <a:pPr marL="0" indent="0">
              <a:buNone/>
            </a:pP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5. forwardGeocoding — async</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const forwardGeocoding = async () =&gt;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const result = await Location.geocodeAsync(address)</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if (result.length === 0) { Alert.alert(...); return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setRegion({ latitude: result[0].latitude, ... })</a:t>
            </a: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a:t>
            </a:r>
            <a:endParaRPr lang="en-US" sz="850" dirty="0"/>
          </a:p>
          <a:p>
            <a:pPr marL="0" indent="0">
              <a:buNone/>
            </a:pPr>
            <a:endParaRPr lang="en-US" sz="850" dirty="0"/>
          </a:p>
          <a:p>
            <a:pPr marL="0" indent="0">
              <a:buNone/>
            </a:pPr>
            <a:r>
              <a:rPr lang="en-US" sz="850" dirty="0">
                <a:solidFill>
                  <a:srgbClr val="A8D8D8"/>
                </a:solidFill>
                <a:latin typeface="Courier New" pitchFamily="34" charset="0"/>
                <a:ea typeface="Courier New" pitchFamily="34" charset="-122"/>
                <a:cs typeface="Courier New" pitchFamily="34" charset="-120"/>
              </a:rPr>
              <a:t>// 6. JSX + // 7. StyleSheet</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Common Mistakes &amp; Debug Tips</a:t>
            </a:r>
            <a:endParaRPr lang="en-US" sz="2200" dirty="0"/>
          </a:p>
        </p:txBody>
      </p:sp>
      <p:sp>
        <p:nvSpPr>
          <p:cNvPr id="4" name="Shape 2"/>
          <p:cNvSpPr/>
          <p:nvPr/>
        </p:nvSpPr>
        <p:spPr>
          <a:xfrm>
            <a:off x="365760" y="868680"/>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5" name="Shape 3"/>
          <p:cNvSpPr/>
          <p:nvPr/>
        </p:nvSpPr>
        <p:spPr>
          <a:xfrm>
            <a:off x="402336" y="1143000"/>
            <a:ext cx="329184" cy="329184"/>
          </a:xfrm>
          <a:prstGeom prst="ellipse">
            <a:avLst/>
          </a:prstGeom>
          <a:solidFill>
            <a:srgbClr val="FF6B35"/>
          </a:solidFill>
          <a:ln/>
        </p:spPr>
        <p:txBody>
          <a:bodyPr/>
          <a:lstStyle/>
          <a:p>
            <a:endParaRPr lang="en-CA"/>
          </a:p>
        </p:txBody>
      </p:sp>
      <p:sp>
        <p:nvSpPr>
          <p:cNvPr id="6" name="Text 4"/>
          <p:cNvSpPr/>
          <p:nvPr/>
        </p:nvSpPr>
        <p:spPr>
          <a:xfrm>
            <a:off x="402336" y="1161288"/>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7" name="Text 5"/>
          <p:cNvSpPr/>
          <p:nvPr/>
        </p:nvSpPr>
        <p:spPr>
          <a:xfrm>
            <a:off x="804672" y="923544"/>
            <a:ext cx="3931920" cy="274320"/>
          </a:xfrm>
          <a:prstGeom prst="rect">
            <a:avLst/>
          </a:prstGeom>
          <a:noFill/>
          <a:ln/>
        </p:spPr>
        <p:txBody>
          <a:bodyPr wrap="square" lIns="0" tIns="0" rIns="0" bIns="0" rtlCol="0" anchor="ctr"/>
          <a:lstStyle/>
          <a:p>
            <a:pPr marL="0" indent="0">
              <a:buNone/>
            </a:pPr>
            <a:r>
              <a:rPr lang="en-US" sz="1250" b="1" dirty="0">
                <a:solidFill>
                  <a:srgbClr val="0D1B2A"/>
                </a:solidFill>
                <a:latin typeface="Cambria" pitchFamily="34" charset="0"/>
                <a:ea typeface="Cambria" pitchFamily="34" charset="-122"/>
                <a:cs typeface="Cambria" pitchFamily="34" charset="-120"/>
              </a:rPr>
              <a:t>Error: location permission not granted</a:t>
            </a:r>
            <a:endParaRPr lang="en-US" sz="1250" dirty="0"/>
          </a:p>
        </p:txBody>
      </p:sp>
      <p:sp>
        <p:nvSpPr>
          <p:cNvPr id="8" name="Text 6"/>
          <p:cNvSpPr/>
          <p:nvPr/>
        </p:nvSpPr>
        <p:spPr>
          <a:xfrm>
            <a:off x="804672" y="1234440"/>
            <a:ext cx="393192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requestForegroundPermissionsAsync() was skipped or not awaited</a:t>
            </a:r>
            <a:endParaRPr lang="en-US" sz="1100" dirty="0"/>
          </a:p>
        </p:txBody>
      </p:sp>
      <p:sp>
        <p:nvSpPr>
          <p:cNvPr id="9" name="Text 7"/>
          <p:cNvSpPr/>
          <p:nvPr/>
        </p:nvSpPr>
        <p:spPr>
          <a:xfrm>
            <a:off x="4846320" y="1069848"/>
            <a:ext cx="3840480" cy="457200"/>
          </a:xfrm>
          <a:prstGeom prst="rect">
            <a:avLst/>
          </a:prstGeom>
          <a:noFill/>
          <a:ln/>
        </p:spPr>
        <p:txBody>
          <a:bodyPr wrap="square" lIns="0" tIns="0" rIns="0" bIns="0" rtlCol="0" anchor="ctr"/>
          <a:lstStyle/>
          <a:p>
            <a:pPr marL="0" indent="0">
              <a:buNone/>
            </a:pPr>
            <a:r>
              <a:rPr lang="en-US" sz="1000" dirty="0">
                <a:solidFill>
                  <a:srgbClr val="1E293B"/>
                </a:solidFill>
                <a:latin typeface="Courier New" pitchFamily="34" charset="0"/>
                <a:ea typeface="Courier New" pitchFamily="34" charset="-122"/>
                <a:cs typeface="Courier New" pitchFamily="34" charset="-120"/>
              </a:rPr>
              <a:t>Always await the permission call first</a:t>
            </a:r>
            <a:endParaRPr lang="en-US" sz="1000" dirty="0"/>
          </a:p>
        </p:txBody>
      </p:sp>
      <p:sp>
        <p:nvSpPr>
          <p:cNvPr id="10" name="Shape 8"/>
          <p:cNvSpPr/>
          <p:nvPr/>
        </p:nvSpPr>
        <p:spPr>
          <a:xfrm>
            <a:off x="365760" y="1911096"/>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1" name="Shape 9"/>
          <p:cNvSpPr/>
          <p:nvPr/>
        </p:nvSpPr>
        <p:spPr>
          <a:xfrm>
            <a:off x="402336" y="2185416"/>
            <a:ext cx="329184" cy="329184"/>
          </a:xfrm>
          <a:prstGeom prst="ellipse">
            <a:avLst/>
          </a:prstGeom>
          <a:solidFill>
            <a:srgbClr val="FF6B35"/>
          </a:solidFill>
          <a:ln/>
        </p:spPr>
        <p:txBody>
          <a:bodyPr/>
          <a:lstStyle/>
          <a:p>
            <a:endParaRPr lang="en-CA"/>
          </a:p>
        </p:txBody>
      </p:sp>
      <p:sp>
        <p:nvSpPr>
          <p:cNvPr id="12" name="Text 10"/>
          <p:cNvSpPr/>
          <p:nvPr/>
        </p:nvSpPr>
        <p:spPr>
          <a:xfrm>
            <a:off x="402336" y="2203704"/>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3" name="Text 11"/>
          <p:cNvSpPr/>
          <p:nvPr/>
        </p:nvSpPr>
        <p:spPr>
          <a:xfrm>
            <a:off x="804672" y="1965960"/>
            <a:ext cx="3931920" cy="274320"/>
          </a:xfrm>
          <a:prstGeom prst="rect">
            <a:avLst/>
          </a:prstGeom>
          <a:noFill/>
          <a:ln/>
        </p:spPr>
        <p:txBody>
          <a:bodyPr wrap="square" lIns="0" tIns="0" rIns="0" bIns="0" rtlCol="0" anchor="ctr"/>
          <a:lstStyle/>
          <a:p>
            <a:pPr marL="0" indent="0">
              <a:buNone/>
            </a:pPr>
            <a:r>
              <a:rPr lang="en-US" sz="1250" b="1" dirty="0">
                <a:solidFill>
                  <a:srgbClr val="0D1B2A"/>
                </a:solidFill>
                <a:latin typeface="Cambria" pitchFamily="34" charset="0"/>
                <a:ea typeface="Cambria" pitchFamily="34" charset="-122"/>
                <a:cs typeface="Cambria" pitchFamily="34" charset="-120"/>
              </a:rPr>
              <a:t>result is undefined / crash on result[0]</a:t>
            </a:r>
            <a:endParaRPr lang="en-US" sz="1250" dirty="0"/>
          </a:p>
        </p:txBody>
      </p:sp>
      <p:sp>
        <p:nvSpPr>
          <p:cNvPr id="14" name="Text 12"/>
          <p:cNvSpPr/>
          <p:nvPr/>
        </p:nvSpPr>
        <p:spPr>
          <a:xfrm>
            <a:off x="804672" y="2276856"/>
            <a:ext cx="393192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Didn't check result.length before accessing [0]</a:t>
            </a:r>
            <a:endParaRPr lang="en-US" sz="1100" dirty="0"/>
          </a:p>
        </p:txBody>
      </p:sp>
      <p:sp>
        <p:nvSpPr>
          <p:cNvPr id="15" name="Text 13"/>
          <p:cNvSpPr/>
          <p:nvPr/>
        </p:nvSpPr>
        <p:spPr>
          <a:xfrm>
            <a:off x="4846320" y="2112264"/>
            <a:ext cx="3840480" cy="457200"/>
          </a:xfrm>
          <a:prstGeom prst="rect">
            <a:avLst/>
          </a:prstGeom>
          <a:noFill/>
          <a:ln/>
        </p:spPr>
        <p:txBody>
          <a:bodyPr wrap="square" lIns="0" tIns="0" rIns="0" bIns="0" rtlCol="0" anchor="ctr"/>
          <a:lstStyle/>
          <a:p>
            <a:pPr marL="0" indent="0">
              <a:buNone/>
            </a:pPr>
            <a:r>
              <a:rPr lang="en-US" sz="1000" dirty="0">
                <a:solidFill>
                  <a:srgbClr val="1E293B"/>
                </a:solidFill>
                <a:latin typeface="Courier New" pitchFamily="34" charset="0"/>
                <a:ea typeface="Courier New" pitchFamily="34" charset="-122"/>
                <a:cs typeface="Courier New" pitchFamily="34" charset="-120"/>
              </a:rPr>
              <a:t>if (result.length &gt; 0) { ... }</a:t>
            </a:r>
            <a:endParaRPr lang="en-US" sz="1000" dirty="0"/>
          </a:p>
        </p:txBody>
      </p:sp>
      <p:sp>
        <p:nvSpPr>
          <p:cNvPr id="16" name="Shape 14"/>
          <p:cNvSpPr/>
          <p:nvPr/>
        </p:nvSpPr>
        <p:spPr>
          <a:xfrm>
            <a:off x="365760" y="2953512"/>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17" name="Shape 15"/>
          <p:cNvSpPr/>
          <p:nvPr/>
        </p:nvSpPr>
        <p:spPr>
          <a:xfrm>
            <a:off x="402336" y="3227832"/>
            <a:ext cx="329184" cy="329184"/>
          </a:xfrm>
          <a:prstGeom prst="ellipse">
            <a:avLst/>
          </a:prstGeom>
          <a:solidFill>
            <a:srgbClr val="FF6B35"/>
          </a:solidFill>
          <a:ln/>
        </p:spPr>
        <p:txBody>
          <a:bodyPr/>
          <a:lstStyle/>
          <a:p>
            <a:endParaRPr lang="en-CA"/>
          </a:p>
        </p:txBody>
      </p:sp>
      <p:sp>
        <p:nvSpPr>
          <p:cNvPr id="18" name="Text 16"/>
          <p:cNvSpPr/>
          <p:nvPr/>
        </p:nvSpPr>
        <p:spPr>
          <a:xfrm>
            <a:off x="402336" y="3246120"/>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9" name="Text 17"/>
          <p:cNvSpPr/>
          <p:nvPr/>
        </p:nvSpPr>
        <p:spPr>
          <a:xfrm>
            <a:off x="804672" y="3008376"/>
            <a:ext cx="3931920" cy="274320"/>
          </a:xfrm>
          <a:prstGeom prst="rect">
            <a:avLst/>
          </a:prstGeom>
          <a:noFill/>
          <a:ln/>
        </p:spPr>
        <p:txBody>
          <a:bodyPr wrap="square" lIns="0" tIns="0" rIns="0" bIns="0" rtlCol="0" anchor="ctr"/>
          <a:lstStyle/>
          <a:p>
            <a:pPr marL="0" indent="0">
              <a:buNone/>
            </a:pPr>
            <a:r>
              <a:rPr lang="en-US" sz="1250" b="1" dirty="0">
                <a:solidFill>
                  <a:srgbClr val="0D1B2A"/>
                </a:solidFill>
                <a:latin typeface="Cambria" pitchFamily="34" charset="0"/>
                <a:ea typeface="Cambria" pitchFamily="34" charset="-122"/>
                <a:cs typeface="Cambria" pitchFamily="34" charset="-120"/>
              </a:rPr>
              <a:t>Function never finishes / undefined returned</a:t>
            </a:r>
            <a:endParaRPr lang="en-US" sz="1250" dirty="0"/>
          </a:p>
        </p:txBody>
      </p:sp>
      <p:sp>
        <p:nvSpPr>
          <p:cNvPr id="20" name="Text 18"/>
          <p:cNvSpPr/>
          <p:nvPr/>
        </p:nvSpPr>
        <p:spPr>
          <a:xfrm>
            <a:off x="804672" y="3319272"/>
            <a:ext cx="393192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Missing async or await on the function</a:t>
            </a:r>
            <a:endParaRPr lang="en-US" sz="1100" dirty="0"/>
          </a:p>
        </p:txBody>
      </p:sp>
      <p:sp>
        <p:nvSpPr>
          <p:cNvPr id="21" name="Text 19"/>
          <p:cNvSpPr/>
          <p:nvPr/>
        </p:nvSpPr>
        <p:spPr>
          <a:xfrm>
            <a:off x="4846320" y="3154680"/>
            <a:ext cx="3840480" cy="457200"/>
          </a:xfrm>
          <a:prstGeom prst="rect">
            <a:avLst/>
          </a:prstGeom>
          <a:noFill/>
          <a:ln/>
        </p:spPr>
        <p:txBody>
          <a:bodyPr wrap="square" lIns="0" tIns="0" rIns="0" bIns="0" rtlCol="0" anchor="ctr"/>
          <a:lstStyle/>
          <a:p>
            <a:pPr marL="0" indent="0">
              <a:buNone/>
            </a:pPr>
            <a:r>
              <a:rPr lang="en-US" sz="1000" dirty="0">
                <a:solidFill>
                  <a:srgbClr val="1E293B"/>
                </a:solidFill>
                <a:latin typeface="Courier New" pitchFamily="34" charset="0"/>
                <a:ea typeface="Courier New" pitchFamily="34" charset="-122"/>
                <a:cs typeface="Courier New" pitchFamily="34" charset="-120"/>
              </a:rPr>
              <a:t>const fn = async () =&gt; { await Location.xyz() }</a:t>
            </a:r>
            <a:endParaRPr lang="en-US" sz="1000" dirty="0"/>
          </a:p>
        </p:txBody>
      </p:sp>
      <p:sp>
        <p:nvSpPr>
          <p:cNvPr id="22" name="Shape 20"/>
          <p:cNvSpPr/>
          <p:nvPr/>
        </p:nvSpPr>
        <p:spPr>
          <a:xfrm>
            <a:off x="365760" y="3995928"/>
            <a:ext cx="8412480" cy="914400"/>
          </a:xfrm>
          <a:prstGeom prst="roundRect">
            <a:avLst>
              <a:gd name="adj" fmla="val 10000"/>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23" name="Shape 21"/>
          <p:cNvSpPr/>
          <p:nvPr/>
        </p:nvSpPr>
        <p:spPr>
          <a:xfrm>
            <a:off x="402336" y="4270248"/>
            <a:ext cx="329184" cy="329184"/>
          </a:xfrm>
          <a:prstGeom prst="ellipse">
            <a:avLst/>
          </a:prstGeom>
          <a:solidFill>
            <a:srgbClr val="FF6B35"/>
          </a:solidFill>
          <a:ln/>
        </p:spPr>
        <p:txBody>
          <a:bodyPr/>
          <a:lstStyle/>
          <a:p>
            <a:endParaRPr lang="en-CA"/>
          </a:p>
        </p:txBody>
      </p:sp>
      <p:sp>
        <p:nvSpPr>
          <p:cNvPr id="24" name="Text 22"/>
          <p:cNvSpPr/>
          <p:nvPr/>
        </p:nvSpPr>
        <p:spPr>
          <a:xfrm>
            <a:off x="402336" y="4288536"/>
            <a:ext cx="329184"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25" name="Text 23"/>
          <p:cNvSpPr/>
          <p:nvPr/>
        </p:nvSpPr>
        <p:spPr>
          <a:xfrm>
            <a:off x="804672" y="4050792"/>
            <a:ext cx="3931920" cy="274320"/>
          </a:xfrm>
          <a:prstGeom prst="rect">
            <a:avLst/>
          </a:prstGeom>
          <a:noFill/>
          <a:ln/>
        </p:spPr>
        <p:txBody>
          <a:bodyPr wrap="square" lIns="0" tIns="0" rIns="0" bIns="0" rtlCol="0" anchor="ctr"/>
          <a:lstStyle/>
          <a:p>
            <a:pPr marL="0" indent="0">
              <a:buNone/>
            </a:pPr>
            <a:r>
              <a:rPr lang="en-US" sz="1250" b="1" dirty="0">
                <a:solidFill>
                  <a:srgbClr val="0D1B2A"/>
                </a:solidFill>
                <a:latin typeface="Cambria" pitchFamily="34" charset="0"/>
                <a:ea typeface="Cambria" pitchFamily="34" charset="-122"/>
                <a:cs typeface="Cambria" pitchFamily="34" charset="-120"/>
              </a:rPr>
              <a:t>Map doesn't move after setRegion</a:t>
            </a:r>
            <a:endParaRPr lang="en-US" sz="1250" dirty="0"/>
          </a:p>
        </p:txBody>
      </p:sp>
      <p:sp>
        <p:nvSpPr>
          <p:cNvPr id="26" name="Text 24"/>
          <p:cNvSpPr/>
          <p:nvPr/>
        </p:nvSpPr>
        <p:spPr>
          <a:xfrm>
            <a:off x="804672" y="4361688"/>
            <a:ext cx="393192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Using initialRegion instead of region prop</a:t>
            </a:r>
            <a:endParaRPr lang="en-US" sz="1100" dirty="0"/>
          </a:p>
        </p:txBody>
      </p:sp>
      <p:sp>
        <p:nvSpPr>
          <p:cNvPr id="27" name="Text 25"/>
          <p:cNvSpPr/>
          <p:nvPr/>
        </p:nvSpPr>
        <p:spPr>
          <a:xfrm>
            <a:off x="4846320" y="4197096"/>
            <a:ext cx="3840480" cy="457200"/>
          </a:xfrm>
          <a:prstGeom prst="rect">
            <a:avLst/>
          </a:prstGeom>
          <a:noFill/>
          <a:ln/>
        </p:spPr>
        <p:txBody>
          <a:bodyPr wrap="square" lIns="0" tIns="0" rIns="0" bIns="0" rtlCol="0" anchor="ctr"/>
          <a:lstStyle/>
          <a:p>
            <a:pPr marL="0" indent="0">
              <a:buNone/>
            </a:pPr>
            <a:r>
              <a:rPr lang="en-US" sz="1000" dirty="0">
                <a:solidFill>
                  <a:srgbClr val="1E293B"/>
                </a:solidFill>
                <a:latin typeface="Courier New" pitchFamily="34" charset="0"/>
                <a:ea typeface="Courier New" pitchFamily="34" charset="-122"/>
                <a:cs typeface="Courier New" pitchFamily="34" charset="-120"/>
              </a:rPr>
              <a:t>&lt;MapView region={region}&gt; not initialRegion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4FAFA"/>
        </a:solidFill>
        <a:effectLst/>
      </p:bgPr>
    </p:bg>
    <p:spTree>
      <p:nvGrpSpPr>
        <p:cNvPr id="1" name=""/>
        <p:cNvGrpSpPr/>
        <p:nvPr/>
      </p:nvGrpSpPr>
      <p:grpSpPr>
        <a:xfrm>
          <a:off x="0" y="0"/>
          <a:ext cx="0" cy="0"/>
          <a:chOff x="0" y="0"/>
          <a:chExt cx="0" cy="0"/>
        </a:xfrm>
      </p:grpSpPr>
      <p:sp>
        <p:nvSpPr>
          <p:cNvPr id="2" name="Shape 0"/>
          <p:cNvSpPr/>
          <p:nvPr/>
        </p:nvSpPr>
        <p:spPr>
          <a:xfrm>
            <a:off x="365760" y="164592"/>
            <a:ext cx="8412480" cy="566928"/>
          </a:xfrm>
          <a:prstGeom prst="roundRect">
            <a:avLst>
              <a:gd name="adj" fmla="val 12903"/>
            </a:avLst>
          </a:prstGeom>
          <a:solidFill>
            <a:srgbClr val="0D1B2A"/>
          </a:solidFill>
          <a:ln/>
        </p:spPr>
        <p:txBody>
          <a:bodyPr/>
          <a:lstStyle/>
          <a:p>
            <a:endParaRPr lang="en-CA"/>
          </a:p>
        </p:txBody>
      </p:sp>
      <p:sp>
        <p:nvSpPr>
          <p:cNvPr id="3" name="Text 1"/>
          <p:cNvSpPr/>
          <p:nvPr/>
        </p:nvSpPr>
        <p:spPr>
          <a:xfrm>
            <a:off x="502920" y="18288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Quick Reference — expo-location API</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868680"/>
          <a:ext cx="8412480" cy="147066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latin typeface="Courier New" pitchFamily="34" charset="0"/>
                          <a:ea typeface="Courier New" pitchFamily="34" charset="-122"/>
                          <a:cs typeface="Courier New" pitchFamily="34" charset="-120"/>
                        </a:rPr>
                        <a:t>Method</a:t>
                      </a:r>
                      <a:endParaRPr lang="en-US" sz="100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000" b="1" dirty="0">
                          <a:solidFill>
                            <a:srgbClr val="FFFFFF"/>
                          </a:solidFill>
                          <a:latin typeface="Cambria" pitchFamily="34" charset="0"/>
                          <a:ea typeface="Cambria" pitchFamily="34" charset="-122"/>
                          <a:cs typeface="Cambria" pitchFamily="34" charset="-120"/>
                        </a:rPr>
                        <a:t>What it does</a:t>
                      </a:r>
                      <a:endParaRPr lang="en-US" sz="1000" dirty="0">
                        <a:latin typeface="Cambria" charset="0"/>
                        <a:ea typeface="Cambria" charset="0"/>
                        <a:cs typeface="Cambria"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000" b="1" dirty="0">
                          <a:solidFill>
                            <a:srgbClr val="FFFFFF"/>
                          </a:solidFill>
                          <a:latin typeface="Cambria" pitchFamily="34" charset="0"/>
                          <a:ea typeface="Cambria" pitchFamily="34" charset="-122"/>
                          <a:cs typeface="Cambria" pitchFamily="34" charset="-120"/>
                        </a:rPr>
                        <a:t>Returns</a:t>
                      </a:r>
                      <a:endParaRPr lang="en-US" sz="1000" dirty="0">
                        <a:latin typeface="Cambria" charset="0"/>
                        <a:ea typeface="Cambria" charset="0"/>
                        <a:cs typeface="Cambria"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0">
                <a:tc>
                  <a:txBody>
                    <a:bodyPr/>
                    <a:lstStyle/>
                    <a:p>
                      <a:pPr marL="0" indent="0" algn="l">
                        <a:buNone/>
                      </a:pPr>
                      <a:r>
                        <a:rPr lang="en-US" sz="950" dirty="0">
                          <a:solidFill>
                            <a:srgbClr val="0A7E8C"/>
                          </a:solidFill>
                          <a:latin typeface="Courier New" pitchFamily="34" charset="0"/>
                          <a:ea typeface="Courier New" pitchFamily="34" charset="-122"/>
                          <a:cs typeface="Courier New" pitchFamily="34" charset="-120"/>
                        </a:rPr>
                        <a:t>requestForegroundPermissionsAsync()</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Asks user for location permission</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 status: "granted" | "denied" }</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1"/>
                  </a:ext>
                </a:extLst>
              </a:tr>
              <a:tr h="0">
                <a:tc>
                  <a:txBody>
                    <a:bodyPr/>
                    <a:lstStyle/>
                    <a:p>
                      <a:pPr marL="0" indent="0" algn="l">
                        <a:buNone/>
                      </a:pPr>
                      <a:r>
                        <a:rPr lang="en-US" sz="950" dirty="0">
                          <a:solidFill>
                            <a:srgbClr val="0A7E8C"/>
                          </a:solidFill>
                          <a:latin typeface="Courier New" pitchFamily="34" charset="0"/>
                          <a:ea typeface="Courier New" pitchFamily="34" charset="-122"/>
                          <a:cs typeface="Courier New" pitchFamily="34" charset="-120"/>
                        </a:rPr>
                        <a:t>getCurrentPositionAsync({ accuracy })</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Gets current GPS location once</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location.coords.latitude / .longitude</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950" dirty="0">
                          <a:solidFill>
                            <a:srgbClr val="0A7E8C"/>
                          </a:solidFill>
                          <a:latin typeface="Courier New" pitchFamily="34" charset="0"/>
                          <a:ea typeface="Courier New" pitchFamily="34" charset="-122"/>
                          <a:cs typeface="Courier New" pitchFamily="34" charset="-120"/>
                        </a:rPr>
                        <a:t>reverseGeocodeAsync({ latitude, longitude })</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Converts coords → address</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Array of address objects → use [0].formattedAddress</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3"/>
                  </a:ext>
                </a:extLst>
              </a:tr>
              <a:tr h="0">
                <a:tc>
                  <a:txBody>
                    <a:bodyPr/>
                    <a:lstStyle/>
                    <a:p>
                      <a:pPr marL="0" indent="0" algn="l">
                        <a:buNone/>
                      </a:pPr>
                      <a:r>
                        <a:rPr lang="en-US" sz="950" dirty="0">
                          <a:solidFill>
                            <a:srgbClr val="0A7E8C"/>
                          </a:solidFill>
                          <a:latin typeface="Courier New" pitchFamily="34" charset="0"/>
                          <a:ea typeface="Courier New" pitchFamily="34" charset="-122"/>
                          <a:cs typeface="Courier New" pitchFamily="34" charset="-120"/>
                        </a:rPr>
                        <a:t>geocodeAsync(addressString)</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Converts address text → coords</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Array of locations → use [0].latitude / .longitude</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950" dirty="0">
                          <a:solidFill>
                            <a:srgbClr val="0A7E8C"/>
                          </a:solidFill>
                          <a:latin typeface="Courier New" pitchFamily="34" charset="0"/>
                          <a:ea typeface="Courier New" pitchFamily="34" charset="-122"/>
                          <a:cs typeface="Courier New" pitchFamily="34" charset="-120"/>
                        </a:rPr>
                        <a:t>Location.Accuracy.Highest</a:t>
                      </a:r>
                      <a:endParaRPr lang="en-US" sz="950" dirty="0">
                        <a:latin typeface="Courier New" charset="0"/>
                        <a:ea typeface="Courier New" charset="0"/>
                        <a:cs typeface="Courier New"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Enum for best GPS accuracy</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tc>
                  <a:txBody>
                    <a:bodyPr/>
                    <a:lstStyle/>
                    <a:p>
                      <a:pPr marL="0" indent="0" algn="l">
                        <a:buNone/>
                      </a:pPr>
                      <a:r>
                        <a:rPr lang="en-US" sz="950" dirty="0">
                          <a:solidFill>
                            <a:srgbClr val="1E293B"/>
                          </a:solidFill>
                          <a:latin typeface="Calibri" pitchFamily="34" charset="0"/>
                          <a:ea typeface="Calibri" pitchFamily="34" charset="-122"/>
                          <a:cs typeface="Calibri" pitchFamily="34" charset="-120"/>
                        </a:rPr>
                        <a:t>Pass as accuracy option to getCurrentPositionAsync</a:t>
                      </a:r>
                      <a:endParaRPr lang="en-US" sz="950" dirty="0">
                        <a:latin typeface="Calibri" charset="0"/>
                        <a:ea typeface="Calibri" charset="0"/>
                        <a:cs typeface="Calibri" charset="0"/>
                      </a:endParaRPr>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4FAFA"/>
                    </a:solidFill>
                  </a:tcPr>
                </a:tc>
                <a:extLst>
                  <a:ext uri="{0D108BD9-81ED-4DB2-BD59-A6C34878D82A}">
                    <a16:rowId xmlns:a16="http://schemas.microsoft.com/office/drawing/2014/main" val="10005"/>
                  </a:ext>
                </a:extLst>
              </a:tr>
            </a:tbl>
          </a:graphicData>
        </a:graphic>
      </p:graphicFrame>
      <p:sp>
        <p:nvSpPr>
          <p:cNvPr id="5" name="Text 2"/>
          <p:cNvSpPr/>
          <p:nvPr/>
        </p:nvSpPr>
        <p:spPr>
          <a:xfrm>
            <a:off x="365760" y="3200400"/>
            <a:ext cx="84124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  Docs: https://docs.expo.dev/versions/latest/sdk/location/</a:t>
            </a:r>
            <a:endParaRPr lang="en-US" sz="1000" dirty="0"/>
          </a:p>
        </p:txBody>
      </p:sp>
      <p:sp>
        <p:nvSpPr>
          <p:cNvPr id="6" name="Shape 3"/>
          <p:cNvSpPr/>
          <p:nvPr/>
        </p:nvSpPr>
        <p:spPr>
          <a:xfrm>
            <a:off x="365760" y="3547872"/>
            <a:ext cx="8412480" cy="1508760"/>
          </a:xfrm>
          <a:prstGeom prst="roundRect">
            <a:avLst>
              <a:gd name="adj" fmla="val 6061"/>
            </a:avLst>
          </a:prstGeom>
          <a:solidFill>
            <a:srgbClr val="FFFFFF"/>
          </a:solidFill>
          <a:ln/>
          <a:effectLst>
            <a:outerShdw blurRad="101600" dist="38100" dir="2700000" algn="bl" rotWithShape="0">
              <a:srgbClr val="000000">
                <a:alpha val="18000"/>
              </a:srgbClr>
            </a:outerShdw>
          </a:effectLst>
        </p:spPr>
        <p:txBody>
          <a:bodyPr/>
          <a:lstStyle/>
          <a:p>
            <a:endParaRPr lang="en-CA"/>
          </a:p>
        </p:txBody>
      </p:sp>
      <p:sp>
        <p:nvSpPr>
          <p:cNvPr id="7" name="Text 4"/>
          <p:cNvSpPr/>
          <p:nvPr/>
        </p:nvSpPr>
        <p:spPr>
          <a:xfrm>
            <a:off x="502920" y="3621024"/>
            <a:ext cx="8229600" cy="274320"/>
          </a:xfrm>
          <a:prstGeom prst="rect">
            <a:avLst/>
          </a:prstGeom>
          <a:noFill/>
          <a:ln/>
        </p:spPr>
        <p:txBody>
          <a:bodyPr wrap="square" lIns="0" tIns="0" rIns="0" bIns="0"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Conditional Rendering Patterns Used in This Project:</a:t>
            </a:r>
            <a:endParaRPr lang="en-US" sz="1300" dirty="0"/>
          </a:p>
        </p:txBody>
      </p:sp>
      <p:sp>
        <p:nvSpPr>
          <p:cNvPr id="8" name="Shape 5"/>
          <p:cNvSpPr/>
          <p:nvPr/>
        </p:nvSpPr>
        <p:spPr>
          <a:xfrm>
            <a:off x="502920" y="3931920"/>
            <a:ext cx="8046720" cy="822960"/>
          </a:xfrm>
          <a:prstGeom prst="roundRect">
            <a:avLst>
              <a:gd name="adj" fmla="val 11111"/>
            </a:avLst>
          </a:prstGeom>
          <a:solidFill>
            <a:srgbClr val="0F2027"/>
          </a:solidFill>
          <a:ln/>
          <a:effectLst>
            <a:outerShdw blurRad="101600" dist="38100" dir="2700000" algn="bl" rotWithShape="0">
              <a:srgbClr val="000000">
                <a:alpha val="18000"/>
              </a:srgbClr>
            </a:outerShdw>
          </a:effectLst>
        </p:spPr>
        <p:txBody>
          <a:bodyPr/>
          <a:lstStyle/>
          <a:p>
            <a:endParaRPr lang="en-CA"/>
          </a:p>
        </p:txBody>
      </p:sp>
      <p:sp>
        <p:nvSpPr>
          <p:cNvPr id="9" name="Text 6"/>
          <p:cNvSpPr/>
          <p:nvPr/>
        </p:nvSpPr>
        <p:spPr>
          <a:xfrm>
            <a:off x="640080" y="4041648"/>
            <a:ext cx="7772400" cy="603504"/>
          </a:xfrm>
          <a:prstGeom prst="rect">
            <a:avLst/>
          </a:prstGeom>
          <a:noFill/>
          <a:ln/>
        </p:spPr>
        <p:txBody>
          <a:bodyPr wrap="square" lIns="0" tIns="0" rIns="0" bIns="0" rtlCol="0" anchor="t"/>
          <a:lstStyle/>
          <a:p>
            <a:pPr marL="0" indent="0">
              <a:buNone/>
            </a:pPr>
            <a:r>
              <a:rPr lang="en-US" sz="1000" dirty="0">
                <a:solidFill>
                  <a:srgbClr val="A8D8D8"/>
                </a:solidFill>
                <a:latin typeface="Courier New" pitchFamily="34" charset="0"/>
                <a:ea typeface="Courier New" pitchFamily="34" charset="-122"/>
                <a:cs typeface="Courier New" pitchFamily="34" charset="-120"/>
              </a:rPr>
              <a:t>{ currentAddress !== "" &amp;&amp; &lt;Text&gt;{currentAddress}&lt;/Text&gt; }   // show only if not empty string</a:t>
            </a:r>
            <a:endParaRPr lang="en-US" sz="1000" dirty="0"/>
          </a:p>
          <a:p>
            <a:pPr marL="0" indent="0">
              <a:buNone/>
            </a:pPr>
            <a:r>
              <a:rPr lang="en-US" sz="1000" dirty="0">
                <a:solidFill>
                  <a:srgbClr val="A8D8D8"/>
                </a:solidFill>
                <a:latin typeface="Courier New" pitchFamily="34" charset="0"/>
                <a:ea typeface="Courier New" pitchFamily="34" charset="-122"/>
                <a:cs typeface="Courier New" pitchFamily="34" charset="-120"/>
              </a:rPr>
              <a:t>{ region &amp;&amp; &lt;MapView region={region}&gt;...&lt;/MapView&gt; }          // show only if region is not null</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57200" y="3200400"/>
            <a:ext cx="2743200" cy="2743200"/>
          </a:xfrm>
          <a:prstGeom prst="ellipse">
            <a:avLst/>
          </a:prstGeom>
          <a:solidFill>
            <a:srgbClr val="0A7E8C">
              <a:alpha val="15000"/>
            </a:srgbClr>
          </a:solidFill>
          <a:ln/>
        </p:spPr>
        <p:txBody>
          <a:bodyPr/>
          <a:lstStyle/>
          <a:p>
            <a:endParaRPr lang="en-CA"/>
          </a:p>
        </p:txBody>
      </p:sp>
      <p:sp>
        <p:nvSpPr>
          <p:cNvPr id="3" name="Shape 1"/>
          <p:cNvSpPr/>
          <p:nvPr/>
        </p:nvSpPr>
        <p:spPr>
          <a:xfrm>
            <a:off x="7132320" y="-457200"/>
            <a:ext cx="2286000" cy="2286000"/>
          </a:xfrm>
          <a:prstGeom prst="ellipse">
            <a:avLst/>
          </a:prstGeom>
          <a:solidFill>
            <a:srgbClr val="1AB8C4">
              <a:alpha val="18000"/>
            </a:srgbClr>
          </a:solidFill>
          <a:ln/>
        </p:spPr>
        <p:txBody>
          <a:bodyPr/>
          <a:lstStyle/>
          <a:p>
            <a:endParaRPr lang="en-CA"/>
          </a:p>
        </p:txBody>
      </p:sp>
      <p:pic>
        <p:nvPicPr>
          <p:cNvPr id="4" name="Image 0" descr="preencoded.png"/>
          <p:cNvPicPr>
            <a:picLocks noChangeAspect="1"/>
          </p:cNvPicPr>
          <p:nvPr/>
        </p:nvPicPr>
        <p:blipFill>
          <a:blip r:embed="rId3"/>
          <a:stretch>
            <a:fillRect/>
          </a:stretch>
        </p:blipFill>
        <p:spPr>
          <a:xfrm>
            <a:off x="457200" y="548640"/>
            <a:ext cx="640080" cy="640080"/>
          </a:xfrm>
          <a:prstGeom prst="rect">
            <a:avLst/>
          </a:prstGeom>
        </p:spPr>
      </p:pic>
      <p:sp>
        <p:nvSpPr>
          <p:cNvPr id="5" name="Text 2"/>
          <p:cNvSpPr/>
          <p:nvPr/>
        </p:nvSpPr>
        <p:spPr>
          <a:xfrm>
            <a:off x="1188720" y="594360"/>
            <a:ext cx="731520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What We Covered Today</a:t>
            </a:r>
            <a:endParaRPr lang="en-US" sz="2400" dirty="0"/>
          </a:p>
        </p:txBody>
      </p:sp>
      <p:sp>
        <p:nvSpPr>
          <p:cNvPr id="6" name="Text 3"/>
          <p:cNvSpPr/>
          <p:nvPr/>
        </p:nvSpPr>
        <p:spPr>
          <a:xfrm>
            <a:off x="457200" y="1325880"/>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expo-location — installation &amp; import syntax</a:t>
            </a:r>
            <a:endParaRPr lang="en-US" sz="1250" dirty="0"/>
          </a:p>
        </p:txBody>
      </p:sp>
      <p:sp>
        <p:nvSpPr>
          <p:cNvPr id="7" name="Text 4"/>
          <p:cNvSpPr/>
          <p:nvPr/>
        </p:nvSpPr>
        <p:spPr>
          <a:xfrm>
            <a:off x="457200" y="1728216"/>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requestForegroundPermissionsAsync — always ask first</a:t>
            </a:r>
            <a:endParaRPr lang="en-US" sz="1250" dirty="0"/>
          </a:p>
        </p:txBody>
      </p:sp>
      <p:sp>
        <p:nvSpPr>
          <p:cNvPr id="8" name="Text 5"/>
          <p:cNvSpPr/>
          <p:nvPr/>
        </p:nvSpPr>
        <p:spPr>
          <a:xfrm>
            <a:off x="457200" y="2130552"/>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getCurrentPositionAsync — get real GPS coordinates</a:t>
            </a:r>
            <a:endParaRPr lang="en-US" sz="1250" dirty="0"/>
          </a:p>
        </p:txBody>
      </p:sp>
      <p:sp>
        <p:nvSpPr>
          <p:cNvPr id="9" name="Text 6"/>
          <p:cNvSpPr/>
          <p:nvPr/>
        </p:nvSpPr>
        <p:spPr>
          <a:xfrm>
            <a:off x="457200" y="2532888"/>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reverseGeocodeAsync — coordinates → street address</a:t>
            </a:r>
            <a:endParaRPr lang="en-US" sz="1250" dirty="0"/>
          </a:p>
        </p:txBody>
      </p:sp>
      <p:sp>
        <p:nvSpPr>
          <p:cNvPr id="10" name="Text 7"/>
          <p:cNvSpPr/>
          <p:nvPr/>
        </p:nvSpPr>
        <p:spPr>
          <a:xfrm>
            <a:off x="457200" y="2935224"/>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geocodeAsync — address text → coordinates</a:t>
            </a:r>
            <a:endParaRPr lang="en-US" sz="1250" dirty="0"/>
          </a:p>
        </p:txBody>
      </p:sp>
      <p:sp>
        <p:nvSpPr>
          <p:cNvPr id="11" name="Text 8"/>
          <p:cNvSpPr/>
          <p:nvPr/>
        </p:nvSpPr>
        <p:spPr>
          <a:xfrm>
            <a:off x="457200" y="3337560"/>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async / await pattern for all location functions</a:t>
            </a:r>
            <a:endParaRPr lang="en-US" sz="1250" dirty="0"/>
          </a:p>
        </p:txBody>
      </p:sp>
      <p:sp>
        <p:nvSpPr>
          <p:cNvPr id="12" name="Text 9"/>
          <p:cNvSpPr/>
          <p:nvPr/>
        </p:nvSpPr>
        <p:spPr>
          <a:xfrm>
            <a:off x="457200" y="3739896"/>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Conditional rendering with &amp;&amp; in JSX</a:t>
            </a:r>
            <a:endParaRPr lang="en-US" sz="1250" dirty="0"/>
          </a:p>
        </p:txBody>
      </p:sp>
      <p:sp>
        <p:nvSpPr>
          <p:cNvPr id="13" name="Text 10"/>
          <p:cNvSpPr/>
          <p:nvPr/>
        </p:nvSpPr>
        <p:spPr>
          <a:xfrm>
            <a:off x="457200" y="4142232"/>
            <a:ext cx="5029200" cy="347472"/>
          </a:xfrm>
          <a:prstGeom prst="rect">
            <a:avLst/>
          </a:prstGeom>
          <a:noFill/>
          <a:ln/>
        </p:spPr>
        <p:txBody>
          <a:bodyPr wrap="square" lIns="0" tIns="0" rIns="0" bIns="0" rtlCol="0" anchor="ctr"/>
          <a:lstStyle/>
          <a:p>
            <a:pPr marL="0" indent="0">
              <a:buNone/>
            </a:pPr>
            <a:r>
              <a:rPr lang="en-US" sz="1250" b="1" dirty="0">
                <a:solidFill>
                  <a:srgbClr val="1AB8C4"/>
                </a:solidFill>
                <a:latin typeface="Calibri" pitchFamily="34" charset="0"/>
                <a:ea typeface="Calibri" pitchFamily="34" charset="-122"/>
                <a:cs typeface="Calibri" pitchFamily="34" charset="-120"/>
              </a:rPr>
              <a:t>✓  </a:t>
            </a:r>
            <a:r>
              <a:rPr lang="en-US" sz="1250" dirty="0">
                <a:solidFill>
                  <a:srgbClr val="FFFFFF"/>
                </a:solidFill>
                <a:latin typeface="Calibri" pitchFamily="34" charset="0"/>
                <a:ea typeface="Calibri" pitchFamily="34" charset="-122"/>
                <a:cs typeface="Calibri" pitchFamily="34" charset="-120"/>
              </a:rPr>
              <a:t>region (controlled) vs initialRegion (one-time)</a:t>
            </a:r>
            <a:endParaRPr lang="en-US" sz="1250" dirty="0"/>
          </a:p>
        </p:txBody>
      </p:sp>
      <p:sp>
        <p:nvSpPr>
          <p:cNvPr id="21" name="Text 18"/>
          <p:cNvSpPr/>
          <p:nvPr/>
        </p:nvSpPr>
        <p:spPr>
          <a:xfrm>
            <a:off x="457200" y="4736592"/>
            <a:ext cx="8229600" cy="27432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BTP610 – Week 9 Complete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1256</TotalTime>
  <Words>4039</Words>
  <Application>Microsoft Office PowerPoint</Application>
  <PresentationFormat>On-screen Show (16:9)</PresentationFormat>
  <Paragraphs>453</Paragraphs>
  <Slides>28</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 Expo Location</dc:title>
  <dc:subject>PptxGenJS Presentation</dc:subject>
  <dc:creator>BTP610</dc:creator>
  <cp:lastModifiedBy>Yasemin Fanaeian</cp:lastModifiedBy>
  <cp:revision>37</cp:revision>
  <dcterms:created xsi:type="dcterms:W3CDTF">2026-07-02T03:08:45Z</dcterms:created>
  <dcterms:modified xsi:type="dcterms:W3CDTF">2026-07-03T11:24:26Z</dcterms:modified>
</cp:coreProperties>
</file>